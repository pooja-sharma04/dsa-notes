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2"/>
  </p:notesMasterIdLst>
  <p:sldIdLst>
    <p:sldId id="257" r:id="rId2"/>
    <p:sldId id="581" r:id="rId3"/>
    <p:sldId id="583" r:id="rId4"/>
    <p:sldId id="582" r:id="rId5"/>
    <p:sldId id="260" r:id="rId6"/>
    <p:sldId id="261" r:id="rId7"/>
    <p:sldId id="262" r:id="rId8"/>
    <p:sldId id="263" r:id="rId9"/>
    <p:sldId id="264" r:id="rId10"/>
    <p:sldId id="265" r:id="rId11"/>
    <p:sldId id="266" r:id="rId12"/>
    <p:sldId id="267" r:id="rId13"/>
    <p:sldId id="268" r:id="rId14"/>
    <p:sldId id="270" r:id="rId15"/>
    <p:sldId id="271" r:id="rId16"/>
    <p:sldId id="275" r:id="rId17"/>
    <p:sldId id="279" r:id="rId18"/>
    <p:sldId id="289" r:id="rId19"/>
    <p:sldId id="280" r:id="rId20"/>
    <p:sldId id="281" r:id="rId21"/>
    <p:sldId id="282" r:id="rId22"/>
    <p:sldId id="288" r:id="rId23"/>
    <p:sldId id="276" r:id="rId24"/>
    <p:sldId id="277" r:id="rId25"/>
    <p:sldId id="291" r:id="rId26"/>
    <p:sldId id="272" r:id="rId27"/>
    <p:sldId id="273" r:id="rId28"/>
    <p:sldId id="274" r:id="rId29"/>
    <p:sldId id="295" r:id="rId30"/>
    <p:sldId id="296" r:id="rId31"/>
    <p:sldId id="597" r:id="rId32"/>
    <p:sldId id="305" r:id="rId33"/>
    <p:sldId id="306" r:id="rId34"/>
    <p:sldId id="307" r:id="rId35"/>
    <p:sldId id="308" r:id="rId36"/>
    <p:sldId id="309" r:id="rId37"/>
    <p:sldId id="310" r:id="rId38"/>
    <p:sldId id="311" r:id="rId39"/>
    <p:sldId id="312" r:id="rId40"/>
    <p:sldId id="313" r:id="rId41"/>
    <p:sldId id="314" r:id="rId42"/>
    <p:sldId id="598" r:id="rId43"/>
    <p:sldId id="297" r:id="rId44"/>
    <p:sldId id="298" r:id="rId45"/>
    <p:sldId id="299" r:id="rId46"/>
    <p:sldId id="300" r:id="rId47"/>
    <p:sldId id="301" r:id="rId48"/>
    <p:sldId id="584" r:id="rId49"/>
    <p:sldId id="303" r:id="rId50"/>
    <p:sldId id="30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70" r:id="rId66"/>
    <p:sldId id="329" r:id="rId67"/>
    <p:sldId id="330" r:id="rId68"/>
    <p:sldId id="331" r:id="rId69"/>
    <p:sldId id="332" r:id="rId70"/>
    <p:sldId id="333" r:id="rId71"/>
    <p:sldId id="334" r:id="rId72"/>
    <p:sldId id="386" r:id="rId73"/>
    <p:sldId id="387" r:id="rId74"/>
    <p:sldId id="388" r:id="rId75"/>
    <p:sldId id="389" r:id="rId76"/>
    <p:sldId id="395" r:id="rId77"/>
    <p:sldId id="390" r:id="rId78"/>
    <p:sldId id="391" r:id="rId79"/>
    <p:sldId id="392" r:id="rId80"/>
    <p:sldId id="393" r:id="rId81"/>
    <p:sldId id="394" r:id="rId82"/>
    <p:sldId id="396" r:id="rId83"/>
    <p:sldId id="397" r:id="rId84"/>
    <p:sldId id="398" r:id="rId85"/>
    <p:sldId id="399" r:id="rId86"/>
    <p:sldId id="400" r:id="rId87"/>
    <p:sldId id="401" r:id="rId88"/>
    <p:sldId id="402" r:id="rId89"/>
    <p:sldId id="577" r:id="rId90"/>
    <p:sldId id="468" r:id="rId91"/>
    <p:sldId id="403" r:id="rId92"/>
    <p:sldId id="404" r:id="rId93"/>
    <p:sldId id="405" r:id="rId94"/>
    <p:sldId id="410" r:id="rId95"/>
    <p:sldId id="411" r:id="rId96"/>
    <p:sldId id="578" r:id="rId97"/>
    <p:sldId id="412" r:id="rId98"/>
    <p:sldId id="415" r:id="rId99"/>
    <p:sldId id="417" r:id="rId100"/>
    <p:sldId id="418" r:id="rId101"/>
    <p:sldId id="419" r:id="rId102"/>
    <p:sldId id="420" r:id="rId103"/>
    <p:sldId id="423" r:id="rId104"/>
    <p:sldId id="424" r:id="rId105"/>
    <p:sldId id="421" r:id="rId106"/>
    <p:sldId id="439" r:id="rId107"/>
    <p:sldId id="440" r:id="rId108"/>
    <p:sldId id="416" r:id="rId109"/>
    <p:sldId id="441" r:id="rId110"/>
    <p:sldId id="442" r:id="rId111"/>
    <p:sldId id="444" r:id="rId112"/>
    <p:sldId id="443" r:id="rId113"/>
    <p:sldId id="580" r:id="rId114"/>
    <p:sldId id="445" r:id="rId115"/>
    <p:sldId id="446" r:id="rId116"/>
    <p:sldId id="447" r:id="rId117"/>
    <p:sldId id="448" r:id="rId118"/>
    <p:sldId id="449" r:id="rId119"/>
    <p:sldId id="450" r:id="rId120"/>
    <p:sldId id="451" r:id="rId121"/>
    <p:sldId id="452" r:id="rId122"/>
    <p:sldId id="453" r:id="rId123"/>
    <p:sldId id="454" r:id="rId124"/>
    <p:sldId id="455" r:id="rId125"/>
    <p:sldId id="456" r:id="rId126"/>
    <p:sldId id="457" r:id="rId127"/>
    <p:sldId id="458" r:id="rId128"/>
    <p:sldId id="459" r:id="rId129"/>
    <p:sldId id="460" r:id="rId130"/>
    <p:sldId id="461" r:id="rId131"/>
    <p:sldId id="470" r:id="rId132"/>
    <p:sldId id="462" r:id="rId133"/>
    <p:sldId id="463" r:id="rId134"/>
    <p:sldId id="464" r:id="rId135"/>
    <p:sldId id="573" r:id="rId136"/>
    <p:sldId id="565" r:id="rId137"/>
    <p:sldId id="566" r:id="rId138"/>
    <p:sldId id="567" r:id="rId139"/>
    <p:sldId id="569" r:id="rId140"/>
    <p:sldId id="571" r:id="rId141"/>
    <p:sldId id="572" r:id="rId142"/>
    <p:sldId id="469" r:id="rId143"/>
    <p:sldId id="471" r:id="rId144"/>
    <p:sldId id="472" r:id="rId145"/>
    <p:sldId id="575" r:id="rId146"/>
    <p:sldId id="473" r:id="rId147"/>
    <p:sldId id="475" r:id="rId148"/>
    <p:sldId id="476" r:id="rId149"/>
    <p:sldId id="613" r:id="rId150"/>
    <p:sldId id="614" r:id="rId151"/>
    <p:sldId id="477" r:id="rId152"/>
    <p:sldId id="478" r:id="rId153"/>
    <p:sldId id="479" r:id="rId154"/>
    <p:sldId id="480" r:id="rId155"/>
    <p:sldId id="483" r:id="rId156"/>
    <p:sldId id="484" r:id="rId157"/>
    <p:sldId id="485" r:id="rId158"/>
    <p:sldId id="481" r:id="rId159"/>
    <p:sldId id="482" r:id="rId160"/>
    <p:sldId id="486" r:id="rId161"/>
    <p:sldId id="487" r:id="rId162"/>
    <p:sldId id="489" r:id="rId163"/>
    <p:sldId id="574" r:id="rId164"/>
    <p:sldId id="585" r:id="rId165"/>
    <p:sldId id="340" r:id="rId166"/>
    <p:sldId id="341" r:id="rId167"/>
    <p:sldId id="615" r:id="rId168"/>
    <p:sldId id="616" r:id="rId169"/>
    <p:sldId id="617" r:id="rId170"/>
    <p:sldId id="618" r:id="rId171"/>
    <p:sldId id="335" r:id="rId172"/>
    <p:sldId id="336" r:id="rId173"/>
    <p:sldId id="342" r:id="rId174"/>
    <p:sldId id="466" r:id="rId175"/>
    <p:sldId id="353" r:id="rId176"/>
    <p:sldId id="354" r:id="rId177"/>
    <p:sldId id="355" r:id="rId178"/>
    <p:sldId id="356" r:id="rId179"/>
    <p:sldId id="357" r:id="rId180"/>
    <p:sldId id="358" r:id="rId181"/>
    <p:sldId id="359" r:id="rId182"/>
    <p:sldId id="360" r:id="rId183"/>
    <p:sldId id="361" r:id="rId184"/>
    <p:sldId id="492" r:id="rId185"/>
    <p:sldId id="493" r:id="rId186"/>
    <p:sldId id="494" r:id="rId187"/>
    <p:sldId id="495" r:id="rId188"/>
    <p:sldId id="496" r:id="rId189"/>
    <p:sldId id="497" r:id="rId190"/>
    <p:sldId id="498" r:id="rId191"/>
    <p:sldId id="499" r:id="rId192"/>
    <p:sldId id="586" r:id="rId193"/>
    <p:sldId id="587" r:id="rId194"/>
    <p:sldId id="588" r:id="rId195"/>
    <p:sldId id="500" r:id="rId196"/>
    <p:sldId id="501" r:id="rId197"/>
    <p:sldId id="502" r:id="rId198"/>
    <p:sldId id="503" r:id="rId199"/>
    <p:sldId id="504" r:id="rId200"/>
    <p:sldId id="507" r:id="rId201"/>
    <p:sldId id="511" r:id="rId202"/>
    <p:sldId id="512" r:id="rId203"/>
    <p:sldId id="513" r:id="rId204"/>
    <p:sldId id="514" r:id="rId205"/>
    <p:sldId id="505" r:id="rId206"/>
    <p:sldId id="589" r:id="rId207"/>
    <p:sldId id="508" r:id="rId208"/>
    <p:sldId id="509" r:id="rId209"/>
    <p:sldId id="510" r:id="rId210"/>
    <p:sldId id="506" r:id="rId211"/>
    <p:sldId id="518" r:id="rId212"/>
    <p:sldId id="519" r:id="rId213"/>
    <p:sldId id="520" r:id="rId214"/>
    <p:sldId id="521" r:id="rId215"/>
    <p:sldId id="522" r:id="rId216"/>
    <p:sldId id="523" r:id="rId217"/>
    <p:sldId id="524" r:id="rId218"/>
    <p:sldId id="525" r:id="rId219"/>
    <p:sldId id="526" r:id="rId220"/>
    <p:sldId id="527" r:id="rId2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5788"/>
  </p:normalViewPr>
  <p:slideViewPr>
    <p:cSldViewPr snapToGrid="0">
      <p:cViewPr varScale="1">
        <p:scale>
          <a:sx n="79" d="100"/>
          <a:sy n="79" d="100"/>
        </p:scale>
        <p:origin x="17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C248B5-AF32-C047-B03A-CD4599C2CA4A}" type="datetimeFigureOut">
              <a:rPr lang="en-US" smtClean="0"/>
              <a:t>10/31/25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680BA-8CA1-5043-86AD-B9B448F0986A}" type="slidenum">
              <a:rPr lang="en-US" smtClean="0"/>
              <a:t>‹#›</a:t>
            </a:fld>
            <a:endParaRPr lang="en-US"/>
          </a:p>
        </p:txBody>
      </p:sp>
    </p:spTree>
    <p:extLst>
      <p:ext uri="{BB962C8B-B14F-4D97-AF65-F5344CB8AC3E}">
        <p14:creationId xmlns:p14="http://schemas.microsoft.com/office/powerpoint/2010/main" val="3666151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D6CF2-0ABC-4268-819D-43A6BC0A26E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248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Slide Image Placeholder 1"/>
          <p:cNvSpPr>
            <a:spLocks noGrp="1" noRot="1" noChangeAspect="1" noTextEdit="1"/>
          </p:cNvSpPr>
          <p:nvPr>
            <p:ph type="sldImg"/>
          </p:nvPr>
        </p:nvSpPr>
        <p:spPr>
          <a:ln/>
        </p:spPr>
      </p:sp>
      <p:sp>
        <p:nvSpPr>
          <p:cNvPr id="453635" name="Notes Placeholder 2"/>
          <p:cNvSpPr>
            <a:spLocks noGrp="1"/>
          </p:cNvSpPr>
          <p:nvPr>
            <p:ph type="body" idx="1"/>
          </p:nvPr>
        </p:nvSpPr>
        <p:spPr>
          <a:noFill/>
          <a:ln/>
        </p:spPr>
        <p:txBody>
          <a:bodyPr/>
          <a:lstStyle/>
          <a:p>
            <a:endParaRPr lang="en-IN"/>
          </a:p>
        </p:txBody>
      </p:sp>
      <p:sp>
        <p:nvSpPr>
          <p:cNvPr id="453636"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1B2A5E-BE68-418F-B90A-100CC9ABBB3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42046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A2E4364-7597-4BCB-87F4-49E83640D047}" type="slidenum">
              <a:rPr lang="en-US"/>
              <a:pPr>
                <a:defRPr/>
              </a:pPr>
              <a:t>‹#›</a:t>
            </a:fld>
            <a:endParaRPr lang="en-US"/>
          </a:p>
        </p:txBody>
      </p:sp>
    </p:spTree>
    <p:extLst>
      <p:ext uri="{BB962C8B-B14F-4D97-AF65-F5344CB8AC3E}">
        <p14:creationId xmlns:p14="http://schemas.microsoft.com/office/powerpoint/2010/main" val="2151754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469EB86-B668-48AA-8F0B-94875A89E601}" type="slidenum">
              <a:rPr lang="en-US"/>
              <a:pPr>
                <a:defRPr/>
              </a:pPr>
              <a:t>‹#›</a:t>
            </a:fld>
            <a:endParaRPr lang="en-US"/>
          </a:p>
        </p:txBody>
      </p:sp>
    </p:spTree>
    <p:extLst>
      <p:ext uri="{BB962C8B-B14F-4D97-AF65-F5344CB8AC3E}">
        <p14:creationId xmlns:p14="http://schemas.microsoft.com/office/powerpoint/2010/main" val="4254993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601E16E-C4E7-4DF5-9036-F8A175739A67}" type="slidenum">
              <a:rPr lang="en-US"/>
              <a:pPr>
                <a:defRPr/>
              </a:pPr>
              <a:t>‹#›</a:t>
            </a:fld>
            <a:endParaRPr lang="en-US"/>
          </a:p>
        </p:txBody>
      </p:sp>
    </p:spTree>
    <p:extLst>
      <p:ext uri="{BB962C8B-B14F-4D97-AF65-F5344CB8AC3E}">
        <p14:creationId xmlns:p14="http://schemas.microsoft.com/office/powerpoint/2010/main" val="1519781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3F3CE70-37FF-444A-BEFC-8D117471E7DD}" type="slidenum">
              <a:rPr lang="en-US"/>
              <a:pPr>
                <a:defRPr/>
              </a:pPr>
              <a:t>‹#›</a:t>
            </a:fld>
            <a:endParaRPr lang="en-US"/>
          </a:p>
        </p:txBody>
      </p:sp>
    </p:spTree>
    <p:extLst>
      <p:ext uri="{BB962C8B-B14F-4D97-AF65-F5344CB8AC3E}">
        <p14:creationId xmlns:p14="http://schemas.microsoft.com/office/powerpoint/2010/main" val="278859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7BE217EF-A8A8-4CD0-9EC1-14A331C1D928}" type="slidenum">
              <a:rPr lang="en-US"/>
              <a:pPr>
                <a:defRPr/>
              </a:pPr>
              <a:t>‹#›</a:t>
            </a:fld>
            <a:endParaRPr lang="en-US"/>
          </a:p>
        </p:txBody>
      </p:sp>
    </p:spTree>
    <p:extLst>
      <p:ext uri="{BB962C8B-B14F-4D97-AF65-F5344CB8AC3E}">
        <p14:creationId xmlns:p14="http://schemas.microsoft.com/office/powerpoint/2010/main" val="2675093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275DC95-D84B-4FCA-ADD9-182365124AFE}" type="slidenum">
              <a:rPr lang="en-US"/>
              <a:pPr>
                <a:defRPr/>
              </a:pPr>
              <a:t>‹#›</a:t>
            </a:fld>
            <a:endParaRPr lang="en-US"/>
          </a:p>
        </p:txBody>
      </p:sp>
    </p:spTree>
    <p:extLst>
      <p:ext uri="{BB962C8B-B14F-4D97-AF65-F5344CB8AC3E}">
        <p14:creationId xmlns:p14="http://schemas.microsoft.com/office/powerpoint/2010/main" val="1735203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AFB0962B-00AB-4332-8A6C-3C83F6B40E85}" type="slidenum">
              <a:rPr lang="en-US"/>
              <a:pPr>
                <a:defRPr/>
              </a:pPr>
              <a:t>‹#›</a:t>
            </a:fld>
            <a:endParaRPr lang="en-US"/>
          </a:p>
        </p:txBody>
      </p:sp>
    </p:spTree>
    <p:extLst>
      <p:ext uri="{BB962C8B-B14F-4D97-AF65-F5344CB8AC3E}">
        <p14:creationId xmlns:p14="http://schemas.microsoft.com/office/powerpoint/2010/main" val="3597447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EFD2B7A-9592-463B-AA4E-C6C625F1613D}" type="slidenum">
              <a:rPr lang="en-US"/>
              <a:pPr>
                <a:defRPr/>
              </a:pPr>
              <a:t>‹#›</a:t>
            </a:fld>
            <a:endParaRPr lang="en-US"/>
          </a:p>
        </p:txBody>
      </p:sp>
    </p:spTree>
    <p:extLst>
      <p:ext uri="{BB962C8B-B14F-4D97-AF65-F5344CB8AC3E}">
        <p14:creationId xmlns:p14="http://schemas.microsoft.com/office/powerpoint/2010/main" val="3032719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D60C991-ADFA-462C-8D45-81432ED54D41}" type="slidenum">
              <a:rPr lang="en-US"/>
              <a:pPr>
                <a:defRPr/>
              </a:pPr>
              <a:t>‹#›</a:t>
            </a:fld>
            <a:endParaRPr lang="en-US"/>
          </a:p>
        </p:txBody>
      </p:sp>
    </p:spTree>
    <p:extLst>
      <p:ext uri="{BB962C8B-B14F-4D97-AF65-F5344CB8AC3E}">
        <p14:creationId xmlns:p14="http://schemas.microsoft.com/office/powerpoint/2010/main" val="265006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CA48AF0-0AE7-422F-8ED7-6B788AB9F57D}" type="slidenum">
              <a:rPr lang="en-US"/>
              <a:pPr>
                <a:defRPr/>
              </a:pPr>
              <a:t>‹#›</a:t>
            </a:fld>
            <a:endParaRPr lang="en-US"/>
          </a:p>
        </p:txBody>
      </p:sp>
    </p:spTree>
    <p:extLst>
      <p:ext uri="{BB962C8B-B14F-4D97-AF65-F5344CB8AC3E}">
        <p14:creationId xmlns:p14="http://schemas.microsoft.com/office/powerpoint/2010/main" val="3747530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A118EB8-8B9B-428C-ADCB-52B44E306EFB}" type="slidenum">
              <a:rPr lang="en-US"/>
              <a:pPr>
                <a:defRPr/>
              </a:pPr>
              <a:t>‹#›</a:t>
            </a:fld>
            <a:endParaRPr lang="en-US"/>
          </a:p>
        </p:txBody>
      </p:sp>
    </p:spTree>
    <p:extLst>
      <p:ext uri="{BB962C8B-B14F-4D97-AF65-F5344CB8AC3E}">
        <p14:creationId xmlns:p14="http://schemas.microsoft.com/office/powerpoint/2010/main" val="1856694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DBA98565-464C-41A5-9477-AE7E76CEE485}" type="slidenum">
              <a:rPr lang="en-US"/>
              <a:pPr>
                <a:defRPr/>
              </a:pPr>
              <a:t>‹#›</a:t>
            </a:fld>
            <a:endParaRPr lang="en-US"/>
          </a:p>
        </p:txBody>
      </p:sp>
    </p:spTree>
    <p:extLst>
      <p:ext uri="{BB962C8B-B14F-4D97-AF65-F5344CB8AC3E}">
        <p14:creationId xmlns:p14="http://schemas.microsoft.com/office/powerpoint/2010/main" val="1336109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F3441794-A2B8-4E7F-9065-307843A49A37}" type="slidenum">
              <a:rPr lang="en-US"/>
              <a:pPr>
                <a:defRPr/>
              </a:pPr>
              <a:t>‹#›</a:t>
            </a:fld>
            <a:endParaRPr lang="en-US"/>
          </a:p>
        </p:txBody>
      </p:sp>
    </p:spTree>
    <p:extLst>
      <p:ext uri="{BB962C8B-B14F-4D97-AF65-F5344CB8AC3E}">
        <p14:creationId xmlns:p14="http://schemas.microsoft.com/office/powerpoint/2010/main" val="36452616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imes New Roman" pitchFamily="18" charset="0"/>
        </a:defRPr>
      </a:lvl2pPr>
      <a:lvl3pPr algn="ctr" rtl="0" eaLnBrk="0" fontAlgn="base" hangingPunct="0">
        <a:spcBef>
          <a:spcPct val="0"/>
        </a:spcBef>
        <a:spcAft>
          <a:spcPct val="0"/>
        </a:spcAft>
        <a:defRPr sz="3200">
          <a:solidFill>
            <a:schemeClr val="tx2"/>
          </a:solidFill>
          <a:latin typeface="Times New Roman" pitchFamily="18" charset="0"/>
        </a:defRPr>
      </a:lvl3pPr>
      <a:lvl4pPr algn="ctr" rtl="0" eaLnBrk="0" fontAlgn="base" hangingPunct="0">
        <a:spcBef>
          <a:spcPct val="0"/>
        </a:spcBef>
        <a:spcAft>
          <a:spcPct val="0"/>
        </a:spcAft>
        <a:defRPr sz="3200">
          <a:solidFill>
            <a:schemeClr val="tx2"/>
          </a:solidFill>
          <a:latin typeface="Times New Roman" pitchFamily="18" charset="0"/>
        </a:defRPr>
      </a:lvl4pPr>
      <a:lvl5pPr algn="ctr" rtl="0" eaLnBrk="0" fontAlgn="base" hangingPunct="0">
        <a:spcBef>
          <a:spcPct val="0"/>
        </a:spcBef>
        <a:spcAft>
          <a:spcPct val="0"/>
        </a:spcAft>
        <a:defRPr sz="3200">
          <a:solidFill>
            <a:schemeClr val="tx2"/>
          </a:solidFill>
          <a:latin typeface="Times New Roman" pitchFamily="18" charset="0"/>
        </a:defRPr>
      </a:lvl5pPr>
      <a:lvl6pPr marL="457200" algn="ctr" rtl="0" fontAlgn="base">
        <a:spcBef>
          <a:spcPct val="0"/>
        </a:spcBef>
        <a:spcAft>
          <a:spcPct val="0"/>
        </a:spcAft>
        <a:defRPr sz="3200">
          <a:solidFill>
            <a:schemeClr val="tx2"/>
          </a:solidFill>
          <a:latin typeface="Times New Roman" pitchFamily="18" charset="0"/>
        </a:defRPr>
      </a:lvl6pPr>
      <a:lvl7pPr marL="914400" algn="ctr" rtl="0" fontAlgn="base">
        <a:spcBef>
          <a:spcPct val="0"/>
        </a:spcBef>
        <a:spcAft>
          <a:spcPct val="0"/>
        </a:spcAft>
        <a:defRPr sz="3200">
          <a:solidFill>
            <a:schemeClr val="tx2"/>
          </a:solidFill>
          <a:latin typeface="Times New Roman" pitchFamily="18" charset="0"/>
        </a:defRPr>
      </a:lvl7pPr>
      <a:lvl8pPr marL="1371600" algn="ctr" rtl="0" fontAlgn="base">
        <a:spcBef>
          <a:spcPct val="0"/>
        </a:spcBef>
        <a:spcAft>
          <a:spcPct val="0"/>
        </a:spcAft>
        <a:defRPr sz="3200">
          <a:solidFill>
            <a:schemeClr val="tx2"/>
          </a:solidFill>
          <a:latin typeface="Times New Roman" pitchFamily="18" charset="0"/>
        </a:defRPr>
      </a:lvl8pPr>
      <a:lvl9pPr marL="1828800" algn="ctr" rtl="0" fontAlgn="base">
        <a:spcBef>
          <a:spcPct val="0"/>
        </a:spcBef>
        <a:spcAft>
          <a:spcPct val="0"/>
        </a:spcAft>
        <a:defRPr sz="32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2209800" y="2133601"/>
            <a:ext cx="7772400" cy="1470025"/>
          </a:xfrm>
        </p:spPr>
        <p:txBody>
          <a:bodyPr/>
          <a:lstStyle/>
          <a:p>
            <a:pPr eaLnBrk="1" hangingPunct="1"/>
            <a:r>
              <a:rPr lang="en-US" sz="5400" b="1"/>
              <a:t>Data structure</a:t>
            </a:r>
          </a:p>
        </p:txBody>
      </p:sp>
      <p:sp>
        <p:nvSpPr>
          <p:cNvPr id="7171" name="Rectangle 3"/>
          <p:cNvSpPr>
            <a:spLocks noGrp="1" noChangeArrowheads="1"/>
          </p:cNvSpPr>
          <p:nvPr>
            <p:ph type="subTitle" idx="1"/>
          </p:nvPr>
        </p:nvSpPr>
        <p:spPr/>
        <p:txBody>
          <a:bodyPr/>
          <a:lstStyle/>
          <a:p>
            <a:pPr eaLnBrk="1" hangingPunct="1"/>
            <a:endParaRPr lang="en-US"/>
          </a:p>
        </p:txBody>
      </p:sp>
    </p:spTree>
    <p:extLst>
      <p:ext uri="{BB962C8B-B14F-4D97-AF65-F5344CB8AC3E}">
        <p14:creationId xmlns:p14="http://schemas.microsoft.com/office/powerpoint/2010/main" val="207738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667819" y="523220"/>
            <a:ext cx="10911155" cy="6334779"/>
          </a:xfrm>
        </p:spPr>
        <p:txBody>
          <a:bodyPr/>
          <a:lstStyle/>
          <a:p>
            <a:pPr eaLnBrk="1" hangingPunct="1">
              <a:lnSpc>
                <a:spcPct val="80000"/>
              </a:lnSpc>
              <a:buFontTx/>
              <a:buNone/>
            </a:pPr>
            <a:r>
              <a:rPr lang="en-US" sz="2000" dirty="0"/>
              <a:t>	</a:t>
            </a:r>
          </a:p>
          <a:p>
            <a:pPr algn="just" eaLnBrk="1" hangingPunct="1">
              <a:lnSpc>
                <a:spcPct val="80000"/>
              </a:lnSpc>
              <a:buFontTx/>
              <a:buNone/>
            </a:pPr>
            <a:r>
              <a:rPr lang="en-US" sz="2000" dirty="0"/>
              <a:t>     </a:t>
            </a:r>
            <a:r>
              <a:rPr lang="en-US" dirty="0"/>
              <a:t>The logical and mathematical model of a particular organization of data is called </a:t>
            </a:r>
            <a:r>
              <a:rPr lang="en-US" b="1" dirty="0"/>
              <a:t>Data structure</a:t>
            </a:r>
            <a:r>
              <a:rPr lang="en-US" dirty="0"/>
              <a:t>. The main characteristics of a data structure are:</a:t>
            </a:r>
          </a:p>
          <a:p>
            <a:pPr marL="0" indent="0" eaLnBrk="1" hangingPunct="1">
              <a:lnSpc>
                <a:spcPct val="80000"/>
              </a:lnSpc>
              <a:buNone/>
            </a:pPr>
            <a:endParaRPr lang="en-US" sz="1400" dirty="0"/>
          </a:p>
          <a:p>
            <a:pPr marL="0" indent="0" eaLnBrk="1" hangingPunct="1">
              <a:lnSpc>
                <a:spcPct val="80000"/>
              </a:lnSpc>
              <a:buNone/>
            </a:pPr>
            <a:r>
              <a:rPr lang="en-US" b="1" u="sng" dirty="0"/>
              <a:t>Common Characteristics of Data Structures:</a:t>
            </a:r>
          </a:p>
          <a:p>
            <a:pPr eaLnBrk="1" hangingPunct="1">
              <a:lnSpc>
                <a:spcPct val="150000"/>
              </a:lnSpc>
            </a:pPr>
            <a:r>
              <a:rPr lang="en-US" dirty="0"/>
              <a:t>Contains </a:t>
            </a:r>
            <a:r>
              <a:rPr lang="en-US" b="1" dirty="0"/>
              <a:t>component data items</a:t>
            </a:r>
            <a:r>
              <a:rPr lang="en-US" dirty="0"/>
              <a:t> which may be atomic or another data structure</a:t>
            </a:r>
          </a:p>
          <a:p>
            <a:pPr eaLnBrk="1" hangingPunct="1">
              <a:lnSpc>
                <a:spcPct val="150000"/>
              </a:lnSpc>
            </a:pPr>
            <a:r>
              <a:rPr lang="en-US" dirty="0"/>
              <a:t>A </a:t>
            </a:r>
            <a:r>
              <a:rPr lang="en-US" b="1" dirty="0"/>
              <a:t>set of operations</a:t>
            </a:r>
            <a:r>
              <a:rPr lang="en-US" dirty="0"/>
              <a:t> on one or more of the component items</a:t>
            </a:r>
          </a:p>
          <a:p>
            <a:pPr eaLnBrk="1" hangingPunct="1">
              <a:lnSpc>
                <a:spcPct val="150000"/>
              </a:lnSpc>
            </a:pPr>
            <a:r>
              <a:rPr lang="en-US" b="1" dirty="0"/>
              <a:t>Defined rules</a:t>
            </a:r>
            <a:r>
              <a:rPr lang="en-US" dirty="0"/>
              <a:t> as to how components relate to each other and to the structure as a whole</a:t>
            </a:r>
          </a:p>
          <a:p>
            <a:pPr eaLnBrk="1" hangingPunct="1">
              <a:lnSpc>
                <a:spcPct val="80000"/>
              </a:lnSpc>
              <a:buFontTx/>
              <a:buNone/>
            </a:pPr>
            <a:r>
              <a:rPr lang="en-US" dirty="0"/>
              <a:t>The choice of a particular data structure depends on following consideration:</a:t>
            </a:r>
          </a:p>
          <a:p>
            <a:pPr algn="just" eaLnBrk="1" hangingPunct="1">
              <a:lnSpc>
                <a:spcPct val="80000"/>
              </a:lnSpc>
            </a:pPr>
            <a:r>
              <a:rPr lang="en-US" dirty="0"/>
              <a:t>It must be rich enough in structure to mirror actual relationships of data in real world for example the hierarchical relationship of the entities is best described by the “</a:t>
            </a:r>
            <a:r>
              <a:rPr lang="en-US" b="1" u="sng" dirty="0"/>
              <a:t>tree</a:t>
            </a:r>
            <a:r>
              <a:rPr lang="en-US" dirty="0"/>
              <a:t>” data structure.</a:t>
            </a:r>
          </a:p>
          <a:p>
            <a:pPr marL="0" indent="0" eaLnBrk="1" hangingPunct="1">
              <a:lnSpc>
                <a:spcPct val="80000"/>
              </a:lnSpc>
              <a:buNone/>
            </a:pPr>
            <a:endParaRPr lang="en-US" dirty="0"/>
          </a:p>
          <a:p>
            <a:pPr eaLnBrk="1" hangingPunct="1">
              <a:lnSpc>
                <a:spcPct val="80000"/>
              </a:lnSpc>
            </a:pPr>
            <a:r>
              <a:rPr lang="en-US" dirty="0"/>
              <a:t>The structure should be simple enough that one can effectively process the data when necessary.</a:t>
            </a:r>
          </a:p>
        </p:txBody>
      </p:sp>
      <p:sp>
        <p:nvSpPr>
          <p:cNvPr id="2" name="TextBox 1">
            <a:extLst>
              <a:ext uri="{FF2B5EF4-FFF2-40B4-BE49-F238E27FC236}">
                <a16:creationId xmlns:a16="http://schemas.microsoft.com/office/drawing/2014/main" id="{D1748464-E11A-E547-91B3-2A5FDDEA3616}"/>
              </a:ext>
            </a:extLst>
          </p:cNvPr>
          <p:cNvSpPr txBox="1"/>
          <p:nvPr/>
        </p:nvSpPr>
        <p:spPr>
          <a:xfrm>
            <a:off x="1407560" y="0"/>
            <a:ext cx="925701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Times New Roman"/>
                <a:ea typeface="+mn-ea"/>
                <a:cs typeface="+mn-cs"/>
              </a:rPr>
              <a:t>Data Structure: Definition</a:t>
            </a:r>
          </a:p>
        </p:txBody>
      </p:sp>
    </p:spTree>
    <p:extLst>
      <p:ext uri="{BB962C8B-B14F-4D97-AF65-F5344CB8AC3E}">
        <p14:creationId xmlns:p14="http://schemas.microsoft.com/office/powerpoint/2010/main" val="49466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1AB8D-2D04-DD4A-9C6A-814B56D0243B}"/>
              </a:ext>
            </a:extLst>
          </p:cNvPr>
          <p:cNvSpPr>
            <a:spLocks noGrp="1"/>
          </p:cNvSpPr>
          <p:nvPr>
            <p:ph type="title"/>
          </p:nvPr>
        </p:nvSpPr>
        <p:spPr>
          <a:xfrm>
            <a:off x="609600" y="0"/>
            <a:ext cx="10972800" cy="678094"/>
          </a:xfrm>
        </p:spPr>
        <p:txBody>
          <a:bodyPr/>
          <a:lstStyle/>
          <a:p>
            <a:r>
              <a:rPr lang="en-US" dirty="0"/>
              <a:t>Practical Applications of Data Structures</a:t>
            </a:r>
          </a:p>
        </p:txBody>
      </p:sp>
      <p:sp>
        <p:nvSpPr>
          <p:cNvPr id="3" name="Content Placeholder 2">
            <a:extLst>
              <a:ext uri="{FF2B5EF4-FFF2-40B4-BE49-F238E27FC236}">
                <a16:creationId xmlns:a16="http://schemas.microsoft.com/office/drawing/2014/main" id="{7C509507-EB84-174B-8CC1-62B4E6FAFAEF}"/>
              </a:ext>
            </a:extLst>
          </p:cNvPr>
          <p:cNvSpPr>
            <a:spLocks noGrp="1"/>
          </p:cNvSpPr>
          <p:nvPr>
            <p:ph idx="1"/>
          </p:nvPr>
        </p:nvSpPr>
        <p:spPr>
          <a:xfrm>
            <a:off x="383569" y="952929"/>
            <a:ext cx="10972800" cy="5519790"/>
          </a:xfrm>
        </p:spPr>
        <p:txBody>
          <a:bodyPr/>
          <a:lstStyle/>
          <a:p>
            <a:r>
              <a:rPr lang="en-IN" dirty="0"/>
              <a:t>Score Board of a game is an example of array application.</a:t>
            </a:r>
          </a:p>
          <a:p>
            <a:r>
              <a:rPr lang="en-IN" dirty="0"/>
              <a:t>A simple question Paper is an array of numbered questions with each of them assigned some marks.</a:t>
            </a:r>
          </a:p>
          <a:p>
            <a:r>
              <a:rPr lang="en-IN" u="sng" dirty="0"/>
              <a:t>2D arrays</a:t>
            </a:r>
            <a:r>
              <a:rPr lang="en-IN" dirty="0"/>
              <a:t>, commonly known as, matrices, are used in image processing.</a:t>
            </a:r>
          </a:p>
          <a:p>
            <a:r>
              <a:rPr lang="en-IN" dirty="0"/>
              <a:t>Speech processing, in which each speech signal is an array. </a:t>
            </a:r>
          </a:p>
          <a:p>
            <a:r>
              <a:rPr lang="en-IN" dirty="0"/>
              <a:t>Your viewing screen is also a multidimensional array of pixels.</a:t>
            </a:r>
          </a:p>
          <a:p>
            <a:r>
              <a:rPr lang="en-IN" dirty="0"/>
              <a:t>Book titles in a Library Management Systems.</a:t>
            </a:r>
          </a:p>
          <a:p>
            <a:r>
              <a:rPr lang="en-IN" dirty="0"/>
              <a:t>Online ticket booking.</a:t>
            </a:r>
          </a:p>
          <a:p>
            <a:r>
              <a:rPr lang="en-IN" dirty="0"/>
              <a:t>Contacts on a cell phone.</a:t>
            </a:r>
          </a:p>
          <a:p>
            <a:r>
              <a:rPr lang="en-IN" dirty="0"/>
              <a:t>For CPU scheduling in computer.</a:t>
            </a:r>
          </a:p>
          <a:p>
            <a:r>
              <a:rPr lang="en-IN" dirty="0"/>
              <a:t>To store the possible moves of chess on a chessboard.</a:t>
            </a:r>
          </a:p>
          <a:p>
            <a:r>
              <a:rPr lang="en-IN" dirty="0"/>
              <a:t>To store images of a specific size on an android or laptop.</a:t>
            </a:r>
          </a:p>
          <a:p>
            <a:endParaRPr lang="en-US" dirty="0"/>
          </a:p>
        </p:txBody>
      </p:sp>
    </p:spTree>
    <p:extLst>
      <p:ext uri="{BB962C8B-B14F-4D97-AF65-F5344CB8AC3E}">
        <p14:creationId xmlns:p14="http://schemas.microsoft.com/office/powerpoint/2010/main" val="105826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CD1E5-037B-9B41-935F-BB3C2FDC5C60}"/>
              </a:ext>
            </a:extLst>
          </p:cNvPr>
          <p:cNvSpPr>
            <a:spLocks noGrp="1"/>
          </p:cNvSpPr>
          <p:nvPr>
            <p:ph type="title"/>
          </p:nvPr>
        </p:nvSpPr>
        <p:spPr>
          <a:xfrm>
            <a:off x="609600" y="0"/>
            <a:ext cx="10972800" cy="845245"/>
          </a:xfrm>
        </p:spPr>
        <p:txBody>
          <a:bodyPr/>
          <a:lstStyle/>
          <a:p>
            <a:r>
              <a:rPr lang="en-US" dirty="0"/>
              <a:t>Categorization of Data Structures</a:t>
            </a:r>
          </a:p>
        </p:txBody>
      </p:sp>
      <p:sp>
        <p:nvSpPr>
          <p:cNvPr id="3" name="Content Placeholder 2">
            <a:extLst>
              <a:ext uri="{FF2B5EF4-FFF2-40B4-BE49-F238E27FC236}">
                <a16:creationId xmlns:a16="http://schemas.microsoft.com/office/drawing/2014/main" id="{6D380B16-612A-6F42-BB8F-98E8D1B7B3FD}"/>
              </a:ext>
            </a:extLst>
          </p:cNvPr>
          <p:cNvSpPr>
            <a:spLocks noGrp="1"/>
          </p:cNvSpPr>
          <p:nvPr>
            <p:ph idx="1"/>
          </p:nvPr>
        </p:nvSpPr>
        <p:spPr>
          <a:xfrm>
            <a:off x="609600" y="716623"/>
            <a:ext cx="10972800" cy="6141377"/>
          </a:xfrm>
        </p:spPr>
        <p:txBody>
          <a:bodyPr/>
          <a:lstStyle/>
          <a:p>
            <a:endParaRPr lang="en-US" dirty="0"/>
          </a:p>
          <a:p>
            <a:endParaRPr lang="en-US" dirty="0"/>
          </a:p>
          <a:p>
            <a:r>
              <a:rPr lang="en-US" dirty="0"/>
              <a:t>Linear and Non Linear</a:t>
            </a:r>
          </a:p>
          <a:p>
            <a:endParaRPr lang="en-US" dirty="0"/>
          </a:p>
          <a:p>
            <a:r>
              <a:rPr lang="en-US" dirty="0"/>
              <a:t>Heterogenous and Homogenous</a:t>
            </a:r>
          </a:p>
          <a:p>
            <a:endParaRPr lang="en-US" dirty="0"/>
          </a:p>
          <a:p>
            <a:r>
              <a:rPr lang="en-US" dirty="0"/>
              <a:t>Static and Dynamic</a:t>
            </a:r>
          </a:p>
        </p:txBody>
      </p:sp>
    </p:spTree>
    <p:extLst>
      <p:ext uri="{BB962C8B-B14F-4D97-AF65-F5344CB8AC3E}">
        <p14:creationId xmlns:p14="http://schemas.microsoft.com/office/powerpoint/2010/main" val="4205448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1524000" y="0"/>
            <a:ext cx="9144000" cy="6858000"/>
          </a:xfrm>
        </p:spPr>
        <p:txBody>
          <a:bodyPr/>
          <a:lstStyle/>
          <a:p>
            <a:pPr eaLnBrk="1" hangingPunct="1">
              <a:buFontTx/>
              <a:buNone/>
            </a:pPr>
            <a:endParaRPr lang="en-US" dirty="0"/>
          </a:p>
          <a:p>
            <a:pPr eaLnBrk="1" hangingPunct="1"/>
            <a:r>
              <a:rPr lang="en-US" b="1" dirty="0"/>
              <a:t>Linear data structure-</a:t>
            </a:r>
            <a:r>
              <a:rPr lang="en-US" dirty="0"/>
              <a:t> A data structure whose elements form a sequence, and every element in structure has a unique </a:t>
            </a:r>
            <a:r>
              <a:rPr lang="en-US" b="1" dirty="0"/>
              <a:t>predecessor</a:t>
            </a:r>
            <a:r>
              <a:rPr lang="en-US" dirty="0"/>
              <a:t> and a unique </a:t>
            </a:r>
            <a:r>
              <a:rPr lang="en-US" b="1" dirty="0"/>
              <a:t>successor</a:t>
            </a:r>
            <a:r>
              <a:rPr lang="en-US" dirty="0"/>
              <a:t>. Examples of linear data structure are:</a:t>
            </a:r>
          </a:p>
          <a:p>
            <a:pPr eaLnBrk="1" hangingPunct="1"/>
            <a:endParaRPr lang="en-US" b="1" dirty="0"/>
          </a:p>
          <a:p>
            <a:pPr eaLnBrk="1" hangingPunct="1"/>
            <a:r>
              <a:rPr lang="en-US" b="1" dirty="0"/>
              <a:t>Arrays</a:t>
            </a:r>
          </a:p>
          <a:p>
            <a:pPr eaLnBrk="1" hangingPunct="1"/>
            <a:r>
              <a:rPr lang="en-US" b="1" dirty="0"/>
              <a:t>Linked Lists</a:t>
            </a:r>
          </a:p>
          <a:p>
            <a:pPr eaLnBrk="1" hangingPunct="1"/>
            <a:r>
              <a:rPr lang="en-US" b="1" dirty="0"/>
              <a:t>Stacks</a:t>
            </a:r>
          </a:p>
          <a:p>
            <a:pPr eaLnBrk="1" hangingPunct="1"/>
            <a:r>
              <a:rPr lang="en-US" b="1" dirty="0"/>
              <a:t>Queues</a:t>
            </a:r>
          </a:p>
          <a:p>
            <a:pPr eaLnBrk="1" hangingPunct="1"/>
            <a:endParaRPr lang="en-US" b="1" dirty="0"/>
          </a:p>
          <a:p>
            <a:pPr eaLnBrk="1" hangingPunct="1"/>
            <a:r>
              <a:rPr lang="en-US" b="1" dirty="0"/>
              <a:t>Non-Linear data structures-</a:t>
            </a:r>
            <a:r>
              <a:rPr lang="en-US" dirty="0"/>
              <a:t> A data structure whose elements do not form a sequence. There is no unique predecessor or unique successor. Examples of non linear data structures </a:t>
            </a:r>
          </a:p>
          <a:p>
            <a:pPr eaLnBrk="1" hangingPunct="1"/>
            <a:r>
              <a:rPr lang="en-US" b="1" dirty="0"/>
              <a:t>Trees</a:t>
            </a:r>
          </a:p>
          <a:p>
            <a:pPr eaLnBrk="1" hangingPunct="1"/>
            <a:r>
              <a:rPr lang="en-US" b="1" dirty="0"/>
              <a:t>Graphs</a:t>
            </a:r>
          </a:p>
          <a:p>
            <a:pPr eaLnBrk="1" hangingPunct="1">
              <a:buFontTx/>
              <a:buNone/>
            </a:pPr>
            <a:endParaRPr lang="en-US" dirty="0"/>
          </a:p>
          <a:p>
            <a:pPr eaLnBrk="1" hangingPunct="1"/>
            <a:endParaRPr lang="en-US" b="1" dirty="0"/>
          </a:p>
        </p:txBody>
      </p:sp>
    </p:spTree>
    <p:extLst>
      <p:ext uri="{BB962C8B-B14F-4D97-AF65-F5344CB8AC3E}">
        <p14:creationId xmlns:p14="http://schemas.microsoft.com/office/powerpoint/2010/main" val="2296386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3" end="3"/>
                                            </p:txEl>
                                          </p:spTgt>
                                        </p:tgtEl>
                                        <p:attrNameLst>
                                          <p:attrName>style.visibility</p:attrName>
                                        </p:attrNameLst>
                                      </p:cBhvr>
                                      <p:to>
                                        <p:strVal val="visible"/>
                                      </p:to>
                                    </p:set>
                                    <p:animEffect transition="in" filter="blinds(horizontal)">
                                      <p:cBhvr>
                                        <p:cTn id="7" dur="500"/>
                                        <p:tgtEl>
                                          <p:spTgt spid="409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9">
                                            <p:txEl>
                                              <p:pRg st="4" end="4"/>
                                            </p:txEl>
                                          </p:spTgt>
                                        </p:tgtEl>
                                        <p:attrNameLst>
                                          <p:attrName>style.visibility</p:attrName>
                                        </p:attrNameLst>
                                      </p:cBhvr>
                                      <p:to>
                                        <p:strVal val="visible"/>
                                      </p:to>
                                    </p:set>
                                    <p:animEffect transition="in" filter="blinds(horizontal)">
                                      <p:cBhvr>
                                        <p:cTn id="12" dur="500"/>
                                        <p:tgtEl>
                                          <p:spTgt spid="409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99">
                                            <p:txEl>
                                              <p:pRg st="5" end="5"/>
                                            </p:txEl>
                                          </p:spTgt>
                                        </p:tgtEl>
                                        <p:attrNameLst>
                                          <p:attrName>style.visibility</p:attrName>
                                        </p:attrNameLst>
                                      </p:cBhvr>
                                      <p:to>
                                        <p:strVal val="visible"/>
                                      </p:to>
                                    </p:set>
                                    <p:animEffect transition="in" filter="blinds(horizontal)">
                                      <p:cBhvr>
                                        <p:cTn id="17" dur="500"/>
                                        <p:tgtEl>
                                          <p:spTgt spid="4099">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99">
                                            <p:txEl>
                                              <p:pRg st="6" end="6"/>
                                            </p:txEl>
                                          </p:spTgt>
                                        </p:tgtEl>
                                        <p:attrNameLst>
                                          <p:attrName>style.visibility</p:attrName>
                                        </p:attrNameLst>
                                      </p:cBhvr>
                                      <p:to>
                                        <p:strVal val="visible"/>
                                      </p:to>
                                    </p:set>
                                    <p:animEffect transition="in" filter="blinds(horizontal)">
                                      <p:cBhvr>
                                        <p:cTn id="22" dur="500"/>
                                        <p:tgtEl>
                                          <p:spTgt spid="409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099">
                                            <p:txEl>
                                              <p:pRg st="8" end="8"/>
                                            </p:txEl>
                                          </p:spTgt>
                                        </p:tgtEl>
                                        <p:attrNameLst>
                                          <p:attrName>style.visibility</p:attrName>
                                        </p:attrNameLst>
                                      </p:cBhvr>
                                      <p:to>
                                        <p:strVal val="visible"/>
                                      </p:to>
                                    </p:set>
                                    <p:animEffect transition="in" filter="blinds(horizontal)">
                                      <p:cBhvr>
                                        <p:cTn id="27" dur="500"/>
                                        <p:tgtEl>
                                          <p:spTgt spid="4099">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099">
                                            <p:txEl>
                                              <p:pRg st="9" end="9"/>
                                            </p:txEl>
                                          </p:spTgt>
                                        </p:tgtEl>
                                        <p:attrNameLst>
                                          <p:attrName>style.visibility</p:attrName>
                                        </p:attrNameLst>
                                      </p:cBhvr>
                                      <p:to>
                                        <p:strVal val="visible"/>
                                      </p:to>
                                    </p:set>
                                    <p:animEffect transition="in" filter="blinds(horizontal)">
                                      <p:cBhvr>
                                        <p:cTn id="32" dur="500"/>
                                        <p:tgtEl>
                                          <p:spTgt spid="4099">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099">
                                            <p:txEl>
                                              <p:pRg st="10" end="10"/>
                                            </p:txEl>
                                          </p:spTgt>
                                        </p:tgtEl>
                                        <p:attrNameLst>
                                          <p:attrName>style.visibility</p:attrName>
                                        </p:attrNameLst>
                                      </p:cBhvr>
                                      <p:to>
                                        <p:strVal val="visible"/>
                                      </p:to>
                                    </p:set>
                                    <p:animEffect transition="in" filter="blinds(horizontal)">
                                      <p:cBhvr>
                                        <p:cTn id="37" dur="500"/>
                                        <p:tgtEl>
                                          <p:spTgt spid="409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body" idx="1"/>
          </p:nvPr>
        </p:nvSpPr>
        <p:spPr>
          <a:xfrm>
            <a:off x="1524000" y="0"/>
            <a:ext cx="9144000" cy="6858000"/>
          </a:xfrm>
        </p:spPr>
        <p:txBody>
          <a:bodyPr/>
          <a:lstStyle/>
          <a:p>
            <a:pPr eaLnBrk="1" hangingPunct="1"/>
            <a:r>
              <a:rPr lang="en-US" b="1" dirty="0"/>
              <a:t>Linear Data Structures</a:t>
            </a:r>
          </a:p>
          <a:p>
            <a:pPr eaLnBrk="1" hangingPunct="1">
              <a:buFontTx/>
              <a:buNone/>
            </a:pPr>
            <a:endParaRPr lang="en-US" b="1" dirty="0"/>
          </a:p>
          <a:p>
            <a:pPr eaLnBrk="1" hangingPunct="1"/>
            <a:r>
              <a:rPr lang="en-US" b="1" dirty="0"/>
              <a:t>Arrays</a:t>
            </a:r>
            <a:r>
              <a:rPr lang="en-US" dirty="0"/>
              <a:t>- An array is a list of finite number of elements of same data type. The individual elements of an array are accessed using an index or indices to the array. Depending on number of indices required to access an individual element of an array, array can be classified as:</a:t>
            </a:r>
          </a:p>
          <a:p>
            <a:pPr lvl="2" eaLnBrk="1" hangingPunct="1"/>
            <a:r>
              <a:rPr lang="en-US" dirty="0"/>
              <a:t>One-dimensional array or linear array that requires only one index to access an individual element of an array </a:t>
            </a:r>
          </a:p>
          <a:p>
            <a:pPr lvl="2" eaLnBrk="1" hangingPunct="1">
              <a:buFontTx/>
              <a:buNone/>
            </a:pPr>
            <a:endParaRPr lang="en-US" dirty="0"/>
          </a:p>
          <a:p>
            <a:pPr lvl="2" eaLnBrk="1" hangingPunct="1"/>
            <a:r>
              <a:rPr lang="en-US" dirty="0"/>
              <a:t>Two dimensional array that requires two indices to access an individual element of array</a:t>
            </a:r>
          </a:p>
          <a:p>
            <a:pPr lvl="2" eaLnBrk="1" hangingPunct="1">
              <a:buFontTx/>
              <a:buNone/>
            </a:pPr>
            <a:endParaRPr lang="en-US" dirty="0"/>
          </a:p>
          <a:p>
            <a:pPr lvl="2" eaLnBrk="1" hangingPunct="1"/>
            <a:r>
              <a:rPr lang="en-US" dirty="0"/>
              <a:t>The arrays for which we need two or more indices are known as multidimensional array.</a:t>
            </a:r>
          </a:p>
          <a:p>
            <a:pPr eaLnBrk="1" hangingPunct="1">
              <a:buFontTx/>
              <a:buNone/>
            </a:pPr>
            <a:endParaRPr lang="en-US" dirty="0"/>
          </a:p>
        </p:txBody>
      </p:sp>
    </p:spTree>
    <p:extLst>
      <p:ext uri="{BB962C8B-B14F-4D97-AF65-F5344CB8AC3E}">
        <p14:creationId xmlns:p14="http://schemas.microsoft.com/office/powerpoint/2010/main" val="977320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1524000" y="0"/>
            <a:ext cx="9144000" cy="6858000"/>
          </a:xfrm>
        </p:spPr>
        <p:txBody>
          <a:bodyPr/>
          <a:lstStyle/>
          <a:p>
            <a:pPr eaLnBrk="1" hangingPunct="1"/>
            <a:r>
              <a:rPr lang="en-US" b="1" dirty="0"/>
              <a:t>Linked List</a:t>
            </a:r>
          </a:p>
          <a:p>
            <a:pPr eaLnBrk="1" hangingPunct="1">
              <a:buFontTx/>
              <a:buNone/>
            </a:pPr>
            <a:endParaRPr lang="en-US" b="1" dirty="0"/>
          </a:p>
          <a:p>
            <a:pPr lvl="2" eaLnBrk="1" hangingPunct="1"/>
            <a:r>
              <a:rPr lang="en-US" dirty="0"/>
              <a:t>Linear collection of data elements called nodes</a:t>
            </a:r>
          </a:p>
          <a:p>
            <a:pPr lvl="2" eaLnBrk="1" hangingPunct="1"/>
            <a:r>
              <a:rPr lang="en-US" dirty="0"/>
              <a:t>Each node consists of two parts; data part and pointer or link part</a:t>
            </a:r>
          </a:p>
          <a:p>
            <a:pPr lvl="2" eaLnBrk="1" hangingPunct="1"/>
            <a:r>
              <a:rPr lang="en-US" dirty="0"/>
              <a:t>Nodes are connected by pointer links.</a:t>
            </a:r>
          </a:p>
          <a:p>
            <a:pPr lvl="2" eaLnBrk="1" hangingPunct="1"/>
            <a:r>
              <a:rPr lang="en-US" dirty="0"/>
              <a:t>The whole list is accessed via a pointer to the first node of the list</a:t>
            </a:r>
          </a:p>
          <a:p>
            <a:pPr lvl="2" eaLnBrk="1" hangingPunct="1"/>
            <a:r>
              <a:rPr lang="en-US" dirty="0"/>
              <a:t>Subsequent nodes are accessed via the link-pointer member of the current node</a:t>
            </a:r>
          </a:p>
          <a:p>
            <a:pPr lvl="2" eaLnBrk="1" hangingPunct="1"/>
            <a:r>
              <a:rPr lang="en-US" dirty="0"/>
              <a:t>Link pointer in the last node is set to null to mark the list’s end</a:t>
            </a:r>
          </a:p>
          <a:p>
            <a:pPr lvl="2" eaLnBrk="1" hangingPunct="1"/>
            <a:r>
              <a:rPr lang="en-US" dirty="0"/>
              <a:t>Use a linked list instead of an array when you have an unpredictable number of data elements (dynamic memory allocation possible)</a:t>
            </a:r>
          </a:p>
          <a:p>
            <a:pPr lvl="2" eaLnBrk="1" hangingPunct="1">
              <a:buFontTx/>
              <a:buNone/>
            </a:pPr>
            <a:endParaRPr lang="en-US" dirty="0"/>
          </a:p>
          <a:p>
            <a:pPr lvl="1" eaLnBrk="1" hangingPunct="1"/>
            <a:endParaRPr lang="en-US" dirty="0"/>
          </a:p>
        </p:txBody>
      </p:sp>
    </p:spTree>
    <p:extLst>
      <p:ext uri="{BB962C8B-B14F-4D97-AF65-F5344CB8AC3E}">
        <p14:creationId xmlns:p14="http://schemas.microsoft.com/office/powerpoint/2010/main" val="2170349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1"/>
          </p:nvPr>
        </p:nvSpPr>
        <p:spPr>
          <a:xfrm>
            <a:off x="1524000" y="0"/>
            <a:ext cx="9144000" cy="6858000"/>
          </a:xfrm>
        </p:spPr>
        <p:txBody>
          <a:bodyPr/>
          <a:lstStyle/>
          <a:p>
            <a:pPr eaLnBrk="1" hangingPunct="1"/>
            <a:r>
              <a:rPr lang="en-US"/>
              <a:t>Diagram of two data nodes linked together</a:t>
            </a:r>
          </a:p>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lvl="3" eaLnBrk="1" hangingPunct="1">
              <a:buFontTx/>
              <a:buNone/>
            </a:pPr>
            <a:endParaRPr lang="en-US" b="1">
              <a:latin typeface="Courier New" pitchFamily="49" charset="0"/>
            </a:endParaRPr>
          </a:p>
          <a:p>
            <a:pPr lvl="3" eaLnBrk="1" hangingPunct="1">
              <a:buFontTx/>
              <a:buNone/>
            </a:pPr>
            <a:r>
              <a:rPr lang="en-US" b="1">
                <a:latin typeface="Courier New" pitchFamily="49" charset="0"/>
              </a:rPr>
              <a:t>struct node { </a:t>
            </a:r>
            <a:br>
              <a:rPr lang="en-US" b="1">
                <a:latin typeface="Courier New" pitchFamily="49" charset="0"/>
              </a:rPr>
            </a:br>
            <a:r>
              <a:rPr lang="en-US" b="1">
                <a:latin typeface="Courier New" pitchFamily="49" charset="0"/>
              </a:rPr>
              <a:t>   int data;</a:t>
            </a:r>
            <a:br>
              <a:rPr lang="en-US" b="1">
                <a:latin typeface="Courier New" pitchFamily="49" charset="0"/>
              </a:rPr>
            </a:br>
            <a:r>
              <a:rPr lang="en-US" b="1">
                <a:latin typeface="Courier New" pitchFamily="49" charset="0"/>
              </a:rPr>
              <a:t>   struct node *nextPtr;</a:t>
            </a:r>
            <a:br>
              <a:rPr lang="en-US" b="1">
                <a:latin typeface="Courier New" pitchFamily="49" charset="0"/>
              </a:rPr>
            </a:br>
            <a:r>
              <a:rPr lang="en-US" b="1">
                <a:latin typeface="Courier New" pitchFamily="49" charset="0"/>
              </a:rPr>
              <a:t>}</a:t>
            </a:r>
          </a:p>
          <a:p>
            <a:pPr eaLnBrk="1" hangingPunct="1"/>
            <a:r>
              <a:rPr lang="en-US" b="1">
                <a:latin typeface="Courier New" pitchFamily="49" charset="0"/>
              </a:rPr>
              <a:t>nextPtr</a:t>
            </a:r>
            <a:endParaRPr lang="en-US"/>
          </a:p>
          <a:p>
            <a:pPr lvl="1" eaLnBrk="1" hangingPunct="1"/>
            <a:r>
              <a:rPr lang="en-US"/>
              <a:t>Points to an object of type node</a:t>
            </a:r>
          </a:p>
          <a:p>
            <a:pPr lvl="1" eaLnBrk="1" hangingPunct="1"/>
            <a:r>
              <a:rPr lang="en-US"/>
              <a:t>Referred to as a link</a:t>
            </a:r>
          </a:p>
          <a:p>
            <a:pPr lvl="2" eaLnBrk="1" hangingPunct="1"/>
            <a:r>
              <a:rPr lang="en-US"/>
              <a:t>Ties one </a:t>
            </a:r>
            <a:r>
              <a:rPr lang="en-US" b="1">
                <a:latin typeface="Courier New" pitchFamily="49" charset="0"/>
              </a:rPr>
              <a:t>node</a:t>
            </a:r>
            <a:r>
              <a:rPr lang="en-US"/>
              <a:t> to another </a:t>
            </a:r>
            <a:r>
              <a:rPr lang="en-US" b="1">
                <a:latin typeface="Courier New" pitchFamily="49" charset="0"/>
              </a:rPr>
              <a:t>node</a:t>
            </a:r>
            <a:endParaRPr lang="en-US"/>
          </a:p>
          <a:p>
            <a:pPr eaLnBrk="1" hangingPunct="1"/>
            <a:endParaRPr lang="en-US"/>
          </a:p>
          <a:p>
            <a:pPr eaLnBrk="1" hangingPunct="1">
              <a:buFontTx/>
              <a:buNone/>
            </a:pPr>
            <a:endParaRPr lang="en-US"/>
          </a:p>
        </p:txBody>
      </p:sp>
      <p:grpSp>
        <p:nvGrpSpPr>
          <p:cNvPr id="2" name="Group 4"/>
          <p:cNvGrpSpPr>
            <a:grpSpLocks/>
          </p:cNvGrpSpPr>
          <p:nvPr/>
        </p:nvGrpSpPr>
        <p:grpSpPr bwMode="auto">
          <a:xfrm>
            <a:off x="2667000" y="609601"/>
            <a:ext cx="7010400" cy="2098675"/>
            <a:chOff x="672" y="2640"/>
            <a:chExt cx="4416" cy="1322"/>
          </a:xfrm>
        </p:grpSpPr>
        <p:grpSp>
          <p:nvGrpSpPr>
            <p:cNvPr id="3" name="Group 5"/>
            <p:cNvGrpSpPr>
              <a:grpSpLocks/>
            </p:cNvGrpSpPr>
            <p:nvPr/>
          </p:nvGrpSpPr>
          <p:grpSpPr bwMode="auto">
            <a:xfrm>
              <a:off x="672" y="2640"/>
              <a:ext cx="1261" cy="528"/>
              <a:chOff x="0" y="0"/>
              <a:chExt cx="20000" cy="20000"/>
            </a:xfrm>
          </p:grpSpPr>
          <p:grpSp>
            <p:nvGrpSpPr>
              <p:cNvPr id="4" name="Group 6"/>
              <p:cNvGrpSpPr>
                <a:grpSpLocks/>
              </p:cNvGrpSpPr>
              <p:nvPr/>
            </p:nvGrpSpPr>
            <p:grpSpPr bwMode="auto">
              <a:xfrm>
                <a:off x="0" y="0"/>
                <a:ext cx="8541" cy="20000"/>
                <a:chOff x="0" y="0"/>
                <a:chExt cx="20000" cy="20000"/>
              </a:xfrm>
            </p:grpSpPr>
            <p:sp>
              <p:nvSpPr>
                <p:cNvPr id="13341" name="Freeform 7"/>
                <p:cNvSpPr>
                  <a:spLocks/>
                </p:cNvSpPr>
                <p:nvPr/>
              </p:nvSpPr>
              <p:spPr bwMode="auto">
                <a:xfrm>
                  <a:off x="0" y="0"/>
                  <a:ext cx="20000" cy="20000"/>
                </a:xfrm>
                <a:custGeom>
                  <a:avLst/>
                  <a:gdLst>
                    <a:gd name="T0" fmla="*/ 19944 w 20000"/>
                    <a:gd name="T1" fmla="*/ 0 h 20000"/>
                    <a:gd name="T2" fmla="*/ 19944 w 20000"/>
                    <a:gd name="T3" fmla="*/ 19944 h 20000"/>
                    <a:gd name="T4" fmla="*/ 0 w 20000"/>
                    <a:gd name="T5" fmla="*/ 19944 h 20000"/>
                    <a:gd name="T6" fmla="*/ 0 w 20000"/>
                    <a:gd name="T7" fmla="*/ 0 h 20000"/>
                    <a:gd name="T8" fmla="*/ 19944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44" y="0"/>
                      </a:moveTo>
                      <a:lnTo>
                        <a:pt x="19944" y="19944"/>
                      </a:lnTo>
                      <a:lnTo>
                        <a:pt x="0" y="19944"/>
                      </a:lnTo>
                      <a:lnTo>
                        <a:pt x="0" y="0"/>
                      </a:lnTo>
                      <a:lnTo>
                        <a:pt x="19944" y="0"/>
                      </a:lnTo>
                      <a:close/>
                    </a:path>
                  </a:pathLst>
                </a:custGeom>
                <a:solidFill>
                  <a:srgbClr val="FFFFFF"/>
                </a:solidFill>
                <a:ln w="3175">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3342" name="Oval 8"/>
                <p:cNvSpPr>
                  <a:spLocks noChangeArrowheads="1"/>
                </p:cNvSpPr>
                <p:nvPr/>
              </p:nvSpPr>
              <p:spPr bwMode="auto">
                <a:xfrm>
                  <a:off x="8278" y="8333"/>
                  <a:ext cx="3388" cy="3389"/>
                </a:xfrm>
                <a:prstGeom prst="ellipse">
                  <a:avLst/>
                </a:prstGeom>
                <a:solidFill>
                  <a:srgbClr val="000000"/>
                </a:solidFill>
                <a:ln w="3175">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sp>
            <p:nvSpPr>
              <p:cNvPr id="13340" name="Freeform 9"/>
              <p:cNvSpPr>
                <a:spLocks/>
              </p:cNvSpPr>
              <p:nvPr/>
            </p:nvSpPr>
            <p:spPr bwMode="auto">
              <a:xfrm>
                <a:off x="4342" y="10000"/>
                <a:ext cx="15658" cy="56"/>
              </a:xfrm>
              <a:custGeom>
                <a:avLst/>
                <a:gdLst>
                  <a:gd name="T0" fmla="*/ 2 w 20000"/>
                  <a:gd name="T1" fmla="*/ 0 h 20000"/>
                  <a:gd name="T2" fmla="*/ 0 w 20000"/>
                  <a:gd name="T3" fmla="*/ 0 h 20000"/>
                  <a:gd name="T4" fmla="*/ 0 60000 65536"/>
                  <a:gd name="T5" fmla="*/ 0 60000 65536"/>
                  <a:gd name="T6" fmla="*/ 0 w 20000"/>
                  <a:gd name="T7" fmla="*/ 0 h 20000"/>
                  <a:gd name="T8" fmla="*/ 20000 w 20000"/>
                  <a:gd name="T9" fmla="*/ 20000 h 20000"/>
                </a:gdLst>
                <a:ahLst/>
                <a:cxnLst>
                  <a:cxn ang="T4">
                    <a:pos x="T0" y="T1"/>
                  </a:cxn>
                  <a:cxn ang="T5">
                    <a:pos x="T2" y="T3"/>
                  </a:cxn>
                </a:cxnLst>
                <a:rect l="T6" t="T7" r="T8" b="T9"/>
                <a:pathLst>
                  <a:path w="20000" h="20000">
                    <a:moveTo>
                      <a:pt x="19970" y="0"/>
                    </a:moveTo>
                    <a:lnTo>
                      <a:pt x="0" y="0"/>
                    </a:lnTo>
                  </a:path>
                </a:pathLst>
              </a:custGeom>
              <a:solidFill>
                <a:srgbClr val="000000"/>
              </a:solidFill>
              <a:ln w="3175">
                <a:solidFill>
                  <a:srgbClr val="000000"/>
                </a:solidFill>
                <a:round/>
                <a:headEnd type="triangle" w="med" len="sm"/>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grpSp>
          <p:nvGrpSpPr>
            <p:cNvPr id="5" name="Group 10"/>
            <p:cNvGrpSpPr>
              <a:grpSpLocks/>
            </p:cNvGrpSpPr>
            <p:nvPr/>
          </p:nvGrpSpPr>
          <p:grpSpPr bwMode="auto">
            <a:xfrm>
              <a:off x="1968" y="2640"/>
              <a:ext cx="3076" cy="528"/>
              <a:chOff x="3" y="0"/>
              <a:chExt cx="19997" cy="20000"/>
            </a:xfrm>
          </p:grpSpPr>
          <p:grpSp>
            <p:nvGrpSpPr>
              <p:cNvPr id="6" name="Group 11"/>
              <p:cNvGrpSpPr>
                <a:grpSpLocks/>
              </p:cNvGrpSpPr>
              <p:nvPr/>
            </p:nvGrpSpPr>
            <p:grpSpPr bwMode="auto">
              <a:xfrm>
                <a:off x="12454" y="0"/>
                <a:ext cx="7546" cy="20000"/>
                <a:chOff x="2" y="0"/>
                <a:chExt cx="19998" cy="20000"/>
              </a:xfrm>
            </p:grpSpPr>
            <p:sp>
              <p:nvSpPr>
                <p:cNvPr id="13335" name="Freeform 12"/>
                <p:cNvSpPr>
                  <a:spLocks/>
                </p:cNvSpPr>
                <p:nvPr/>
              </p:nvSpPr>
              <p:spPr bwMode="auto">
                <a:xfrm>
                  <a:off x="10001" y="0"/>
                  <a:ext cx="9999" cy="20000"/>
                </a:xfrm>
                <a:custGeom>
                  <a:avLst/>
                  <a:gdLst>
                    <a:gd name="T0" fmla="*/ 0 w 20000"/>
                    <a:gd name="T1" fmla="*/ 0 h 20000"/>
                    <a:gd name="T2" fmla="*/ 0 w 20000"/>
                    <a:gd name="T3" fmla="*/ 19944 h 20000"/>
                    <a:gd name="T4" fmla="*/ 0 w 20000"/>
                    <a:gd name="T5" fmla="*/ 19944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44" y="0"/>
                      </a:moveTo>
                      <a:lnTo>
                        <a:pt x="19944" y="19944"/>
                      </a:lnTo>
                      <a:lnTo>
                        <a:pt x="0" y="19944"/>
                      </a:lnTo>
                      <a:lnTo>
                        <a:pt x="0" y="0"/>
                      </a:lnTo>
                      <a:lnTo>
                        <a:pt x="19944" y="0"/>
                      </a:lnTo>
                      <a:close/>
                    </a:path>
                  </a:pathLst>
                </a:custGeom>
                <a:solidFill>
                  <a:srgbClr val="FFFFFF"/>
                </a:solidFill>
                <a:ln w="3175">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nvGrpSpPr>
                <p:cNvPr id="7" name="Group 13"/>
                <p:cNvGrpSpPr>
                  <a:grpSpLocks/>
                </p:cNvGrpSpPr>
                <p:nvPr/>
              </p:nvGrpSpPr>
              <p:grpSpPr bwMode="auto">
                <a:xfrm>
                  <a:off x="2" y="0"/>
                  <a:ext cx="9999" cy="20000"/>
                  <a:chOff x="0" y="0"/>
                  <a:chExt cx="20000" cy="20000"/>
                </a:xfrm>
              </p:grpSpPr>
              <p:sp>
                <p:nvSpPr>
                  <p:cNvPr id="13337" name="Freeform 14"/>
                  <p:cNvSpPr>
                    <a:spLocks/>
                  </p:cNvSpPr>
                  <p:nvPr/>
                </p:nvSpPr>
                <p:spPr bwMode="auto">
                  <a:xfrm>
                    <a:off x="0" y="0"/>
                    <a:ext cx="20000" cy="20000"/>
                  </a:xfrm>
                  <a:custGeom>
                    <a:avLst/>
                    <a:gdLst>
                      <a:gd name="T0" fmla="*/ 19944 w 20000"/>
                      <a:gd name="T1" fmla="*/ 0 h 20000"/>
                      <a:gd name="T2" fmla="*/ 19944 w 20000"/>
                      <a:gd name="T3" fmla="*/ 19944 h 20000"/>
                      <a:gd name="T4" fmla="*/ 0 w 20000"/>
                      <a:gd name="T5" fmla="*/ 19944 h 20000"/>
                      <a:gd name="T6" fmla="*/ 0 w 20000"/>
                      <a:gd name="T7" fmla="*/ 0 h 20000"/>
                      <a:gd name="T8" fmla="*/ 19944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44" y="0"/>
                        </a:moveTo>
                        <a:lnTo>
                          <a:pt x="19944" y="19944"/>
                        </a:lnTo>
                        <a:lnTo>
                          <a:pt x="0" y="19944"/>
                        </a:lnTo>
                        <a:lnTo>
                          <a:pt x="0" y="0"/>
                        </a:lnTo>
                        <a:lnTo>
                          <a:pt x="19944" y="0"/>
                        </a:lnTo>
                        <a:close/>
                      </a:path>
                    </a:pathLst>
                  </a:custGeom>
                  <a:solidFill>
                    <a:srgbClr val="FFFFFF"/>
                  </a:solidFill>
                  <a:ln w="3175">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3338" name="Rectangle 15"/>
                  <p:cNvSpPr>
                    <a:spLocks noChangeArrowheads="1"/>
                  </p:cNvSpPr>
                  <p:nvPr/>
                </p:nvSpPr>
                <p:spPr bwMode="auto">
                  <a:xfrm>
                    <a:off x="2836" y="4000"/>
                    <a:ext cx="14276" cy="14500"/>
                  </a:xfrm>
                  <a:prstGeom prst="rect">
                    <a:avLst/>
                  </a:prstGeom>
                  <a:noFill/>
                  <a:ln w="0">
                    <a:noFill/>
                    <a:miter lim="800000"/>
                    <a:headEnd/>
                    <a:tailEnd/>
                  </a:ln>
                </p:spPr>
                <p:txBody>
                  <a:bodyPr lIns="0" tIns="0" rIns="0" bIns="0"/>
                  <a:lstStyle/>
                  <a:p>
                    <a:pPr marL="0" marR="0" lvl="0" indent="0" algn="l" defTabSz="914400" rtl="0" eaLnBrk="0" fontAlgn="auto" latinLnBrk="0" hangingPunct="0">
                      <a:lnSpc>
                        <a:spcPct val="72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Courier" pitchFamily="49" charset="0"/>
                      <a:ea typeface="+mn-ea"/>
                      <a:cs typeface="+mn-cs"/>
                    </a:endParaRPr>
                  </a:p>
                  <a:p>
                    <a:pPr marL="0" marR="0" lvl="0" indent="0" algn="ctr" defTabSz="914400" rtl="0" eaLnBrk="0" fontAlgn="auto" latinLnBrk="0" hangingPunct="0">
                      <a:lnSpc>
                        <a:spcPct val="72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Courier New" pitchFamily="49" charset="0"/>
                        <a:ea typeface="+mn-ea"/>
                        <a:cs typeface="+mn-cs"/>
                      </a:rPr>
                      <a:t>10</a:t>
                    </a:r>
                    <a:endParaRPr kumimoji="0" lang="en-US" sz="2800" b="1" i="0" u="none" strike="noStrike" kern="1200" cap="none" spc="0" normalizeH="0" baseline="0" noProof="1">
                      <a:ln>
                        <a:noFill/>
                      </a:ln>
                      <a:solidFill>
                        <a:srgbClr val="000000"/>
                      </a:solidFill>
                      <a:effectLst/>
                      <a:uLnTx/>
                      <a:uFillTx/>
                      <a:latin typeface="Courier New" pitchFamily="49" charset="0"/>
                      <a:ea typeface="+mn-ea"/>
                      <a:cs typeface="+mn-cs"/>
                    </a:endParaRPr>
                  </a:p>
                </p:txBody>
              </p:sp>
            </p:grpSp>
          </p:grpSp>
          <p:grpSp>
            <p:nvGrpSpPr>
              <p:cNvPr id="8" name="Group 16"/>
              <p:cNvGrpSpPr>
                <a:grpSpLocks/>
              </p:cNvGrpSpPr>
              <p:nvPr/>
            </p:nvGrpSpPr>
            <p:grpSpPr bwMode="auto">
              <a:xfrm>
                <a:off x="3" y="0"/>
                <a:ext cx="7546" cy="20000"/>
                <a:chOff x="0" y="0"/>
                <a:chExt cx="20000" cy="20000"/>
              </a:xfrm>
            </p:grpSpPr>
            <p:grpSp>
              <p:nvGrpSpPr>
                <p:cNvPr id="9" name="Group 17"/>
                <p:cNvGrpSpPr>
                  <a:grpSpLocks/>
                </p:cNvGrpSpPr>
                <p:nvPr/>
              </p:nvGrpSpPr>
              <p:grpSpPr bwMode="auto">
                <a:xfrm>
                  <a:off x="0" y="0"/>
                  <a:ext cx="10000" cy="20000"/>
                  <a:chOff x="0" y="0"/>
                  <a:chExt cx="20000" cy="20000"/>
                </a:xfrm>
              </p:grpSpPr>
              <p:sp>
                <p:nvSpPr>
                  <p:cNvPr id="13333" name="Freeform 18"/>
                  <p:cNvSpPr>
                    <a:spLocks/>
                  </p:cNvSpPr>
                  <p:nvPr/>
                </p:nvSpPr>
                <p:spPr bwMode="auto">
                  <a:xfrm>
                    <a:off x="0" y="0"/>
                    <a:ext cx="20000" cy="20000"/>
                  </a:xfrm>
                  <a:custGeom>
                    <a:avLst/>
                    <a:gdLst>
                      <a:gd name="T0" fmla="*/ 19944 w 20000"/>
                      <a:gd name="T1" fmla="*/ 0 h 20000"/>
                      <a:gd name="T2" fmla="*/ 19944 w 20000"/>
                      <a:gd name="T3" fmla="*/ 19944 h 20000"/>
                      <a:gd name="T4" fmla="*/ 0 w 20000"/>
                      <a:gd name="T5" fmla="*/ 19944 h 20000"/>
                      <a:gd name="T6" fmla="*/ 0 w 20000"/>
                      <a:gd name="T7" fmla="*/ 0 h 20000"/>
                      <a:gd name="T8" fmla="*/ 19944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44" y="0"/>
                        </a:moveTo>
                        <a:lnTo>
                          <a:pt x="19944" y="19944"/>
                        </a:lnTo>
                        <a:lnTo>
                          <a:pt x="0" y="19944"/>
                        </a:lnTo>
                        <a:lnTo>
                          <a:pt x="0" y="0"/>
                        </a:lnTo>
                        <a:lnTo>
                          <a:pt x="19944" y="0"/>
                        </a:lnTo>
                        <a:close/>
                      </a:path>
                    </a:pathLst>
                  </a:custGeom>
                  <a:solidFill>
                    <a:srgbClr val="FFFFFF"/>
                  </a:solidFill>
                  <a:ln w="3175">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3334" name="Rectangle 19"/>
                  <p:cNvSpPr>
                    <a:spLocks noChangeArrowheads="1"/>
                  </p:cNvSpPr>
                  <p:nvPr/>
                </p:nvSpPr>
                <p:spPr bwMode="auto">
                  <a:xfrm>
                    <a:off x="2836" y="4000"/>
                    <a:ext cx="14276" cy="14500"/>
                  </a:xfrm>
                  <a:prstGeom prst="rect">
                    <a:avLst/>
                  </a:prstGeom>
                  <a:noFill/>
                  <a:ln w="0">
                    <a:noFill/>
                    <a:miter lim="800000"/>
                    <a:headEnd/>
                    <a:tailEnd/>
                  </a:ln>
                </p:spPr>
                <p:txBody>
                  <a:bodyPr lIns="0" tIns="0" rIns="0" bIns="0"/>
                  <a:lstStyle/>
                  <a:p>
                    <a:pPr marL="0" marR="0" lvl="0" indent="0" algn="ctr" defTabSz="914400" rtl="0" eaLnBrk="0" fontAlgn="auto" latinLnBrk="0" hangingPunct="0">
                      <a:lnSpc>
                        <a:spcPct val="72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Courier New" pitchFamily="49" charset="0"/>
                      <a:ea typeface="+mn-ea"/>
                      <a:cs typeface="+mn-cs"/>
                    </a:endParaRPr>
                  </a:p>
                  <a:p>
                    <a:pPr marL="0" marR="0" lvl="0" indent="0" algn="ctr" defTabSz="914400" rtl="0" eaLnBrk="0" fontAlgn="auto" latinLnBrk="0" hangingPunct="0">
                      <a:lnSpc>
                        <a:spcPct val="72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Courier New" pitchFamily="49" charset="0"/>
                        <a:ea typeface="+mn-ea"/>
                        <a:cs typeface="+mn-cs"/>
                      </a:rPr>
                      <a:t>15</a:t>
                    </a:r>
                    <a:endParaRPr kumimoji="0" lang="en-US" sz="2800" b="1" i="0" u="none" strike="noStrike" kern="1200" cap="none" spc="0" normalizeH="0" baseline="0" noProof="1">
                      <a:ln>
                        <a:noFill/>
                      </a:ln>
                      <a:solidFill>
                        <a:srgbClr val="000000"/>
                      </a:solidFill>
                      <a:effectLst/>
                      <a:uLnTx/>
                      <a:uFillTx/>
                      <a:latin typeface="Courier New" pitchFamily="49" charset="0"/>
                      <a:ea typeface="+mn-ea"/>
                      <a:cs typeface="+mn-cs"/>
                    </a:endParaRPr>
                  </a:p>
                </p:txBody>
              </p:sp>
            </p:grpSp>
            <p:grpSp>
              <p:nvGrpSpPr>
                <p:cNvPr id="10" name="Group 20"/>
                <p:cNvGrpSpPr>
                  <a:grpSpLocks/>
                </p:cNvGrpSpPr>
                <p:nvPr/>
              </p:nvGrpSpPr>
              <p:grpSpPr bwMode="auto">
                <a:xfrm>
                  <a:off x="10000" y="0"/>
                  <a:ext cx="10000" cy="20000"/>
                  <a:chOff x="0" y="0"/>
                  <a:chExt cx="20000" cy="20000"/>
                </a:xfrm>
              </p:grpSpPr>
              <p:sp>
                <p:nvSpPr>
                  <p:cNvPr id="13331" name="Freeform 21"/>
                  <p:cNvSpPr>
                    <a:spLocks/>
                  </p:cNvSpPr>
                  <p:nvPr/>
                </p:nvSpPr>
                <p:spPr bwMode="auto">
                  <a:xfrm>
                    <a:off x="0" y="0"/>
                    <a:ext cx="20000" cy="20000"/>
                  </a:xfrm>
                  <a:custGeom>
                    <a:avLst/>
                    <a:gdLst>
                      <a:gd name="T0" fmla="*/ 19944 w 20000"/>
                      <a:gd name="T1" fmla="*/ 0 h 20000"/>
                      <a:gd name="T2" fmla="*/ 19944 w 20000"/>
                      <a:gd name="T3" fmla="*/ 19944 h 20000"/>
                      <a:gd name="T4" fmla="*/ 0 w 20000"/>
                      <a:gd name="T5" fmla="*/ 19944 h 20000"/>
                      <a:gd name="T6" fmla="*/ 0 w 20000"/>
                      <a:gd name="T7" fmla="*/ 0 h 20000"/>
                      <a:gd name="T8" fmla="*/ 19944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44" y="0"/>
                        </a:moveTo>
                        <a:lnTo>
                          <a:pt x="19944" y="19944"/>
                        </a:lnTo>
                        <a:lnTo>
                          <a:pt x="0" y="19944"/>
                        </a:lnTo>
                        <a:lnTo>
                          <a:pt x="0" y="0"/>
                        </a:lnTo>
                        <a:lnTo>
                          <a:pt x="19944" y="0"/>
                        </a:lnTo>
                        <a:close/>
                      </a:path>
                    </a:pathLst>
                  </a:custGeom>
                  <a:solidFill>
                    <a:srgbClr val="FFFFFF"/>
                  </a:solidFill>
                  <a:ln w="3175">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3332" name="Oval 22"/>
                  <p:cNvSpPr>
                    <a:spLocks noChangeArrowheads="1"/>
                  </p:cNvSpPr>
                  <p:nvPr/>
                </p:nvSpPr>
                <p:spPr bwMode="auto">
                  <a:xfrm>
                    <a:off x="8280" y="8333"/>
                    <a:ext cx="3388" cy="3389"/>
                  </a:xfrm>
                  <a:prstGeom prst="ellipse">
                    <a:avLst/>
                  </a:prstGeom>
                  <a:solidFill>
                    <a:srgbClr val="000000"/>
                  </a:solidFill>
                  <a:ln w="3175">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grpSp>
          <p:sp>
            <p:nvSpPr>
              <p:cNvPr id="13327" name="Freeform 23"/>
              <p:cNvSpPr>
                <a:spLocks/>
              </p:cNvSpPr>
              <p:nvPr/>
            </p:nvSpPr>
            <p:spPr bwMode="auto">
              <a:xfrm>
                <a:off x="5537" y="10000"/>
                <a:ext cx="6917" cy="56"/>
              </a:xfrm>
              <a:custGeom>
                <a:avLst/>
                <a:gdLst>
                  <a:gd name="T0" fmla="*/ 0 w 20000"/>
                  <a:gd name="T1" fmla="*/ 0 h 20000"/>
                  <a:gd name="T2" fmla="*/ 0 w 20000"/>
                  <a:gd name="T3" fmla="*/ 0 h 20000"/>
                  <a:gd name="T4" fmla="*/ 0 60000 65536"/>
                  <a:gd name="T5" fmla="*/ 0 60000 65536"/>
                  <a:gd name="T6" fmla="*/ 0 w 20000"/>
                  <a:gd name="T7" fmla="*/ 0 h 20000"/>
                  <a:gd name="T8" fmla="*/ 20000 w 20000"/>
                  <a:gd name="T9" fmla="*/ 20000 h 20000"/>
                </a:gdLst>
                <a:ahLst/>
                <a:cxnLst>
                  <a:cxn ang="T4">
                    <a:pos x="T0" y="T1"/>
                  </a:cxn>
                  <a:cxn ang="T5">
                    <a:pos x="T2" y="T3"/>
                  </a:cxn>
                </a:cxnLst>
                <a:rect l="T6" t="T7" r="T8" b="T9"/>
                <a:pathLst>
                  <a:path w="20000" h="20000">
                    <a:moveTo>
                      <a:pt x="19970" y="0"/>
                    </a:moveTo>
                    <a:lnTo>
                      <a:pt x="0" y="0"/>
                    </a:lnTo>
                  </a:path>
                </a:pathLst>
              </a:custGeom>
              <a:solidFill>
                <a:srgbClr val="000000"/>
              </a:solidFill>
              <a:ln w="3175">
                <a:solidFill>
                  <a:srgbClr val="000000"/>
                </a:solidFill>
                <a:round/>
                <a:headEnd type="triangle" w="med" len="sm"/>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3328" name="Freeform 24"/>
              <p:cNvSpPr>
                <a:spLocks/>
              </p:cNvSpPr>
              <p:nvPr/>
            </p:nvSpPr>
            <p:spPr bwMode="auto">
              <a:xfrm>
                <a:off x="16227" y="0"/>
                <a:ext cx="3773" cy="20000"/>
              </a:xfrm>
              <a:custGeom>
                <a:avLst/>
                <a:gdLst>
                  <a:gd name="T0" fmla="*/ 0 w 20000"/>
                  <a:gd name="T1" fmla="*/ 19944 h 20000"/>
                  <a:gd name="T2" fmla="*/ 0 w 20000"/>
                  <a:gd name="T3" fmla="*/ 0 h 20000"/>
                  <a:gd name="T4" fmla="*/ 0 60000 65536"/>
                  <a:gd name="T5" fmla="*/ 0 60000 65536"/>
                  <a:gd name="T6" fmla="*/ 0 w 20000"/>
                  <a:gd name="T7" fmla="*/ 0 h 20000"/>
                  <a:gd name="T8" fmla="*/ 20000 w 20000"/>
                  <a:gd name="T9" fmla="*/ 20000 h 20000"/>
                </a:gdLst>
                <a:ahLst/>
                <a:cxnLst>
                  <a:cxn ang="T4">
                    <a:pos x="T0" y="T1"/>
                  </a:cxn>
                  <a:cxn ang="T5">
                    <a:pos x="T2" y="T3"/>
                  </a:cxn>
                </a:cxnLst>
                <a:rect l="T6" t="T7" r="T8" b="T9"/>
                <a:pathLst>
                  <a:path w="20000" h="20000">
                    <a:moveTo>
                      <a:pt x="19944" y="19944"/>
                    </a:moveTo>
                    <a:lnTo>
                      <a:pt x="0" y="0"/>
                    </a:lnTo>
                  </a:path>
                </a:pathLst>
              </a:custGeom>
              <a:solidFill>
                <a:srgbClr val="000000"/>
              </a:solidFill>
              <a:ln w="3175">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grpSp>
          <p:nvGrpSpPr>
            <p:cNvPr id="11" name="Group 25"/>
            <p:cNvGrpSpPr>
              <a:grpSpLocks/>
            </p:cNvGrpSpPr>
            <p:nvPr/>
          </p:nvGrpSpPr>
          <p:grpSpPr bwMode="auto">
            <a:xfrm>
              <a:off x="2928" y="3024"/>
              <a:ext cx="2160" cy="909"/>
              <a:chOff x="2928" y="3024"/>
              <a:chExt cx="2160" cy="909"/>
            </a:xfrm>
          </p:grpSpPr>
          <p:sp>
            <p:nvSpPr>
              <p:cNvPr id="13323" name="Text Box 26"/>
              <p:cNvSpPr txBox="1">
                <a:spLocks noChangeArrowheads="1"/>
              </p:cNvSpPr>
              <p:nvPr/>
            </p:nvSpPr>
            <p:spPr bwMode="auto">
              <a:xfrm>
                <a:off x="2928" y="3696"/>
                <a:ext cx="2160" cy="237"/>
              </a:xfrm>
              <a:prstGeom prst="rect">
                <a:avLst/>
              </a:prstGeom>
              <a:solidFill>
                <a:srgbClr val="99CCFF"/>
              </a:solidFill>
              <a:ln w="9525">
                <a:solidFill>
                  <a:schemeClr val="tx1"/>
                </a:solidFill>
                <a:miter lim="800000"/>
                <a:headEnd/>
                <a:tailEnd/>
              </a:ln>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ourier New" pitchFamily="49" charset="0"/>
                    <a:ea typeface="+mn-ea"/>
                    <a:cs typeface="Times New Roman" pitchFamily="18" charset="0"/>
                  </a:rPr>
                  <a:t>NULL</a:t>
                </a: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Times New Roman" pitchFamily="18" charset="0"/>
                  </a:rPr>
                  <a:t> pointer (points to nothing)</a:t>
                </a:r>
              </a:p>
            </p:txBody>
          </p:sp>
          <p:sp>
            <p:nvSpPr>
              <p:cNvPr id="13324" name="Line 27"/>
              <p:cNvSpPr>
                <a:spLocks noChangeShapeType="1"/>
              </p:cNvSpPr>
              <p:nvPr/>
            </p:nvSpPr>
            <p:spPr bwMode="auto">
              <a:xfrm flipV="1">
                <a:off x="4224" y="3024"/>
                <a:ext cx="432" cy="720"/>
              </a:xfrm>
              <a:prstGeom prst="line">
                <a:avLst/>
              </a:prstGeom>
              <a:noFill/>
              <a:ln w="9525">
                <a:solidFill>
                  <a:schemeClr val="tx1"/>
                </a:solidFill>
                <a:round/>
                <a:headEnd/>
                <a:tailEnd type="triangle" w="med" len="med"/>
              </a:ln>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grpSp>
          <p:nvGrpSpPr>
            <p:cNvPr id="12" name="Group 28"/>
            <p:cNvGrpSpPr>
              <a:grpSpLocks/>
            </p:cNvGrpSpPr>
            <p:nvPr/>
          </p:nvGrpSpPr>
          <p:grpSpPr bwMode="auto">
            <a:xfrm>
              <a:off x="1152" y="3072"/>
              <a:ext cx="1584" cy="890"/>
              <a:chOff x="1152" y="3072"/>
              <a:chExt cx="1584" cy="890"/>
            </a:xfrm>
          </p:grpSpPr>
          <p:sp>
            <p:nvSpPr>
              <p:cNvPr id="13320" name="Text Box 29"/>
              <p:cNvSpPr txBox="1">
                <a:spLocks noChangeArrowheads="1"/>
              </p:cNvSpPr>
              <p:nvPr/>
            </p:nvSpPr>
            <p:spPr bwMode="auto">
              <a:xfrm>
                <a:off x="1152" y="3552"/>
                <a:ext cx="912" cy="410"/>
              </a:xfrm>
              <a:prstGeom prst="rect">
                <a:avLst/>
              </a:prstGeom>
              <a:solidFill>
                <a:srgbClr val="99CCFF"/>
              </a:solidFill>
              <a:ln w="9525">
                <a:solidFill>
                  <a:schemeClr val="tx1"/>
                </a:solidFill>
                <a:miter lim="800000"/>
                <a:headEnd/>
                <a:tailEnd/>
              </a:ln>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Times New Roman" pitchFamily="18" charset="0"/>
                  </a:rPr>
                  <a:t>Data member and pointer</a:t>
                </a:r>
              </a:p>
            </p:txBody>
          </p:sp>
          <p:sp>
            <p:nvSpPr>
              <p:cNvPr id="13321" name="Line 30"/>
              <p:cNvSpPr>
                <a:spLocks noChangeShapeType="1"/>
              </p:cNvSpPr>
              <p:nvPr/>
            </p:nvSpPr>
            <p:spPr bwMode="auto">
              <a:xfrm flipV="1">
                <a:off x="1728" y="3072"/>
                <a:ext cx="480" cy="528"/>
              </a:xfrm>
              <a:prstGeom prst="line">
                <a:avLst/>
              </a:prstGeom>
              <a:noFill/>
              <a:ln w="9525">
                <a:solidFill>
                  <a:schemeClr val="tx1"/>
                </a:solidFill>
                <a:round/>
                <a:headEnd/>
                <a:tailEnd type="triangle" w="med" len="med"/>
              </a:ln>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3322" name="Line 31"/>
              <p:cNvSpPr>
                <a:spLocks noChangeShapeType="1"/>
              </p:cNvSpPr>
              <p:nvPr/>
            </p:nvSpPr>
            <p:spPr bwMode="auto">
              <a:xfrm flipV="1">
                <a:off x="1728" y="3072"/>
                <a:ext cx="1008" cy="480"/>
              </a:xfrm>
              <a:prstGeom prst="line">
                <a:avLst/>
              </a:prstGeom>
              <a:noFill/>
              <a:ln w="9525">
                <a:solidFill>
                  <a:schemeClr val="tx1"/>
                </a:solidFill>
                <a:round/>
                <a:headEnd/>
                <a:tailEnd type="triangle" w="med" len="med"/>
              </a:ln>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grpSp>
    </p:spTree>
    <p:extLst>
      <p:ext uri="{BB962C8B-B14F-4D97-AF65-F5344CB8AC3E}">
        <p14:creationId xmlns:p14="http://schemas.microsoft.com/office/powerpoint/2010/main" val="5922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idx="1"/>
          </p:nvPr>
        </p:nvSpPr>
        <p:spPr>
          <a:xfrm>
            <a:off x="1524000" y="0"/>
            <a:ext cx="9144000" cy="6858000"/>
          </a:xfrm>
        </p:spPr>
        <p:txBody>
          <a:bodyPr/>
          <a:lstStyle/>
          <a:p>
            <a:pPr marL="0" indent="0" eaLnBrk="1" hangingPunct="1">
              <a:lnSpc>
                <a:spcPct val="90000"/>
              </a:lnSpc>
              <a:buNone/>
            </a:pPr>
            <a:endParaRPr lang="en-US" sz="2000" dirty="0"/>
          </a:p>
          <a:p>
            <a:pPr marL="0" indent="0" eaLnBrk="1" hangingPunct="1">
              <a:lnSpc>
                <a:spcPct val="90000"/>
              </a:lnSpc>
              <a:buNone/>
            </a:pPr>
            <a:r>
              <a:rPr lang="en-US" sz="2000" b="1" dirty="0"/>
              <a:t>Types of Linked Lists</a:t>
            </a:r>
          </a:p>
          <a:p>
            <a:pPr marL="0" indent="0" eaLnBrk="1" hangingPunct="1">
              <a:lnSpc>
                <a:spcPct val="90000"/>
              </a:lnSpc>
              <a:buNone/>
            </a:pPr>
            <a:endParaRPr lang="en-US" sz="2000" dirty="0"/>
          </a:p>
          <a:p>
            <a:pPr eaLnBrk="1" hangingPunct="1">
              <a:lnSpc>
                <a:spcPct val="90000"/>
              </a:lnSpc>
            </a:pPr>
            <a:r>
              <a:rPr lang="en-US" sz="2000" b="1" dirty="0"/>
              <a:t>Grounded Linked List</a:t>
            </a:r>
          </a:p>
          <a:p>
            <a:pPr marL="1381125" lvl="1" eaLnBrk="1" hangingPunct="1">
              <a:lnSpc>
                <a:spcPct val="90000"/>
              </a:lnSpc>
            </a:pPr>
            <a:r>
              <a:rPr lang="en-US" sz="2000" dirty="0"/>
              <a:t>Singly linked list </a:t>
            </a:r>
          </a:p>
          <a:p>
            <a:pPr marL="1381125" lvl="1" eaLnBrk="1" hangingPunct="1">
              <a:lnSpc>
                <a:spcPct val="90000"/>
              </a:lnSpc>
            </a:pPr>
            <a:r>
              <a:rPr lang="en-US" sz="2000" dirty="0"/>
              <a:t>Doubly linked list</a:t>
            </a:r>
          </a:p>
          <a:p>
            <a:pPr marL="1095375" lvl="1" indent="0" eaLnBrk="1" hangingPunct="1">
              <a:lnSpc>
                <a:spcPct val="90000"/>
              </a:lnSpc>
              <a:buNone/>
            </a:pPr>
            <a:endParaRPr lang="en-US" sz="2000" dirty="0"/>
          </a:p>
          <a:p>
            <a:pPr eaLnBrk="1" hangingPunct="1">
              <a:lnSpc>
                <a:spcPct val="90000"/>
              </a:lnSpc>
            </a:pPr>
            <a:r>
              <a:rPr lang="en-US" sz="2000" b="1" dirty="0"/>
              <a:t>Circular  Linked List</a:t>
            </a:r>
          </a:p>
          <a:p>
            <a:pPr marL="1422400" lvl="1" indent="-225425" eaLnBrk="1" hangingPunct="1">
              <a:lnSpc>
                <a:spcPct val="90000"/>
              </a:lnSpc>
            </a:pPr>
            <a:r>
              <a:rPr lang="en-US" sz="2000" dirty="0"/>
              <a:t>Circular Linked list</a:t>
            </a:r>
          </a:p>
          <a:p>
            <a:pPr marL="1689100" lvl="2" indent="-225425" eaLnBrk="1" hangingPunct="1">
              <a:lnSpc>
                <a:spcPct val="90000"/>
              </a:lnSpc>
            </a:pPr>
            <a:r>
              <a:rPr lang="en-US" sz="2000" dirty="0"/>
              <a:t>Pointer in the last node points back to the first node</a:t>
            </a:r>
          </a:p>
          <a:p>
            <a:pPr marL="1422400" lvl="1" indent="-225425" eaLnBrk="1" hangingPunct="1">
              <a:lnSpc>
                <a:spcPct val="90000"/>
              </a:lnSpc>
            </a:pPr>
            <a:r>
              <a:rPr lang="en-US" sz="2000" dirty="0"/>
              <a:t>Circular doubly linked list</a:t>
            </a:r>
          </a:p>
          <a:p>
            <a:pPr marL="1689100" lvl="2" indent="-225425" eaLnBrk="1" hangingPunct="1">
              <a:lnSpc>
                <a:spcPct val="90000"/>
              </a:lnSpc>
            </a:pPr>
            <a:r>
              <a:rPr lang="en-US" sz="2000" dirty="0"/>
              <a:t>Forward pointer of the last node points to the first node and backward pointer of the first node points to the last node</a:t>
            </a:r>
          </a:p>
          <a:p>
            <a:pPr marL="1463675" lvl="2" indent="0" eaLnBrk="1" hangingPunct="1">
              <a:lnSpc>
                <a:spcPct val="90000"/>
              </a:lnSpc>
              <a:buNone/>
            </a:pPr>
            <a:endParaRPr lang="en-US" sz="2000" dirty="0"/>
          </a:p>
          <a:p>
            <a:pPr eaLnBrk="1" hangingPunct="1">
              <a:lnSpc>
                <a:spcPct val="90000"/>
              </a:lnSpc>
            </a:pPr>
            <a:r>
              <a:rPr lang="en-US" sz="2000" b="1" dirty="0"/>
              <a:t>Header Linked List</a:t>
            </a:r>
          </a:p>
          <a:p>
            <a:pPr lvl="1" eaLnBrk="1" hangingPunct="1">
              <a:lnSpc>
                <a:spcPct val="90000"/>
              </a:lnSpc>
            </a:pPr>
            <a:r>
              <a:rPr lang="en-US" sz="2000" dirty="0"/>
              <a:t>Linked list contains a header node that contains information regarding complete linked list.</a:t>
            </a:r>
          </a:p>
          <a:p>
            <a:pPr lvl="1" eaLnBrk="1" hangingPunct="1">
              <a:lnSpc>
                <a:spcPct val="90000"/>
              </a:lnSpc>
            </a:pPr>
            <a:endParaRPr lang="en-US" sz="2000" dirty="0"/>
          </a:p>
          <a:p>
            <a:pPr eaLnBrk="1" hangingPunct="1">
              <a:lnSpc>
                <a:spcPct val="90000"/>
              </a:lnSpc>
            </a:pPr>
            <a:endParaRPr lang="en-US" sz="2000" dirty="0"/>
          </a:p>
        </p:txBody>
      </p:sp>
    </p:spTree>
    <p:extLst>
      <p:ext uri="{BB962C8B-B14F-4D97-AF65-F5344CB8AC3E}">
        <p14:creationId xmlns:p14="http://schemas.microsoft.com/office/powerpoint/2010/main" val="297081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1"/>
          </p:nvPr>
        </p:nvSpPr>
        <p:spPr>
          <a:xfrm>
            <a:off x="1524000" y="0"/>
            <a:ext cx="9144000" cy="6858000"/>
          </a:xfrm>
        </p:spPr>
        <p:txBody>
          <a:bodyPr/>
          <a:lstStyle/>
          <a:p>
            <a:pPr marL="0" indent="0" eaLnBrk="1" hangingPunct="1">
              <a:buNone/>
            </a:pPr>
            <a:r>
              <a:rPr lang="en-US" b="1" dirty="0"/>
              <a:t>Stack</a:t>
            </a:r>
            <a:r>
              <a:rPr lang="en-US" dirty="0"/>
              <a:t>- A stack, also called last-in-first-out (LIFO) system, is a linear list in which insertions (push operation) and deletions (pop operations) can take place only at one end, called the</a:t>
            </a:r>
            <a:r>
              <a:rPr lang="en-US" b="1" dirty="0"/>
              <a:t> top of stack </a:t>
            </a:r>
            <a:r>
              <a:rPr lang="en-US" dirty="0"/>
              <a:t>. </a:t>
            </a:r>
          </a:p>
          <a:p>
            <a:pPr lvl="1" eaLnBrk="1" hangingPunct="1"/>
            <a:r>
              <a:rPr lang="en-US" dirty="0"/>
              <a:t>Similar to a pile of dishes</a:t>
            </a:r>
          </a:p>
          <a:p>
            <a:pPr lvl="1" eaLnBrk="1" hangingPunct="1"/>
            <a:r>
              <a:rPr lang="en-US" dirty="0"/>
              <a:t>Bottom of stack indicated by a link member to </a:t>
            </a:r>
            <a:r>
              <a:rPr lang="en-US" b="1" dirty="0">
                <a:latin typeface="Courier New" pitchFamily="49" charset="0"/>
              </a:rPr>
              <a:t>NULL</a:t>
            </a:r>
          </a:p>
          <a:p>
            <a:pPr lvl="1" eaLnBrk="1" hangingPunct="1"/>
            <a:r>
              <a:rPr lang="en-US" dirty="0"/>
              <a:t>Constrained version of a linked list</a:t>
            </a:r>
          </a:p>
          <a:p>
            <a:pPr eaLnBrk="1" hangingPunct="1"/>
            <a:r>
              <a:rPr lang="en-US" dirty="0"/>
              <a:t>The two operations on stack are:</a:t>
            </a:r>
          </a:p>
          <a:p>
            <a:pPr marL="849313" indent="-338138" eaLnBrk="1" hangingPunct="1"/>
            <a:r>
              <a:rPr lang="en-US" b="1" dirty="0">
                <a:latin typeface="Courier New" pitchFamily="49" charset="0"/>
              </a:rPr>
              <a:t>	push</a:t>
            </a:r>
          </a:p>
          <a:p>
            <a:pPr marL="1422400" lvl="1" indent="-327025" eaLnBrk="1" hangingPunct="1"/>
            <a:r>
              <a:rPr lang="en-US" dirty="0"/>
              <a:t>Adds a new node to the top of the stack</a:t>
            </a:r>
          </a:p>
          <a:p>
            <a:pPr marL="849313" indent="-338138" eaLnBrk="1" hangingPunct="1"/>
            <a:r>
              <a:rPr lang="en-US" b="1" dirty="0">
                <a:latin typeface="Courier New" pitchFamily="49" charset="0"/>
              </a:rPr>
              <a:t>	pop</a:t>
            </a:r>
          </a:p>
          <a:p>
            <a:pPr marL="1422400" lvl="1" eaLnBrk="1" hangingPunct="1"/>
            <a:r>
              <a:rPr lang="en-US" dirty="0"/>
              <a:t>Removes a node from the top </a:t>
            </a:r>
          </a:p>
          <a:p>
            <a:pPr marL="1422400" lvl="1" eaLnBrk="1" hangingPunct="1"/>
            <a:r>
              <a:rPr lang="en-US" dirty="0"/>
              <a:t>Stores the popped value </a:t>
            </a:r>
          </a:p>
          <a:p>
            <a:pPr marL="1422400" lvl="1" eaLnBrk="1" hangingPunct="1"/>
            <a:r>
              <a:rPr lang="en-US" dirty="0"/>
              <a:t>Returns </a:t>
            </a:r>
            <a:r>
              <a:rPr lang="en-US" b="1" dirty="0">
                <a:latin typeface="Courier New" pitchFamily="49" charset="0"/>
              </a:rPr>
              <a:t>true</a:t>
            </a:r>
            <a:r>
              <a:rPr lang="en-US" dirty="0"/>
              <a:t> if </a:t>
            </a:r>
            <a:r>
              <a:rPr lang="en-US" b="1" dirty="0">
                <a:latin typeface="Courier New" pitchFamily="49" charset="0"/>
              </a:rPr>
              <a:t>pop</a:t>
            </a:r>
            <a:r>
              <a:rPr lang="en-US" dirty="0"/>
              <a:t> was successful</a:t>
            </a:r>
          </a:p>
          <a:p>
            <a:pPr eaLnBrk="1" hangingPunct="1">
              <a:buFontTx/>
              <a:buNone/>
            </a:pPr>
            <a:endParaRPr lang="en-US" dirty="0"/>
          </a:p>
          <a:p>
            <a:pPr lvl="1" eaLnBrk="1" hangingPunct="1">
              <a:buFontTx/>
              <a:buNone/>
            </a:pPr>
            <a:endParaRPr lang="en-US" dirty="0"/>
          </a:p>
          <a:p>
            <a:pPr eaLnBrk="1" hangingPunct="1"/>
            <a:endParaRPr lang="en-US" dirty="0"/>
          </a:p>
        </p:txBody>
      </p:sp>
    </p:spTree>
    <p:extLst>
      <p:ext uri="{BB962C8B-B14F-4D97-AF65-F5344CB8AC3E}">
        <p14:creationId xmlns:p14="http://schemas.microsoft.com/office/powerpoint/2010/main" val="31858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1"/>
          </p:nvPr>
        </p:nvSpPr>
        <p:spPr>
          <a:xfrm>
            <a:off x="1524000" y="0"/>
            <a:ext cx="9144000" cy="6858000"/>
          </a:xfrm>
        </p:spPr>
        <p:txBody>
          <a:bodyPr/>
          <a:lstStyle/>
          <a:p>
            <a:pPr marL="0" indent="0" algn="just" eaLnBrk="1" hangingPunct="1">
              <a:buNone/>
            </a:pPr>
            <a:r>
              <a:rPr lang="en-US" b="1" dirty="0"/>
              <a:t>Queues</a:t>
            </a:r>
            <a:r>
              <a:rPr lang="en-US" dirty="0"/>
              <a:t>- A queue, also called a First-in-First-out (FIFO) system, is a linear list in which insertions can take place at one end of the list, called the </a:t>
            </a:r>
            <a:r>
              <a:rPr lang="en-US" b="1" u="sng" dirty="0"/>
              <a:t>rear</a:t>
            </a:r>
            <a:r>
              <a:rPr lang="en-US" dirty="0"/>
              <a:t> of the list and deletions can take place only from other end , called the </a:t>
            </a:r>
            <a:r>
              <a:rPr lang="en-US" b="1" u="sng" dirty="0"/>
              <a:t>front</a:t>
            </a:r>
            <a:r>
              <a:rPr lang="en-US" dirty="0"/>
              <a:t> of the list.</a:t>
            </a:r>
          </a:p>
          <a:p>
            <a:pPr marL="0" indent="0" eaLnBrk="1" hangingPunct="1">
              <a:buNone/>
            </a:pPr>
            <a:endParaRPr lang="en-US" dirty="0"/>
          </a:p>
          <a:p>
            <a:pPr eaLnBrk="1" hangingPunct="1"/>
            <a:r>
              <a:rPr lang="en-US" dirty="0"/>
              <a:t>Insert and remove operations </a:t>
            </a:r>
          </a:p>
          <a:p>
            <a:pPr eaLnBrk="1" hangingPunct="1">
              <a:buFontTx/>
              <a:buNone/>
            </a:pPr>
            <a:endParaRPr lang="en-US" dirty="0"/>
          </a:p>
        </p:txBody>
      </p:sp>
    </p:spTree>
    <p:extLst>
      <p:ext uri="{BB962C8B-B14F-4D97-AF65-F5344CB8AC3E}">
        <p14:creationId xmlns:p14="http://schemas.microsoft.com/office/powerpoint/2010/main" val="3798729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1524000" y="0"/>
            <a:ext cx="9144000" cy="6858000"/>
          </a:xfrm>
        </p:spPr>
        <p:txBody>
          <a:bodyPr/>
          <a:lstStyle/>
          <a:p>
            <a:pPr marL="0" indent="0" algn="just" eaLnBrk="1" hangingPunct="1">
              <a:lnSpc>
                <a:spcPct val="90000"/>
              </a:lnSpc>
              <a:buNone/>
            </a:pPr>
            <a:r>
              <a:rPr lang="en-US" b="1" dirty="0"/>
              <a:t>Tree-</a:t>
            </a:r>
            <a:r>
              <a:rPr lang="en-US" dirty="0"/>
              <a:t> A tree is a non-linear data structure that represents a hierarchical relationship between various elements. </a:t>
            </a:r>
          </a:p>
          <a:p>
            <a:pPr algn="just" eaLnBrk="1" hangingPunct="1">
              <a:lnSpc>
                <a:spcPct val="90000"/>
              </a:lnSpc>
            </a:pPr>
            <a:endParaRPr lang="en-US" dirty="0"/>
          </a:p>
          <a:p>
            <a:pPr algn="just" eaLnBrk="1" hangingPunct="1">
              <a:lnSpc>
                <a:spcPct val="90000"/>
              </a:lnSpc>
            </a:pPr>
            <a:r>
              <a:rPr lang="en-US" dirty="0"/>
              <a:t>The top node of a tree is called the </a:t>
            </a:r>
            <a:r>
              <a:rPr lang="en-US" b="1" dirty="0">
                <a:solidFill>
                  <a:srgbClr val="FF33CC"/>
                </a:solidFill>
              </a:rPr>
              <a:t>root node</a:t>
            </a:r>
            <a:r>
              <a:rPr lang="en-US" dirty="0"/>
              <a:t> and each subsequent node is called the child node of the root. Each node can have one or more than one child nodes. </a:t>
            </a:r>
          </a:p>
          <a:p>
            <a:pPr marL="0" indent="0" algn="just" eaLnBrk="1" hangingPunct="1">
              <a:lnSpc>
                <a:spcPct val="90000"/>
              </a:lnSpc>
              <a:buNone/>
            </a:pPr>
            <a:endParaRPr lang="en-US" dirty="0"/>
          </a:p>
          <a:p>
            <a:pPr eaLnBrk="1" hangingPunct="1">
              <a:lnSpc>
                <a:spcPct val="90000"/>
              </a:lnSpc>
            </a:pPr>
            <a:r>
              <a:rPr lang="en-US" b="1" dirty="0"/>
              <a:t>General Tree</a:t>
            </a:r>
          </a:p>
          <a:p>
            <a:pPr lvl="1" eaLnBrk="1" hangingPunct="1">
              <a:lnSpc>
                <a:spcPct val="90000"/>
              </a:lnSpc>
            </a:pPr>
            <a:r>
              <a:rPr lang="en-US" dirty="0"/>
              <a:t>Tree with all nodes having any number of child nodes</a:t>
            </a:r>
          </a:p>
          <a:p>
            <a:pPr lvl="1" eaLnBrk="1" hangingPunct="1">
              <a:lnSpc>
                <a:spcPct val="90000"/>
              </a:lnSpc>
            </a:pPr>
            <a:endParaRPr lang="en-US" dirty="0"/>
          </a:p>
          <a:p>
            <a:pPr eaLnBrk="1" hangingPunct="1">
              <a:lnSpc>
                <a:spcPct val="90000"/>
              </a:lnSpc>
            </a:pPr>
            <a:r>
              <a:rPr lang="en-US" b="1" dirty="0"/>
              <a:t>Binary Tree</a:t>
            </a:r>
          </a:p>
          <a:p>
            <a:pPr lvl="1" eaLnBrk="1" hangingPunct="1">
              <a:lnSpc>
                <a:spcPct val="90000"/>
              </a:lnSpc>
            </a:pPr>
            <a:r>
              <a:rPr lang="en-US" dirty="0"/>
              <a:t>Tree with all nodes having  maximum two child nodes</a:t>
            </a:r>
          </a:p>
          <a:p>
            <a:pPr lvl="1" eaLnBrk="1" hangingPunct="1">
              <a:lnSpc>
                <a:spcPct val="90000"/>
              </a:lnSpc>
            </a:pPr>
            <a:endParaRPr lang="en-US" dirty="0"/>
          </a:p>
          <a:p>
            <a:pPr eaLnBrk="1" hangingPunct="1">
              <a:lnSpc>
                <a:spcPct val="90000"/>
              </a:lnSpc>
            </a:pPr>
            <a:r>
              <a:rPr lang="en-US" b="1" dirty="0"/>
              <a:t>Binary search tree</a:t>
            </a:r>
          </a:p>
          <a:p>
            <a:pPr lvl="1" eaLnBrk="1" hangingPunct="1">
              <a:lnSpc>
                <a:spcPct val="90000"/>
              </a:lnSpc>
            </a:pPr>
            <a:r>
              <a:rPr lang="en-US" dirty="0"/>
              <a:t>Type of Binary tree</a:t>
            </a:r>
          </a:p>
          <a:p>
            <a:pPr lvl="1" eaLnBrk="1" hangingPunct="1">
              <a:lnSpc>
                <a:spcPct val="90000"/>
              </a:lnSpc>
            </a:pPr>
            <a:endParaRPr lang="en-US" dirty="0"/>
          </a:p>
        </p:txBody>
      </p:sp>
    </p:spTree>
    <p:extLst>
      <p:ext uri="{BB962C8B-B14F-4D97-AF65-F5344CB8AC3E}">
        <p14:creationId xmlns:p14="http://schemas.microsoft.com/office/powerpoint/2010/main" val="1761666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81200" y="274638"/>
            <a:ext cx="8229600" cy="639762"/>
          </a:xfrm>
        </p:spPr>
        <p:txBody>
          <a:bodyPr/>
          <a:lstStyle/>
          <a:p>
            <a:pPr eaLnBrk="1" hangingPunct="1"/>
            <a:r>
              <a:rPr lang="en-US" sz="2800"/>
              <a:t>Diagram of a binary tree</a:t>
            </a:r>
            <a:br>
              <a:rPr lang="en-US" sz="2800"/>
            </a:br>
            <a:endParaRPr lang="en-US" sz="2800"/>
          </a:p>
        </p:txBody>
      </p:sp>
      <p:pic>
        <p:nvPicPr>
          <p:cNvPr id="18435" name="Picture 4"/>
          <p:cNvPicPr>
            <a:picLocks noGrp="1" noChangeAspect="1" noChangeArrowheads="1"/>
          </p:cNvPicPr>
          <p:nvPr>
            <p:ph type="body" idx="1"/>
          </p:nvPr>
        </p:nvPicPr>
        <p:blipFill>
          <a:blip r:embed="rId2"/>
          <a:srcRect/>
          <a:stretch>
            <a:fillRect/>
          </a:stretch>
        </p:blipFill>
        <p:spPr>
          <a:xfrm>
            <a:off x="3354389" y="1066801"/>
            <a:ext cx="5483225" cy="4525963"/>
          </a:xfrm>
          <a:noFill/>
        </p:spPr>
      </p:pic>
    </p:spTree>
    <p:extLst>
      <p:ext uri="{BB962C8B-B14F-4D97-AF65-F5344CB8AC3E}">
        <p14:creationId xmlns:p14="http://schemas.microsoft.com/office/powerpoint/2010/main" val="3494639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a:xfrm>
            <a:off x="1524000" y="0"/>
            <a:ext cx="9144000" cy="6858000"/>
          </a:xfrm>
        </p:spPr>
        <p:txBody>
          <a:bodyPr/>
          <a:lstStyle/>
          <a:p>
            <a:pPr eaLnBrk="1" hangingPunct="1"/>
            <a:endParaRPr lang="en-US" dirty="0"/>
          </a:p>
          <a:p>
            <a:pPr marL="0" indent="0" eaLnBrk="1" hangingPunct="1">
              <a:buNone/>
            </a:pPr>
            <a:r>
              <a:rPr lang="en-US" b="1" dirty="0"/>
              <a:t>Graph</a:t>
            </a:r>
            <a:r>
              <a:rPr lang="en-US" dirty="0"/>
              <a:t>- A graph, G , is an ordered set (V,E) where V represent set of elements called nodes or vertices in graph terminology and E represent the edges between these elements. </a:t>
            </a:r>
          </a:p>
          <a:p>
            <a:pPr eaLnBrk="1" hangingPunct="1"/>
            <a:endParaRPr lang="en-US" dirty="0"/>
          </a:p>
          <a:p>
            <a:pPr eaLnBrk="1" hangingPunct="1"/>
            <a:r>
              <a:rPr lang="en-US" dirty="0"/>
              <a:t>This data structure is used to represent relationship between pairs of elements which are not necessarily hierarchical in nature. Usually there is no distinguished `first' or `last' nodes. Graph may or may not have cycles.</a:t>
            </a:r>
          </a:p>
        </p:txBody>
      </p:sp>
    </p:spTree>
    <p:extLst>
      <p:ext uri="{BB962C8B-B14F-4D97-AF65-F5344CB8AC3E}">
        <p14:creationId xmlns:p14="http://schemas.microsoft.com/office/powerpoint/2010/main" val="2310709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600200" y="76201"/>
            <a:ext cx="9067800" cy="792163"/>
          </a:xfrm>
        </p:spPr>
        <p:txBody>
          <a:bodyPr/>
          <a:lstStyle/>
          <a:p>
            <a:pPr eaLnBrk="1" hangingPunct="1"/>
            <a:r>
              <a:rPr lang="en-US"/>
              <a:t>Algorithms</a:t>
            </a:r>
          </a:p>
        </p:txBody>
      </p:sp>
      <p:sp>
        <p:nvSpPr>
          <p:cNvPr id="21507" name="Rectangle 3"/>
          <p:cNvSpPr>
            <a:spLocks noGrp="1" noChangeArrowheads="1"/>
          </p:cNvSpPr>
          <p:nvPr>
            <p:ph type="body" idx="1"/>
          </p:nvPr>
        </p:nvSpPr>
        <p:spPr>
          <a:xfrm>
            <a:off x="1524000" y="838200"/>
            <a:ext cx="9144000" cy="6019800"/>
          </a:xfrm>
        </p:spPr>
        <p:txBody>
          <a:bodyPr/>
          <a:lstStyle/>
          <a:p>
            <a:pPr eaLnBrk="1" hangingPunct="1"/>
            <a:r>
              <a:rPr lang="en-US" dirty="0"/>
              <a:t>A finite set of steps that specify a sequence of operations to be carried out in order to solve a specific problem is called an algorithm</a:t>
            </a:r>
          </a:p>
          <a:p>
            <a:pPr marL="0" indent="0" eaLnBrk="1" hangingPunct="1">
              <a:buNone/>
            </a:pPr>
            <a:endParaRPr lang="en-US" dirty="0"/>
          </a:p>
          <a:p>
            <a:pPr marL="9525" indent="9525" eaLnBrk="1" hangingPunct="1">
              <a:buFontTx/>
              <a:buNone/>
            </a:pPr>
            <a:r>
              <a:rPr lang="en-US" b="1" dirty="0"/>
              <a:t>Properties of Algorithms:</a:t>
            </a:r>
          </a:p>
          <a:p>
            <a:pPr marL="9525" indent="9525" eaLnBrk="1" hangingPunct="1">
              <a:buFontTx/>
              <a:buNone/>
            </a:pPr>
            <a:endParaRPr lang="en-US" b="1" dirty="0"/>
          </a:p>
          <a:p>
            <a:pPr eaLnBrk="1" hangingPunct="1">
              <a:buFontTx/>
              <a:buNone/>
            </a:pPr>
            <a:r>
              <a:rPr lang="en-US" dirty="0"/>
              <a:t>1. </a:t>
            </a:r>
            <a:r>
              <a:rPr lang="en-US" b="1" dirty="0"/>
              <a:t>Finiteness</a:t>
            </a:r>
            <a:r>
              <a:rPr lang="en-US" dirty="0"/>
              <a:t>- Algorithm must terminate in finite number of steps</a:t>
            </a:r>
          </a:p>
          <a:p>
            <a:pPr eaLnBrk="1" hangingPunct="1">
              <a:buFontTx/>
              <a:buNone/>
            </a:pPr>
            <a:r>
              <a:rPr lang="en-US" dirty="0"/>
              <a:t>2. </a:t>
            </a:r>
            <a:r>
              <a:rPr lang="en-US" b="1" dirty="0"/>
              <a:t>Absence of Ambiguity</a:t>
            </a:r>
            <a:r>
              <a:rPr lang="en-US" dirty="0"/>
              <a:t>-Each step must be clear and unambiguous</a:t>
            </a:r>
          </a:p>
          <a:p>
            <a:pPr eaLnBrk="1" hangingPunct="1">
              <a:buFontTx/>
              <a:buNone/>
            </a:pPr>
            <a:r>
              <a:rPr lang="en-US" dirty="0"/>
              <a:t>3. </a:t>
            </a:r>
            <a:r>
              <a:rPr lang="en-US" b="1" dirty="0"/>
              <a:t>Feasibility</a:t>
            </a:r>
            <a:r>
              <a:rPr lang="en-US" dirty="0"/>
              <a:t>-Each step must be simple enough that it can be easily translated into the required language</a:t>
            </a:r>
          </a:p>
          <a:p>
            <a:pPr eaLnBrk="1" hangingPunct="1">
              <a:buFontTx/>
              <a:buNone/>
            </a:pPr>
            <a:r>
              <a:rPr lang="en-US" dirty="0"/>
              <a:t>4. </a:t>
            </a:r>
            <a:r>
              <a:rPr lang="en-US" b="1" dirty="0"/>
              <a:t>Input</a:t>
            </a:r>
            <a:r>
              <a:rPr lang="en-US" dirty="0"/>
              <a:t>-These are zero or more values which are externally supplied to the algorithm</a:t>
            </a:r>
          </a:p>
          <a:p>
            <a:pPr eaLnBrk="1" hangingPunct="1">
              <a:buFontTx/>
              <a:buNone/>
            </a:pPr>
            <a:r>
              <a:rPr lang="en-US" dirty="0"/>
              <a:t>5. </a:t>
            </a:r>
            <a:r>
              <a:rPr lang="en-US" b="1" dirty="0"/>
              <a:t>Output</a:t>
            </a:r>
            <a:r>
              <a:rPr lang="en-US" dirty="0"/>
              <a:t>-At least one value is produced</a:t>
            </a:r>
          </a:p>
        </p:txBody>
      </p:sp>
    </p:spTree>
    <p:extLst>
      <p:ext uri="{BB962C8B-B14F-4D97-AF65-F5344CB8AC3E}">
        <p14:creationId xmlns:p14="http://schemas.microsoft.com/office/powerpoint/2010/main" val="3738959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524000" y="0"/>
            <a:ext cx="9144000" cy="457200"/>
          </a:xfrm>
        </p:spPr>
        <p:txBody>
          <a:bodyPr/>
          <a:lstStyle/>
          <a:p>
            <a:pPr eaLnBrk="1" hangingPunct="1"/>
            <a:r>
              <a:rPr lang="en-US" sz="2800" b="1"/>
              <a:t>Algorithm complexity</a:t>
            </a:r>
          </a:p>
        </p:txBody>
      </p:sp>
      <p:sp>
        <p:nvSpPr>
          <p:cNvPr id="25603" name="Rectangle 3"/>
          <p:cNvSpPr>
            <a:spLocks noGrp="1" noChangeArrowheads="1"/>
          </p:cNvSpPr>
          <p:nvPr>
            <p:ph type="body" idx="1"/>
          </p:nvPr>
        </p:nvSpPr>
        <p:spPr>
          <a:xfrm>
            <a:off x="1524000" y="457200"/>
            <a:ext cx="9144000" cy="6400800"/>
          </a:xfrm>
        </p:spPr>
        <p:txBody>
          <a:bodyPr/>
          <a:lstStyle/>
          <a:p>
            <a:pPr algn="just" eaLnBrk="1" hangingPunct="1">
              <a:lnSpc>
                <a:spcPct val="80000"/>
              </a:lnSpc>
            </a:pPr>
            <a:endParaRPr lang="en-US" sz="2200" dirty="0"/>
          </a:p>
          <a:p>
            <a:pPr algn="just" eaLnBrk="1" hangingPunct="1">
              <a:lnSpc>
                <a:spcPct val="80000"/>
              </a:lnSpc>
            </a:pPr>
            <a:r>
              <a:rPr lang="en-US" sz="2200" dirty="0"/>
              <a:t>An algorithm is a sequence of steps to solve a problem. There can be more than one algorithm to solve a particular problem and some of these solutions may be more efficient than others. The efficiency of an algorithm is determined in terms of utilization of two resources, </a:t>
            </a:r>
            <a:r>
              <a:rPr lang="en-US" sz="2200" b="1" dirty="0"/>
              <a:t>time of execution and memory</a:t>
            </a:r>
            <a:r>
              <a:rPr lang="en-US" sz="2200" dirty="0"/>
              <a:t>. This efficiency analysis of an algorithm is called </a:t>
            </a:r>
            <a:r>
              <a:rPr lang="en-US" sz="2200" b="1" dirty="0"/>
              <a:t>complexity analysis</a:t>
            </a:r>
            <a:r>
              <a:rPr lang="en-US" sz="2200" dirty="0"/>
              <a:t>, and it is a very important and widely-studied subject in computer science.</a:t>
            </a:r>
          </a:p>
          <a:p>
            <a:pPr marL="0" indent="0" algn="just" eaLnBrk="1" hangingPunct="1">
              <a:lnSpc>
                <a:spcPct val="80000"/>
              </a:lnSpc>
              <a:buNone/>
            </a:pPr>
            <a:r>
              <a:rPr lang="en-US" sz="2200" dirty="0"/>
              <a:t> </a:t>
            </a:r>
          </a:p>
          <a:p>
            <a:pPr algn="just" eaLnBrk="1" hangingPunct="1">
              <a:lnSpc>
                <a:spcPct val="80000"/>
              </a:lnSpc>
            </a:pPr>
            <a:r>
              <a:rPr lang="en-US" sz="2200" dirty="0"/>
              <a:t>Performance requirements are usually more critical than memory requirements. Thus in general, the algorithms are analyzed on the basis of performance requirements </a:t>
            </a:r>
            <a:r>
              <a:rPr lang="en-US" sz="2200" dirty="0" err="1"/>
              <a:t>i.e</a:t>
            </a:r>
            <a:r>
              <a:rPr lang="en-US" sz="2200" dirty="0"/>
              <a:t> running time efficiency. </a:t>
            </a:r>
          </a:p>
          <a:p>
            <a:pPr marL="0" indent="0" algn="just" eaLnBrk="1" hangingPunct="1">
              <a:lnSpc>
                <a:spcPct val="80000"/>
              </a:lnSpc>
              <a:buNone/>
            </a:pPr>
            <a:endParaRPr lang="en-US" sz="2200" dirty="0"/>
          </a:p>
          <a:p>
            <a:pPr algn="just" eaLnBrk="1" hangingPunct="1">
              <a:lnSpc>
                <a:spcPct val="80000"/>
              </a:lnSpc>
            </a:pPr>
            <a:r>
              <a:rPr lang="en-US" sz="2200" dirty="0"/>
              <a:t>Specifically complexity analysis is used in determining how resource(time or space) requirements of an algorithm grow in relation to the </a:t>
            </a:r>
            <a:r>
              <a:rPr lang="en-US" sz="2200" b="1" dirty="0">
                <a:solidFill>
                  <a:srgbClr val="FF33CC"/>
                </a:solidFill>
              </a:rPr>
              <a:t>size of input</a:t>
            </a:r>
            <a:r>
              <a:rPr lang="en-US" sz="2200" dirty="0"/>
              <a:t>. The input can be any type of data. The analyst has to decide </a:t>
            </a:r>
            <a:r>
              <a:rPr lang="en-US" sz="2200" b="1" dirty="0">
                <a:solidFill>
                  <a:srgbClr val="FF33CC"/>
                </a:solidFill>
              </a:rPr>
              <a:t>which property of the algorithm</a:t>
            </a:r>
            <a:r>
              <a:rPr lang="en-US" sz="2200" dirty="0"/>
              <a:t> should be measured; the best choice is the property that most significantly affects the efficiency-factor we are trying to analyze. </a:t>
            </a:r>
            <a:r>
              <a:rPr lang="en-US" dirty="0"/>
              <a:t>			 </a:t>
            </a:r>
          </a:p>
          <a:p>
            <a:pPr eaLnBrk="1" hangingPunct="1">
              <a:lnSpc>
                <a:spcPct val="80000"/>
              </a:lnSpc>
              <a:buFontTx/>
              <a:buNone/>
            </a:pPr>
            <a:r>
              <a:rPr lang="en-US" sz="1400" dirty="0"/>
              <a:t>		</a:t>
            </a:r>
          </a:p>
        </p:txBody>
      </p:sp>
    </p:spTree>
    <p:extLst>
      <p:ext uri="{BB962C8B-B14F-4D97-AF65-F5344CB8AC3E}">
        <p14:creationId xmlns:p14="http://schemas.microsoft.com/office/powerpoint/2010/main" val="4066579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524000" y="76200"/>
            <a:ext cx="9144000" cy="914400"/>
          </a:xfrm>
        </p:spPr>
        <p:txBody>
          <a:bodyPr/>
          <a:lstStyle/>
          <a:p>
            <a:pPr eaLnBrk="1" hangingPunct="1"/>
            <a:r>
              <a:rPr lang="en-US" sz="2800" b="1"/>
              <a:t>Expressing Space and time complexity: Big ‘O’ notation</a:t>
            </a:r>
          </a:p>
        </p:txBody>
      </p:sp>
      <p:sp>
        <p:nvSpPr>
          <p:cNvPr id="29699" name="Rectangle 3"/>
          <p:cNvSpPr>
            <a:spLocks noGrp="1" noChangeArrowheads="1"/>
          </p:cNvSpPr>
          <p:nvPr>
            <p:ph type="body" idx="1"/>
          </p:nvPr>
        </p:nvSpPr>
        <p:spPr>
          <a:xfrm>
            <a:off x="1524000" y="1143000"/>
            <a:ext cx="9144000" cy="5715000"/>
          </a:xfrm>
        </p:spPr>
        <p:txBody>
          <a:bodyPr/>
          <a:lstStyle/>
          <a:p>
            <a:pPr marL="457200" indent="-457200" algn="just" eaLnBrk="1" hangingPunct="1"/>
            <a:r>
              <a:rPr lang="en-US" dirty="0"/>
              <a:t>It is very difficult to practically analyze the variation of  time requirements of an algorithm with variation in size of input. A better approach to express space/time complexity  in the form of a function f (n) where n is the input size for a given instance of problem being solved.</a:t>
            </a:r>
          </a:p>
          <a:p>
            <a:pPr marL="457200" indent="-457200" eaLnBrk="1" hangingPunct="1">
              <a:buNone/>
            </a:pPr>
            <a:r>
              <a:rPr lang="en-US" dirty="0"/>
              <a:t>    </a:t>
            </a:r>
          </a:p>
          <a:p>
            <a:pPr marL="457200" indent="-457200" eaLnBrk="1" hangingPunct="1">
              <a:buNone/>
            </a:pPr>
            <a:r>
              <a:rPr lang="en-US" dirty="0"/>
              <a:t>     Efficiency (algorithm A) = a function F of some property of A's input. </a:t>
            </a:r>
          </a:p>
          <a:p>
            <a:pPr marL="457200" indent="-457200" eaLnBrk="1" hangingPunct="1"/>
            <a:endParaRPr lang="en-US" dirty="0"/>
          </a:p>
          <a:p>
            <a:pPr marL="457200" indent="-457200" eaLnBrk="1" hangingPunct="1"/>
            <a:r>
              <a:rPr lang="en-US" dirty="0"/>
              <a:t>The most important notation used for expressing this function f(n) is </a:t>
            </a:r>
            <a:r>
              <a:rPr lang="en-US" b="1" dirty="0"/>
              <a:t>Big O notation</a:t>
            </a:r>
            <a:r>
              <a:rPr lang="en-US" dirty="0"/>
              <a:t>.</a:t>
            </a:r>
          </a:p>
          <a:p>
            <a:pPr marL="1371600" lvl="2" indent="-457200" eaLnBrk="1" hangingPunct="1">
              <a:buNone/>
            </a:pPr>
            <a:endParaRPr lang="en-US" dirty="0"/>
          </a:p>
        </p:txBody>
      </p:sp>
    </p:spTree>
    <p:extLst>
      <p:ext uri="{BB962C8B-B14F-4D97-AF65-F5344CB8AC3E}">
        <p14:creationId xmlns:p14="http://schemas.microsoft.com/office/powerpoint/2010/main" val="3329724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4"/>
          <p:cNvPicPr>
            <a:picLocks noGrp="1" noChangeAspect="1" noChangeArrowheads="1"/>
          </p:cNvPicPr>
          <p:nvPr>
            <p:ph type="body" idx="1"/>
          </p:nvPr>
        </p:nvPicPr>
        <p:blipFill>
          <a:blip r:embed="rId2"/>
          <a:srcRect/>
          <a:stretch>
            <a:fillRect/>
          </a:stretch>
        </p:blipFill>
        <p:spPr>
          <a:xfrm>
            <a:off x="1654139" y="0"/>
            <a:ext cx="8188504" cy="2584450"/>
          </a:xfrm>
          <a:noFill/>
        </p:spPr>
      </p:pic>
      <p:pic>
        <p:nvPicPr>
          <p:cNvPr id="39939" name="Picture 5"/>
          <p:cNvPicPr>
            <a:picLocks noChangeAspect="1" noChangeArrowheads="1"/>
          </p:cNvPicPr>
          <p:nvPr/>
        </p:nvPicPr>
        <p:blipFill>
          <a:blip r:embed="rId3"/>
          <a:srcRect/>
          <a:stretch>
            <a:fillRect/>
          </a:stretch>
        </p:blipFill>
        <p:spPr bwMode="auto">
          <a:xfrm>
            <a:off x="1328791" y="2296774"/>
            <a:ext cx="9144000" cy="4273550"/>
          </a:xfrm>
          <a:prstGeom prst="rect">
            <a:avLst/>
          </a:prstGeom>
          <a:noFill/>
          <a:ln w="9525">
            <a:noFill/>
            <a:miter lim="800000"/>
            <a:headEnd/>
            <a:tailEnd/>
          </a:ln>
        </p:spPr>
      </p:pic>
    </p:spTree>
    <p:extLst>
      <p:ext uri="{BB962C8B-B14F-4D97-AF65-F5344CB8AC3E}">
        <p14:creationId xmlns:p14="http://schemas.microsoft.com/office/powerpoint/2010/main" val="1372140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type="body" idx="1"/>
          </p:nvPr>
        </p:nvSpPr>
        <p:spPr>
          <a:xfrm>
            <a:off x="1524000" y="0"/>
            <a:ext cx="9582364" cy="6858000"/>
          </a:xfrm>
        </p:spPr>
        <p:txBody>
          <a:bodyPr/>
          <a:lstStyle/>
          <a:p>
            <a:pPr algn="just" eaLnBrk="1" hangingPunct="1"/>
            <a:r>
              <a:rPr lang="en-US" sz="2200" dirty="0"/>
              <a:t>Big O notation is a characterization scheme that allows to measure the properties of algorithm such as performance and/or memory requirements in general fashion.</a:t>
            </a:r>
          </a:p>
          <a:p>
            <a:pPr marL="0" indent="0" eaLnBrk="1" hangingPunct="1">
              <a:buNone/>
            </a:pPr>
            <a:r>
              <a:rPr lang="en-US" sz="2200" b="1" dirty="0"/>
              <a:t>    </a:t>
            </a:r>
            <a:r>
              <a:rPr lang="en-US" sz="2200" b="1" u="sng" dirty="0"/>
              <a:t>Assumptions of  Big ‘O’ notation</a:t>
            </a:r>
          </a:p>
          <a:p>
            <a:pPr eaLnBrk="1" hangingPunct="1"/>
            <a:endParaRPr lang="en-US" sz="2200" dirty="0"/>
          </a:p>
          <a:p>
            <a:pPr eaLnBrk="1" hangingPunct="1"/>
            <a:r>
              <a:rPr lang="en-US" sz="2200" dirty="0"/>
              <a:t>Uses the dominant term of the function</a:t>
            </a:r>
          </a:p>
          <a:p>
            <a:pPr eaLnBrk="1" hangingPunct="1"/>
            <a:r>
              <a:rPr lang="en-US" sz="2200" dirty="0"/>
              <a:t>Omits lower order terms and coefficient of dominant terms</a:t>
            </a:r>
          </a:p>
          <a:p>
            <a:pPr eaLnBrk="1" hangingPunct="1">
              <a:buFontTx/>
              <a:buNone/>
            </a:pPr>
            <a:r>
              <a:rPr lang="en-US" sz="2200" dirty="0"/>
              <a:t>    </a:t>
            </a:r>
          </a:p>
          <a:p>
            <a:pPr eaLnBrk="1" hangingPunct="1">
              <a:buFontTx/>
              <a:buNone/>
            </a:pPr>
            <a:r>
              <a:rPr lang="en-US" sz="2200" dirty="0"/>
              <a:t>    Apart from n (size of input), efficiency measure will depend on three cases which will decide number of operations to be performed.</a:t>
            </a:r>
          </a:p>
          <a:p>
            <a:pPr eaLnBrk="1" hangingPunct="1"/>
            <a:r>
              <a:rPr lang="en-US" sz="2200" dirty="0"/>
              <a:t>Best case performance under ideal condition</a:t>
            </a:r>
          </a:p>
          <a:p>
            <a:pPr eaLnBrk="1" hangingPunct="1"/>
            <a:r>
              <a:rPr lang="en-US" sz="2200" dirty="0"/>
              <a:t>Worst case performance under most un favorable condition</a:t>
            </a:r>
          </a:p>
          <a:p>
            <a:pPr eaLnBrk="1" hangingPunct="1"/>
            <a:r>
              <a:rPr lang="en-US" sz="2200" dirty="0"/>
              <a:t>Average case performance under most probable condition.</a:t>
            </a:r>
          </a:p>
          <a:p>
            <a:pPr eaLnBrk="1" hangingPunct="1">
              <a:buFontTx/>
              <a:buNone/>
            </a:pPr>
            <a:r>
              <a:rPr lang="en-US" sz="2200" dirty="0"/>
              <a:t>		</a:t>
            </a:r>
          </a:p>
          <a:p>
            <a:pPr eaLnBrk="1" hangingPunct="1">
              <a:buFontTx/>
              <a:buNone/>
            </a:pPr>
            <a:r>
              <a:rPr lang="en-US" sz="2200" dirty="0"/>
              <a:t>    Big ‘O’ notation tries to analyze each algorithm performance in  </a:t>
            </a:r>
            <a:r>
              <a:rPr lang="en-US" sz="2200" b="1" dirty="0"/>
              <a:t>worst condition</a:t>
            </a:r>
            <a:r>
              <a:rPr lang="en-US" sz="2200" dirty="0"/>
              <a:t>. It is the rate of increase of f(n) that is examined as a measure of efficiency.</a:t>
            </a:r>
          </a:p>
          <a:p>
            <a:pPr eaLnBrk="1" hangingPunct="1"/>
            <a:endParaRPr lang="en-US" dirty="0"/>
          </a:p>
        </p:txBody>
      </p:sp>
    </p:spTree>
    <p:extLst>
      <p:ext uri="{BB962C8B-B14F-4D97-AF65-F5344CB8AC3E}">
        <p14:creationId xmlns:p14="http://schemas.microsoft.com/office/powerpoint/2010/main" val="3397264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dirty="0"/>
              <a:t>Rate of growth: Big O notation</a:t>
            </a:r>
          </a:p>
          <a:p>
            <a:pPr algn="just" eaLnBrk="1" hangingPunct="1"/>
            <a:r>
              <a:rPr lang="en-US" sz="2000" dirty="0"/>
              <a:t>Suppose F is an algorithm and suppose n is the size of input data. Clearly, complexity f(n) of  F increases as n increases. Rate of increase of f(n) is examined by comparing f(n) with some standard functions such as log</a:t>
            </a:r>
            <a:r>
              <a:rPr lang="en-US" sz="2000" baseline="-25000" dirty="0"/>
              <a:t>2</a:t>
            </a:r>
            <a:r>
              <a:rPr lang="en-US" sz="2000" dirty="0"/>
              <a:t>n, n, nlog</a:t>
            </a:r>
            <a:r>
              <a:rPr lang="en-US" sz="2000" baseline="-25000" dirty="0"/>
              <a:t>2</a:t>
            </a:r>
            <a:r>
              <a:rPr lang="en-US" sz="2000" dirty="0"/>
              <a:t>n, n</a:t>
            </a:r>
            <a:r>
              <a:rPr lang="en-US" sz="2000" baseline="30000" dirty="0"/>
              <a:t>2</a:t>
            </a:r>
            <a:r>
              <a:rPr lang="en-US" sz="2000" dirty="0"/>
              <a:t>,n</a:t>
            </a:r>
            <a:r>
              <a:rPr lang="en-US" sz="2000" baseline="30000" dirty="0"/>
              <a:t>3</a:t>
            </a:r>
            <a:r>
              <a:rPr lang="en-US" sz="2000" dirty="0"/>
              <a:t> and 2</a:t>
            </a:r>
            <a:r>
              <a:rPr lang="en-US" sz="2000" baseline="30000" dirty="0"/>
              <a:t>n.</a:t>
            </a:r>
            <a:r>
              <a:rPr lang="en-US" sz="2000" dirty="0"/>
              <a:t> One way to compare f(n) with these standard functions is to use functional O notation defined as follows:</a:t>
            </a:r>
          </a:p>
          <a:p>
            <a:pPr eaLnBrk="1" hangingPunct="1"/>
            <a:r>
              <a:rPr lang="en-US" sz="2000" b="1" u="sng" dirty="0"/>
              <a:t>Definition</a:t>
            </a:r>
            <a:r>
              <a:rPr lang="en-US" sz="2000" dirty="0"/>
              <a:t>: If f(n) and g(n) are functions defined on positive integers with the property that f(n) is bounded by some multiple of g(n) for almost all n. That is, suppose there exist a positive integer n</a:t>
            </a:r>
            <a:r>
              <a:rPr lang="en-US" sz="2000" baseline="-25000" dirty="0"/>
              <a:t>o </a:t>
            </a:r>
            <a:r>
              <a:rPr lang="en-US" sz="2000" dirty="0"/>
              <a:t>and a positive number M such that for all n&gt; n</a:t>
            </a:r>
            <a:r>
              <a:rPr lang="en-US" sz="2000" baseline="-25000" dirty="0"/>
              <a:t>o </a:t>
            </a:r>
            <a:r>
              <a:rPr lang="en-US" sz="2000" dirty="0"/>
              <a:t> we have</a:t>
            </a:r>
            <a:endParaRPr lang="en-US" sz="2000" baseline="-25000" dirty="0"/>
          </a:p>
          <a:p>
            <a:pPr algn="ctr" eaLnBrk="1" hangingPunct="1">
              <a:buFontTx/>
              <a:buNone/>
            </a:pPr>
            <a:r>
              <a:rPr lang="en-US" sz="2000" dirty="0"/>
              <a:t> |f(n) |  </a:t>
            </a:r>
            <a:r>
              <a:rPr lang="en-US" sz="2000" dirty="0">
                <a:cs typeface="Times New Roman" pitchFamily="18" charset="0"/>
              </a:rPr>
              <a:t>≤</a:t>
            </a:r>
            <a:r>
              <a:rPr lang="en-US" sz="2000" dirty="0"/>
              <a:t> M |g(n)|</a:t>
            </a:r>
            <a:r>
              <a:rPr lang="en-US" sz="2000" baseline="-25000" dirty="0"/>
              <a:t> </a:t>
            </a:r>
          </a:p>
          <a:p>
            <a:pPr eaLnBrk="1" hangingPunct="1"/>
            <a:r>
              <a:rPr lang="en-US" sz="2000" dirty="0"/>
              <a:t>Then we may write</a:t>
            </a:r>
          </a:p>
          <a:p>
            <a:pPr algn="ctr" eaLnBrk="1" hangingPunct="1">
              <a:buFontTx/>
              <a:buNone/>
            </a:pPr>
            <a:r>
              <a:rPr lang="en-US" sz="2000" dirty="0"/>
              <a:t> f(n)=O g(n)</a:t>
            </a:r>
            <a:r>
              <a:rPr lang="en-US" sz="2000" baseline="-25000" dirty="0"/>
              <a:t>   </a:t>
            </a:r>
          </a:p>
          <a:p>
            <a:pPr eaLnBrk="1" hangingPunct="1">
              <a:buFontTx/>
              <a:buNone/>
            </a:pPr>
            <a:r>
              <a:rPr lang="en-US" sz="2000" dirty="0"/>
              <a:t>     Which is read as f(n)(time taken for number of operations) is of the order of g(n). If g(n)=n, it means that f(n) is a linear proportional to n. For g(n)=n</a:t>
            </a:r>
            <a:r>
              <a:rPr lang="en-US" sz="2000" baseline="30000" dirty="0"/>
              <a:t>2</a:t>
            </a:r>
            <a:r>
              <a:rPr lang="en-US" sz="2000" dirty="0"/>
              <a:t> , f(n) is proportional to n</a:t>
            </a:r>
            <a:r>
              <a:rPr lang="en-US" sz="2000" baseline="30000" dirty="0"/>
              <a:t>2</a:t>
            </a:r>
            <a:r>
              <a:rPr lang="en-US" sz="2000" dirty="0"/>
              <a:t>. Thus if an array is being sorted using an algorithm with g(n)=n</a:t>
            </a:r>
            <a:r>
              <a:rPr lang="en-US" sz="2000" baseline="30000" dirty="0"/>
              <a:t>2</a:t>
            </a:r>
            <a:r>
              <a:rPr lang="en-US" sz="2000" dirty="0"/>
              <a:t>, it will take 100 times as long to sort the array that is 10 times the size of another array.</a:t>
            </a:r>
          </a:p>
          <a:p>
            <a:pPr eaLnBrk="1" hangingPunct="1">
              <a:buFontTx/>
              <a:buNone/>
            </a:pPr>
            <a:r>
              <a:rPr lang="en-US" sz="2000" baseline="30000" dirty="0"/>
              <a:t> </a:t>
            </a:r>
            <a:r>
              <a:rPr lang="en-US" sz="2000" dirty="0"/>
              <a:t>    For the statement f(n)=O g(n) to be informative, g(n) should be as small a function of n  as possible for which f(n)=</a:t>
            </a:r>
            <a:r>
              <a:rPr lang="en-US" sz="2000" dirty="0" err="1"/>
              <a:t>Og</a:t>
            </a:r>
            <a:r>
              <a:rPr lang="en-US" sz="2000" dirty="0"/>
              <a:t>(n) is true.</a:t>
            </a:r>
            <a:endParaRPr lang="en-US" sz="2000" baseline="30000" dirty="0"/>
          </a:p>
        </p:txBody>
      </p:sp>
    </p:spTree>
    <p:extLst>
      <p:ext uri="{BB962C8B-B14F-4D97-AF65-F5344CB8AC3E}">
        <p14:creationId xmlns:p14="http://schemas.microsoft.com/office/powerpoint/2010/main" val="2792456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1"/>
          </p:nvPr>
        </p:nvSpPr>
        <p:spPr>
          <a:xfrm>
            <a:off x="1524000" y="0"/>
            <a:ext cx="9144000" cy="6858000"/>
          </a:xfrm>
        </p:spPr>
        <p:txBody>
          <a:bodyPr/>
          <a:lstStyle/>
          <a:p>
            <a:pPr eaLnBrk="1" hangingPunct="1"/>
            <a:r>
              <a:rPr lang="en-US" dirty="0"/>
              <a:t>Based on Big O notation, algorithms can be categorized as</a:t>
            </a:r>
          </a:p>
          <a:p>
            <a:pPr eaLnBrk="1" hangingPunct="1"/>
            <a:r>
              <a:rPr lang="en-US" dirty="0"/>
              <a:t>Constant time ( O(1)) algorithms</a:t>
            </a:r>
          </a:p>
          <a:p>
            <a:pPr eaLnBrk="1" hangingPunct="1"/>
            <a:r>
              <a:rPr lang="en-US" dirty="0"/>
              <a:t>Logarithmic time algorithms (O(</a:t>
            </a:r>
            <a:r>
              <a:rPr lang="en-US" dirty="0" err="1"/>
              <a:t>logn</a:t>
            </a:r>
            <a:r>
              <a:rPr lang="en-US" dirty="0"/>
              <a:t>))</a:t>
            </a:r>
          </a:p>
          <a:p>
            <a:pPr eaLnBrk="1" hangingPunct="1"/>
            <a:r>
              <a:rPr lang="en-US" dirty="0"/>
              <a:t>Linear Time algorithm (O(n))</a:t>
            </a:r>
          </a:p>
          <a:p>
            <a:pPr eaLnBrk="1" hangingPunct="1"/>
            <a:r>
              <a:rPr lang="en-US" dirty="0"/>
              <a:t>Polynomial or quadratic time algorithm (O(</a:t>
            </a:r>
            <a:r>
              <a:rPr lang="en-US" dirty="0" err="1"/>
              <a:t>n</a:t>
            </a:r>
            <a:r>
              <a:rPr lang="en-US" baseline="30000" dirty="0" err="1"/>
              <a:t>k</a:t>
            </a:r>
            <a:r>
              <a:rPr lang="en-US" dirty="0"/>
              <a:t>))</a:t>
            </a:r>
          </a:p>
          <a:p>
            <a:pPr eaLnBrk="1" hangingPunct="1"/>
            <a:r>
              <a:rPr lang="en-US" dirty="0"/>
              <a:t>Exponential time Algorithm (O(</a:t>
            </a:r>
            <a:r>
              <a:rPr lang="en-US" dirty="0" err="1"/>
              <a:t>k</a:t>
            </a:r>
            <a:r>
              <a:rPr lang="en-US" baseline="30000" dirty="0" err="1"/>
              <a:t>n</a:t>
            </a:r>
            <a:r>
              <a:rPr lang="en-US" dirty="0"/>
              <a:t>))</a:t>
            </a:r>
          </a:p>
          <a:p>
            <a:pPr lvl="1" eaLnBrk="1" hangingPunct="1"/>
            <a:r>
              <a:rPr lang="en-US" dirty="0"/>
              <a:t>It can be seen that logarithmic function log(n) grows most slowly whereas </a:t>
            </a:r>
            <a:r>
              <a:rPr lang="en-US" dirty="0" err="1"/>
              <a:t>k</a:t>
            </a:r>
            <a:r>
              <a:rPr lang="en-US" baseline="30000" dirty="0" err="1"/>
              <a:t>n</a:t>
            </a:r>
            <a:r>
              <a:rPr lang="en-US" dirty="0"/>
              <a:t> grows most rapidly and polynomial function </a:t>
            </a:r>
            <a:r>
              <a:rPr lang="en-US" dirty="0" err="1"/>
              <a:t>n</a:t>
            </a:r>
            <a:r>
              <a:rPr lang="en-US" baseline="30000" dirty="0" err="1"/>
              <a:t>k</a:t>
            </a:r>
            <a:r>
              <a:rPr lang="en-US" dirty="0"/>
              <a:t> grows in between the two extremities. Big</a:t>
            </a:r>
            <a:r>
              <a:rPr lang="en-US" i="1" dirty="0"/>
              <a:t>-</a:t>
            </a:r>
            <a:r>
              <a:rPr lang="en-US" dirty="0"/>
              <a:t>O notation,  concerns only the dominant term, low-order terms and constant coefficients are ignored in a statement. Thus if g(n) = n</a:t>
            </a:r>
            <a:r>
              <a:rPr lang="en-US" baseline="30000" dirty="0"/>
              <a:t>2</a:t>
            </a:r>
            <a:r>
              <a:rPr lang="en-US" dirty="0"/>
              <a:t>+2n, the variation is taken as O(n</a:t>
            </a:r>
            <a:r>
              <a:rPr lang="en-US" baseline="30000" dirty="0"/>
              <a:t>2</a:t>
            </a:r>
            <a:r>
              <a:rPr lang="en-US" dirty="0"/>
              <a:t>) rather than O(n). Complexities of some well known searching and sorting algorithms is:</a:t>
            </a:r>
          </a:p>
          <a:p>
            <a:pPr eaLnBrk="1" hangingPunct="1"/>
            <a:r>
              <a:rPr lang="en-US" dirty="0"/>
              <a:t>Linear Search: O(n)                 </a:t>
            </a:r>
            <a:r>
              <a:rPr lang="en-US" dirty="0" err="1"/>
              <a:t>Mergesort</a:t>
            </a:r>
            <a:r>
              <a:rPr lang="en-US" dirty="0"/>
              <a:t>: O(</a:t>
            </a:r>
            <a:r>
              <a:rPr lang="en-US" dirty="0" err="1"/>
              <a:t>nlogn</a:t>
            </a:r>
            <a:r>
              <a:rPr lang="en-US" dirty="0"/>
              <a:t>)</a:t>
            </a:r>
          </a:p>
          <a:p>
            <a:pPr eaLnBrk="1" hangingPunct="1"/>
            <a:r>
              <a:rPr lang="en-US" dirty="0"/>
              <a:t>Binary Search: O(log</a:t>
            </a:r>
            <a:r>
              <a:rPr lang="en-US" baseline="-25000" dirty="0"/>
              <a:t>2</a:t>
            </a:r>
            <a:r>
              <a:rPr lang="en-US" dirty="0"/>
              <a:t>n)</a:t>
            </a:r>
          </a:p>
          <a:p>
            <a:pPr eaLnBrk="1" hangingPunct="1"/>
            <a:r>
              <a:rPr lang="en-US" dirty="0"/>
              <a:t>Bubble sort: O(n</a:t>
            </a:r>
            <a:r>
              <a:rPr lang="en-US" baseline="30000" dirty="0"/>
              <a:t>2</a:t>
            </a:r>
            <a:r>
              <a:rPr lang="en-US" dirty="0"/>
              <a:t>)</a:t>
            </a:r>
          </a:p>
        </p:txBody>
      </p:sp>
    </p:spTree>
    <p:extLst>
      <p:ext uri="{BB962C8B-B14F-4D97-AF65-F5344CB8AC3E}">
        <p14:creationId xmlns:p14="http://schemas.microsoft.com/office/powerpoint/2010/main" val="3881020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body" idx="1"/>
          </p:nvPr>
        </p:nvSpPr>
        <p:spPr>
          <a:xfrm>
            <a:off x="1524000" y="0"/>
            <a:ext cx="9144000" cy="6858000"/>
          </a:xfrm>
        </p:spPr>
        <p:txBody>
          <a:bodyPr/>
          <a:lstStyle/>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eaLnBrk="1" hangingPunct="1"/>
            <a:endParaRPr lang="en-US"/>
          </a:p>
        </p:txBody>
      </p:sp>
      <p:sp>
        <p:nvSpPr>
          <p:cNvPr id="38915" name="Line 4"/>
          <p:cNvSpPr>
            <a:spLocks noChangeShapeType="1"/>
          </p:cNvSpPr>
          <p:nvPr/>
        </p:nvSpPr>
        <p:spPr bwMode="auto">
          <a:xfrm>
            <a:off x="2819400" y="533400"/>
            <a:ext cx="0" cy="3200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16" name="Line 5"/>
          <p:cNvSpPr>
            <a:spLocks noChangeShapeType="1"/>
          </p:cNvSpPr>
          <p:nvPr/>
        </p:nvSpPr>
        <p:spPr bwMode="auto">
          <a:xfrm flipV="1">
            <a:off x="2819400" y="3733800"/>
            <a:ext cx="3200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17" name="Line 10"/>
          <p:cNvSpPr>
            <a:spLocks noChangeShapeType="1"/>
          </p:cNvSpPr>
          <p:nvPr/>
        </p:nvSpPr>
        <p:spPr bwMode="auto">
          <a:xfrm flipV="1">
            <a:off x="2819400" y="2819400"/>
            <a:ext cx="2286000" cy="914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18" name="Line 11"/>
          <p:cNvSpPr>
            <a:spLocks noChangeShapeType="1"/>
          </p:cNvSpPr>
          <p:nvPr/>
        </p:nvSpPr>
        <p:spPr bwMode="auto">
          <a:xfrm>
            <a:off x="3276600" y="3733800"/>
            <a:ext cx="0" cy="76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19" name="Line 12"/>
          <p:cNvSpPr>
            <a:spLocks noChangeShapeType="1"/>
          </p:cNvSpPr>
          <p:nvPr/>
        </p:nvSpPr>
        <p:spPr bwMode="auto">
          <a:xfrm>
            <a:off x="2819400" y="3733800"/>
            <a:ext cx="0" cy="76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0" name="Line 13"/>
          <p:cNvSpPr>
            <a:spLocks noChangeShapeType="1"/>
          </p:cNvSpPr>
          <p:nvPr/>
        </p:nvSpPr>
        <p:spPr bwMode="auto">
          <a:xfrm>
            <a:off x="4038600" y="3733800"/>
            <a:ext cx="0" cy="76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1" name="Line 14"/>
          <p:cNvSpPr>
            <a:spLocks noChangeShapeType="1"/>
          </p:cNvSpPr>
          <p:nvPr/>
        </p:nvSpPr>
        <p:spPr bwMode="auto">
          <a:xfrm>
            <a:off x="5105400" y="3733800"/>
            <a:ext cx="0" cy="76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2" name="Line 15"/>
          <p:cNvSpPr>
            <a:spLocks noChangeShapeType="1"/>
          </p:cNvSpPr>
          <p:nvPr/>
        </p:nvSpPr>
        <p:spPr bwMode="auto">
          <a:xfrm>
            <a:off x="6019800" y="3733800"/>
            <a:ext cx="0" cy="76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3" name="Line 16"/>
          <p:cNvSpPr>
            <a:spLocks noChangeShapeType="1"/>
          </p:cNvSpPr>
          <p:nvPr/>
        </p:nvSpPr>
        <p:spPr bwMode="auto">
          <a:xfrm flipH="1">
            <a:off x="2743200" y="3505200"/>
            <a:ext cx="76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4" name="Line 17"/>
          <p:cNvSpPr>
            <a:spLocks noChangeShapeType="1"/>
          </p:cNvSpPr>
          <p:nvPr/>
        </p:nvSpPr>
        <p:spPr bwMode="auto">
          <a:xfrm flipH="1">
            <a:off x="2743200" y="3048000"/>
            <a:ext cx="76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5" name="Line 18"/>
          <p:cNvSpPr>
            <a:spLocks noChangeShapeType="1"/>
          </p:cNvSpPr>
          <p:nvPr/>
        </p:nvSpPr>
        <p:spPr bwMode="auto">
          <a:xfrm flipH="1">
            <a:off x="2743200" y="2514600"/>
            <a:ext cx="76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6" name="Line 19"/>
          <p:cNvSpPr>
            <a:spLocks noChangeShapeType="1"/>
          </p:cNvSpPr>
          <p:nvPr/>
        </p:nvSpPr>
        <p:spPr bwMode="auto">
          <a:xfrm flipH="1">
            <a:off x="2743200" y="2057400"/>
            <a:ext cx="76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7" name="Line 20"/>
          <p:cNvSpPr>
            <a:spLocks noChangeShapeType="1"/>
          </p:cNvSpPr>
          <p:nvPr/>
        </p:nvSpPr>
        <p:spPr bwMode="auto">
          <a:xfrm flipH="1">
            <a:off x="2743200" y="1600200"/>
            <a:ext cx="76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8" name="Line 21"/>
          <p:cNvSpPr>
            <a:spLocks noChangeShapeType="1"/>
          </p:cNvSpPr>
          <p:nvPr/>
        </p:nvSpPr>
        <p:spPr bwMode="auto">
          <a:xfrm flipH="1">
            <a:off x="2667000" y="1066800"/>
            <a:ext cx="152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29" name="Line 22"/>
          <p:cNvSpPr>
            <a:spLocks noChangeShapeType="1"/>
          </p:cNvSpPr>
          <p:nvPr/>
        </p:nvSpPr>
        <p:spPr bwMode="auto">
          <a:xfrm flipH="1">
            <a:off x="2743200" y="533400"/>
            <a:ext cx="76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30" name="Text Box 23"/>
          <p:cNvSpPr txBox="1">
            <a:spLocks noChangeArrowheads="1"/>
          </p:cNvSpPr>
          <p:nvPr/>
        </p:nvSpPr>
        <p:spPr bwMode="auto">
          <a:xfrm>
            <a:off x="3048000" y="3824288"/>
            <a:ext cx="457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a:t>
            </a:r>
          </a:p>
        </p:txBody>
      </p:sp>
      <p:sp>
        <p:nvSpPr>
          <p:cNvPr id="38931" name="Text Box 25"/>
          <p:cNvSpPr txBox="1">
            <a:spLocks noChangeArrowheads="1"/>
          </p:cNvSpPr>
          <p:nvPr/>
        </p:nvSpPr>
        <p:spPr bwMode="auto">
          <a:xfrm>
            <a:off x="3733800" y="3810001"/>
            <a:ext cx="6858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100</a:t>
            </a:r>
          </a:p>
        </p:txBody>
      </p:sp>
      <p:sp>
        <p:nvSpPr>
          <p:cNvPr id="38932" name="Text Box 26"/>
          <p:cNvSpPr txBox="1">
            <a:spLocks noChangeArrowheads="1"/>
          </p:cNvSpPr>
          <p:nvPr/>
        </p:nvSpPr>
        <p:spPr bwMode="auto">
          <a:xfrm>
            <a:off x="4724400" y="3810001"/>
            <a:ext cx="762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1000</a:t>
            </a:r>
          </a:p>
        </p:txBody>
      </p:sp>
      <p:sp>
        <p:nvSpPr>
          <p:cNvPr id="38933" name="Text Box 27"/>
          <p:cNvSpPr txBox="1">
            <a:spLocks noChangeArrowheads="1"/>
          </p:cNvSpPr>
          <p:nvPr/>
        </p:nvSpPr>
        <p:spPr bwMode="auto">
          <a:xfrm>
            <a:off x="5791200" y="3824288"/>
            <a:ext cx="11430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10,000</a:t>
            </a:r>
          </a:p>
        </p:txBody>
      </p:sp>
      <p:sp>
        <p:nvSpPr>
          <p:cNvPr id="38934" name="Text Box 28"/>
          <p:cNvSpPr txBox="1">
            <a:spLocks noChangeArrowheads="1"/>
          </p:cNvSpPr>
          <p:nvPr/>
        </p:nvSpPr>
        <p:spPr bwMode="auto">
          <a:xfrm>
            <a:off x="2286000" y="3276601"/>
            <a:ext cx="6858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a:t>
            </a:r>
            <a:r>
              <a:rPr kumimoji="0" lang="en-US" sz="1800" b="0" i="0" u="none" strike="noStrike" kern="1200" cap="none" spc="0" normalizeH="0" baseline="30000" noProof="0">
                <a:ln>
                  <a:noFill/>
                </a:ln>
                <a:solidFill>
                  <a:srgbClr val="000000"/>
                </a:solidFill>
                <a:effectLst/>
                <a:uLnTx/>
                <a:uFillTx/>
                <a:latin typeface="Times New Roman"/>
                <a:ea typeface="+mn-ea"/>
                <a:cs typeface="+mn-cs"/>
              </a:rPr>
              <a:t>2</a:t>
            </a:r>
          </a:p>
        </p:txBody>
      </p:sp>
      <p:sp>
        <p:nvSpPr>
          <p:cNvPr id="38935" name="Text Box 29"/>
          <p:cNvSpPr txBox="1">
            <a:spLocks noChangeArrowheads="1"/>
          </p:cNvSpPr>
          <p:nvPr/>
        </p:nvSpPr>
        <p:spPr bwMode="auto">
          <a:xfrm>
            <a:off x="2209800" y="2819401"/>
            <a:ext cx="6858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a:t>
            </a:r>
            <a:r>
              <a:rPr kumimoji="0" lang="en-US" sz="1800" b="0" i="0" u="none" strike="noStrike" kern="1200" cap="none" spc="0" normalizeH="0" baseline="30000" noProof="0">
                <a:ln>
                  <a:noFill/>
                </a:ln>
                <a:solidFill>
                  <a:srgbClr val="000000"/>
                </a:solidFill>
                <a:effectLst/>
                <a:uLnTx/>
                <a:uFillTx/>
                <a:latin typeface="Times New Roman"/>
                <a:ea typeface="+mn-ea"/>
                <a:cs typeface="+mn-cs"/>
              </a:rPr>
              <a:t>3</a:t>
            </a:r>
          </a:p>
        </p:txBody>
      </p:sp>
      <p:sp>
        <p:nvSpPr>
          <p:cNvPr id="38936" name="Text Box 30"/>
          <p:cNvSpPr txBox="1">
            <a:spLocks noChangeArrowheads="1"/>
          </p:cNvSpPr>
          <p:nvPr/>
        </p:nvSpPr>
        <p:spPr bwMode="auto">
          <a:xfrm>
            <a:off x="2209800" y="2376488"/>
            <a:ext cx="7620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a:t>
            </a:r>
            <a:r>
              <a:rPr kumimoji="0" lang="en-US" sz="1800" b="0" i="0" u="none" strike="noStrike" kern="1200" cap="none" spc="0" normalizeH="0" baseline="30000" noProof="0">
                <a:ln>
                  <a:noFill/>
                </a:ln>
                <a:solidFill>
                  <a:srgbClr val="000000"/>
                </a:solidFill>
                <a:effectLst/>
                <a:uLnTx/>
                <a:uFillTx/>
                <a:latin typeface="Times New Roman"/>
                <a:ea typeface="+mn-ea"/>
                <a:cs typeface="+mn-cs"/>
              </a:rPr>
              <a:t>4</a:t>
            </a:r>
          </a:p>
        </p:txBody>
      </p:sp>
      <p:sp>
        <p:nvSpPr>
          <p:cNvPr id="38937" name="Text Box 31"/>
          <p:cNvSpPr txBox="1">
            <a:spLocks noChangeArrowheads="1"/>
          </p:cNvSpPr>
          <p:nvPr/>
        </p:nvSpPr>
        <p:spPr bwMode="auto">
          <a:xfrm>
            <a:off x="2286000" y="1828801"/>
            <a:ext cx="9906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a:t>
            </a:r>
            <a:r>
              <a:rPr kumimoji="0" lang="en-US" sz="1800" b="0" i="0" u="none" strike="noStrike" kern="1200" cap="none" spc="0" normalizeH="0" baseline="30000" noProof="0">
                <a:ln>
                  <a:noFill/>
                </a:ln>
                <a:solidFill>
                  <a:srgbClr val="000000"/>
                </a:solidFill>
                <a:effectLst/>
                <a:uLnTx/>
                <a:uFillTx/>
                <a:latin typeface="Times New Roman"/>
                <a:ea typeface="+mn-ea"/>
                <a:cs typeface="+mn-cs"/>
              </a:rPr>
              <a:t>5</a:t>
            </a:r>
          </a:p>
        </p:txBody>
      </p:sp>
      <p:sp>
        <p:nvSpPr>
          <p:cNvPr id="38938" name="Text Box 32"/>
          <p:cNvSpPr txBox="1">
            <a:spLocks noChangeArrowheads="1"/>
          </p:cNvSpPr>
          <p:nvPr/>
        </p:nvSpPr>
        <p:spPr bwMode="auto">
          <a:xfrm>
            <a:off x="2286000" y="1371601"/>
            <a:ext cx="8382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a:t>
            </a:r>
            <a:r>
              <a:rPr kumimoji="0" lang="en-US" sz="1800" b="0" i="0" u="none" strike="noStrike" kern="1200" cap="none" spc="0" normalizeH="0" baseline="30000" noProof="0">
                <a:ln>
                  <a:noFill/>
                </a:ln>
                <a:solidFill>
                  <a:srgbClr val="000000"/>
                </a:solidFill>
                <a:effectLst/>
                <a:uLnTx/>
                <a:uFillTx/>
                <a:latin typeface="Times New Roman"/>
                <a:ea typeface="+mn-ea"/>
                <a:cs typeface="+mn-cs"/>
              </a:rPr>
              <a:t>6</a:t>
            </a:r>
          </a:p>
        </p:txBody>
      </p:sp>
      <p:sp>
        <p:nvSpPr>
          <p:cNvPr id="38939" name="Text Box 33"/>
          <p:cNvSpPr txBox="1">
            <a:spLocks noChangeArrowheads="1"/>
          </p:cNvSpPr>
          <p:nvPr/>
        </p:nvSpPr>
        <p:spPr bwMode="auto">
          <a:xfrm>
            <a:off x="2209800" y="914401"/>
            <a:ext cx="762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a:t>
            </a:r>
            <a:r>
              <a:rPr kumimoji="0" lang="en-US" sz="1800" b="0" i="0" u="none" strike="noStrike" kern="1200" cap="none" spc="0" normalizeH="0" baseline="30000" noProof="0">
                <a:ln>
                  <a:noFill/>
                </a:ln>
                <a:solidFill>
                  <a:srgbClr val="000000"/>
                </a:solidFill>
                <a:effectLst/>
                <a:uLnTx/>
                <a:uFillTx/>
                <a:latin typeface="Times New Roman"/>
                <a:ea typeface="+mn-ea"/>
                <a:cs typeface="+mn-cs"/>
              </a:rPr>
              <a:t>7</a:t>
            </a:r>
          </a:p>
        </p:txBody>
      </p:sp>
      <p:sp>
        <p:nvSpPr>
          <p:cNvPr id="38940" name="Text Box 34"/>
          <p:cNvSpPr txBox="1">
            <a:spLocks noChangeArrowheads="1"/>
          </p:cNvSpPr>
          <p:nvPr/>
        </p:nvSpPr>
        <p:spPr bwMode="auto">
          <a:xfrm>
            <a:off x="2133600" y="457201"/>
            <a:ext cx="9144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a:t>
            </a:r>
            <a:r>
              <a:rPr kumimoji="0" lang="en-US" sz="1800" b="0" i="0" u="none" strike="noStrike" kern="1200" cap="none" spc="0" normalizeH="0" baseline="30000" noProof="0">
                <a:ln>
                  <a:noFill/>
                </a:ln>
                <a:solidFill>
                  <a:srgbClr val="000000"/>
                </a:solidFill>
                <a:effectLst/>
                <a:uLnTx/>
                <a:uFillTx/>
                <a:latin typeface="Times New Roman"/>
                <a:ea typeface="+mn-ea"/>
                <a:cs typeface="+mn-cs"/>
              </a:rPr>
              <a:t>8</a:t>
            </a:r>
          </a:p>
        </p:txBody>
      </p:sp>
      <p:sp>
        <p:nvSpPr>
          <p:cNvPr id="38941" name="Text Box 35"/>
          <p:cNvSpPr txBox="1">
            <a:spLocks noChangeArrowheads="1"/>
          </p:cNvSpPr>
          <p:nvPr/>
        </p:nvSpPr>
        <p:spPr bwMode="auto">
          <a:xfrm>
            <a:off x="5105400" y="2590801"/>
            <a:ext cx="4572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n</a:t>
            </a:r>
          </a:p>
        </p:txBody>
      </p:sp>
      <p:sp>
        <p:nvSpPr>
          <p:cNvPr id="38942" name="Text Box 36"/>
          <p:cNvSpPr txBox="1">
            <a:spLocks noChangeArrowheads="1"/>
          </p:cNvSpPr>
          <p:nvPr/>
        </p:nvSpPr>
        <p:spPr bwMode="auto">
          <a:xfrm>
            <a:off x="5410200" y="2071688"/>
            <a:ext cx="11430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nlogn</a:t>
            </a:r>
          </a:p>
        </p:txBody>
      </p:sp>
      <p:sp>
        <p:nvSpPr>
          <p:cNvPr id="38943" name="Text Box 37"/>
          <p:cNvSpPr txBox="1">
            <a:spLocks noChangeArrowheads="1"/>
          </p:cNvSpPr>
          <p:nvPr/>
        </p:nvSpPr>
        <p:spPr bwMode="auto">
          <a:xfrm>
            <a:off x="5257800" y="1233488"/>
            <a:ext cx="11430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n</a:t>
            </a:r>
            <a:r>
              <a:rPr kumimoji="0" lang="en-US" sz="1800" b="1" i="0" u="none" strike="noStrike" kern="1200" cap="none" spc="0" normalizeH="0" baseline="30000" noProof="0">
                <a:ln>
                  <a:noFill/>
                </a:ln>
                <a:solidFill>
                  <a:srgbClr val="000000"/>
                </a:solidFill>
                <a:effectLst/>
                <a:uLnTx/>
                <a:uFillTx/>
                <a:latin typeface="Times New Roman"/>
                <a:ea typeface="+mn-ea"/>
                <a:cs typeface="+mn-cs"/>
              </a:rPr>
              <a:t>2</a:t>
            </a:r>
          </a:p>
        </p:txBody>
      </p:sp>
      <p:sp>
        <p:nvSpPr>
          <p:cNvPr id="38944" name="Text Box 38"/>
          <p:cNvSpPr txBox="1">
            <a:spLocks noChangeArrowheads="1"/>
          </p:cNvSpPr>
          <p:nvPr/>
        </p:nvSpPr>
        <p:spPr bwMode="auto">
          <a:xfrm>
            <a:off x="5029200" y="533401"/>
            <a:ext cx="9144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n</a:t>
            </a:r>
            <a:r>
              <a:rPr kumimoji="0" lang="en-US" sz="1800" b="1" i="0" u="none" strike="noStrike" kern="1200" cap="none" spc="0" normalizeH="0" baseline="30000" noProof="0">
                <a:ln>
                  <a:noFill/>
                </a:ln>
                <a:solidFill>
                  <a:srgbClr val="000000"/>
                </a:solidFill>
                <a:effectLst/>
                <a:uLnTx/>
                <a:uFillTx/>
                <a:latin typeface="Times New Roman"/>
                <a:ea typeface="+mn-ea"/>
                <a:cs typeface="+mn-cs"/>
              </a:rPr>
              <a:t>3</a:t>
            </a:r>
          </a:p>
        </p:txBody>
      </p:sp>
      <p:sp>
        <p:nvSpPr>
          <p:cNvPr id="38945" name="Text Box 39"/>
          <p:cNvSpPr txBox="1">
            <a:spLocks noChangeArrowheads="1"/>
          </p:cNvSpPr>
          <p:nvPr/>
        </p:nvSpPr>
        <p:spPr bwMode="auto">
          <a:xfrm>
            <a:off x="3962400" y="3190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2</a:t>
            </a:r>
            <a:r>
              <a:rPr kumimoji="0" lang="en-US" sz="1800" b="1" i="0" u="none" strike="noStrike" kern="1200" cap="none" spc="0" normalizeH="0" baseline="30000" noProof="0">
                <a:ln>
                  <a:noFill/>
                </a:ln>
                <a:solidFill>
                  <a:srgbClr val="000000"/>
                </a:solidFill>
                <a:effectLst/>
                <a:uLnTx/>
                <a:uFillTx/>
                <a:latin typeface="Times New Roman"/>
                <a:ea typeface="+mn-ea"/>
                <a:cs typeface="+mn-cs"/>
              </a:rPr>
              <a:t>n</a:t>
            </a:r>
          </a:p>
        </p:txBody>
      </p:sp>
      <p:sp>
        <p:nvSpPr>
          <p:cNvPr id="38946" name="Text Box 40"/>
          <p:cNvSpPr txBox="1">
            <a:spLocks noChangeArrowheads="1"/>
          </p:cNvSpPr>
          <p:nvPr/>
        </p:nvSpPr>
        <p:spPr bwMode="auto">
          <a:xfrm>
            <a:off x="2667000" y="3748088"/>
            <a:ext cx="3810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a:t>
            </a:r>
          </a:p>
        </p:txBody>
      </p:sp>
      <p:sp>
        <p:nvSpPr>
          <p:cNvPr id="38947" name="Line 41"/>
          <p:cNvSpPr>
            <a:spLocks noChangeShapeType="1"/>
          </p:cNvSpPr>
          <p:nvPr/>
        </p:nvSpPr>
        <p:spPr bwMode="auto">
          <a:xfrm>
            <a:off x="2895600" y="4419600"/>
            <a:ext cx="24384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48" name="Text Box 42"/>
          <p:cNvSpPr txBox="1">
            <a:spLocks noChangeArrowheads="1"/>
          </p:cNvSpPr>
          <p:nvPr/>
        </p:nvSpPr>
        <p:spPr bwMode="auto">
          <a:xfrm>
            <a:off x="3429000" y="4129088"/>
            <a:ext cx="26670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Input size n</a:t>
            </a:r>
          </a:p>
        </p:txBody>
      </p:sp>
      <p:sp>
        <p:nvSpPr>
          <p:cNvPr id="38949" name="Line 43"/>
          <p:cNvSpPr>
            <a:spLocks noChangeShapeType="1"/>
          </p:cNvSpPr>
          <p:nvPr/>
        </p:nvSpPr>
        <p:spPr bwMode="auto">
          <a:xfrm flipV="1">
            <a:off x="1981200" y="914400"/>
            <a:ext cx="0" cy="22860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50" name="Text Box 45"/>
          <p:cNvSpPr txBox="1">
            <a:spLocks noChangeArrowheads="1"/>
          </p:cNvSpPr>
          <p:nvPr/>
        </p:nvSpPr>
        <p:spPr bwMode="auto">
          <a:xfrm rot="-5400000">
            <a:off x="654844" y="959644"/>
            <a:ext cx="30480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Time taken</a:t>
            </a:r>
          </a:p>
        </p:txBody>
      </p:sp>
      <p:pic>
        <p:nvPicPr>
          <p:cNvPr id="38951" name="Picture 46" descr="Lecture7Fig6"/>
          <p:cNvPicPr>
            <a:picLocks noChangeAspect="1" noChangeArrowheads="1"/>
          </p:cNvPicPr>
          <p:nvPr/>
        </p:nvPicPr>
        <p:blipFill>
          <a:blip r:embed="rId2"/>
          <a:srcRect/>
          <a:stretch>
            <a:fillRect/>
          </a:stretch>
        </p:blipFill>
        <p:spPr bwMode="auto">
          <a:xfrm>
            <a:off x="6324600" y="815975"/>
            <a:ext cx="4343400" cy="2660650"/>
          </a:xfrm>
          <a:prstGeom prst="rect">
            <a:avLst/>
          </a:prstGeom>
          <a:noFill/>
          <a:ln w="9525">
            <a:noFill/>
            <a:miter lim="800000"/>
            <a:headEnd/>
            <a:tailEnd/>
          </a:ln>
        </p:spPr>
      </p:pic>
      <p:sp>
        <p:nvSpPr>
          <p:cNvPr id="38952" name="Text Box 47"/>
          <p:cNvSpPr txBox="1">
            <a:spLocks noChangeArrowheads="1"/>
          </p:cNvSpPr>
          <p:nvPr/>
        </p:nvSpPr>
        <p:spPr bwMode="auto">
          <a:xfrm>
            <a:off x="2667000" y="4738688"/>
            <a:ext cx="41148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Rate of Growth of f(n) with n</a:t>
            </a:r>
          </a:p>
        </p:txBody>
      </p:sp>
      <p:sp>
        <p:nvSpPr>
          <p:cNvPr id="38953" name="Freeform 48"/>
          <p:cNvSpPr>
            <a:spLocks/>
          </p:cNvSpPr>
          <p:nvPr/>
        </p:nvSpPr>
        <p:spPr bwMode="auto">
          <a:xfrm>
            <a:off x="2819400" y="3276600"/>
            <a:ext cx="2590800" cy="457200"/>
          </a:xfrm>
          <a:custGeom>
            <a:avLst/>
            <a:gdLst>
              <a:gd name="T0" fmla="*/ 0 w 1632"/>
              <a:gd name="T1" fmla="*/ 2147483647 h 288"/>
              <a:gd name="T2" fmla="*/ 2147483647 w 1632"/>
              <a:gd name="T3" fmla="*/ 2147483647 h 288"/>
              <a:gd name="T4" fmla="*/ 2147483647 w 1632"/>
              <a:gd name="T5" fmla="*/ 0 h 288"/>
              <a:gd name="T6" fmla="*/ 0 60000 65536"/>
              <a:gd name="T7" fmla="*/ 0 60000 65536"/>
              <a:gd name="T8" fmla="*/ 0 60000 65536"/>
              <a:gd name="T9" fmla="*/ 0 w 1632"/>
              <a:gd name="T10" fmla="*/ 0 h 288"/>
              <a:gd name="T11" fmla="*/ 1632 w 1632"/>
              <a:gd name="T12" fmla="*/ 288 h 288"/>
            </a:gdLst>
            <a:ahLst/>
            <a:cxnLst>
              <a:cxn ang="T6">
                <a:pos x="T0" y="T1"/>
              </a:cxn>
              <a:cxn ang="T7">
                <a:pos x="T2" y="T3"/>
              </a:cxn>
              <a:cxn ang="T8">
                <a:pos x="T4" y="T5"/>
              </a:cxn>
            </a:cxnLst>
            <a:rect l="T9" t="T10" r="T11" b="T12"/>
            <a:pathLst>
              <a:path w="1632" h="288">
                <a:moveTo>
                  <a:pt x="0" y="288"/>
                </a:moveTo>
                <a:cubicBezTo>
                  <a:pt x="8" y="216"/>
                  <a:pt x="16" y="144"/>
                  <a:pt x="288" y="96"/>
                </a:cubicBezTo>
                <a:cubicBezTo>
                  <a:pt x="560" y="48"/>
                  <a:pt x="1392" y="16"/>
                  <a:pt x="1632" y="0"/>
                </a:cubicBezTo>
              </a:path>
            </a:pathLst>
          </a:cu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54" name="Text Box 49"/>
          <p:cNvSpPr txBox="1">
            <a:spLocks noChangeArrowheads="1"/>
          </p:cNvSpPr>
          <p:nvPr/>
        </p:nvSpPr>
        <p:spPr bwMode="auto">
          <a:xfrm>
            <a:off x="5410200" y="3062288"/>
            <a:ext cx="7620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logn</a:t>
            </a:r>
          </a:p>
        </p:txBody>
      </p:sp>
      <p:sp>
        <p:nvSpPr>
          <p:cNvPr id="38955" name="Freeform 51"/>
          <p:cNvSpPr>
            <a:spLocks/>
          </p:cNvSpPr>
          <p:nvPr/>
        </p:nvSpPr>
        <p:spPr bwMode="auto">
          <a:xfrm rot="10800000">
            <a:off x="2819400" y="2286000"/>
            <a:ext cx="2590800" cy="1447800"/>
          </a:xfrm>
          <a:custGeom>
            <a:avLst/>
            <a:gdLst>
              <a:gd name="T0" fmla="*/ 0 w 1632"/>
              <a:gd name="T1" fmla="*/ 2147483647 h 912"/>
              <a:gd name="T2" fmla="*/ 2147483647 w 1632"/>
              <a:gd name="T3" fmla="*/ 2147483647 h 912"/>
              <a:gd name="T4" fmla="*/ 2147483647 w 1632"/>
              <a:gd name="T5" fmla="*/ 0 h 912"/>
              <a:gd name="T6" fmla="*/ 0 60000 65536"/>
              <a:gd name="T7" fmla="*/ 0 60000 65536"/>
              <a:gd name="T8" fmla="*/ 0 60000 65536"/>
              <a:gd name="T9" fmla="*/ 0 w 1632"/>
              <a:gd name="T10" fmla="*/ 0 h 912"/>
              <a:gd name="T11" fmla="*/ 1632 w 1632"/>
              <a:gd name="T12" fmla="*/ 912 h 912"/>
            </a:gdLst>
            <a:ahLst/>
            <a:cxnLst>
              <a:cxn ang="T6">
                <a:pos x="T0" y="T1"/>
              </a:cxn>
              <a:cxn ang="T7">
                <a:pos x="T2" y="T3"/>
              </a:cxn>
              <a:cxn ang="T8">
                <a:pos x="T4" y="T5"/>
              </a:cxn>
            </a:cxnLst>
            <a:rect l="T9" t="T10" r="T11" b="T12"/>
            <a:pathLst>
              <a:path w="1632" h="912">
                <a:moveTo>
                  <a:pt x="0" y="912"/>
                </a:moveTo>
                <a:cubicBezTo>
                  <a:pt x="104" y="748"/>
                  <a:pt x="208" y="584"/>
                  <a:pt x="480" y="432"/>
                </a:cubicBezTo>
                <a:cubicBezTo>
                  <a:pt x="752" y="280"/>
                  <a:pt x="1192" y="140"/>
                  <a:pt x="1632" y="0"/>
                </a:cubicBezTo>
              </a:path>
            </a:pathLst>
          </a:cu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56" name="Freeform 52"/>
          <p:cNvSpPr>
            <a:spLocks/>
          </p:cNvSpPr>
          <p:nvPr/>
        </p:nvSpPr>
        <p:spPr bwMode="auto">
          <a:xfrm rot="10800000">
            <a:off x="2819400" y="1447800"/>
            <a:ext cx="2438400" cy="2286000"/>
          </a:xfrm>
          <a:custGeom>
            <a:avLst/>
            <a:gdLst>
              <a:gd name="T0" fmla="*/ 0 w 1632"/>
              <a:gd name="T1" fmla="*/ 2147483647 h 912"/>
              <a:gd name="T2" fmla="*/ 2147483647 w 1632"/>
              <a:gd name="T3" fmla="*/ 2147483647 h 912"/>
              <a:gd name="T4" fmla="*/ 2147483647 w 1632"/>
              <a:gd name="T5" fmla="*/ 0 h 912"/>
              <a:gd name="T6" fmla="*/ 0 60000 65536"/>
              <a:gd name="T7" fmla="*/ 0 60000 65536"/>
              <a:gd name="T8" fmla="*/ 0 60000 65536"/>
              <a:gd name="T9" fmla="*/ 0 w 1632"/>
              <a:gd name="T10" fmla="*/ 0 h 912"/>
              <a:gd name="T11" fmla="*/ 1632 w 1632"/>
              <a:gd name="T12" fmla="*/ 912 h 912"/>
            </a:gdLst>
            <a:ahLst/>
            <a:cxnLst>
              <a:cxn ang="T6">
                <a:pos x="T0" y="T1"/>
              </a:cxn>
              <a:cxn ang="T7">
                <a:pos x="T2" y="T3"/>
              </a:cxn>
              <a:cxn ang="T8">
                <a:pos x="T4" y="T5"/>
              </a:cxn>
            </a:cxnLst>
            <a:rect l="T9" t="T10" r="T11" b="T12"/>
            <a:pathLst>
              <a:path w="1632" h="912">
                <a:moveTo>
                  <a:pt x="0" y="912"/>
                </a:moveTo>
                <a:cubicBezTo>
                  <a:pt x="104" y="748"/>
                  <a:pt x="208" y="584"/>
                  <a:pt x="480" y="432"/>
                </a:cubicBezTo>
                <a:cubicBezTo>
                  <a:pt x="752" y="280"/>
                  <a:pt x="1192" y="140"/>
                  <a:pt x="1632" y="0"/>
                </a:cubicBezTo>
              </a:path>
            </a:pathLst>
          </a:cu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57" name="Freeform 53"/>
          <p:cNvSpPr>
            <a:spLocks/>
          </p:cNvSpPr>
          <p:nvPr/>
        </p:nvSpPr>
        <p:spPr bwMode="auto">
          <a:xfrm rot="10800000">
            <a:off x="2819400" y="685800"/>
            <a:ext cx="2209800" cy="3048000"/>
          </a:xfrm>
          <a:custGeom>
            <a:avLst/>
            <a:gdLst>
              <a:gd name="T0" fmla="*/ 0 w 1632"/>
              <a:gd name="T1" fmla="*/ 2147483647 h 912"/>
              <a:gd name="T2" fmla="*/ 2147483647 w 1632"/>
              <a:gd name="T3" fmla="*/ 2147483647 h 912"/>
              <a:gd name="T4" fmla="*/ 2147483647 w 1632"/>
              <a:gd name="T5" fmla="*/ 0 h 912"/>
              <a:gd name="T6" fmla="*/ 0 60000 65536"/>
              <a:gd name="T7" fmla="*/ 0 60000 65536"/>
              <a:gd name="T8" fmla="*/ 0 60000 65536"/>
              <a:gd name="T9" fmla="*/ 0 w 1632"/>
              <a:gd name="T10" fmla="*/ 0 h 912"/>
              <a:gd name="T11" fmla="*/ 1632 w 1632"/>
              <a:gd name="T12" fmla="*/ 912 h 912"/>
            </a:gdLst>
            <a:ahLst/>
            <a:cxnLst>
              <a:cxn ang="T6">
                <a:pos x="T0" y="T1"/>
              </a:cxn>
              <a:cxn ang="T7">
                <a:pos x="T2" y="T3"/>
              </a:cxn>
              <a:cxn ang="T8">
                <a:pos x="T4" y="T5"/>
              </a:cxn>
            </a:cxnLst>
            <a:rect l="T9" t="T10" r="T11" b="T12"/>
            <a:pathLst>
              <a:path w="1632" h="912">
                <a:moveTo>
                  <a:pt x="0" y="912"/>
                </a:moveTo>
                <a:cubicBezTo>
                  <a:pt x="104" y="748"/>
                  <a:pt x="208" y="584"/>
                  <a:pt x="480" y="432"/>
                </a:cubicBezTo>
                <a:cubicBezTo>
                  <a:pt x="752" y="280"/>
                  <a:pt x="1192" y="140"/>
                  <a:pt x="1632" y="0"/>
                </a:cubicBezTo>
              </a:path>
            </a:pathLst>
          </a:cu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8958" name="Freeform 54"/>
          <p:cNvSpPr>
            <a:spLocks/>
          </p:cNvSpPr>
          <p:nvPr/>
        </p:nvSpPr>
        <p:spPr bwMode="auto">
          <a:xfrm rot="10800000">
            <a:off x="2819400" y="533400"/>
            <a:ext cx="1143000" cy="3200400"/>
          </a:xfrm>
          <a:custGeom>
            <a:avLst/>
            <a:gdLst>
              <a:gd name="T0" fmla="*/ 0 w 1632"/>
              <a:gd name="T1" fmla="*/ 2147483647 h 912"/>
              <a:gd name="T2" fmla="*/ 2147483647 w 1632"/>
              <a:gd name="T3" fmla="*/ 2147483647 h 912"/>
              <a:gd name="T4" fmla="*/ 2147483647 w 1632"/>
              <a:gd name="T5" fmla="*/ 0 h 912"/>
              <a:gd name="T6" fmla="*/ 0 60000 65536"/>
              <a:gd name="T7" fmla="*/ 0 60000 65536"/>
              <a:gd name="T8" fmla="*/ 0 60000 65536"/>
              <a:gd name="T9" fmla="*/ 0 w 1632"/>
              <a:gd name="T10" fmla="*/ 0 h 912"/>
              <a:gd name="T11" fmla="*/ 1632 w 1632"/>
              <a:gd name="T12" fmla="*/ 912 h 912"/>
            </a:gdLst>
            <a:ahLst/>
            <a:cxnLst>
              <a:cxn ang="T6">
                <a:pos x="T0" y="T1"/>
              </a:cxn>
              <a:cxn ang="T7">
                <a:pos x="T2" y="T3"/>
              </a:cxn>
              <a:cxn ang="T8">
                <a:pos x="T4" y="T5"/>
              </a:cxn>
            </a:cxnLst>
            <a:rect l="T9" t="T10" r="T11" b="T12"/>
            <a:pathLst>
              <a:path w="1632" h="912">
                <a:moveTo>
                  <a:pt x="0" y="912"/>
                </a:moveTo>
                <a:cubicBezTo>
                  <a:pt x="104" y="748"/>
                  <a:pt x="208" y="584"/>
                  <a:pt x="480" y="432"/>
                </a:cubicBezTo>
                <a:cubicBezTo>
                  <a:pt x="752" y="280"/>
                  <a:pt x="1192" y="140"/>
                  <a:pt x="1632" y="0"/>
                </a:cubicBezTo>
              </a:path>
            </a:pathLst>
          </a:cu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98115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a:xfrm>
            <a:off x="1020566" y="739737"/>
            <a:ext cx="11171434" cy="5984697"/>
          </a:xfrm>
        </p:spPr>
        <p:txBody>
          <a:bodyPr/>
          <a:lstStyle/>
          <a:p>
            <a:pPr eaLnBrk="1" hangingPunct="1">
              <a:buFontTx/>
              <a:buNone/>
            </a:pPr>
            <a:r>
              <a:rPr lang="en-US" dirty="0"/>
              <a:t>   </a:t>
            </a:r>
            <a:r>
              <a:rPr lang="en-US" sz="2000" dirty="0"/>
              <a:t>Based on the type of resource variation studied, there are two types of complexities</a:t>
            </a:r>
          </a:p>
          <a:p>
            <a:pPr eaLnBrk="1" hangingPunct="1"/>
            <a:endParaRPr lang="en-US" sz="2000" dirty="0"/>
          </a:p>
          <a:p>
            <a:pPr eaLnBrk="1" hangingPunct="1"/>
            <a:r>
              <a:rPr lang="en-US" sz="2000" dirty="0"/>
              <a:t>Time complexity </a:t>
            </a:r>
          </a:p>
          <a:p>
            <a:pPr eaLnBrk="1" hangingPunct="1"/>
            <a:r>
              <a:rPr lang="en-US" sz="2000" dirty="0"/>
              <a:t>Space complexity</a:t>
            </a:r>
          </a:p>
          <a:p>
            <a:pPr eaLnBrk="1" hangingPunct="1">
              <a:buFontTx/>
              <a:buNone/>
            </a:pPr>
            <a:r>
              <a:rPr lang="en-US" sz="2000" b="1" dirty="0"/>
              <a:t>   </a:t>
            </a:r>
          </a:p>
          <a:p>
            <a:pPr eaLnBrk="1" hangingPunct="1">
              <a:buFontTx/>
              <a:buNone/>
            </a:pPr>
            <a:r>
              <a:rPr lang="en-US" sz="2000" b="1" dirty="0"/>
              <a:t>      Space Complexity</a:t>
            </a:r>
            <a:r>
              <a:rPr lang="en-US" sz="2000" dirty="0"/>
              <a:t>- The space complexity of an algorithm is amount of memory it needs to run to completion. The space needed by a program consists of following components:</a:t>
            </a:r>
          </a:p>
          <a:p>
            <a:pPr eaLnBrk="1" hangingPunct="1"/>
            <a:r>
              <a:rPr lang="en-US" sz="2000" b="1" dirty="0"/>
              <a:t>Instruction space</a:t>
            </a:r>
            <a:r>
              <a:rPr lang="en-US" sz="2000" dirty="0"/>
              <a:t>-space needed to store the executable version of program and is fixed.</a:t>
            </a:r>
          </a:p>
          <a:p>
            <a:pPr eaLnBrk="1" hangingPunct="1"/>
            <a:endParaRPr lang="en-US" sz="2000" b="1" dirty="0"/>
          </a:p>
          <a:p>
            <a:pPr eaLnBrk="1" hangingPunct="1"/>
            <a:r>
              <a:rPr lang="en-US" sz="2000" b="1" dirty="0"/>
              <a:t>Data space</a:t>
            </a:r>
            <a:r>
              <a:rPr lang="en-US" sz="2000" dirty="0"/>
              <a:t>-space needed to store all constants and variable values</a:t>
            </a:r>
          </a:p>
          <a:p>
            <a:pPr eaLnBrk="1" hangingPunct="1">
              <a:lnSpc>
                <a:spcPct val="90000"/>
              </a:lnSpc>
            </a:pPr>
            <a:endParaRPr lang="en-US" sz="2000" b="1" dirty="0"/>
          </a:p>
          <a:p>
            <a:pPr eaLnBrk="1" hangingPunct="1">
              <a:lnSpc>
                <a:spcPct val="90000"/>
              </a:lnSpc>
            </a:pPr>
            <a:r>
              <a:rPr lang="en-US" sz="2000" b="1" dirty="0"/>
              <a:t>Environment stack space- </a:t>
            </a:r>
            <a:r>
              <a:rPr lang="en-US" sz="2000" dirty="0"/>
              <a:t>Space needed to store information needed to resume the suspended functions. Each time a function is invoked following information is saved on environment stack</a:t>
            </a:r>
          </a:p>
          <a:p>
            <a:pPr lvl="1" eaLnBrk="1" hangingPunct="1">
              <a:lnSpc>
                <a:spcPct val="90000"/>
              </a:lnSpc>
            </a:pPr>
            <a:r>
              <a:rPr lang="en-US" sz="2000" dirty="0"/>
              <a:t>Return address </a:t>
            </a:r>
            <a:r>
              <a:rPr lang="en-US" sz="2000" dirty="0" err="1"/>
              <a:t>i.e</a:t>
            </a:r>
            <a:r>
              <a:rPr lang="en-US" sz="2000" dirty="0"/>
              <a:t> from where it has to resume after completion of the called function</a:t>
            </a:r>
          </a:p>
          <a:p>
            <a:pPr lvl="1" eaLnBrk="1" hangingPunct="1">
              <a:lnSpc>
                <a:spcPct val="90000"/>
              </a:lnSpc>
            </a:pPr>
            <a:r>
              <a:rPr lang="en-US" sz="2000" dirty="0"/>
              <a:t>Values of all local variables and values of formal parameters in function being invoked.</a:t>
            </a:r>
          </a:p>
          <a:p>
            <a:pPr eaLnBrk="1" hangingPunct="1"/>
            <a:endParaRPr lang="en-US" dirty="0"/>
          </a:p>
          <a:p>
            <a:pPr lvl="1" eaLnBrk="1" hangingPunct="1"/>
            <a:endParaRPr lang="en-US" dirty="0"/>
          </a:p>
          <a:p>
            <a:pPr eaLnBrk="1" hangingPunct="1"/>
            <a:endParaRPr lang="en-US" sz="1800" dirty="0"/>
          </a:p>
        </p:txBody>
      </p:sp>
      <p:sp>
        <p:nvSpPr>
          <p:cNvPr id="3" name="TextBox 2">
            <a:extLst>
              <a:ext uri="{FF2B5EF4-FFF2-40B4-BE49-F238E27FC236}">
                <a16:creationId xmlns:a16="http://schemas.microsoft.com/office/drawing/2014/main" id="{49C92E7B-0215-0563-9E97-72C65AE35B7E}"/>
              </a:ext>
            </a:extLst>
          </p:cNvPr>
          <p:cNvSpPr txBox="1"/>
          <p:nvPr/>
        </p:nvSpPr>
        <p:spPr>
          <a:xfrm>
            <a:off x="1020566" y="133565"/>
            <a:ext cx="10465942" cy="461665"/>
          </a:xfrm>
          <a:prstGeom prst="rect">
            <a:avLst/>
          </a:prstGeom>
          <a:noFill/>
        </p:spPr>
        <p:txBody>
          <a:bodyPr wrap="square" rtlCol="0">
            <a:spAutoFit/>
          </a:bodyPr>
          <a:lstStyle/>
          <a:p>
            <a:pPr algn="ctr"/>
            <a:r>
              <a:rPr lang="en-US" sz="2400" b="1" dirty="0"/>
              <a:t>Time and Space complexity: Time Space Tradeoff</a:t>
            </a:r>
          </a:p>
        </p:txBody>
      </p:sp>
    </p:spTree>
    <p:extLst>
      <p:ext uri="{BB962C8B-B14F-4D97-AF65-F5344CB8AC3E}">
        <p14:creationId xmlns:p14="http://schemas.microsoft.com/office/powerpoint/2010/main" val="646552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1099335" y="0"/>
            <a:ext cx="10407721" cy="6858000"/>
          </a:xfrm>
        </p:spPr>
        <p:txBody>
          <a:bodyPr/>
          <a:lstStyle/>
          <a:p>
            <a:pPr eaLnBrk="1" hangingPunct="1">
              <a:lnSpc>
                <a:spcPct val="90000"/>
              </a:lnSpc>
            </a:pPr>
            <a:r>
              <a:rPr lang="en-US" b="1" dirty="0"/>
              <a:t>Time complexity-</a:t>
            </a:r>
            <a:r>
              <a:rPr lang="en-US" dirty="0"/>
              <a:t> </a:t>
            </a:r>
            <a:r>
              <a:rPr lang="en-US" sz="2200" dirty="0"/>
              <a:t>Time complexity of an algorithm is amount of time it needs to run to completion. To measure time complexity, key operations are identified in a program and are counted till program completes its execution. Time taken for  various key operations are: </a:t>
            </a:r>
          </a:p>
          <a:p>
            <a:pPr eaLnBrk="1" hangingPunct="1">
              <a:lnSpc>
                <a:spcPct val="90000"/>
              </a:lnSpc>
            </a:pPr>
            <a:r>
              <a:rPr lang="en-US" sz="2200" dirty="0"/>
              <a:t>Execution of one of the following operations  takes unit time:</a:t>
            </a:r>
          </a:p>
          <a:p>
            <a:pPr eaLnBrk="1" hangingPunct="1">
              <a:lnSpc>
                <a:spcPct val="90000"/>
              </a:lnSpc>
              <a:buFontTx/>
              <a:buNone/>
            </a:pPr>
            <a:r>
              <a:rPr lang="en-US" sz="2200" dirty="0"/>
              <a:t>		1. assignment operation</a:t>
            </a:r>
          </a:p>
          <a:p>
            <a:pPr eaLnBrk="1" hangingPunct="1">
              <a:lnSpc>
                <a:spcPct val="90000"/>
              </a:lnSpc>
              <a:buFontTx/>
              <a:buNone/>
            </a:pPr>
            <a:r>
              <a:rPr lang="en-US" sz="2200" dirty="0"/>
              <a:t>		2. single I/O operations</a:t>
            </a:r>
          </a:p>
          <a:p>
            <a:pPr eaLnBrk="1" hangingPunct="1">
              <a:lnSpc>
                <a:spcPct val="90000"/>
              </a:lnSpc>
              <a:buFontTx/>
              <a:buNone/>
            </a:pPr>
            <a:r>
              <a:rPr lang="en-US" sz="2200" dirty="0"/>
              <a:t>		3. single Boolean operations, numeric comparisons</a:t>
            </a:r>
          </a:p>
          <a:p>
            <a:pPr eaLnBrk="1" hangingPunct="1">
              <a:lnSpc>
                <a:spcPct val="90000"/>
              </a:lnSpc>
              <a:buFontTx/>
              <a:buNone/>
            </a:pPr>
            <a:r>
              <a:rPr lang="en-US" sz="2200" dirty="0"/>
              <a:t>		4. single arithmetic operations</a:t>
            </a:r>
          </a:p>
          <a:p>
            <a:pPr eaLnBrk="1" hangingPunct="1">
              <a:lnSpc>
                <a:spcPct val="90000"/>
              </a:lnSpc>
              <a:buFontTx/>
              <a:buNone/>
            </a:pPr>
            <a:r>
              <a:rPr lang="en-US" sz="2200" dirty="0"/>
              <a:t>		5. function return</a:t>
            </a:r>
          </a:p>
          <a:p>
            <a:pPr eaLnBrk="1" hangingPunct="1">
              <a:lnSpc>
                <a:spcPct val="90000"/>
              </a:lnSpc>
              <a:buFontTx/>
              <a:buNone/>
            </a:pPr>
            <a:r>
              <a:rPr lang="en-US" sz="2200" dirty="0"/>
              <a:t>            6. array index operations, pointer dereferences</a:t>
            </a:r>
          </a:p>
          <a:p>
            <a:pPr eaLnBrk="1" hangingPunct="1">
              <a:lnSpc>
                <a:spcPct val="90000"/>
              </a:lnSpc>
              <a:buFontTx/>
              <a:buNone/>
            </a:pPr>
            <a:endParaRPr lang="en-US" sz="2200" dirty="0"/>
          </a:p>
          <a:p>
            <a:pPr eaLnBrk="1" hangingPunct="1">
              <a:lnSpc>
                <a:spcPct val="90000"/>
              </a:lnSpc>
            </a:pPr>
            <a:r>
              <a:rPr lang="en-US" sz="2200" dirty="0"/>
              <a:t>Running time of a selection statement (if, switch) is the time for the condition evaluation + the maximum of the running times for the individual clauses in the selection.</a:t>
            </a:r>
          </a:p>
          <a:p>
            <a:pPr eaLnBrk="1" hangingPunct="1">
              <a:lnSpc>
                <a:spcPct val="90000"/>
              </a:lnSpc>
            </a:pPr>
            <a:r>
              <a:rPr lang="en-US" sz="2200" dirty="0"/>
              <a:t>Loop execution time is the  number of  times the loop body is executed + time for the loop check and update operations, + time for the loop setup.</a:t>
            </a:r>
          </a:p>
          <a:p>
            <a:pPr eaLnBrk="1" hangingPunct="1">
              <a:lnSpc>
                <a:spcPct val="90000"/>
              </a:lnSpc>
            </a:pPr>
            <a:endParaRPr lang="en-US" sz="1200" dirty="0"/>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lang="en-US" sz="2200" dirty="0"/>
              <a:t>Running time of a function call is 1 for setup + the time for any parameter calculations  + the time required for the execution of the function body.</a:t>
            </a:r>
          </a:p>
          <a:p>
            <a:pPr eaLnBrk="1" hangingPunct="1">
              <a:lnSpc>
                <a:spcPct val="90000"/>
              </a:lnSpc>
            </a:pPr>
            <a:endParaRPr lang="en-US" sz="2200" dirty="0"/>
          </a:p>
          <a:p>
            <a:pPr eaLnBrk="1" hangingPunct="1">
              <a:lnSpc>
                <a:spcPct val="90000"/>
              </a:lnSpc>
            </a:pPr>
            <a:endParaRPr lang="en-US" sz="2200" dirty="0"/>
          </a:p>
          <a:p>
            <a:pPr eaLnBrk="1" hangingPunct="1">
              <a:lnSpc>
                <a:spcPct val="90000"/>
              </a:lnSpc>
            </a:pPr>
            <a:endParaRPr lang="en-US" dirty="0"/>
          </a:p>
          <a:p>
            <a:pPr eaLnBrk="1" hangingPunct="1">
              <a:lnSpc>
                <a:spcPct val="90000"/>
              </a:lnSpc>
              <a:buFontTx/>
              <a:buNone/>
            </a:pPr>
            <a:endParaRPr lang="en-US" dirty="0"/>
          </a:p>
        </p:txBody>
      </p:sp>
    </p:spTree>
    <p:extLst>
      <p:ext uri="{BB962C8B-B14F-4D97-AF65-F5344CB8AC3E}">
        <p14:creationId xmlns:p14="http://schemas.microsoft.com/office/powerpoint/2010/main" val="2326151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idx="1"/>
          </p:nvPr>
        </p:nvSpPr>
        <p:spPr>
          <a:xfrm>
            <a:off x="1524000" y="0"/>
            <a:ext cx="9144000" cy="6858000"/>
          </a:xfrm>
        </p:spPr>
        <p:txBody>
          <a:bodyPr/>
          <a:lstStyle/>
          <a:p>
            <a:pPr algn="just" eaLnBrk="1" hangingPunct="1"/>
            <a:r>
              <a:rPr lang="en-US" dirty="0"/>
              <a:t>Time-Space Tradeoff- The best algorithm to solve a given problem is one that requires less space in  memory and takes less time to complete its execution. But in practice, it is not always possible to achieve both of these objectives. Thus, we may have to sacrifice one at the cost of other. This is known as </a:t>
            </a:r>
            <a:r>
              <a:rPr lang="en-US" b="1" dirty="0"/>
              <a:t>Time-space tradeoff</a:t>
            </a:r>
            <a:r>
              <a:rPr lang="en-US" dirty="0"/>
              <a:t> among algorithms. Thus if space is our constraint, we have to choose an algorithm that requires less space at the cost of more execution time. On the other hand, if time is our constraint, such as in real time systems, we have to choose a program that takes less time to complete execution at the cost of more space.</a:t>
            </a:r>
          </a:p>
        </p:txBody>
      </p:sp>
    </p:spTree>
    <p:extLst>
      <p:ext uri="{BB962C8B-B14F-4D97-AF65-F5344CB8AC3E}">
        <p14:creationId xmlns:p14="http://schemas.microsoft.com/office/powerpoint/2010/main" val="623765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524000" y="0"/>
            <a:ext cx="9144000" cy="685800"/>
          </a:xfrm>
        </p:spPr>
        <p:txBody>
          <a:bodyPr/>
          <a:lstStyle/>
          <a:p>
            <a:pPr eaLnBrk="1" hangingPunct="1"/>
            <a:r>
              <a:rPr lang="en-US" sz="2800" b="1"/>
              <a:t>Conventions Used for Algorithms</a:t>
            </a:r>
          </a:p>
        </p:txBody>
      </p:sp>
      <p:sp>
        <p:nvSpPr>
          <p:cNvPr id="22531" name="Rectangle 3"/>
          <p:cNvSpPr>
            <a:spLocks noGrp="1" noChangeArrowheads="1"/>
          </p:cNvSpPr>
          <p:nvPr>
            <p:ph type="body" idx="1"/>
          </p:nvPr>
        </p:nvSpPr>
        <p:spPr>
          <a:xfrm>
            <a:off x="1524000" y="609600"/>
            <a:ext cx="9144000" cy="6248400"/>
          </a:xfrm>
        </p:spPr>
        <p:txBody>
          <a:bodyPr/>
          <a:lstStyle/>
          <a:p>
            <a:pPr eaLnBrk="1" hangingPunct="1"/>
            <a:r>
              <a:rPr lang="en-US" b="1"/>
              <a:t>Identifying number</a:t>
            </a:r>
            <a:r>
              <a:rPr lang="en-US"/>
              <a:t>-Each algorithm is assigned as identification number</a:t>
            </a:r>
          </a:p>
          <a:p>
            <a:pPr eaLnBrk="1" hangingPunct="1"/>
            <a:r>
              <a:rPr lang="en-US" b="1"/>
              <a:t>Comments</a:t>
            </a:r>
            <a:r>
              <a:rPr lang="en-US"/>
              <a:t>-Each step may contain a comment in brackets which indicate the main purpose of the step</a:t>
            </a:r>
          </a:p>
          <a:p>
            <a:pPr eaLnBrk="1" hangingPunct="1"/>
            <a:r>
              <a:rPr lang="en-US" b="1"/>
              <a:t>Assignment statement</a:t>
            </a:r>
            <a:r>
              <a:rPr lang="en-US"/>
              <a:t>-Assignment statement will use colon-equal notation </a:t>
            </a:r>
          </a:p>
          <a:p>
            <a:pPr lvl="1" eaLnBrk="1" hangingPunct="1"/>
            <a:r>
              <a:rPr lang="en-US"/>
              <a:t>Set max:= DATA[1]</a:t>
            </a:r>
          </a:p>
          <a:p>
            <a:pPr eaLnBrk="1" hangingPunct="1"/>
            <a:r>
              <a:rPr lang="en-US" b="1"/>
              <a:t>Input/Output</a:t>
            </a:r>
            <a:r>
              <a:rPr lang="en-US"/>
              <a:t>- Data may be input from user by means of a read statement</a:t>
            </a:r>
          </a:p>
          <a:p>
            <a:pPr lvl="1" eaLnBrk="1" hangingPunct="1"/>
            <a:r>
              <a:rPr lang="en-US"/>
              <a:t>Read: Variable names</a:t>
            </a:r>
          </a:p>
          <a:p>
            <a:pPr eaLnBrk="1" hangingPunct="1"/>
            <a:r>
              <a:rPr lang="en-US"/>
              <a:t>Similarly, messages placed in quotation marks, and data in variables may be output by means of a write statement:</a:t>
            </a:r>
          </a:p>
          <a:p>
            <a:pPr lvl="1" eaLnBrk="1" hangingPunct="1"/>
            <a:r>
              <a:rPr lang="en-US"/>
              <a:t>Write: messages or variable names</a:t>
            </a:r>
          </a:p>
        </p:txBody>
      </p:sp>
    </p:spTree>
    <p:extLst>
      <p:ext uri="{BB962C8B-B14F-4D97-AF65-F5344CB8AC3E}">
        <p14:creationId xmlns:p14="http://schemas.microsoft.com/office/powerpoint/2010/main" val="3736100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1"/>
          </p:nvPr>
        </p:nvSpPr>
        <p:spPr>
          <a:xfrm>
            <a:off x="1524000" y="0"/>
            <a:ext cx="9144000" cy="6858000"/>
          </a:xfrm>
        </p:spPr>
        <p:txBody>
          <a:bodyPr/>
          <a:lstStyle/>
          <a:p>
            <a:pPr eaLnBrk="1" hangingPunct="1">
              <a:buFontTx/>
              <a:buNone/>
            </a:pPr>
            <a:endParaRPr lang="en-US" dirty="0"/>
          </a:p>
          <a:p>
            <a:pPr eaLnBrk="1" hangingPunct="1"/>
            <a:r>
              <a:rPr lang="en-US" b="1" dirty="0"/>
              <a:t>Selection Logic or conditional flow-</a:t>
            </a:r>
          </a:p>
          <a:p>
            <a:pPr lvl="1" eaLnBrk="1" hangingPunct="1"/>
            <a:r>
              <a:rPr lang="en-US" dirty="0"/>
              <a:t>If condition, then:</a:t>
            </a:r>
          </a:p>
          <a:p>
            <a:pPr lvl="1" eaLnBrk="1" hangingPunct="1"/>
            <a:r>
              <a:rPr lang="en-US" dirty="0"/>
              <a:t>[end of if structure]</a:t>
            </a:r>
          </a:p>
          <a:p>
            <a:pPr eaLnBrk="1" hangingPunct="1"/>
            <a:r>
              <a:rPr lang="en-US" b="1" dirty="0"/>
              <a:t>Double alternative</a:t>
            </a:r>
          </a:p>
          <a:p>
            <a:pPr lvl="1" eaLnBrk="1" hangingPunct="1"/>
            <a:r>
              <a:rPr lang="en-US" dirty="0"/>
              <a:t>If condition, then</a:t>
            </a:r>
          </a:p>
          <a:p>
            <a:pPr lvl="1" eaLnBrk="1" hangingPunct="1"/>
            <a:r>
              <a:rPr lang="en-US" dirty="0"/>
              <a:t>Else:</a:t>
            </a:r>
          </a:p>
          <a:p>
            <a:pPr lvl="1" eaLnBrk="1" hangingPunct="1"/>
            <a:r>
              <a:rPr lang="en-US" dirty="0"/>
              <a:t>[End of if structure]</a:t>
            </a:r>
          </a:p>
          <a:p>
            <a:pPr eaLnBrk="1" hangingPunct="1"/>
            <a:r>
              <a:rPr lang="en-US" b="1" dirty="0"/>
              <a:t>Multiple Alternatives</a:t>
            </a:r>
          </a:p>
          <a:p>
            <a:pPr lvl="1" eaLnBrk="1" hangingPunct="1"/>
            <a:r>
              <a:rPr lang="en-US" dirty="0"/>
              <a:t>If condition, then:</a:t>
            </a:r>
          </a:p>
          <a:p>
            <a:pPr lvl="1" eaLnBrk="1" hangingPunct="1"/>
            <a:r>
              <a:rPr lang="en-US" dirty="0"/>
              <a:t>Else if condition2, then:</a:t>
            </a:r>
          </a:p>
          <a:p>
            <a:pPr lvl="1" eaLnBrk="1" hangingPunct="1"/>
            <a:r>
              <a:rPr lang="en-US" dirty="0"/>
              <a:t>Else if condition3, then</a:t>
            </a:r>
          </a:p>
          <a:p>
            <a:pPr lvl="1" eaLnBrk="1" hangingPunct="1"/>
            <a:r>
              <a:rPr lang="en-US" dirty="0"/>
              <a:t>Else:</a:t>
            </a:r>
          </a:p>
          <a:p>
            <a:pPr lvl="1" eaLnBrk="1" hangingPunct="1"/>
            <a:r>
              <a:rPr lang="en-US" dirty="0"/>
              <a:t>[End of if structure]</a:t>
            </a:r>
          </a:p>
          <a:p>
            <a:pPr eaLnBrk="1" hangingPunct="1"/>
            <a:endParaRPr lang="en-US" b="1" dirty="0"/>
          </a:p>
          <a:p>
            <a:pPr lvl="1" eaLnBrk="1" hangingPunct="1">
              <a:buFontTx/>
              <a:buNone/>
            </a:pPr>
            <a:endParaRPr lang="en-US" dirty="0"/>
          </a:p>
          <a:p>
            <a:pPr lvl="1" eaLnBrk="1" hangingPunct="1">
              <a:buFontTx/>
              <a:buNone/>
            </a:pPr>
            <a:endParaRPr lang="en-US" dirty="0"/>
          </a:p>
          <a:p>
            <a:pPr eaLnBrk="1" hangingPunct="1"/>
            <a:endParaRPr lang="en-US" dirty="0"/>
          </a:p>
        </p:txBody>
      </p:sp>
    </p:spTree>
    <p:extLst>
      <p:ext uri="{BB962C8B-B14F-4D97-AF65-F5344CB8AC3E}">
        <p14:creationId xmlns:p14="http://schemas.microsoft.com/office/powerpoint/2010/main" val="1642920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idx="1"/>
          </p:nvPr>
        </p:nvSpPr>
        <p:spPr>
          <a:xfrm>
            <a:off x="1524000" y="0"/>
            <a:ext cx="9144000" cy="6858000"/>
          </a:xfrm>
        </p:spPr>
        <p:txBody>
          <a:bodyPr/>
          <a:lstStyle/>
          <a:p>
            <a:pPr eaLnBrk="1" hangingPunct="1"/>
            <a:r>
              <a:rPr lang="en-US" b="1"/>
              <a:t>Iteration Logic</a:t>
            </a:r>
          </a:p>
          <a:p>
            <a:pPr eaLnBrk="1" hangingPunct="1">
              <a:buFontTx/>
              <a:buNone/>
            </a:pPr>
            <a:endParaRPr lang="en-US" b="1"/>
          </a:p>
          <a:p>
            <a:pPr eaLnBrk="1" hangingPunct="1"/>
            <a:r>
              <a:rPr lang="en-US"/>
              <a:t>Repeat- for loop</a:t>
            </a:r>
          </a:p>
          <a:p>
            <a:pPr lvl="1" eaLnBrk="1" hangingPunct="1"/>
            <a:r>
              <a:rPr lang="en-US"/>
              <a:t>Repeat for k=r to s by t:</a:t>
            </a:r>
          </a:p>
          <a:p>
            <a:pPr lvl="1" eaLnBrk="1" hangingPunct="1"/>
            <a:r>
              <a:rPr lang="en-US"/>
              <a:t>[End of Loop]</a:t>
            </a:r>
          </a:p>
          <a:p>
            <a:pPr lvl="1" eaLnBrk="1" hangingPunct="1">
              <a:buFontTx/>
              <a:buNone/>
            </a:pPr>
            <a:endParaRPr lang="en-US"/>
          </a:p>
          <a:p>
            <a:pPr eaLnBrk="1" hangingPunct="1"/>
            <a:r>
              <a:rPr lang="en-US"/>
              <a:t>Repeat-While Loop</a:t>
            </a:r>
          </a:p>
          <a:p>
            <a:pPr lvl="1" eaLnBrk="1" hangingPunct="1"/>
            <a:r>
              <a:rPr lang="en-US"/>
              <a:t>Repeat while condition:</a:t>
            </a:r>
          </a:p>
          <a:p>
            <a:pPr lvl="1" eaLnBrk="1" hangingPunct="1"/>
            <a:r>
              <a:rPr lang="en-US"/>
              <a:t>[End of loop]</a:t>
            </a:r>
          </a:p>
          <a:p>
            <a:pPr eaLnBrk="1" hangingPunct="1">
              <a:buFontTx/>
              <a:buNone/>
            </a:pPr>
            <a:endParaRPr lang="en-US"/>
          </a:p>
          <a:p>
            <a:pPr eaLnBrk="1" hangingPunct="1">
              <a:buFontTx/>
              <a:buNone/>
            </a:pPr>
            <a:endParaRPr lang="en-US"/>
          </a:p>
        </p:txBody>
      </p:sp>
    </p:spTree>
    <p:extLst>
      <p:ext uri="{BB962C8B-B14F-4D97-AF65-F5344CB8AC3E}">
        <p14:creationId xmlns:p14="http://schemas.microsoft.com/office/powerpoint/2010/main" val="2946728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0" y="0"/>
            <a:ext cx="9144000" cy="762000"/>
          </a:xfrm>
        </p:spPr>
        <p:txBody>
          <a:bodyPr/>
          <a:lstStyle/>
          <a:p>
            <a:pPr eaLnBrk="1" hangingPunct="1"/>
            <a:r>
              <a:rPr lang="en-US" u="sng"/>
              <a:t>Various operations performed on Arrays</a:t>
            </a:r>
          </a:p>
        </p:txBody>
      </p:sp>
      <p:sp>
        <p:nvSpPr>
          <p:cNvPr id="46083" name="Rectangle 3"/>
          <p:cNvSpPr>
            <a:spLocks noGrp="1" noChangeArrowheads="1"/>
          </p:cNvSpPr>
          <p:nvPr>
            <p:ph type="body" idx="1"/>
          </p:nvPr>
        </p:nvSpPr>
        <p:spPr>
          <a:xfrm>
            <a:off x="1524000" y="685800"/>
            <a:ext cx="9144000" cy="6172200"/>
          </a:xfrm>
        </p:spPr>
        <p:txBody>
          <a:bodyPr/>
          <a:lstStyle/>
          <a:p>
            <a:pPr eaLnBrk="1" hangingPunct="1"/>
            <a:r>
              <a:rPr lang="en-US" b="1"/>
              <a:t>Traversal</a:t>
            </a:r>
            <a:r>
              <a:rPr lang="en-US"/>
              <a:t>- processing each element in the list</a:t>
            </a:r>
          </a:p>
          <a:p>
            <a:pPr eaLnBrk="1" hangingPunct="1"/>
            <a:endParaRPr lang="en-US"/>
          </a:p>
          <a:p>
            <a:pPr eaLnBrk="1" hangingPunct="1"/>
            <a:r>
              <a:rPr lang="en-US" b="1"/>
              <a:t>Searching</a:t>
            </a:r>
            <a:r>
              <a:rPr lang="en-US"/>
              <a:t>- Finding location of an element</a:t>
            </a:r>
          </a:p>
          <a:p>
            <a:pPr eaLnBrk="1" hangingPunct="1"/>
            <a:endParaRPr lang="en-US"/>
          </a:p>
          <a:p>
            <a:pPr eaLnBrk="1" hangingPunct="1"/>
            <a:r>
              <a:rPr lang="en-US" b="1"/>
              <a:t>Insertion</a:t>
            </a:r>
            <a:r>
              <a:rPr lang="en-US"/>
              <a:t>- Adding a new element</a:t>
            </a:r>
          </a:p>
          <a:p>
            <a:pPr eaLnBrk="1" hangingPunct="1"/>
            <a:endParaRPr lang="en-US"/>
          </a:p>
          <a:p>
            <a:pPr eaLnBrk="1" hangingPunct="1"/>
            <a:r>
              <a:rPr lang="en-US" b="1"/>
              <a:t>Deletion</a:t>
            </a:r>
            <a:r>
              <a:rPr lang="en-US"/>
              <a:t>- Removing an element</a:t>
            </a:r>
          </a:p>
          <a:p>
            <a:pPr eaLnBrk="1" hangingPunct="1"/>
            <a:endParaRPr lang="en-US"/>
          </a:p>
          <a:p>
            <a:pPr eaLnBrk="1" hangingPunct="1"/>
            <a:r>
              <a:rPr lang="en-US" b="1"/>
              <a:t>Sorting</a:t>
            </a:r>
            <a:r>
              <a:rPr lang="en-US"/>
              <a:t>-Arranging elements in some type of order</a:t>
            </a:r>
          </a:p>
          <a:p>
            <a:pPr eaLnBrk="1" hangingPunct="1">
              <a:buFontTx/>
              <a:buNone/>
            </a:pPr>
            <a:endParaRPr lang="en-US"/>
          </a:p>
          <a:p>
            <a:pPr eaLnBrk="1" hangingPunct="1"/>
            <a:r>
              <a:rPr lang="en-US" b="1"/>
              <a:t>Merging</a:t>
            </a:r>
            <a:r>
              <a:rPr lang="en-US"/>
              <a:t>- Combining two lists into a single list</a:t>
            </a:r>
          </a:p>
          <a:p>
            <a:pPr eaLnBrk="1" hangingPunct="1"/>
            <a:endParaRPr lang="en-US"/>
          </a:p>
        </p:txBody>
      </p:sp>
    </p:spTree>
    <p:extLst>
      <p:ext uri="{BB962C8B-B14F-4D97-AF65-F5344CB8AC3E}">
        <p14:creationId xmlns:p14="http://schemas.microsoft.com/office/powerpoint/2010/main" val="3636795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idx="1"/>
          </p:nvPr>
        </p:nvSpPr>
        <p:spPr>
          <a:xfrm>
            <a:off x="1524000" y="0"/>
            <a:ext cx="9144000" cy="6858000"/>
          </a:xfrm>
        </p:spPr>
        <p:txBody>
          <a:bodyPr/>
          <a:lstStyle/>
          <a:p>
            <a:pPr eaLnBrk="1" hangingPunct="1"/>
            <a:r>
              <a:rPr lang="en-US" b="1" dirty="0"/>
              <a:t>Traversing Linear Arrays-</a:t>
            </a:r>
            <a:r>
              <a:rPr lang="en-US" dirty="0"/>
              <a:t> </a:t>
            </a:r>
            <a:r>
              <a:rPr lang="en-US" sz="2000" dirty="0"/>
              <a:t>Traversing a  linear array is basically, visiting each element of array exactly once. Traversing is usually required to count number of elements of array or to perform other operations on each element of array. Traversing a linear array depends on size of array. Thus, traversal is O(1) operation for an array of size n.</a:t>
            </a:r>
            <a:endParaRPr lang="en-US" dirty="0"/>
          </a:p>
          <a:p>
            <a:pPr eaLnBrk="1" hangingPunct="1"/>
            <a:r>
              <a:rPr lang="en-US" b="1" dirty="0"/>
              <a:t>Algorithm: (Traversing a linear Array)</a:t>
            </a:r>
          </a:p>
          <a:p>
            <a:pPr eaLnBrk="1" hangingPunct="1">
              <a:buFontTx/>
              <a:buNone/>
            </a:pPr>
            <a:r>
              <a:rPr lang="en-US" b="1" dirty="0"/>
              <a:t>    </a:t>
            </a:r>
            <a:r>
              <a:rPr lang="en-US" dirty="0"/>
              <a:t> [Here LA is a linear array with lower bound LB and upper Bound UB. This algorithm traverses LA applying an operation PROCESS to each element of LA]</a:t>
            </a:r>
          </a:p>
          <a:p>
            <a:pPr eaLnBrk="1" hangingPunct="1"/>
            <a:r>
              <a:rPr lang="en-US" dirty="0"/>
              <a:t>Step 1: [Initialize Counter] Set k:=LB</a:t>
            </a:r>
          </a:p>
          <a:p>
            <a:pPr eaLnBrk="1" hangingPunct="1"/>
            <a:r>
              <a:rPr lang="en-US" dirty="0"/>
              <a:t>Step 2: Repeat step 3 and 4 while k&lt;=UB      Repeat for k=LB to UB: </a:t>
            </a:r>
          </a:p>
          <a:p>
            <a:pPr eaLnBrk="1" hangingPunct="1"/>
            <a:r>
              <a:rPr lang="en-US" dirty="0"/>
              <a:t>Step 3: [Visit Element] Apply PROCESS      Apply PROCESS to </a:t>
            </a:r>
          </a:p>
          <a:p>
            <a:pPr eaLnBrk="1" hangingPunct="1"/>
            <a:r>
              <a:rPr lang="en-US" dirty="0"/>
              <a:t>                to LA[k]                                           LA[k]</a:t>
            </a:r>
          </a:p>
          <a:p>
            <a:pPr eaLnBrk="1" hangingPunct="1"/>
            <a:r>
              <a:rPr lang="en-US" dirty="0"/>
              <a:t>Step 4: [increase Counter] set k:=k+1</a:t>
            </a:r>
          </a:p>
          <a:p>
            <a:pPr eaLnBrk="1" hangingPunct="1"/>
            <a:r>
              <a:rPr lang="en-US" dirty="0"/>
              <a:t>[End of step 2 loop]</a:t>
            </a:r>
          </a:p>
          <a:p>
            <a:pPr eaLnBrk="1" hangingPunct="1"/>
            <a:r>
              <a:rPr lang="en-US" dirty="0"/>
              <a:t>Step 5: Exit</a:t>
            </a:r>
          </a:p>
        </p:txBody>
      </p:sp>
      <p:sp>
        <p:nvSpPr>
          <p:cNvPr id="47107" name="AutoShape 4"/>
          <p:cNvSpPr>
            <a:spLocks/>
          </p:cNvSpPr>
          <p:nvPr/>
        </p:nvSpPr>
        <p:spPr bwMode="auto">
          <a:xfrm>
            <a:off x="7010400" y="3810000"/>
            <a:ext cx="304800" cy="1828800"/>
          </a:xfrm>
          <a:prstGeom prst="rightBracket">
            <a:avLst>
              <a:gd name="adj" fmla="val 50000"/>
            </a:avLst>
          </a:prstGeom>
          <a:no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530208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DE708-4FAE-910A-5C27-16E68A2ED7B5}"/>
              </a:ext>
            </a:extLst>
          </p:cNvPr>
          <p:cNvSpPr>
            <a:spLocks noGrp="1"/>
          </p:cNvSpPr>
          <p:nvPr>
            <p:ph type="title"/>
          </p:nvPr>
        </p:nvSpPr>
        <p:spPr>
          <a:xfrm>
            <a:off x="506859" y="0"/>
            <a:ext cx="10972800" cy="606175"/>
          </a:xfrm>
        </p:spPr>
        <p:txBody>
          <a:bodyPr/>
          <a:lstStyle/>
          <a:p>
            <a:r>
              <a:rPr lang="en-US" dirty="0"/>
              <a:t>Algorithm to display grade of student as per marks stored in array</a:t>
            </a:r>
          </a:p>
        </p:txBody>
      </p:sp>
      <p:sp>
        <p:nvSpPr>
          <p:cNvPr id="3" name="Content Placeholder 2">
            <a:extLst>
              <a:ext uri="{FF2B5EF4-FFF2-40B4-BE49-F238E27FC236}">
                <a16:creationId xmlns:a16="http://schemas.microsoft.com/office/drawing/2014/main" id="{C91BA31C-F176-1FDE-E657-7BA99F7FAD1D}"/>
              </a:ext>
            </a:extLst>
          </p:cNvPr>
          <p:cNvSpPr>
            <a:spLocks noGrp="1"/>
          </p:cNvSpPr>
          <p:nvPr>
            <p:ph idx="1"/>
          </p:nvPr>
        </p:nvSpPr>
        <p:spPr>
          <a:xfrm>
            <a:off x="0" y="606175"/>
            <a:ext cx="12192000" cy="6123398"/>
          </a:xfrm>
        </p:spPr>
        <p:txBody>
          <a:bodyPr numCol="2"/>
          <a:lstStyle/>
          <a:p>
            <a:pPr marL="357188" indent="0">
              <a:buNone/>
            </a:pPr>
            <a:r>
              <a:rPr lang="en-US" b="1" dirty="0"/>
              <a:t>Algorithm: </a:t>
            </a:r>
            <a:r>
              <a:rPr lang="en-US" b="1" dirty="0" err="1"/>
              <a:t>Grade_Cal</a:t>
            </a:r>
            <a:r>
              <a:rPr lang="en-US" b="1" dirty="0"/>
              <a:t>(LA, N)</a:t>
            </a:r>
          </a:p>
          <a:p>
            <a:pPr marL="357188" indent="0">
              <a:buNone/>
            </a:pPr>
            <a:r>
              <a:rPr lang="en-US" b="1" dirty="0"/>
              <a:t>[LA is the linear array of numbers with size N. It stores the marks of students]</a:t>
            </a:r>
          </a:p>
          <a:p>
            <a:pPr marL="357188" indent="0">
              <a:buNone/>
            </a:pPr>
            <a:r>
              <a:rPr lang="en-US" dirty="0"/>
              <a:t>Step 1: Set I:=1</a:t>
            </a:r>
          </a:p>
          <a:p>
            <a:pPr marL="357188" indent="0">
              <a:buNone/>
            </a:pPr>
            <a:r>
              <a:rPr lang="en-US" dirty="0"/>
              <a:t>Step 2: Repeat For I=1 to N by 1:</a:t>
            </a:r>
          </a:p>
          <a:p>
            <a:pPr marL="357188" indent="0">
              <a:buNone/>
            </a:pPr>
            <a:r>
              <a:rPr lang="en-US" dirty="0"/>
              <a:t>           If LA[I]&gt; =80</a:t>
            </a:r>
          </a:p>
          <a:p>
            <a:pPr marL="357188" indent="0">
              <a:buNone/>
            </a:pPr>
            <a:r>
              <a:rPr lang="en-US" dirty="0"/>
              <a:t>              Set grade:=‘A’</a:t>
            </a:r>
          </a:p>
          <a:p>
            <a:pPr marL="357188" indent="0">
              <a:buNone/>
            </a:pPr>
            <a:r>
              <a:rPr lang="en-US" dirty="0"/>
              <a:t>          Else if  LA[I]&gt;=70 AND LA[I]&lt;80</a:t>
            </a:r>
          </a:p>
          <a:p>
            <a:pPr marL="357188" indent="0">
              <a:buNone/>
            </a:pPr>
            <a:r>
              <a:rPr lang="en-US" dirty="0"/>
              <a:t>              Set grade:= ‘B’</a:t>
            </a:r>
          </a:p>
          <a:p>
            <a:pPr marL="357188" indent="0">
              <a:buNone/>
            </a:pPr>
            <a:r>
              <a:rPr lang="en-US" dirty="0"/>
              <a:t>          Else if LA[I]&gt;=60 AND LA[I]&lt;70</a:t>
            </a:r>
          </a:p>
          <a:p>
            <a:pPr marL="357188" indent="0">
              <a:buNone/>
            </a:pPr>
            <a:r>
              <a:rPr lang="en-US" dirty="0"/>
              <a:t>               Set grade:= ‘C’</a:t>
            </a:r>
          </a:p>
          <a:p>
            <a:pPr marL="357188" indent="0">
              <a:buNone/>
            </a:pPr>
            <a:r>
              <a:rPr lang="en-US" dirty="0"/>
              <a:t>          Else</a:t>
            </a:r>
          </a:p>
          <a:p>
            <a:pPr marL="357188" indent="0">
              <a:buNone/>
            </a:pPr>
            <a:r>
              <a:rPr lang="en-US" dirty="0"/>
              <a:t>               Set grade=‘F’</a:t>
            </a:r>
          </a:p>
          <a:p>
            <a:pPr marL="357188" indent="0">
              <a:buNone/>
            </a:pPr>
            <a:r>
              <a:rPr lang="en-US" dirty="0"/>
              <a:t>          [End of If Structure]</a:t>
            </a:r>
          </a:p>
          <a:p>
            <a:pPr marL="1341438" indent="0">
              <a:buNone/>
            </a:pPr>
            <a:r>
              <a:rPr lang="en-US" dirty="0"/>
              <a:t>Set I:= I+1</a:t>
            </a:r>
          </a:p>
          <a:p>
            <a:pPr marL="1249363" indent="0">
              <a:buNone/>
            </a:pPr>
            <a:r>
              <a:rPr lang="en-US" dirty="0"/>
              <a:t>[End of Step 2 Loop]</a:t>
            </a:r>
          </a:p>
          <a:p>
            <a:pPr marL="1381125" indent="0">
              <a:buNone/>
            </a:pPr>
            <a:r>
              <a:rPr lang="en-US" dirty="0"/>
              <a:t>Step 3:  Return</a:t>
            </a:r>
          </a:p>
          <a:p>
            <a:pPr marL="0" indent="0">
              <a:buNone/>
            </a:pPr>
            <a:endParaRPr lang="en-US" dirty="0"/>
          </a:p>
          <a:p>
            <a:endParaRPr lang="en-US" dirty="0"/>
          </a:p>
        </p:txBody>
      </p:sp>
    </p:spTree>
    <p:extLst>
      <p:ext uri="{BB962C8B-B14F-4D97-AF65-F5344CB8AC3E}">
        <p14:creationId xmlns:p14="http://schemas.microsoft.com/office/powerpoint/2010/main" val="74260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sz="4400" b="1" dirty="0"/>
          </a:p>
          <a:p>
            <a:pPr algn="ctr">
              <a:buNone/>
            </a:pPr>
            <a:r>
              <a:rPr lang="en-US" sz="5400" b="1" u="sng" dirty="0"/>
              <a:t>Search In Arrays</a:t>
            </a:r>
          </a:p>
        </p:txBody>
      </p:sp>
    </p:spTree>
    <p:extLst>
      <p:ext uri="{BB962C8B-B14F-4D97-AF65-F5344CB8AC3E}">
        <p14:creationId xmlns:p14="http://schemas.microsoft.com/office/powerpoint/2010/main" val="3248082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b="1" dirty="0"/>
              <a:t>Algorithm: (Linear Search) LINEAR(DATA, N, ITEM, LOC)</a:t>
            </a:r>
          </a:p>
          <a:p>
            <a:pPr eaLnBrk="1" hangingPunct="1">
              <a:lnSpc>
                <a:spcPct val="90000"/>
              </a:lnSpc>
              <a:buFontTx/>
              <a:buNone/>
            </a:pPr>
            <a:r>
              <a:rPr lang="en-US" dirty="0"/>
              <a:t>   [Here DATA is a linear array with N elements and ITEM is a given item of information. This algorithm finds the location LOC of ITEM in DATA, or sets LOC:=0 if search is unsuccessful ]</a:t>
            </a:r>
          </a:p>
          <a:p>
            <a:pPr eaLnBrk="1" hangingPunct="1">
              <a:lnSpc>
                <a:spcPct val="90000"/>
              </a:lnSpc>
            </a:pPr>
            <a:r>
              <a:rPr lang="en-US" dirty="0"/>
              <a:t>Step 1: [Initialize Counter] Set LOC:=1</a:t>
            </a:r>
          </a:p>
          <a:p>
            <a:pPr eaLnBrk="1" hangingPunct="1">
              <a:lnSpc>
                <a:spcPct val="90000"/>
              </a:lnSpc>
            </a:pPr>
            <a:r>
              <a:rPr lang="en-US" dirty="0"/>
              <a:t>Step 2: [Search for ITEM]</a:t>
            </a:r>
          </a:p>
          <a:p>
            <a:pPr lvl="2" eaLnBrk="1" hangingPunct="1">
              <a:lnSpc>
                <a:spcPct val="90000"/>
              </a:lnSpc>
              <a:buFontTx/>
              <a:buNone/>
            </a:pPr>
            <a:r>
              <a:rPr lang="en-US" dirty="0"/>
              <a:t>      Repeat while LOC&lt;=N:</a:t>
            </a:r>
          </a:p>
          <a:p>
            <a:pPr marL="2097088" lvl="3" indent="0" eaLnBrk="1" hangingPunct="1">
              <a:lnSpc>
                <a:spcPct val="90000"/>
              </a:lnSpc>
              <a:buNone/>
            </a:pPr>
            <a:r>
              <a:rPr lang="en-US" dirty="0"/>
              <a:t>	If DATA[LOC] </a:t>
            </a:r>
            <a:r>
              <a:rPr lang="en-US" dirty="0">
                <a:cs typeface="Times New Roman" pitchFamily="18" charset="0"/>
              </a:rPr>
              <a:t>= ITEM, Then:</a:t>
            </a:r>
          </a:p>
          <a:p>
            <a:pPr marL="2097088" lvl="3" indent="0" eaLnBrk="1" hangingPunct="1">
              <a:lnSpc>
                <a:spcPct val="90000"/>
              </a:lnSpc>
              <a:buNone/>
            </a:pPr>
            <a:r>
              <a:rPr lang="en-US" dirty="0">
                <a:cs typeface="Times New Roman" pitchFamily="18" charset="0"/>
              </a:rPr>
              <a:t>	Write: ’Element is at the location’, LOC</a:t>
            </a:r>
          </a:p>
          <a:p>
            <a:pPr marL="2097088" lvl="3" indent="0" eaLnBrk="1" hangingPunct="1">
              <a:lnSpc>
                <a:spcPct val="90000"/>
              </a:lnSpc>
              <a:buNone/>
            </a:pPr>
            <a:r>
              <a:rPr lang="en-US" dirty="0">
                <a:cs typeface="Times New Roman" pitchFamily="18" charset="0"/>
              </a:rPr>
              <a:t>	Return</a:t>
            </a:r>
          </a:p>
          <a:p>
            <a:pPr marL="2097088" lvl="3" indent="0" eaLnBrk="1" hangingPunct="1">
              <a:lnSpc>
                <a:spcPct val="90000"/>
              </a:lnSpc>
              <a:buNone/>
            </a:pPr>
            <a:r>
              <a:rPr lang="en-US" dirty="0">
                <a:cs typeface="Times New Roman" pitchFamily="18" charset="0"/>
              </a:rPr>
              <a:t>	[End of if structure]</a:t>
            </a:r>
          </a:p>
          <a:p>
            <a:pPr lvl="3" eaLnBrk="1" hangingPunct="1">
              <a:lnSpc>
                <a:spcPct val="90000"/>
              </a:lnSpc>
              <a:buFontTx/>
              <a:buNone/>
            </a:pPr>
            <a:r>
              <a:rPr lang="en-US" dirty="0">
                <a:cs typeface="Times New Roman" pitchFamily="18" charset="0"/>
              </a:rPr>
              <a:t>Set LOC:=LOC+1</a:t>
            </a:r>
          </a:p>
          <a:p>
            <a:pPr lvl="2" eaLnBrk="1" hangingPunct="1">
              <a:lnSpc>
                <a:spcPct val="90000"/>
              </a:lnSpc>
              <a:buFontTx/>
              <a:buNone/>
            </a:pPr>
            <a:r>
              <a:rPr lang="en-US" dirty="0">
                <a:cs typeface="Times New Roman" pitchFamily="18" charset="0"/>
              </a:rPr>
              <a:t>     [End of Loop]</a:t>
            </a:r>
          </a:p>
          <a:p>
            <a:pPr eaLnBrk="1" hangingPunct="1">
              <a:lnSpc>
                <a:spcPct val="90000"/>
              </a:lnSpc>
            </a:pPr>
            <a:r>
              <a:rPr lang="en-US" dirty="0">
                <a:cs typeface="Times New Roman" pitchFamily="18" charset="0"/>
              </a:rPr>
              <a:t>Step 3: [Unsuccessful] If LOC=N+1 , then:</a:t>
            </a:r>
          </a:p>
          <a:p>
            <a:pPr eaLnBrk="1" hangingPunct="1">
              <a:lnSpc>
                <a:spcPct val="90000"/>
              </a:lnSpc>
              <a:buFontTx/>
              <a:buNone/>
            </a:pPr>
            <a:r>
              <a:rPr lang="en-US" dirty="0">
                <a:cs typeface="Times New Roman" pitchFamily="18" charset="0"/>
              </a:rPr>
              <a:t>            		  Set LOC:=0</a:t>
            </a:r>
          </a:p>
          <a:p>
            <a:pPr eaLnBrk="1" hangingPunct="1">
              <a:lnSpc>
                <a:spcPct val="90000"/>
              </a:lnSpc>
            </a:pPr>
            <a:r>
              <a:rPr lang="en-US" dirty="0">
                <a:cs typeface="Times New Roman" pitchFamily="18" charset="0"/>
              </a:rPr>
              <a:t>Step 4: Return</a:t>
            </a:r>
          </a:p>
          <a:p>
            <a:pPr eaLnBrk="1" hangingPunct="1">
              <a:lnSpc>
                <a:spcPct val="90000"/>
              </a:lnSpc>
              <a:buFontTx/>
              <a:buNone/>
            </a:pPr>
            <a:endParaRPr lang="en-US" dirty="0"/>
          </a:p>
        </p:txBody>
      </p:sp>
    </p:spTree>
    <p:extLst>
      <p:ext uri="{BB962C8B-B14F-4D97-AF65-F5344CB8AC3E}">
        <p14:creationId xmlns:p14="http://schemas.microsoft.com/office/powerpoint/2010/main" val="2859720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dirty="0"/>
              <a:t>Binary Search: Binary search is a method of searching in which array list is divided into two equal parts. The main requirement of binary search method is that the array has to be in sorted order. If the elements of array list are in ascending order, then , if desired element is less than the middle element of the list, it will never be present in second half of the array and if desired element is greater than middle element, it will never be present in first half of the array list. Thus focus is given only to the desired half of the array list.</a:t>
            </a:r>
          </a:p>
          <a:p>
            <a:pPr eaLnBrk="1" hangingPunct="1">
              <a:lnSpc>
                <a:spcPct val="90000"/>
              </a:lnSpc>
            </a:pPr>
            <a:r>
              <a:rPr lang="en-US" dirty="0"/>
              <a:t>Algorithm: </a:t>
            </a:r>
            <a:r>
              <a:rPr lang="en-US" b="1" dirty="0"/>
              <a:t>BINARY(DATA, LB, UB, ITEM, LOC)</a:t>
            </a:r>
          </a:p>
          <a:p>
            <a:pPr eaLnBrk="1" hangingPunct="1">
              <a:lnSpc>
                <a:spcPct val="90000"/>
              </a:lnSpc>
              <a:buFontTx/>
              <a:buNone/>
            </a:pPr>
            <a:r>
              <a:rPr lang="en-US" dirty="0"/>
              <a:t>                  [Here DATA is a sorted array with lower bound LB and</a:t>
            </a:r>
          </a:p>
          <a:p>
            <a:pPr eaLnBrk="1" hangingPunct="1">
              <a:lnSpc>
                <a:spcPct val="90000"/>
              </a:lnSpc>
              <a:buFontTx/>
              <a:buNone/>
            </a:pPr>
            <a:r>
              <a:rPr lang="en-US" dirty="0"/>
              <a:t>                  upper bound UB, and the ITEM is a given item of</a:t>
            </a:r>
          </a:p>
          <a:p>
            <a:pPr eaLnBrk="1" hangingPunct="1">
              <a:lnSpc>
                <a:spcPct val="90000"/>
              </a:lnSpc>
              <a:buFontTx/>
              <a:buNone/>
            </a:pPr>
            <a:r>
              <a:rPr lang="en-US" dirty="0"/>
              <a:t>                  information. The variables BEG, END and MID denote,</a:t>
            </a:r>
          </a:p>
          <a:p>
            <a:pPr eaLnBrk="1" hangingPunct="1">
              <a:lnSpc>
                <a:spcPct val="90000"/>
              </a:lnSpc>
              <a:buFontTx/>
              <a:buNone/>
            </a:pPr>
            <a:r>
              <a:rPr lang="en-US" dirty="0"/>
              <a:t>                  beginning, end and middle location of a segment of</a:t>
            </a:r>
          </a:p>
          <a:p>
            <a:pPr eaLnBrk="1" hangingPunct="1">
              <a:lnSpc>
                <a:spcPct val="90000"/>
              </a:lnSpc>
              <a:buFontTx/>
              <a:buNone/>
            </a:pPr>
            <a:r>
              <a:rPr lang="en-US" dirty="0"/>
              <a:t>                 elements of DATA. This algorithm finds the location LOC</a:t>
            </a:r>
          </a:p>
          <a:p>
            <a:pPr eaLnBrk="1" hangingPunct="1">
              <a:lnSpc>
                <a:spcPct val="90000"/>
              </a:lnSpc>
              <a:buFontTx/>
              <a:buNone/>
            </a:pPr>
            <a:r>
              <a:rPr lang="en-US" dirty="0"/>
              <a:t>                 of ITEM in DATA or set LOC=NULL]</a:t>
            </a:r>
          </a:p>
          <a:p>
            <a:pPr eaLnBrk="1" hangingPunct="1">
              <a:lnSpc>
                <a:spcPct val="90000"/>
              </a:lnSpc>
            </a:pPr>
            <a:r>
              <a:rPr lang="en-US" dirty="0"/>
              <a:t>Step 1: [Initialize segment variable] Set BEG:=LB, END:=UB and </a:t>
            </a:r>
          </a:p>
          <a:p>
            <a:pPr eaLnBrk="1" hangingPunct="1">
              <a:lnSpc>
                <a:spcPct val="90000"/>
              </a:lnSpc>
              <a:buFontTx/>
              <a:buNone/>
            </a:pPr>
            <a:r>
              <a:rPr lang="en-US" dirty="0"/>
              <a:t>                 MID:= INT((BEG+END)/2)</a:t>
            </a:r>
          </a:p>
        </p:txBody>
      </p:sp>
    </p:spTree>
    <p:extLst>
      <p:ext uri="{BB962C8B-B14F-4D97-AF65-F5344CB8AC3E}">
        <p14:creationId xmlns:p14="http://schemas.microsoft.com/office/powerpoint/2010/main" val="17731785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type="body" idx="1"/>
          </p:nvPr>
        </p:nvSpPr>
        <p:spPr>
          <a:xfrm>
            <a:off x="1524000" y="0"/>
            <a:ext cx="9144000" cy="6858000"/>
          </a:xfrm>
        </p:spPr>
        <p:txBody>
          <a:bodyPr/>
          <a:lstStyle/>
          <a:p>
            <a:pPr eaLnBrk="1" hangingPunct="1">
              <a:buFontTx/>
              <a:buNone/>
            </a:pPr>
            <a:r>
              <a:rPr lang="en-US" dirty="0"/>
              <a:t>Step 2: Repeat  while BEG&lt;=END and  DATA[MID]</a:t>
            </a:r>
            <a:r>
              <a:rPr lang="en-US" dirty="0">
                <a:cs typeface="Times New Roman" pitchFamily="18" charset="0"/>
              </a:rPr>
              <a:t>≠ITEM</a:t>
            </a:r>
          </a:p>
          <a:p>
            <a:pPr eaLnBrk="1" hangingPunct="1">
              <a:buFontTx/>
              <a:buNone/>
            </a:pPr>
            <a:r>
              <a:rPr lang="en-US" dirty="0">
                <a:cs typeface="Times New Roman" pitchFamily="18" charset="0"/>
              </a:rPr>
              <a:t>                          If ITEM &lt; DATA[MID], then:</a:t>
            </a:r>
          </a:p>
          <a:p>
            <a:pPr eaLnBrk="1" hangingPunct="1">
              <a:buFontTx/>
              <a:buNone/>
            </a:pPr>
            <a:r>
              <a:rPr lang="en-US" dirty="0">
                <a:cs typeface="Times New Roman" pitchFamily="18" charset="0"/>
              </a:rPr>
              <a:t>                           	Set END:= MID -1</a:t>
            </a:r>
          </a:p>
          <a:p>
            <a:pPr eaLnBrk="1" hangingPunct="1">
              <a:buFontTx/>
              <a:buNone/>
            </a:pPr>
            <a:r>
              <a:rPr lang="en-US" dirty="0">
                <a:cs typeface="Times New Roman" pitchFamily="18" charset="0"/>
              </a:rPr>
              <a:t>                          Else:</a:t>
            </a:r>
          </a:p>
          <a:p>
            <a:pPr eaLnBrk="1" hangingPunct="1">
              <a:buFontTx/>
              <a:buNone/>
            </a:pPr>
            <a:r>
              <a:rPr lang="en-US" dirty="0">
                <a:cs typeface="Times New Roman" pitchFamily="18" charset="0"/>
              </a:rPr>
              <a:t>                           	Set BEG:= MID +1</a:t>
            </a:r>
          </a:p>
          <a:p>
            <a:pPr eaLnBrk="1" hangingPunct="1">
              <a:buFontTx/>
              <a:buNone/>
            </a:pPr>
            <a:r>
              <a:rPr lang="en-US" dirty="0">
                <a:cs typeface="Times New Roman" pitchFamily="18" charset="0"/>
              </a:rPr>
              <a:t>                         [End of if structure]</a:t>
            </a:r>
          </a:p>
          <a:p>
            <a:pPr eaLnBrk="1" hangingPunct="1"/>
            <a:r>
              <a:rPr lang="en-US" dirty="0">
                <a:cs typeface="Times New Roman" pitchFamily="18" charset="0"/>
              </a:rPr>
              <a:t>Step 3: Set MID:=INT((BEG+END)/2)</a:t>
            </a:r>
          </a:p>
          <a:p>
            <a:pPr eaLnBrk="1" hangingPunct="1">
              <a:buFontTx/>
              <a:buNone/>
            </a:pPr>
            <a:r>
              <a:rPr lang="en-US" dirty="0">
                <a:cs typeface="Times New Roman" pitchFamily="18" charset="0"/>
              </a:rPr>
              <a:t>                 [End of step2 loop] </a:t>
            </a:r>
          </a:p>
          <a:p>
            <a:pPr eaLnBrk="1" hangingPunct="1"/>
            <a:r>
              <a:rPr lang="en-US" dirty="0">
                <a:cs typeface="Times New Roman" pitchFamily="18" charset="0"/>
              </a:rPr>
              <a:t>Step 4: If DATA[MID]=ITEM, then:</a:t>
            </a:r>
          </a:p>
          <a:p>
            <a:pPr eaLnBrk="1" hangingPunct="1">
              <a:buFontTx/>
              <a:buNone/>
            </a:pPr>
            <a:r>
              <a:rPr lang="en-US" dirty="0">
                <a:cs typeface="Times New Roman" pitchFamily="18" charset="0"/>
              </a:rPr>
              <a:t>                Set LOC:=MID</a:t>
            </a:r>
          </a:p>
          <a:p>
            <a:pPr eaLnBrk="1" hangingPunct="1">
              <a:buFontTx/>
              <a:buNone/>
            </a:pPr>
            <a:r>
              <a:rPr lang="en-US" dirty="0">
                <a:cs typeface="Times New Roman" pitchFamily="18" charset="0"/>
              </a:rPr>
              <a:t>                Else :</a:t>
            </a:r>
          </a:p>
          <a:p>
            <a:pPr eaLnBrk="1" hangingPunct="1">
              <a:buFontTx/>
              <a:buNone/>
            </a:pPr>
            <a:r>
              <a:rPr lang="en-US" dirty="0">
                <a:cs typeface="Times New Roman" pitchFamily="18" charset="0"/>
              </a:rPr>
              <a:t>                Set LOC:=NULL</a:t>
            </a:r>
          </a:p>
          <a:p>
            <a:pPr eaLnBrk="1" hangingPunct="1">
              <a:buFontTx/>
              <a:buNone/>
            </a:pPr>
            <a:r>
              <a:rPr lang="en-US" dirty="0">
                <a:cs typeface="Times New Roman" pitchFamily="18" charset="0"/>
              </a:rPr>
              <a:t>               [End of if structure]</a:t>
            </a:r>
          </a:p>
          <a:p>
            <a:pPr eaLnBrk="1" hangingPunct="1"/>
            <a:r>
              <a:rPr lang="en-US" dirty="0">
                <a:cs typeface="Times New Roman" pitchFamily="18" charset="0"/>
              </a:rPr>
              <a:t>Step 5: Return</a:t>
            </a:r>
          </a:p>
          <a:p>
            <a:pPr eaLnBrk="1" hangingPunct="1"/>
            <a:endParaRPr lang="en-US" dirty="0">
              <a:cs typeface="Times New Roman" pitchFamily="18" charset="0"/>
            </a:endParaRPr>
          </a:p>
          <a:p>
            <a:pPr eaLnBrk="1" hangingPunct="1">
              <a:buFontTx/>
              <a:buNone/>
            </a:pPr>
            <a:endParaRPr lang="en-US" dirty="0">
              <a:cs typeface="Times New Roman" pitchFamily="18" charset="0"/>
            </a:endParaRPr>
          </a:p>
        </p:txBody>
      </p:sp>
    </p:spTree>
    <p:extLst>
      <p:ext uri="{BB962C8B-B14F-4D97-AF65-F5344CB8AC3E}">
        <p14:creationId xmlns:p14="http://schemas.microsoft.com/office/powerpoint/2010/main" val="2645654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5C1FA5-9887-CB79-68BE-E33105E638F9}"/>
              </a:ext>
            </a:extLst>
          </p:cNvPr>
          <p:cNvSpPr>
            <a:spLocks noGrp="1"/>
          </p:cNvSpPr>
          <p:nvPr>
            <p:ph type="title"/>
          </p:nvPr>
        </p:nvSpPr>
        <p:spPr>
          <a:xfrm>
            <a:off x="609600" y="23018"/>
            <a:ext cx="10972800" cy="675625"/>
          </a:xfrm>
        </p:spPr>
        <p:txBody>
          <a:bodyPr/>
          <a:lstStyle/>
          <a:p>
            <a:r>
              <a:rPr lang="en-US" dirty="0"/>
              <a:t>Analysis of Linear Search and Binary Search</a:t>
            </a:r>
          </a:p>
        </p:txBody>
      </p:sp>
      <p:sp>
        <p:nvSpPr>
          <p:cNvPr id="59394" name="Rectangle 3"/>
          <p:cNvSpPr>
            <a:spLocks noGrp="1" noChangeArrowheads="1"/>
          </p:cNvSpPr>
          <p:nvPr>
            <p:ph idx="1"/>
          </p:nvPr>
        </p:nvSpPr>
        <p:spPr>
          <a:xfrm>
            <a:off x="0" y="1166018"/>
            <a:ext cx="10972800" cy="4525963"/>
          </a:xfrm>
        </p:spPr>
        <p:txBody>
          <a:bodyPr/>
          <a:lstStyle/>
          <a:p>
            <a:pPr eaLnBrk="1" hangingPunct="1"/>
            <a:endParaRPr lang="en-US" sz="2000" dirty="0"/>
          </a:p>
          <a:p>
            <a:pPr eaLnBrk="1" hangingPunct="1"/>
            <a:r>
              <a:rPr lang="en-US" sz="2000" b="1" dirty="0"/>
              <a:t>LINEAR SEARCH</a:t>
            </a:r>
          </a:p>
          <a:p>
            <a:pPr algn="just" eaLnBrk="1" hangingPunct="1"/>
            <a:endParaRPr lang="en-US" sz="2000" dirty="0"/>
          </a:p>
          <a:p>
            <a:pPr algn="just" eaLnBrk="1" hangingPunct="1"/>
            <a:r>
              <a:rPr lang="en-US" sz="2000" dirty="0"/>
              <a:t>In best possible case, item may occur at first position. In this case, search operation terminates in success with just one comparison. The </a:t>
            </a:r>
            <a:r>
              <a:rPr lang="en-US" sz="2000" b="1" dirty="0"/>
              <a:t>best case of a successful search is O(1). </a:t>
            </a:r>
          </a:p>
          <a:p>
            <a:pPr algn="just" eaLnBrk="1" hangingPunct="1"/>
            <a:endParaRPr lang="en-US" sz="2000" dirty="0"/>
          </a:p>
          <a:p>
            <a:pPr algn="just" eaLnBrk="1" hangingPunct="1"/>
            <a:r>
              <a:rPr lang="en-US" sz="2000" dirty="0"/>
              <a:t>However,  the worst case occurs when either item is present at last position or element is not there in the array. In former case, search terminates in success with n comparisons. In latter case, search terminates in failure with n comparisons. </a:t>
            </a:r>
            <a:r>
              <a:rPr lang="en-US" sz="2000" b="1" dirty="0"/>
              <a:t>Thus in worst case, the linear search is O(n) operation.</a:t>
            </a:r>
          </a:p>
          <a:p>
            <a:pPr algn="just" eaLnBrk="1" hangingPunct="1"/>
            <a:endParaRPr lang="en-US" sz="2000" b="1" dirty="0"/>
          </a:p>
          <a:p>
            <a:pPr algn="just" eaLnBrk="1" hangingPunct="1"/>
            <a:r>
              <a:rPr lang="en-US" sz="2000" dirty="0"/>
              <a:t> In average case, the average number of comparisons required to find the location of item is approximately equal to </a:t>
            </a:r>
            <a:r>
              <a:rPr lang="en-US" sz="2000" b="1" dirty="0"/>
              <a:t>half of the number of elements  in </a:t>
            </a:r>
            <a:r>
              <a:rPr lang="en-US" sz="2000" dirty="0"/>
              <a:t>the array which means complexity in average case is </a:t>
            </a:r>
            <a:r>
              <a:rPr lang="en-US" sz="2000" b="1" dirty="0"/>
              <a:t>O(n/2 ) </a:t>
            </a:r>
            <a:endParaRPr lang="en-US" sz="2000" dirty="0"/>
          </a:p>
          <a:p>
            <a:pPr algn="just" eaLnBrk="1" hangingPunct="1">
              <a:buFontTx/>
              <a:buNone/>
            </a:pPr>
            <a:r>
              <a:rPr lang="en-US" sz="2000" dirty="0"/>
              <a:t>.</a:t>
            </a:r>
          </a:p>
        </p:txBody>
      </p:sp>
      <p:sp>
        <p:nvSpPr>
          <p:cNvPr id="2" name="TextBox 1">
            <a:extLst>
              <a:ext uri="{FF2B5EF4-FFF2-40B4-BE49-F238E27FC236}">
                <a16:creationId xmlns:a16="http://schemas.microsoft.com/office/drawing/2014/main" id="{9766D52C-752E-10D5-6E36-928CF66B8D5E}"/>
              </a:ext>
            </a:extLst>
          </p:cNvPr>
          <p:cNvSpPr txBox="1"/>
          <p:nvPr/>
        </p:nvSpPr>
        <p:spPr>
          <a:xfrm>
            <a:off x="1674688" y="71919"/>
            <a:ext cx="8938516" cy="390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658968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1524000" y="0"/>
            <a:ext cx="9144000" cy="1143000"/>
          </a:xfrm>
        </p:spPr>
        <p:txBody>
          <a:bodyPr/>
          <a:lstStyle/>
          <a:p>
            <a:r>
              <a:rPr lang="en-US"/>
              <a:t>Complexity of Binary Search</a:t>
            </a:r>
            <a:endParaRPr lang="en-IN"/>
          </a:p>
        </p:txBody>
      </p:sp>
      <p:pic>
        <p:nvPicPr>
          <p:cNvPr id="60419" name="Picture 2"/>
          <p:cNvPicPr>
            <a:picLocks noGrp="1" noChangeAspect="1" noChangeArrowheads="1"/>
          </p:cNvPicPr>
          <p:nvPr>
            <p:ph idx="1"/>
          </p:nvPr>
        </p:nvPicPr>
        <p:blipFill>
          <a:blip r:embed="rId2"/>
          <a:srcRect/>
          <a:stretch>
            <a:fillRect/>
          </a:stretch>
        </p:blipFill>
        <p:spPr>
          <a:xfrm>
            <a:off x="2286000" y="990600"/>
            <a:ext cx="7391400" cy="5638800"/>
          </a:xfrm>
          <a:noFill/>
        </p:spPr>
      </p:pic>
    </p:spTree>
    <p:extLst>
      <p:ext uri="{BB962C8B-B14F-4D97-AF65-F5344CB8AC3E}">
        <p14:creationId xmlns:p14="http://schemas.microsoft.com/office/powerpoint/2010/main" val="23944238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p:cNvPicPr>
            <a:picLocks noGrp="1" noChangeAspect="1" noChangeArrowheads="1"/>
          </p:cNvPicPr>
          <p:nvPr>
            <p:ph idx="1"/>
          </p:nvPr>
        </p:nvPicPr>
        <p:blipFill>
          <a:blip r:embed="rId2"/>
          <a:srcRect/>
          <a:stretch>
            <a:fillRect/>
          </a:stretch>
        </p:blipFill>
        <p:spPr>
          <a:xfrm>
            <a:off x="1808164" y="533400"/>
            <a:ext cx="8097837" cy="6288088"/>
          </a:xfrm>
          <a:noFill/>
        </p:spPr>
      </p:pic>
    </p:spTree>
    <p:extLst>
      <p:ext uri="{BB962C8B-B14F-4D97-AF65-F5344CB8AC3E}">
        <p14:creationId xmlns:p14="http://schemas.microsoft.com/office/powerpoint/2010/main" val="4102269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of binary search (</a:t>
            </a:r>
            <a:r>
              <a:rPr lang="en-US" dirty="0" err="1"/>
              <a:t>contd</a:t>
            </a:r>
            <a:r>
              <a:rPr lang="en-US" dirty="0"/>
              <a:t>)</a:t>
            </a:r>
          </a:p>
        </p:txBody>
      </p:sp>
      <p:sp>
        <p:nvSpPr>
          <p:cNvPr id="3" name="Content Placeholder 2"/>
          <p:cNvSpPr>
            <a:spLocks noGrp="1"/>
          </p:cNvSpPr>
          <p:nvPr>
            <p:ph idx="1"/>
          </p:nvPr>
        </p:nvSpPr>
        <p:spPr/>
        <p:txBody>
          <a:bodyPr/>
          <a:lstStyle/>
          <a:p>
            <a:r>
              <a:rPr lang="en-US" dirty="0"/>
              <a:t>Approximately, we have to run the algorithm till </a:t>
            </a:r>
          </a:p>
          <a:p>
            <a:pPr>
              <a:buNone/>
            </a:pPr>
            <a:r>
              <a:rPr lang="en-US" dirty="0"/>
              <a:t>                                  N/2</a:t>
            </a:r>
            <a:r>
              <a:rPr lang="en-US" baseline="30000" dirty="0"/>
              <a:t>k</a:t>
            </a:r>
            <a:r>
              <a:rPr lang="en-US" dirty="0"/>
              <a:t>=1</a:t>
            </a:r>
          </a:p>
          <a:p>
            <a:r>
              <a:rPr lang="en-US" dirty="0"/>
              <a:t>Multiply both sides by 2</a:t>
            </a:r>
            <a:r>
              <a:rPr lang="en-US" baseline="30000" dirty="0"/>
              <a:t>k</a:t>
            </a:r>
          </a:p>
          <a:p>
            <a:pPr>
              <a:buNone/>
            </a:pPr>
            <a:r>
              <a:rPr lang="en-US" baseline="30000" dirty="0"/>
              <a:t> </a:t>
            </a:r>
            <a:r>
              <a:rPr lang="en-US" dirty="0"/>
              <a:t>                                 N=2</a:t>
            </a:r>
            <a:r>
              <a:rPr lang="en-US" baseline="30000" dirty="0"/>
              <a:t>k</a:t>
            </a:r>
          </a:p>
          <a:p>
            <a:r>
              <a:rPr lang="en-US" dirty="0"/>
              <a:t>Taking log</a:t>
            </a:r>
            <a:r>
              <a:rPr lang="en-US" baseline="-25000" dirty="0"/>
              <a:t>2</a:t>
            </a:r>
            <a:r>
              <a:rPr lang="en-US" dirty="0"/>
              <a:t> on both sides,</a:t>
            </a:r>
          </a:p>
          <a:p>
            <a:pPr>
              <a:buNone/>
            </a:pPr>
            <a:r>
              <a:rPr lang="en-US" dirty="0"/>
              <a:t>                             log</a:t>
            </a:r>
            <a:r>
              <a:rPr lang="en-US" baseline="-25000" dirty="0"/>
              <a:t>2</a:t>
            </a:r>
            <a:r>
              <a:rPr lang="en-US" dirty="0"/>
              <a:t>N=k.log</a:t>
            </a:r>
            <a:r>
              <a:rPr lang="en-US" baseline="-25000" dirty="0"/>
              <a:t>2</a:t>
            </a:r>
            <a:r>
              <a:rPr lang="en-US" dirty="0"/>
              <a:t>2  and      log</a:t>
            </a:r>
            <a:r>
              <a:rPr lang="en-US" baseline="-25000" dirty="0"/>
              <a:t>2</a:t>
            </a:r>
            <a:r>
              <a:rPr lang="en-US" dirty="0"/>
              <a:t>2=1</a:t>
            </a:r>
          </a:p>
          <a:p>
            <a:r>
              <a:rPr lang="en-US" dirty="0"/>
              <a:t>Thus, </a:t>
            </a:r>
            <a:r>
              <a:rPr lang="en-US" b="1" dirty="0"/>
              <a:t>k , number of iterations required to search for an element in an array </a:t>
            </a:r>
            <a:r>
              <a:rPr lang="en-US" dirty="0"/>
              <a:t>using binary search  is</a:t>
            </a:r>
          </a:p>
          <a:p>
            <a:pPr marL="0" indent="0">
              <a:buNone/>
            </a:pPr>
            <a:r>
              <a:rPr lang="en-US" b="1" dirty="0"/>
              <a:t>                              k= log</a:t>
            </a:r>
            <a:r>
              <a:rPr lang="en-US" b="1" baseline="-25000" dirty="0"/>
              <a:t>2</a:t>
            </a:r>
            <a:r>
              <a:rPr lang="en-US" b="1" dirty="0"/>
              <a:t>N</a:t>
            </a:r>
          </a:p>
          <a:p>
            <a:endParaRPr lang="en-US" dirty="0"/>
          </a:p>
        </p:txBody>
      </p:sp>
    </p:spTree>
    <p:extLst>
      <p:ext uri="{BB962C8B-B14F-4D97-AF65-F5344CB8AC3E}">
        <p14:creationId xmlns:p14="http://schemas.microsoft.com/office/powerpoint/2010/main" val="12906735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Grp="1" noChangeAspect="1" noChangeArrowheads="1"/>
          </p:cNvPicPr>
          <p:nvPr>
            <p:ph idx="1"/>
          </p:nvPr>
        </p:nvPicPr>
        <p:blipFill>
          <a:blip r:embed="rId2"/>
          <a:srcRect/>
          <a:stretch>
            <a:fillRect/>
          </a:stretch>
        </p:blipFill>
        <p:spPr>
          <a:xfrm>
            <a:off x="2285999" y="512764"/>
            <a:ext cx="8203915" cy="5984875"/>
          </a:xfrm>
          <a:noFill/>
        </p:spPr>
      </p:pic>
    </p:spTree>
    <p:extLst>
      <p:ext uri="{BB962C8B-B14F-4D97-AF65-F5344CB8AC3E}">
        <p14:creationId xmlns:p14="http://schemas.microsoft.com/office/powerpoint/2010/main" val="2032805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1"/>
          </p:nvPr>
        </p:nvSpPr>
        <p:spPr>
          <a:xfrm>
            <a:off x="1524000" y="0"/>
            <a:ext cx="9144000" cy="6858000"/>
          </a:xfrm>
        </p:spPr>
        <p:txBody>
          <a:bodyPr/>
          <a:lstStyle/>
          <a:p>
            <a:pPr eaLnBrk="1" hangingPunct="1">
              <a:buFontTx/>
              <a:buNone/>
            </a:pPr>
            <a:r>
              <a:rPr lang="en-US" dirty="0"/>
              <a:t>Problem: Suppose there are 1000000 elements in an array. How many maximum comparisons will be required in binary search to search for an element</a:t>
            </a:r>
          </a:p>
          <a:p>
            <a:pPr eaLnBrk="1" hangingPunct="1">
              <a:buFontTx/>
              <a:buNone/>
            </a:pPr>
            <a:r>
              <a:rPr lang="en-US" dirty="0"/>
              <a:t>Solution:    Find out what power of  2 will be approximately equivalent to the size of array such that </a:t>
            </a:r>
          </a:p>
          <a:p>
            <a:pPr eaLnBrk="1" hangingPunct="1">
              <a:buFontTx/>
              <a:buNone/>
            </a:pPr>
            <a:r>
              <a:rPr lang="en-US" dirty="0"/>
              <a:t>                 2</a:t>
            </a:r>
            <a:r>
              <a:rPr lang="en-US" baseline="30000" dirty="0"/>
              <a:t>x</a:t>
            </a:r>
            <a:r>
              <a:rPr lang="en-US" dirty="0"/>
              <a:t> = y &gt;= n </a:t>
            </a:r>
          </a:p>
          <a:p>
            <a:pPr eaLnBrk="1" hangingPunct="1">
              <a:buFontTx/>
              <a:buNone/>
            </a:pPr>
            <a:r>
              <a:rPr lang="en-US" dirty="0"/>
              <a:t>    2</a:t>
            </a:r>
            <a:r>
              <a:rPr lang="en-US" baseline="30000" dirty="0"/>
              <a:t>10</a:t>
            </a:r>
            <a:r>
              <a:rPr lang="en-US" dirty="0"/>
              <a:t>= 1024 &gt; 1000</a:t>
            </a:r>
          </a:p>
          <a:p>
            <a:pPr eaLnBrk="1" hangingPunct="1">
              <a:buFontTx/>
              <a:buNone/>
            </a:pPr>
            <a:r>
              <a:rPr lang="en-US" dirty="0"/>
              <a:t>   Thus 2</a:t>
            </a:r>
            <a:r>
              <a:rPr lang="en-US" baseline="30000" dirty="0"/>
              <a:t>20</a:t>
            </a:r>
            <a:r>
              <a:rPr lang="en-US" dirty="0"/>
              <a:t> &gt; 1000000</a:t>
            </a:r>
          </a:p>
          <a:p>
            <a:pPr eaLnBrk="1" hangingPunct="1">
              <a:buFontTx/>
              <a:buNone/>
            </a:pPr>
            <a:r>
              <a:rPr lang="en-US" dirty="0"/>
              <a:t> Thus 20 comparisons will be required for searching for the element</a:t>
            </a:r>
          </a:p>
          <a:p>
            <a:pPr eaLnBrk="1" hangingPunct="1">
              <a:buFontTx/>
              <a:buNone/>
            </a:pPr>
            <a:endParaRPr lang="en-US" dirty="0"/>
          </a:p>
        </p:txBody>
      </p:sp>
    </p:spTree>
    <p:extLst>
      <p:ext uri="{BB962C8B-B14F-4D97-AF65-F5344CB8AC3E}">
        <p14:creationId xmlns:p14="http://schemas.microsoft.com/office/powerpoint/2010/main" val="62283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51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51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5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1"/>
          </p:nvPr>
        </p:nvSpPr>
        <p:spPr>
          <a:xfrm>
            <a:off x="1524000" y="0"/>
            <a:ext cx="9144000" cy="6858000"/>
          </a:xfrm>
        </p:spPr>
        <p:txBody>
          <a:bodyPr/>
          <a:lstStyle/>
          <a:p>
            <a:pPr eaLnBrk="1" hangingPunct="1">
              <a:buFontTx/>
              <a:buNone/>
            </a:pPr>
            <a:r>
              <a:rPr lang="en-US" dirty="0"/>
              <a:t>Problem: Suppose there are 98 elements in an array. How many maximum comparisons will be required in binary search to search for an element</a:t>
            </a:r>
          </a:p>
          <a:p>
            <a:pPr eaLnBrk="1" hangingPunct="1">
              <a:buFontTx/>
              <a:buNone/>
            </a:pPr>
            <a:r>
              <a:rPr lang="en-US" dirty="0"/>
              <a:t>Solution:    Find out what power of  2 will be approximately equivalent to the size of array such that </a:t>
            </a:r>
          </a:p>
          <a:p>
            <a:pPr eaLnBrk="1" hangingPunct="1">
              <a:buFontTx/>
              <a:buNone/>
            </a:pPr>
            <a:r>
              <a:rPr lang="en-US" dirty="0"/>
              <a:t>                 2</a:t>
            </a:r>
            <a:r>
              <a:rPr lang="en-US" baseline="30000" dirty="0"/>
              <a:t>x</a:t>
            </a:r>
            <a:r>
              <a:rPr lang="en-US" dirty="0"/>
              <a:t> = y &gt;= n </a:t>
            </a:r>
          </a:p>
          <a:p>
            <a:pPr eaLnBrk="1" hangingPunct="1">
              <a:buFontTx/>
              <a:buNone/>
            </a:pPr>
            <a:r>
              <a:rPr lang="en-US" dirty="0"/>
              <a:t>    2</a:t>
            </a:r>
            <a:r>
              <a:rPr lang="en-US" baseline="30000" dirty="0"/>
              <a:t>7</a:t>
            </a:r>
            <a:r>
              <a:rPr lang="en-US" dirty="0"/>
              <a:t>= 128 &gt; 98</a:t>
            </a:r>
          </a:p>
          <a:p>
            <a:pPr eaLnBrk="1" hangingPunct="1">
              <a:buFontTx/>
              <a:buNone/>
            </a:pPr>
            <a:r>
              <a:rPr lang="en-US" dirty="0"/>
              <a:t>   </a:t>
            </a:r>
          </a:p>
          <a:p>
            <a:pPr eaLnBrk="1" hangingPunct="1">
              <a:buFontTx/>
              <a:buNone/>
            </a:pPr>
            <a:r>
              <a:rPr lang="en-US" dirty="0"/>
              <a:t> Thus 7 comparisons will be required for searching for the element</a:t>
            </a:r>
          </a:p>
          <a:p>
            <a:pPr eaLnBrk="1" hangingPunct="1">
              <a:buFontTx/>
              <a:buNone/>
            </a:pPr>
            <a:endParaRPr lang="en-US" dirty="0"/>
          </a:p>
        </p:txBody>
      </p:sp>
    </p:spTree>
    <p:extLst>
      <p:ext uri="{BB962C8B-B14F-4D97-AF65-F5344CB8AC3E}">
        <p14:creationId xmlns:p14="http://schemas.microsoft.com/office/powerpoint/2010/main" val="304306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51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51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5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body" idx="1"/>
          </p:nvPr>
        </p:nvSpPr>
        <p:spPr>
          <a:xfrm>
            <a:off x="359597" y="0"/>
            <a:ext cx="11342668" cy="6858000"/>
          </a:xfrm>
        </p:spPr>
        <p:txBody>
          <a:bodyPr/>
          <a:lstStyle/>
          <a:p>
            <a:pPr eaLnBrk="1" hangingPunct="1"/>
            <a:r>
              <a:rPr lang="en-US" dirty="0"/>
              <a:t>Insertion in an Array- Insertion refers to operation of adding an element to an array and deletion refers to deleting an element from an array</a:t>
            </a:r>
          </a:p>
          <a:p>
            <a:pPr eaLnBrk="1" hangingPunct="1"/>
            <a:endParaRPr lang="en-US" dirty="0"/>
          </a:p>
          <a:p>
            <a:pPr eaLnBrk="1" hangingPunct="1"/>
            <a:r>
              <a:rPr lang="en-US" dirty="0"/>
              <a:t>Insertion- Insertion can be done at various positions but the main cases undertaken are:</a:t>
            </a:r>
          </a:p>
          <a:p>
            <a:pPr lvl="1" eaLnBrk="1" hangingPunct="1"/>
            <a:r>
              <a:rPr lang="en-US" dirty="0"/>
              <a:t>Insertion at the start</a:t>
            </a:r>
          </a:p>
          <a:p>
            <a:pPr lvl="1" eaLnBrk="1" hangingPunct="1"/>
            <a:r>
              <a:rPr lang="en-US" dirty="0"/>
              <a:t>Insertion at the end</a:t>
            </a:r>
          </a:p>
          <a:p>
            <a:pPr lvl="1" eaLnBrk="1" hangingPunct="1"/>
            <a:r>
              <a:rPr lang="en-US" dirty="0"/>
              <a:t>Insertion in the middle</a:t>
            </a:r>
          </a:p>
          <a:p>
            <a:pPr lvl="1" eaLnBrk="1" hangingPunct="1"/>
            <a:r>
              <a:rPr lang="en-US" dirty="0"/>
              <a:t>Insertion at any other position</a:t>
            </a:r>
          </a:p>
          <a:p>
            <a:pPr eaLnBrk="1" hangingPunct="1"/>
            <a:endParaRPr lang="en-US" dirty="0"/>
          </a:p>
          <a:p>
            <a:pPr eaLnBrk="1" hangingPunct="1"/>
            <a:r>
              <a:rPr lang="en-US" dirty="0"/>
              <a:t>Inserting an element at the end of the array can be done easily provided the memory space allocated for the array is large enough to  accommodate the additional element.</a:t>
            </a:r>
          </a:p>
          <a:p>
            <a:pPr eaLnBrk="1" hangingPunct="1"/>
            <a:endParaRPr lang="en-US" dirty="0"/>
          </a:p>
          <a:p>
            <a:pPr eaLnBrk="1" hangingPunct="1"/>
            <a:r>
              <a:rPr lang="en-US" dirty="0"/>
              <a:t>For inserting at any other position, elements of array have to be shifted downwards from the position where insertion is to be done. The new element is then inserted in vacated position.  </a:t>
            </a:r>
          </a:p>
          <a:p>
            <a:pPr eaLnBrk="1" hangingPunct="1"/>
            <a:endParaRPr lang="en-US" dirty="0"/>
          </a:p>
        </p:txBody>
      </p:sp>
    </p:spTree>
    <p:extLst>
      <p:ext uri="{BB962C8B-B14F-4D97-AF65-F5344CB8AC3E}">
        <p14:creationId xmlns:p14="http://schemas.microsoft.com/office/powerpoint/2010/main" val="23978688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1"/>
          </p:nvPr>
        </p:nvSpPr>
        <p:spPr>
          <a:xfrm>
            <a:off x="1524000" y="0"/>
            <a:ext cx="9144000" cy="6858000"/>
          </a:xfrm>
        </p:spPr>
        <p:txBody>
          <a:bodyPr/>
          <a:lstStyle/>
          <a:p>
            <a:pPr eaLnBrk="1" hangingPunct="1"/>
            <a:r>
              <a:rPr lang="en-US" dirty="0"/>
              <a:t>Algorithm: (</a:t>
            </a:r>
            <a:r>
              <a:rPr lang="en-US" dirty="0">
                <a:sym typeface="Wingdings" pitchFamily="2" charset="2"/>
              </a:rPr>
              <a:t>Inserting into a Linear Array) </a:t>
            </a:r>
            <a:r>
              <a:rPr lang="en-US" b="1" dirty="0">
                <a:sym typeface="Wingdings" pitchFamily="2" charset="2"/>
              </a:rPr>
              <a:t>INSERT(LA,N,K,ITEM)</a:t>
            </a:r>
          </a:p>
          <a:p>
            <a:pPr eaLnBrk="1" hangingPunct="1">
              <a:buFontTx/>
              <a:buNone/>
            </a:pPr>
            <a:r>
              <a:rPr lang="en-US" dirty="0">
                <a:sym typeface="Wingdings" pitchFamily="2" charset="2"/>
              </a:rPr>
              <a:t>                   [Here LA is a linear array with N elements and K is a 		       positive integer such that K&lt;=N. This algorithm inserts an 	       element ITEM into K</a:t>
            </a:r>
            <a:r>
              <a:rPr lang="en-US" baseline="30000" dirty="0">
                <a:sym typeface="Wingdings" pitchFamily="2" charset="2"/>
              </a:rPr>
              <a:t>th</a:t>
            </a:r>
            <a:r>
              <a:rPr lang="en-US" dirty="0">
                <a:sym typeface="Wingdings" pitchFamily="2" charset="2"/>
              </a:rPr>
              <a:t> position in LA]</a:t>
            </a:r>
          </a:p>
          <a:p>
            <a:pPr eaLnBrk="1" hangingPunct="1"/>
            <a:r>
              <a:rPr lang="en-US" dirty="0">
                <a:sym typeface="Wingdings" pitchFamily="2" charset="2"/>
              </a:rPr>
              <a:t>Step 1: [Initialize counter] Set J:=N</a:t>
            </a:r>
          </a:p>
          <a:p>
            <a:pPr eaLnBrk="1" hangingPunct="1"/>
            <a:r>
              <a:rPr lang="en-US" dirty="0">
                <a:sym typeface="Wingdings" pitchFamily="2" charset="2"/>
              </a:rPr>
              <a:t>Step 2: Repeat while J </a:t>
            </a:r>
            <a:r>
              <a:rPr lang="en-US" dirty="0">
                <a:cs typeface="Times New Roman" pitchFamily="18" charset="0"/>
                <a:sym typeface="Wingdings" pitchFamily="2" charset="2"/>
              </a:rPr>
              <a:t>≥ K:</a:t>
            </a:r>
          </a:p>
          <a:p>
            <a:pPr eaLnBrk="1" hangingPunct="1">
              <a:buFontTx/>
              <a:buNone/>
            </a:pPr>
            <a:r>
              <a:rPr lang="en-US" dirty="0">
                <a:cs typeface="Times New Roman" pitchFamily="18" charset="0"/>
                <a:sym typeface="Wingdings" pitchFamily="2" charset="2"/>
              </a:rPr>
              <a:t>               [Move </a:t>
            </a:r>
            <a:r>
              <a:rPr lang="en-US" dirty="0" err="1">
                <a:cs typeface="Times New Roman" pitchFamily="18" charset="0"/>
                <a:sym typeface="Wingdings" pitchFamily="2" charset="2"/>
              </a:rPr>
              <a:t>Jth</a:t>
            </a:r>
            <a:r>
              <a:rPr lang="en-US" dirty="0">
                <a:cs typeface="Times New Roman" pitchFamily="18" charset="0"/>
                <a:sym typeface="Wingdings" pitchFamily="2" charset="2"/>
              </a:rPr>
              <a:t> element downward] Set LA[J+1]:=LA[J]</a:t>
            </a:r>
          </a:p>
          <a:p>
            <a:pPr eaLnBrk="1" hangingPunct="1">
              <a:buFontTx/>
              <a:buNone/>
            </a:pPr>
            <a:r>
              <a:rPr lang="en-US" dirty="0">
                <a:cs typeface="Times New Roman" pitchFamily="18" charset="0"/>
                <a:sym typeface="Wingdings" pitchFamily="2" charset="2"/>
              </a:rPr>
              <a:t>               [ Decrease Counter] Set J:=J -1</a:t>
            </a:r>
          </a:p>
          <a:p>
            <a:pPr eaLnBrk="1" hangingPunct="1">
              <a:buFontTx/>
              <a:buNone/>
            </a:pPr>
            <a:r>
              <a:rPr lang="en-US" dirty="0">
                <a:cs typeface="Times New Roman" pitchFamily="18" charset="0"/>
                <a:sym typeface="Wingdings" pitchFamily="2" charset="2"/>
              </a:rPr>
              <a:t>               [End of Step 2 Loop]</a:t>
            </a:r>
          </a:p>
          <a:p>
            <a:pPr eaLnBrk="1" hangingPunct="1"/>
            <a:r>
              <a:rPr lang="en-US" dirty="0">
                <a:cs typeface="Times New Roman" pitchFamily="18" charset="0"/>
                <a:sym typeface="Wingdings" pitchFamily="2" charset="2"/>
              </a:rPr>
              <a:t>Step 3: [Insert element] Set LA[K]:=ITEM</a:t>
            </a:r>
          </a:p>
          <a:p>
            <a:pPr eaLnBrk="1" hangingPunct="1"/>
            <a:r>
              <a:rPr lang="en-US" dirty="0">
                <a:cs typeface="Times New Roman" pitchFamily="18" charset="0"/>
                <a:sym typeface="Wingdings" pitchFamily="2" charset="2"/>
              </a:rPr>
              <a:t>Step 4:[Reset N] Set N:=N+1</a:t>
            </a:r>
          </a:p>
          <a:p>
            <a:pPr eaLnBrk="1" hangingPunct="1"/>
            <a:r>
              <a:rPr lang="en-US" dirty="0">
                <a:cs typeface="Times New Roman" pitchFamily="18" charset="0"/>
                <a:sym typeface="Wingdings" pitchFamily="2" charset="2"/>
              </a:rPr>
              <a:t>Step 5: Return</a:t>
            </a:r>
          </a:p>
          <a:p>
            <a:pPr eaLnBrk="1" hangingPunct="1"/>
            <a:endParaRPr lang="en-US" dirty="0"/>
          </a:p>
        </p:txBody>
      </p:sp>
    </p:spTree>
    <p:extLst>
      <p:ext uri="{BB962C8B-B14F-4D97-AF65-F5344CB8AC3E}">
        <p14:creationId xmlns:p14="http://schemas.microsoft.com/office/powerpoint/2010/main" val="27824190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1"/>
          </p:nvPr>
        </p:nvSpPr>
        <p:spPr>
          <a:xfrm>
            <a:off x="1524000" y="0"/>
            <a:ext cx="9144000" cy="6858000"/>
          </a:xfrm>
        </p:spPr>
        <p:txBody>
          <a:bodyPr/>
          <a:lstStyle/>
          <a:p>
            <a:pPr eaLnBrk="1" hangingPunct="1"/>
            <a:r>
              <a:rPr lang="en-US"/>
              <a:t>Algorithm: (</a:t>
            </a:r>
            <a:r>
              <a:rPr lang="en-US">
                <a:sym typeface="Wingdings" pitchFamily="2" charset="2"/>
              </a:rPr>
              <a:t>Inserting into a SORTED Linear Array)</a:t>
            </a:r>
          </a:p>
          <a:p>
            <a:pPr eaLnBrk="1" hangingPunct="1">
              <a:buFontTx/>
              <a:buNone/>
            </a:pPr>
            <a:r>
              <a:rPr lang="en-US">
                <a:sym typeface="Wingdings" pitchFamily="2" charset="2"/>
              </a:rPr>
              <a:t>                   </a:t>
            </a:r>
            <a:r>
              <a:rPr lang="en-US" b="1">
                <a:sym typeface="Wingdings" pitchFamily="2" charset="2"/>
              </a:rPr>
              <a:t>INSERTSRT(LA,N,ITEM)</a:t>
            </a:r>
          </a:p>
          <a:p>
            <a:pPr eaLnBrk="1" hangingPunct="1">
              <a:buFontTx/>
              <a:buNone/>
            </a:pPr>
            <a:r>
              <a:rPr lang="en-US">
                <a:sym typeface="Wingdings" pitchFamily="2" charset="2"/>
              </a:rPr>
              <a:t>                   Here LA is a linear array with N elements. This algorithm inserts an element ITEM in sorted array LA.</a:t>
            </a:r>
          </a:p>
          <a:p>
            <a:pPr eaLnBrk="1" hangingPunct="1"/>
            <a:r>
              <a:rPr lang="en-US">
                <a:sym typeface="Wingdings" pitchFamily="2" charset="2"/>
              </a:rPr>
              <a:t>Step1: Set J:=1</a:t>
            </a:r>
          </a:p>
          <a:p>
            <a:pPr eaLnBrk="1" hangingPunct="1"/>
            <a:r>
              <a:rPr lang="en-US">
                <a:sym typeface="Wingdings" pitchFamily="2" charset="2"/>
              </a:rPr>
              <a:t>Step 2: Repeat while LA[J]&lt;=ITEM and J&lt;=N</a:t>
            </a:r>
          </a:p>
          <a:p>
            <a:pPr eaLnBrk="1" hangingPunct="1">
              <a:buFontTx/>
              <a:buNone/>
            </a:pPr>
            <a:r>
              <a:rPr lang="en-US">
                <a:sym typeface="Wingdings" pitchFamily="2" charset="2"/>
              </a:rPr>
              <a:t>                  Set J:=J+1</a:t>
            </a:r>
          </a:p>
          <a:p>
            <a:pPr eaLnBrk="1" hangingPunct="1">
              <a:buFontTx/>
              <a:buNone/>
            </a:pPr>
            <a:r>
              <a:rPr lang="en-US">
                <a:sym typeface="Wingdings" pitchFamily="2" charset="2"/>
              </a:rPr>
              <a:t>                 [End of Step 2 Loop]</a:t>
            </a:r>
          </a:p>
          <a:p>
            <a:pPr eaLnBrk="1" hangingPunct="1"/>
            <a:r>
              <a:rPr lang="en-US">
                <a:sym typeface="Wingdings" pitchFamily="2" charset="2"/>
              </a:rPr>
              <a:t>Step 3: If J&gt;N</a:t>
            </a:r>
          </a:p>
          <a:p>
            <a:pPr eaLnBrk="1" hangingPunct="1">
              <a:buFontTx/>
              <a:buNone/>
            </a:pPr>
            <a:r>
              <a:rPr lang="en-US">
                <a:sym typeface="Wingdings" pitchFamily="2" charset="2"/>
              </a:rPr>
              <a:t>                Set A[J]=ITEM</a:t>
            </a:r>
          </a:p>
          <a:p>
            <a:pPr eaLnBrk="1" hangingPunct="1">
              <a:buFontTx/>
              <a:buNone/>
            </a:pPr>
            <a:r>
              <a:rPr lang="en-US">
                <a:sym typeface="Wingdings" pitchFamily="2" charset="2"/>
              </a:rPr>
              <a:t>                 Set N:=N+1</a:t>
            </a:r>
          </a:p>
          <a:p>
            <a:pPr eaLnBrk="1" hangingPunct="1">
              <a:buFontTx/>
              <a:buNone/>
            </a:pPr>
            <a:r>
              <a:rPr lang="en-US">
                <a:sym typeface="Wingdings" pitchFamily="2" charset="2"/>
              </a:rPr>
              <a:t>                 Return</a:t>
            </a:r>
          </a:p>
          <a:p>
            <a:pPr eaLnBrk="1" hangingPunct="1">
              <a:buFontTx/>
              <a:buNone/>
            </a:pPr>
            <a:r>
              <a:rPr lang="en-US">
                <a:sym typeface="Wingdings" pitchFamily="2" charset="2"/>
              </a:rPr>
              <a:t>                Else</a:t>
            </a:r>
          </a:p>
          <a:p>
            <a:pPr eaLnBrk="1" hangingPunct="1">
              <a:buFontTx/>
              <a:buNone/>
            </a:pPr>
            <a:r>
              <a:rPr lang="en-US">
                <a:sym typeface="Wingdings" pitchFamily="2" charset="2"/>
              </a:rPr>
              <a:t>                [Initialize counter] Set I:=N</a:t>
            </a:r>
          </a:p>
          <a:p>
            <a:pPr eaLnBrk="1" hangingPunct="1">
              <a:buFontTx/>
              <a:buNone/>
            </a:pPr>
            <a:r>
              <a:rPr lang="en-US">
                <a:sym typeface="Wingdings" pitchFamily="2" charset="2"/>
              </a:rPr>
              <a:t>                [End of If structure]</a:t>
            </a:r>
          </a:p>
          <a:p>
            <a:pPr eaLnBrk="1" hangingPunct="1"/>
            <a:r>
              <a:rPr lang="en-US">
                <a:sym typeface="Wingdings" pitchFamily="2" charset="2"/>
              </a:rPr>
              <a:t> </a:t>
            </a:r>
            <a:endParaRPr lang="en-US"/>
          </a:p>
        </p:txBody>
      </p:sp>
    </p:spTree>
    <p:extLst>
      <p:ext uri="{BB962C8B-B14F-4D97-AF65-F5344CB8AC3E}">
        <p14:creationId xmlns:p14="http://schemas.microsoft.com/office/powerpoint/2010/main" val="4113979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p:cNvSpPr>
            <a:spLocks noGrp="1"/>
          </p:cNvSpPr>
          <p:nvPr>
            <p:ph idx="1"/>
          </p:nvPr>
        </p:nvSpPr>
        <p:spPr>
          <a:xfrm>
            <a:off x="1524000" y="0"/>
            <a:ext cx="9144000" cy="6858000"/>
          </a:xfrm>
        </p:spPr>
        <p:txBody>
          <a:bodyPr/>
          <a:lstStyle/>
          <a:p>
            <a:pPr eaLnBrk="1" hangingPunct="1"/>
            <a:endParaRPr lang="en-US" dirty="0">
              <a:cs typeface="Times New Roman" pitchFamily="18" charset="0"/>
              <a:sym typeface="Wingdings" pitchFamily="2" charset="2"/>
            </a:endParaRPr>
          </a:p>
          <a:p>
            <a:pPr eaLnBrk="1" hangingPunct="1"/>
            <a:r>
              <a:rPr lang="en-US" dirty="0">
                <a:sym typeface="Wingdings" pitchFamily="2" charset="2"/>
              </a:rPr>
              <a:t>Step 4:  Repeat while I </a:t>
            </a:r>
            <a:r>
              <a:rPr lang="en-US" dirty="0">
                <a:cs typeface="Times New Roman" pitchFamily="18" charset="0"/>
                <a:sym typeface="Wingdings" pitchFamily="2" charset="2"/>
              </a:rPr>
              <a:t>≥ J</a:t>
            </a:r>
          </a:p>
          <a:p>
            <a:pPr eaLnBrk="1" hangingPunct="1">
              <a:buFontTx/>
              <a:buNone/>
            </a:pPr>
            <a:r>
              <a:rPr lang="en-US" dirty="0">
                <a:cs typeface="Times New Roman" pitchFamily="18" charset="0"/>
                <a:sym typeface="Wingdings" pitchFamily="2" charset="2"/>
              </a:rPr>
              <a:t>               [Move </a:t>
            </a:r>
            <a:r>
              <a:rPr lang="en-US" dirty="0" err="1">
                <a:cs typeface="Times New Roman" pitchFamily="18" charset="0"/>
                <a:sym typeface="Wingdings" pitchFamily="2" charset="2"/>
              </a:rPr>
              <a:t>Jth</a:t>
            </a:r>
            <a:r>
              <a:rPr lang="en-US" dirty="0">
                <a:cs typeface="Times New Roman" pitchFamily="18" charset="0"/>
                <a:sym typeface="Wingdings" pitchFamily="2" charset="2"/>
              </a:rPr>
              <a:t> element downward] Set LA[I+1]:=LA[I]</a:t>
            </a:r>
          </a:p>
          <a:p>
            <a:pPr eaLnBrk="1" hangingPunct="1">
              <a:buFontTx/>
              <a:buNone/>
            </a:pPr>
            <a:r>
              <a:rPr lang="en-US" dirty="0">
                <a:cs typeface="Times New Roman" pitchFamily="18" charset="0"/>
                <a:sym typeface="Wingdings" pitchFamily="2" charset="2"/>
              </a:rPr>
              <a:t>               [ Decrease Counter]    Set I:=I-1</a:t>
            </a:r>
          </a:p>
          <a:p>
            <a:pPr eaLnBrk="1" hangingPunct="1">
              <a:buFontTx/>
              <a:buNone/>
            </a:pPr>
            <a:r>
              <a:rPr lang="en-US" dirty="0">
                <a:cs typeface="Times New Roman" pitchFamily="18" charset="0"/>
                <a:sym typeface="Wingdings" pitchFamily="2" charset="2"/>
              </a:rPr>
              <a:t>                                                [End of Step 4 Loop]</a:t>
            </a:r>
          </a:p>
          <a:p>
            <a:pPr eaLnBrk="1" hangingPunct="1"/>
            <a:r>
              <a:rPr lang="en-US" dirty="0">
                <a:cs typeface="Times New Roman" pitchFamily="18" charset="0"/>
                <a:sym typeface="Wingdings" pitchFamily="2" charset="2"/>
              </a:rPr>
              <a:t>Step 5: [Insert element] Set LA[J]:=ITEM</a:t>
            </a:r>
          </a:p>
          <a:p>
            <a:pPr eaLnBrk="1" hangingPunct="1">
              <a:buFontTx/>
              <a:buNone/>
            </a:pPr>
            <a:endParaRPr lang="en-US" dirty="0">
              <a:cs typeface="Times New Roman" pitchFamily="18" charset="0"/>
              <a:sym typeface="Wingdings" pitchFamily="2" charset="2"/>
            </a:endParaRPr>
          </a:p>
          <a:p>
            <a:pPr eaLnBrk="1" hangingPunct="1"/>
            <a:r>
              <a:rPr lang="en-US" dirty="0">
                <a:cs typeface="Times New Roman" pitchFamily="18" charset="0"/>
                <a:sym typeface="Wingdings" pitchFamily="2" charset="2"/>
              </a:rPr>
              <a:t>Step 6:[Reset N] Set N:=N+1</a:t>
            </a:r>
          </a:p>
          <a:p>
            <a:pPr eaLnBrk="1" hangingPunct="1">
              <a:buFontTx/>
              <a:buNone/>
            </a:pPr>
            <a:endParaRPr lang="en-US" dirty="0">
              <a:cs typeface="Times New Roman" pitchFamily="18" charset="0"/>
              <a:sym typeface="Wingdings" pitchFamily="2" charset="2"/>
            </a:endParaRPr>
          </a:p>
          <a:p>
            <a:pPr eaLnBrk="1" hangingPunct="1"/>
            <a:r>
              <a:rPr lang="en-US" dirty="0">
                <a:cs typeface="Times New Roman" pitchFamily="18" charset="0"/>
                <a:sym typeface="Wingdings" pitchFamily="2" charset="2"/>
              </a:rPr>
              <a:t>Step 7: Return</a:t>
            </a:r>
          </a:p>
          <a:p>
            <a:endParaRPr lang="en-IN" dirty="0"/>
          </a:p>
        </p:txBody>
      </p:sp>
    </p:spTree>
    <p:extLst>
      <p:ext uri="{BB962C8B-B14F-4D97-AF65-F5344CB8AC3E}">
        <p14:creationId xmlns:p14="http://schemas.microsoft.com/office/powerpoint/2010/main" val="30356275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type="body" idx="1"/>
          </p:nvPr>
        </p:nvSpPr>
        <p:spPr>
          <a:xfrm>
            <a:off x="1524000" y="0"/>
            <a:ext cx="9144000" cy="6858000"/>
          </a:xfrm>
        </p:spPr>
        <p:txBody>
          <a:bodyPr/>
          <a:lstStyle/>
          <a:p>
            <a:pPr eaLnBrk="1" hangingPunct="1"/>
            <a:r>
              <a:rPr lang="en-US"/>
              <a:t>Deletion refers to the operation of removing an element from exiting list of elements. Like insertion, deletion can be done easily from the end of the list. However to delete an element from any other location, the elements are to be moved upwards in order to fill up the location vacated by the removed element.</a:t>
            </a:r>
          </a:p>
        </p:txBody>
      </p:sp>
    </p:spTree>
    <p:extLst>
      <p:ext uri="{BB962C8B-B14F-4D97-AF65-F5344CB8AC3E}">
        <p14:creationId xmlns:p14="http://schemas.microsoft.com/office/powerpoint/2010/main" val="3988362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body" idx="1"/>
          </p:nvPr>
        </p:nvSpPr>
        <p:spPr>
          <a:xfrm>
            <a:off x="1524000" y="0"/>
            <a:ext cx="9144000" cy="6858000"/>
          </a:xfrm>
        </p:spPr>
        <p:txBody>
          <a:bodyPr/>
          <a:lstStyle/>
          <a:p>
            <a:pPr eaLnBrk="1" hangingPunct="1">
              <a:buFontTx/>
              <a:buNone/>
            </a:pPr>
            <a:r>
              <a:rPr lang="en-US"/>
              <a:t>Algorithm: (</a:t>
            </a:r>
            <a:r>
              <a:rPr lang="en-US">
                <a:sym typeface="Wingdings" pitchFamily="2" charset="2"/>
              </a:rPr>
              <a:t>Deleting from a Linear Array) </a:t>
            </a:r>
            <a:r>
              <a:rPr lang="en-US" b="1">
                <a:sym typeface="Wingdings" pitchFamily="2" charset="2"/>
              </a:rPr>
              <a:t>DELETE(LA,N,K,ITEM)</a:t>
            </a:r>
          </a:p>
          <a:p>
            <a:pPr eaLnBrk="1" hangingPunct="1">
              <a:buFontTx/>
              <a:buNone/>
            </a:pPr>
            <a:r>
              <a:rPr lang="en-US">
                <a:sym typeface="Wingdings" pitchFamily="2" charset="2"/>
              </a:rPr>
              <a:t>                   Here LA is a linear array with N elements and K is a 		       positive integer such that K&lt;=N. This algorithm deletes an 	       element ITEM from K</a:t>
            </a:r>
            <a:r>
              <a:rPr lang="en-US" baseline="30000">
                <a:sym typeface="Wingdings" pitchFamily="2" charset="2"/>
              </a:rPr>
              <a:t>th</a:t>
            </a:r>
            <a:r>
              <a:rPr lang="en-US">
                <a:sym typeface="Wingdings" pitchFamily="2" charset="2"/>
              </a:rPr>
              <a:t> position in LA.</a:t>
            </a:r>
          </a:p>
          <a:p>
            <a:pPr eaLnBrk="1" hangingPunct="1"/>
            <a:r>
              <a:rPr lang="en-US">
                <a:sym typeface="Wingdings" pitchFamily="2" charset="2"/>
              </a:rPr>
              <a:t>Step 1: [Initialize counter] Set ITEM:=LA[K]</a:t>
            </a:r>
          </a:p>
          <a:p>
            <a:pPr eaLnBrk="1" hangingPunct="1"/>
            <a:r>
              <a:rPr lang="en-US">
                <a:sym typeface="Wingdings" pitchFamily="2" charset="2"/>
              </a:rPr>
              <a:t>Step 2: Repeat for J=K to N-1:</a:t>
            </a:r>
            <a:endParaRPr lang="en-US">
              <a:cs typeface="Times New Roman" pitchFamily="18" charset="0"/>
              <a:sym typeface="Wingdings" pitchFamily="2" charset="2"/>
            </a:endParaRPr>
          </a:p>
          <a:p>
            <a:pPr eaLnBrk="1" hangingPunct="1">
              <a:buFontTx/>
              <a:buNone/>
            </a:pPr>
            <a:r>
              <a:rPr lang="en-US">
                <a:cs typeface="Times New Roman" pitchFamily="18" charset="0"/>
                <a:sym typeface="Wingdings" pitchFamily="2" charset="2"/>
              </a:rPr>
              <a:t>               [Move J+1st element upward] Set LA[J]:=LA[J+1]</a:t>
            </a:r>
          </a:p>
          <a:p>
            <a:pPr eaLnBrk="1" hangingPunct="1">
              <a:buFontTx/>
              <a:buNone/>
            </a:pPr>
            <a:r>
              <a:rPr lang="en-US">
                <a:cs typeface="Times New Roman" pitchFamily="18" charset="0"/>
                <a:sym typeface="Wingdings" pitchFamily="2" charset="2"/>
              </a:rPr>
              <a:t>                [End of Step 2 Loop]</a:t>
            </a:r>
          </a:p>
          <a:p>
            <a:pPr eaLnBrk="1" hangingPunct="1"/>
            <a:r>
              <a:rPr lang="en-US">
                <a:cs typeface="Times New Roman" pitchFamily="18" charset="0"/>
                <a:sym typeface="Wingdings" pitchFamily="2" charset="2"/>
              </a:rPr>
              <a:t>Step 3: [Reset N] Set N:=N-1</a:t>
            </a:r>
          </a:p>
          <a:p>
            <a:pPr eaLnBrk="1" hangingPunct="1"/>
            <a:r>
              <a:rPr lang="en-US">
                <a:cs typeface="Times New Roman" pitchFamily="18" charset="0"/>
                <a:sym typeface="Wingdings" pitchFamily="2" charset="2"/>
              </a:rPr>
              <a:t>Step 4: Return</a:t>
            </a:r>
          </a:p>
          <a:p>
            <a:pPr eaLnBrk="1" hangingPunct="1">
              <a:buFontTx/>
              <a:buNone/>
            </a:pPr>
            <a:endParaRPr lang="en-US"/>
          </a:p>
          <a:p>
            <a:pPr eaLnBrk="1" hangingPunct="1"/>
            <a:endParaRPr lang="en-US"/>
          </a:p>
        </p:txBody>
      </p:sp>
    </p:spTree>
    <p:extLst>
      <p:ext uri="{BB962C8B-B14F-4D97-AF65-F5344CB8AC3E}">
        <p14:creationId xmlns:p14="http://schemas.microsoft.com/office/powerpoint/2010/main" val="31744307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xfrm>
            <a:off x="1524000" y="0"/>
            <a:ext cx="9144000" cy="6858000"/>
          </a:xfrm>
        </p:spPr>
        <p:txBody>
          <a:bodyPr/>
          <a:lstStyle/>
          <a:p>
            <a:pPr eaLnBrk="1" hangingPunct="1">
              <a:buFontTx/>
              <a:buNone/>
            </a:pPr>
            <a:r>
              <a:rPr lang="en-US"/>
              <a:t>Algorithm: (</a:t>
            </a:r>
            <a:r>
              <a:rPr lang="en-US">
                <a:sym typeface="Wingdings" pitchFamily="2" charset="2"/>
              </a:rPr>
              <a:t>Deleting from a Linear Array) </a:t>
            </a:r>
            <a:r>
              <a:rPr lang="en-US" b="1">
                <a:sym typeface="Wingdings" pitchFamily="2" charset="2"/>
              </a:rPr>
              <a:t>DELNUM(LA,N,ITEM)</a:t>
            </a:r>
          </a:p>
          <a:p>
            <a:pPr eaLnBrk="1" hangingPunct="1">
              <a:buFontTx/>
              <a:buNone/>
            </a:pPr>
            <a:r>
              <a:rPr lang="en-US">
                <a:sym typeface="Wingdings" pitchFamily="2" charset="2"/>
              </a:rPr>
              <a:t>                   Here LA is a linear array with N elements. This algorithm</a:t>
            </a:r>
          </a:p>
          <a:p>
            <a:pPr eaLnBrk="1" hangingPunct="1">
              <a:buFontTx/>
              <a:buNone/>
            </a:pPr>
            <a:r>
              <a:rPr lang="en-US">
                <a:sym typeface="Wingdings" pitchFamily="2" charset="2"/>
              </a:rPr>
              <a:t>                   deletes a Number  ITEM in LA.</a:t>
            </a:r>
          </a:p>
          <a:p>
            <a:pPr eaLnBrk="1" hangingPunct="1"/>
            <a:r>
              <a:rPr lang="en-US">
                <a:sym typeface="Wingdings" pitchFamily="2" charset="2"/>
              </a:rPr>
              <a:t>Step 1: [Initialize counter] Set K=1</a:t>
            </a:r>
          </a:p>
          <a:p>
            <a:pPr eaLnBrk="1" hangingPunct="1"/>
            <a:r>
              <a:rPr lang="en-US">
                <a:sym typeface="Wingdings" pitchFamily="2" charset="2"/>
              </a:rPr>
              <a:t>Step 2: Repeat while LA[K] </a:t>
            </a:r>
            <a:r>
              <a:rPr lang="en-US">
                <a:cs typeface="Times New Roman" pitchFamily="18" charset="0"/>
                <a:sym typeface="Wingdings" pitchFamily="2" charset="2"/>
              </a:rPr>
              <a:t>≠ ITEM</a:t>
            </a:r>
          </a:p>
          <a:p>
            <a:pPr eaLnBrk="1" hangingPunct="1">
              <a:buFontTx/>
              <a:buNone/>
            </a:pPr>
            <a:r>
              <a:rPr lang="en-US">
                <a:cs typeface="Times New Roman" pitchFamily="18" charset="0"/>
                <a:sym typeface="Wingdings" pitchFamily="2" charset="2"/>
              </a:rPr>
              <a:t>                  Set K:= K +1</a:t>
            </a:r>
          </a:p>
          <a:p>
            <a:pPr eaLnBrk="1" hangingPunct="1">
              <a:buFontTx/>
              <a:buNone/>
            </a:pPr>
            <a:r>
              <a:rPr lang="en-US">
                <a:cs typeface="Times New Roman" pitchFamily="18" charset="0"/>
                <a:sym typeface="Wingdings" pitchFamily="2" charset="2"/>
              </a:rPr>
              <a:t>                 [End of Loop]</a:t>
            </a:r>
          </a:p>
          <a:p>
            <a:pPr eaLnBrk="1" hangingPunct="1"/>
            <a:r>
              <a:rPr lang="en-US">
                <a:sym typeface="Wingdings" pitchFamily="2" charset="2"/>
              </a:rPr>
              <a:t>Step 2: Repeat for J=K to N-1:</a:t>
            </a:r>
            <a:endParaRPr lang="en-US">
              <a:cs typeface="Times New Roman" pitchFamily="18" charset="0"/>
              <a:sym typeface="Wingdings" pitchFamily="2" charset="2"/>
            </a:endParaRPr>
          </a:p>
          <a:p>
            <a:pPr eaLnBrk="1" hangingPunct="1">
              <a:buFontTx/>
              <a:buNone/>
            </a:pPr>
            <a:r>
              <a:rPr lang="en-US">
                <a:cs typeface="Times New Roman" pitchFamily="18" charset="0"/>
                <a:sym typeface="Wingdings" pitchFamily="2" charset="2"/>
              </a:rPr>
              <a:t>               [Move J+1st element upward] Set LA[J]:=LA[J+1]</a:t>
            </a:r>
          </a:p>
          <a:p>
            <a:pPr eaLnBrk="1" hangingPunct="1">
              <a:buFontTx/>
              <a:buNone/>
            </a:pPr>
            <a:r>
              <a:rPr lang="en-US">
                <a:cs typeface="Times New Roman" pitchFamily="18" charset="0"/>
                <a:sym typeface="Wingdings" pitchFamily="2" charset="2"/>
              </a:rPr>
              <a:t>                [End of Step 2 Loop]</a:t>
            </a:r>
          </a:p>
          <a:p>
            <a:pPr eaLnBrk="1" hangingPunct="1"/>
            <a:r>
              <a:rPr lang="en-US">
                <a:cs typeface="Times New Roman" pitchFamily="18" charset="0"/>
                <a:sym typeface="Wingdings" pitchFamily="2" charset="2"/>
              </a:rPr>
              <a:t>Step 3: [Reset N] Set N:=N-1</a:t>
            </a:r>
          </a:p>
          <a:p>
            <a:pPr eaLnBrk="1" hangingPunct="1"/>
            <a:r>
              <a:rPr lang="en-US">
                <a:cs typeface="Times New Roman" pitchFamily="18" charset="0"/>
                <a:sym typeface="Wingdings" pitchFamily="2" charset="2"/>
              </a:rPr>
              <a:t>Step 4: Return</a:t>
            </a:r>
          </a:p>
          <a:p>
            <a:pPr eaLnBrk="1" hangingPunct="1">
              <a:buFontTx/>
              <a:buNone/>
            </a:pPr>
            <a:endParaRPr lang="en-US"/>
          </a:p>
          <a:p>
            <a:pPr eaLnBrk="1" hangingPunct="1"/>
            <a:endParaRPr lang="en-US"/>
          </a:p>
        </p:txBody>
      </p:sp>
    </p:spTree>
    <p:extLst>
      <p:ext uri="{BB962C8B-B14F-4D97-AF65-F5344CB8AC3E}">
        <p14:creationId xmlns:p14="http://schemas.microsoft.com/office/powerpoint/2010/main" val="19054463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524000" y="0"/>
            <a:ext cx="9144000" cy="533400"/>
          </a:xfrm>
        </p:spPr>
        <p:txBody>
          <a:bodyPr/>
          <a:lstStyle/>
          <a:p>
            <a:pPr eaLnBrk="1" hangingPunct="1"/>
            <a:r>
              <a:rPr lang="en-US" sz="2800"/>
              <a:t>Analysis of Insertion and deletion operation</a:t>
            </a:r>
          </a:p>
        </p:txBody>
      </p:sp>
      <p:sp>
        <p:nvSpPr>
          <p:cNvPr id="55299" name="Rectangle 3"/>
          <p:cNvSpPr>
            <a:spLocks noGrp="1" noChangeArrowheads="1"/>
          </p:cNvSpPr>
          <p:nvPr>
            <p:ph type="body" idx="1"/>
          </p:nvPr>
        </p:nvSpPr>
        <p:spPr>
          <a:xfrm>
            <a:off x="1524000" y="609600"/>
            <a:ext cx="9144000" cy="6248400"/>
          </a:xfrm>
        </p:spPr>
        <p:txBody>
          <a:bodyPr/>
          <a:lstStyle/>
          <a:p>
            <a:pPr algn="just" eaLnBrk="1" hangingPunct="1"/>
            <a:r>
              <a:rPr lang="en-US" dirty="0"/>
              <a:t>The </a:t>
            </a:r>
            <a:r>
              <a:rPr lang="en-US" b="1" dirty="0"/>
              <a:t>best possible case </a:t>
            </a:r>
            <a:r>
              <a:rPr lang="en-US" dirty="0"/>
              <a:t>in insertion operation is when the item is inserted at the last position. In this case, no movement of elements is required. The </a:t>
            </a:r>
            <a:r>
              <a:rPr lang="en-US" b="1" dirty="0"/>
              <a:t>worst case occurs </a:t>
            </a:r>
            <a:r>
              <a:rPr lang="en-US" dirty="0"/>
              <a:t>when the element has to be inserted at the beginning of the list. In this case, we have to move all the elements down the list. Therefore, the while loop executes n times, each moving one element down. Thus complexity of insertion operation is O(n) in worst case and average case, </a:t>
            </a:r>
            <a:r>
              <a:rPr lang="en-US" dirty="0" err="1"/>
              <a:t>i.e</a:t>
            </a:r>
            <a:r>
              <a:rPr lang="en-US" dirty="0"/>
              <a:t> linear time and is O(1) in best case .</a:t>
            </a:r>
          </a:p>
          <a:p>
            <a:pPr algn="just" eaLnBrk="1" hangingPunct="1"/>
            <a:r>
              <a:rPr lang="en-US" dirty="0"/>
              <a:t>The best case in deletion occurs when the element to be deleted is the last element of the array. In this case, no element is moved up.  Thus complexity of  deletion in best case is O(1). The worst case occurs when element is deleted from the first position. In this case, all (n-1) elements are moved up. The while loop executes n-1 times, each time moving one element down. Thus complexity of deletion operation is also O(n) in worst case and  average case </a:t>
            </a:r>
            <a:r>
              <a:rPr lang="en-US" dirty="0" err="1"/>
              <a:t>i.e</a:t>
            </a:r>
            <a:r>
              <a:rPr lang="en-US" dirty="0"/>
              <a:t> linear time.</a:t>
            </a:r>
          </a:p>
        </p:txBody>
      </p:sp>
    </p:spTree>
    <p:extLst>
      <p:ext uri="{BB962C8B-B14F-4D97-AF65-F5344CB8AC3E}">
        <p14:creationId xmlns:p14="http://schemas.microsoft.com/office/powerpoint/2010/main" val="39052781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b="1" u="sng"/>
              <a:t>Address calculations in arrays</a:t>
            </a:r>
          </a:p>
        </p:txBody>
      </p:sp>
      <p:sp>
        <p:nvSpPr>
          <p:cNvPr id="65539" name="Content Placeholder 2"/>
          <p:cNvSpPr>
            <a:spLocks noGrp="1"/>
          </p:cNvSpPr>
          <p:nvPr>
            <p:ph idx="1"/>
          </p:nvPr>
        </p:nvSpPr>
        <p:spPr/>
        <p:txBody>
          <a:bodyPr/>
          <a:lstStyle/>
          <a:p>
            <a:r>
              <a:rPr lang="en-US" b="1" u="sng" dirty="0"/>
              <a:t>Address Calculation in single (one) Dimension Array:</a:t>
            </a:r>
            <a:endParaRPr lang="en-US" b="1" dirty="0"/>
          </a:p>
          <a:p>
            <a:r>
              <a:rPr lang="en-US" dirty="0"/>
              <a:t>Address of an element of an array say “A[ I ]” is calculated using the following formula:</a:t>
            </a:r>
          </a:p>
          <a:p>
            <a:r>
              <a:rPr lang="en-US" b="1" dirty="0"/>
              <a:t>Address of A [ I ] = B + W * ( I – LL )</a:t>
            </a:r>
            <a:endParaRPr lang="en-US" dirty="0"/>
          </a:p>
          <a:p>
            <a:r>
              <a:rPr lang="en-US" dirty="0"/>
              <a:t>Where,</a:t>
            </a:r>
            <a:br>
              <a:rPr lang="en-US" dirty="0"/>
            </a:br>
            <a:r>
              <a:rPr lang="en-US" b="1" dirty="0"/>
              <a:t>B</a:t>
            </a:r>
            <a:r>
              <a:rPr lang="en-US" dirty="0"/>
              <a:t> = Base address</a:t>
            </a:r>
            <a:br>
              <a:rPr lang="en-US" dirty="0"/>
            </a:br>
            <a:r>
              <a:rPr lang="en-US" b="1" dirty="0"/>
              <a:t>W</a:t>
            </a:r>
            <a:r>
              <a:rPr lang="en-US" dirty="0"/>
              <a:t> = Storage Size of one element stored in the array (in byte)</a:t>
            </a:r>
            <a:br>
              <a:rPr lang="en-US" dirty="0"/>
            </a:br>
            <a:r>
              <a:rPr lang="en-US" b="1" dirty="0"/>
              <a:t>I</a:t>
            </a:r>
            <a:r>
              <a:rPr lang="en-US" dirty="0"/>
              <a:t> = Subscript of element whose address is to be found</a:t>
            </a:r>
            <a:br>
              <a:rPr lang="en-US" dirty="0"/>
            </a:br>
            <a:r>
              <a:rPr lang="en-US" b="1" dirty="0"/>
              <a:t>LL</a:t>
            </a:r>
            <a:r>
              <a:rPr lang="en-US" dirty="0"/>
              <a:t> = Lower limit / Lower Bound of subscript, if not specified assume 0 (zero)</a:t>
            </a:r>
          </a:p>
          <a:p>
            <a:br>
              <a:rPr lang="en-US" dirty="0"/>
            </a:br>
            <a:br>
              <a:rPr lang="en-US" dirty="0"/>
            </a:br>
            <a:endParaRPr lang="en-US" dirty="0"/>
          </a:p>
        </p:txBody>
      </p:sp>
    </p:spTree>
    <p:extLst>
      <p:ext uri="{BB962C8B-B14F-4D97-AF65-F5344CB8AC3E}">
        <p14:creationId xmlns:p14="http://schemas.microsoft.com/office/powerpoint/2010/main" val="3430443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0"/>
            <a:ext cx="9144000" cy="6858000"/>
          </a:xfrm>
        </p:spPr>
        <p:txBody>
          <a:bodyPr/>
          <a:lstStyle/>
          <a:p>
            <a:r>
              <a:rPr lang="en-US" dirty="0"/>
              <a:t>Given the base address of an array </a:t>
            </a:r>
            <a:r>
              <a:rPr lang="en-US" b="1" dirty="0"/>
              <a:t>B[1300…..1900]</a:t>
            </a:r>
            <a:r>
              <a:rPr lang="en-US" dirty="0"/>
              <a:t> as 1020 and size of each element is 2 bytes in the memory. Find the address of </a:t>
            </a:r>
            <a:r>
              <a:rPr lang="en-US" b="1" dirty="0"/>
              <a:t>B[1700]</a:t>
            </a:r>
            <a:r>
              <a:rPr lang="en-US" dirty="0"/>
              <a:t>.</a:t>
            </a:r>
          </a:p>
          <a:p>
            <a:r>
              <a:rPr lang="en-US" b="1" dirty="0"/>
              <a:t>Solution:</a:t>
            </a:r>
            <a:endParaRPr lang="en-US" dirty="0"/>
          </a:p>
          <a:p>
            <a:r>
              <a:rPr lang="en-US" dirty="0"/>
              <a:t>The given values are: B = 1020, LL = 1300, W = 2, I = 1700</a:t>
            </a:r>
          </a:p>
          <a:p>
            <a:r>
              <a:rPr lang="en-US" b="1" dirty="0"/>
              <a:t>Address of A [ I ] = B + W * ( I – LL )</a:t>
            </a:r>
            <a:endParaRPr lang="en-US" dirty="0"/>
          </a:p>
          <a:p>
            <a:r>
              <a:rPr lang="en-US" dirty="0"/>
              <a:t>= 1020 + 2 * (1700 – 1300)</a:t>
            </a:r>
            <a:br>
              <a:rPr lang="en-US" dirty="0"/>
            </a:br>
            <a:r>
              <a:rPr lang="en-US" dirty="0"/>
              <a:t>= 1020 + 2 * 400</a:t>
            </a:r>
            <a:br>
              <a:rPr lang="en-US" dirty="0"/>
            </a:br>
            <a:r>
              <a:rPr lang="en-US" dirty="0"/>
              <a:t>= 1020 + 800</a:t>
            </a:r>
            <a:br>
              <a:rPr lang="en-US" dirty="0"/>
            </a:br>
            <a:r>
              <a:rPr lang="en-US" dirty="0"/>
              <a:t>= 1820 </a:t>
            </a:r>
            <a:r>
              <a:rPr lang="en-US" b="1" dirty="0"/>
              <a:t>[</a:t>
            </a:r>
            <a:r>
              <a:rPr lang="en-US" b="1" dirty="0" err="1"/>
              <a:t>Ans</a:t>
            </a:r>
            <a:r>
              <a:rPr lang="en-US" b="1" dirty="0"/>
              <a:t>]</a:t>
            </a:r>
            <a:endParaRPr lang="en-US" dirty="0"/>
          </a:p>
          <a:p>
            <a:br>
              <a:rPr lang="en-US" dirty="0"/>
            </a:br>
            <a:br>
              <a:rPr lang="en-US" dirty="0"/>
            </a:br>
            <a:endParaRPr lang="en-US" dirty="0"/>
          </a:p>
        </p:txBody>
      </p:sp>
    </p:spTree>
    <p:extLst>
      <p:ext uri="{BB962C8B-B14F-4D97-AF65-F5344CB8AC3E}">
        <p14:creationId xmlns:p14="http://schemas.microsoft.com/office/powerpoint/2010/main" val="188586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p:cNvSpPr>
            <a:spLocks noGrp="1"/>
          </p:cNvSpPr>
          <p:nvPr>
            <p:ph idx="1"/>
          </p:nvPr>
        </p:nvSpPr>
        <p:spPr>
          <a:xfrm>
            <a:off x="1524000" y="0"/>
            <a:ext cx="9144000" cy="6858000"/>
          </a:xfrm>
        </p:spPr>
        <p:txBody>
          <a:bodyPr/>
          <a:lstStyle/>
          <a:p>
            <a:r>
              <a:rPr lang="en-US" b="1" u="sng"/>
              <a:t>Address Calculation in Double (Two) Dimensional Array:</a:t>
            </a:r>
            <a:endParaRPr lang="en-US" b="1"/>
          </a:p>
          <a:p>
            <a:r>
              <a:rPr lang="en-US"/>
              <a:t>While storing the elements of a 2-D array in memory, these are allocated contiguous memory locations. Therefore, a 2-D array must be linearized so as to enable their storage. </a:t>
            </a:r>
          </a:p>
          <a:p>
            <a:r>
              <a:rPr lang="en-US"/>
              <a:t>There are two alternatives to achieve linearization: </a:t>
            </a:r>
          </a:p>
          <a:p>
            <a:r>
              <a:rPr lang="en-US"/>
              <a:t>Row-Major </a:t>
            </a:r>
          </a:p>
          <a:p>
            <a:r>
              <a:rPr lang="en-US"/>
              <a:t>Column-Major.</a:t>
            </a:r>
            <a:br>
              <a:rPr lang="en-US"/>
            </a:br>
            <a:br>
              <a:rPr lang="en-US"/>
            </a:br>
            <a:endParaRPr lang="en-US"/>
          </a:p>
        </p:txBody>
      </p:sp>
    </p:spTree>
    <p:extLst>
      <p:ext uri="{BB962C8B-B14F-4D97-AF65-F5344CB8AC3E}">
        <p14:creationId xmlns:p14="http://schemas.microsoft.com/office/powerpoint/2010/main" val="24432688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endParaRPr lang="en-US"/>
          </a:p>
        </p:txBody>
      </p:sp>
      <p:pic>
        <p:nvPicPr>
          <p:cNvPr id="68611" name="Content Placeholder 3" descr="two-dimensional-array-memory-address-calculation.jpg"/>
          <p:cNvPicPr>
            <a:picLocks noGrp="1" noChangeAspect="1"/>
          </p:cNvPicPr>
          <p:nvPr>
            <p:ph idx="1"/>
          </p:nvPr>
        </p:nvPicPr>
        <p:blipFill>
          <a:blip r:embed="rId2"/>
          <a:srcRect/>
          <a:stretch>
            <a:fillRect/>
          </a:stretch>
        </p:blipFill>
        <p:spPr>
          <a:xfrm>
            <a:off x="2889250" y="1741488"/>
            <a:ext cx="6413500" cy="4241800"/>
          </a:xfrm>
        </p:spPr>
      </p:pic>
    </p:spTree>
    <p:extLst>
      <p:ext uri="{BB962C8B-B14F-4D97-AF65-F5344CB8AC3E}">
        <p14:creationId xmlns:p14="http://schemas.microsoft.com/office/powerpoint/2010/main" val="3896650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Content Placeholder 3" descr="row-major-column-major-memory-address-calculation.jpg"/>
          <p:cNvPicPr>
            <a:picLocks noGrp="1" noChangeAspect="1"/>
          </p:cNvPicPr>
          <p:nvPr>
            <p:ph idx="1"/>
          </p:nvPr>
        </p:nvPicPr>
        <p:blipFill>
          <a:blip r:embed="rId2"/>
          <a:srcRect/>
          <a:stretch>
            <a:fillRect/>
          </a:stretch>
        </p:blipFill>
        <p:spPr>
          <a:xfrm>
            <a:off x="1981200" y="1793876"/>
            <a:ext cx="8229600" cy="4138613"/>
          </a:xfrm>
        </p:spPr>
      </p:pic>
    </p:spTree>
    <p:extLst>
      <p:ext uri="{BB962C8B-B14F-4D97-AF65-F5344CB8AC3E}">
        <p14:creationId xmlns:p14="http://schemas.microsoft.com/office/powerpoint/2010/main" val="4051070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p:cNvSpPr>
            <a:spLocks noGrp="1"/>
          </p:cNvSpPr>
          <p:nvPr>
            <p:ph idx="1"/>
          </p:nvPr>
        </p:nvSpPr>
        <p:spPr>
          <a:xfrm>
            <a:off x="1524000" y="0"/>
            <a:ext cx="9144000" cy="6858000"/>
          </a:xfrm>
        </p:spPr>
        <p:txBody>
          <a:bodyPr/>
          <a:lstStyle/>
          <a:p>
            <a:r>
              <a:rPr lang="en-US"/>
              <a:t>Address of an element of any array say “</a:t>
            </a:r>
            <a:r>
              <a:rPr lang="en-US" b="1"/>
              <a:t>A[ I ][ J ]</a:t>
            </a:r>
            <a:r>
              <a:rPr lang="en-US"/>
              <a:t>” is calculated in two forms as given:</a:t>
            </a:r>
            <a:br>
              <a:rPr lang="en-US"/>
            </a:br>
            <a:r>
              <a:rPr lang="en-US"/>
              <a:t>(1) Row Major System (2) Column Major System</a:t>
            </a:r>
          </a:p>
          <a:p>
            <a:pPr>
              <a:buFontTx/>
              <a:buNone/>
            </a:pPr>
            <a:r>
              <a:rPr lang="en-US" b="1" u="sng"/>
              <a:t>Row Major System:</a:t>
            </a:r>
            <a:endParaRPr lang="en-US"/>
          </a:p>
          <a:p>
            <a:r>
              <a:rPr lang="en-US"/>
              <a:t>The address of a location in Row Major System is calculated using the following formula:</a:t>
            </a:r>
          </a:p>
          <a:p>
            <a:r>
              <a:rPr lang="en-US" b="1"/>
              <a:t>Address of A [ I ][ J ] = B + W * [ N * ( I – Lr ) + ( J – Lc ) ]</a:t>
            </a:r>
            <a:endParaRPr lang="en-US"/>
          </a:p>
          <a:p>
            <a:pPr>
              <a:buFontTx/>
              <a:buNone/>
            </a:pPr>
            <a:r>
              <a:rPr lang="en-US" b="1" u="sng"/>
              <a:t>Column Major System:</a:t>
            </a:r>
            <a:endParaRPr lang="en-US"/>
          </a:p>
          <a:p>
            <a:r>
              <a:rPr lang="en-US"/>
              <a:t>The address of a location in Column Major System is calculated using the following formula:</a:t>
            </a:r>
          </a:p>
          <a:p>
            <a:r>
              <a:rPr lang="en-US" b="1"/>
              <a:t>Address of A [ I ][ J ] Column Major Wise = B + W * [( I – Lr ) + M * ( J – Lc )]</a:t>
            </a:r>
          </a:p>
          <a:p>
            <a:pPr>
              <a:buFontTx/>
              <a:buNone/>
            </a:pPr>
            <a:br>
              <a:rPr lang="en-US"/>
            </a:br>
            <a:br>
              <a:rPr lang="en-US"/>
            </a:br>
            <a:br>
              <a:rPr lang="en-US"/>
            </a:br>
            <a:endParaRPr lang="en-US"/>
          </a:p>
        </p:txBody>
      </p:sp>
    </p:spTree>
    <p:extLst>
      <p:ext uri="{BB962C8B-B14F-4D97-AF65-F5344CB8AC3E}">
        <p14:creationId xmlns:p14="http://schemas.microsoft.com/office/powerpoint/2010/main" val="739535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p:cNvSpPr>
            <a:spLocks noGrp="1"/>
          </p:cNvSpPr>
          <p:nvPr>
            <p:ph idx="1"/>
          </p:nvPr>
        </p:nvSpPr>
        <p:spPr>
          <a:xfrm>
            <a:off x="1524000" y="0"/>
            <a:ext cx="9144000" cy="6858000"/>
          </a:xfrm>
        </p:spPr>
        <p:txBody>
          <a:bodyPr/>
          <a:lstStyle/>
          <a:p>
            <a:r>
              <a:rPr lang="en-US"/>
              <a:t>Where,</a:t>
            </a:r>
            <a:br>
              <a:rPr lang="en-US"/>
            </a:br>
            <a:r>
              <a:rPr lang="en-US" b="1"/>
              <a:t>B</a:t>
            </a:r>
            <a:r>
              <a:rPr lang="en-US"/>
              <a:t> = Base address</a:t>
            </a:r>
            <a:br>
              <a:rPr lang="en-US"/>
            </a:br>
            <a:r>
              <a:rPr lang="en-US" b="1"/>
              <a:t>I</a:t>
            </a:r>
            <a:r>
              <a:rPr lang="en-US"/>
              <a:t> = Row subscript of element whose address is to be found</a:t>
            </a:r>
            <a:br>
              <a:rPr lang="en-US"/>
            </a:br>
            <a:r>
              <a:rPr lang="en-US" b="1"/>
              <a:t>J</a:t>
            </a:r>
            <a:r>
              <a:rPr lang="en-US"/>
              <a:t> = Column subscript of element whose address is to be found</a:t>
            </a:r>
            <a:br>
              <a:rPr lang="en-US"/>
            </a:br>
            <a:r>
              <a:rPr lang="en-US" b="1"/>
              <a:t>W</a:t>
            </a:r>
            <a:r>
              <a:rPr lang="en-US"/>
              <a:t> = Storage Size of one element stored in the array (in byte)</a:t>
            </a:r>
            <a:br>
              <a:rPr lang="en-US"/>
            </a:br>
            <a:r>
              <a:rPr lang="en-US" b="1"/>
              <a:t>Lr</a:t>
            </a:r>
            <a:r>
              <a:rPr lang="en-US"/>
              <a:t> = Lower limit of row/start row index of matrix, if not given assume 0 (zero)</a:t>
            </a:r>
            <a:br>
              <a:rPr lang="en-US"/>
            </a:br>
            <a:r>
              <a:rPr lang="en-US" b="1"/>
              <a:t>Lc</a:t>
            </a:r>
            <a:r>
              <a:rPr lang="en-US"/>
              <a:t> = Lower limit of column/start column index of matrix, if not given assume 0 (zero)</a:t>
            </a:r>
            <a:br>
              <a:rPr lang="en-US"/>
            </a:br>
            <a:r>
              <a:rPr lang="en-US" b="1"/>
              <a:t>M</a:t>
            </a:r>
            <a:r>
              <a:rPr lang="en-US"/>
              <a:t> = Number of row of the given matrix</a:t>
            </a:r>
            <a:br>
              <a:rPr lang="en-US"/>
            </a:br>
            <a:r>
              <a:rPr lang="en-US" b="1"/>
              <a:t>N</a:t>
            </a:r>
            <a:r>
              <a:rPr lang="en-US"/>
              <a:t> = Number of column of the given matrix</a:t>
            </a:r>
          </a:p>
          <a:p>
            <a:r>
              <a:rPr lang="en-US"/>
              <a:t>Usually number of rows and columns of a matrix are given ( like A[20][30] or A[40][60] ) but if it is given as </a:t>
            </a:r>
            <a:r>
              <a:rPr lang="en-US" b="1"/>
              <a:t>A[Lr- – – – – Ur, Lc- – – – – Uc]</a:t>
            </a:r>
            <a:r>
              <a:rPr lang="en-US"/>
              <a:t>. In this case number of rows and columns are calculated as:</a:t>
            </a:r>
          </a:p>
          <a:p>
            <a:r>
              <a:rPr lang="en-US"/>
              <a:t>Number of rows (</a:t>
            </a:r>
            <a:r>
              <a:rPr lang="en-US" b="1"/>
              <a:t>M</a:t>
            </a:r>
            <a:r>
              <a:rPr lang="en-US"/>
              <a:t>) will be calculated as = </a:t>
            </a:r>
            <a:r>
              <a:rPr lang="en-US" b="1"/>
              <a:t>(Ur – Lr) + 1</a:t>
            </a:r>
          </a:p>
          <a:p>
            <a:r>
              <a:rPr lang="en-US"/>
              <a:t>Number of columns (</a:t>
            </a:r>
            <a:r>
              <a:rPr lang="en-US" b="1"/>
              <a:t>N</a:t>
            </a:r>
            <a:r>
              <a:rPr lang="en-US"/>
              <a:t>) will be calculated as = </a:t>
            </a:r>
            <a:r>
              <a:rPr lang="en-US" b="1"/>
              <a:t>(Uc – Lc) + 1</a:t>
            </a:r>
          </a:p>
          <a:p>
            <a:r>
              <a:rPr lang="en-US"/>
              <a:t>Number of elements in the array will be calculated as=M x N</a:t>
            </a:r>
            <a:br>
              <a:rPr lang="en-US"/>
            </a:br>
            <a:endParaRPr lang="en-US"/>
          </a:p>
        </p:txBody>
      </p:sp>
    </p:spTree>
    <p:extLst>
      <p:ext uri="{BB962C8B-B14F-4D97-AF65-F5344CB8AC3E}">
        <p14:creationId xmlns:p14="http://schemas.microsoft.com/office/powerpoint/2010/main" val="1358541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0"/>
            <a:ext cx="9144000" cy="6858000"/>
          </a:xfrm>
        </p:spPr>
        <p:txBody>
          <a:bodyPr/>
          <a:lstStyle/>
          <a:p>
            <a:r>
              <a:rPr lang="en-US" b="1" dirty="0"/>
              <a:t>Q 1</a:t>
            </a:r>
            <a:r>
              <a:rPr lang="en-US" dirty="0"/>
              <a:t>. An array X [-15……….10, 15……………40] requires one byte of storage. If beginning location is 1500 determine the location of X [15][20].</a:t>
            </a:r>
          </a:p>
          <a:p>
            <a:r>
              <a:rPr lang="en-US" b="1" dirty="0"/>
              <a:t>Solution:</a:t>
            </a:r>
            <a:endParaRPr lang="en-US" dirty="0"/>
          </a:p>
          <a:p>
            <a:r>
              <a:rPr lang="en-US" dirty="0"/>
              <a:t>As you see here the number of rows and columns are not given in the question. So they are calculated as:</a:t>
            </a:r>
          </a:p>
          <a:p>
            <a:r>
              <a:rPr lang="en-US" dirty="0"/>
              <a:t>Number or rows say </a:t>
            </a:r>
            <a:r>
              <a:rPr lang="en-US" b="1" dirty="0"/>
              <a:t>M = (Ur – </a:t>
            </a:r>
            <a:r>
              <a:rPr lang="en-US" b="1" dirty="0" err="1"/>
              <a:t>Lr</a:t>
            </a:r>
            <a:r>
              <a:rPr lang="en-US" b="1" dirty="0"/>
              <a:t>) + 1</a:t>
            </a:r>
            <a:r>
              <a:rPr lang="en-US" dirty="0"/>
              <a:t> = [10 – (- 15)] +1 = 26</a:t>
            </a:r>
            <a:br>
              <a:rPr lang="en-US" dirty="0"/>
            </a:br>
            <a:r>
              <a:rPr lang="en-US" dirty="0"/>
              <a:t>Number or columns say </a:t>
            </a:r>
            <a:r>
              <a:rPr lang="en-US" b="1" dirty="0"/>
              <a:t>N = (</a:t>
            </a:r>
            <a:r>
              <a:rPr lang="en-US" b="1" dirty="0" err="1"/>
              <a:t>Uc</a:t>
            </a:r>
            <a:r>
              <a:rPr lang="en-US" b="1" dirty="0"/>
              <a:t> – </a:t>
            </a:r>
            <a:r>
              <a:rPr lang="en-US" b="1" dirty="0" err="1"/>
              <a:t>Lc</a:t>
            </a:r>
            <a:r>
              <a:rPr lang="en-US" b="1" dirty="0"/>
              <a:t>) + 1</a:t>
            </a:r>
            <a:r>
              <a:rPr lang="en-US" dirty="0"/>
              <a:t> = [40 – 15)] +1 = 26</a:t>
            </a:r>
          </a:p>
          <a:p>
            <a:r>
              <a:rPr lang="en-US" b="1" dirty="0"/>
              <a:t>(</a:t>
            </a:r>
            <a:r>
              <a:rPr lang="en-US" b="1" dirty="0" err="1"/>
              <a:t>i</a:t>
            </a:r>
            <a:r>
              <a:rPr lang="en-US" b="1" dirty="0"/>
              <a:t>) Column Major Wise Calculation of above equation</a:t>
            </a:r>
            <a:endParaRPr lang="en-US" dirty="0"/>
          </a:p>
          <a:p>
            <a:r>
              <a:rPr lang="en-US" dirty="0"/>
              <a:t>The given values are: B = 1500, W = 1 byte, I = 15, J = 20, </a:t>
            </a:r>
            <a:r>
              <a:rPr lang="en-US" dirty="0" err="1"/>
              <a:t>Lr</a:t>
            </a:r>
            <a:r>
              <a:rPr lang="en-US" dirty="0"/>
              <a:t> = -15, </a:t>
            </a:r>
            <a:r>
              <a:rPr lang="en-US" dirty="0" err="1"/>
              <a:t>Lc</a:t>
            </a:r>
            <a:r>
              <a:rPr lang="en-US" dirty="0"/>
              <a:t> = 15, M = 26</a:t>
            </a:r>
          </a:p>
          <a:p>
            <a:r>
              <a:rPr lang="en-US" dirty="0"/>
              <a:t>Address of A [ I ][ J ] = B + W * [ ( I – </a:t>
            </a:r>
            <a:r>
              <a:rPr lang="en-US" dirty="0" err="1"/>
              <a:t>Lr</a:t>
            </a:r>
            <a:r>
              <a:rPr lang="en-US" dirty="0"/>
              <a:t> ) + M * ( J – </a:t>
            </a:r>
            <a:r>
              <a:rPr lang="en-US" dirty="0" err="1"/>
              <a:t>Lc</a:t>
            </a:r>
            <a:r>
              <a:rPr lang="en-US" dirty="0"/>
              <a:t> ) ]</a:t>
            </a:r>
          </a:p>
          <a:p>
            <a:r>
              <a:rPr lang="en-US" dirty="0"/>
              <a:t>= 1500 + 1 * [(15 – (-15)) + 26 * (20 – 15)]</a:t>
            </a:r>
            <a:br>
              <a:rPr lang="en-US" dirty="0"/>
            </a:br>
            <a:r>
              <a:rPr lang="en-US" dirty="0"/>
              <a:t>= 1500 + 1 * [30 + 26 * 5]</a:t>
            </a:r>
            <a:br>
              <a:rPr lang="en-US" dirty="0"/>
            </a:br>
            <a:r>
              <a:rPr lang="en-US" dirty="0"/>
              <a:t>= 1500 + 1 * [160]</a:t>
            </a:r>
            <a:br>
              <a:rPr lang="en-US" dirty="0"/>
            </a:br>
            <a:r>
              <a:rPr lang="en-US" dirty="0"/>
              <a:t>= 1660 </a:t>
            </a:r>
            <a:r>
              <a:rPr lang="en-US" b="1" dirty="0"/>
              <a:t>[Ans]</a:t>
            </a:r>
            <a:endParaRPr lang="en-US" dirty="0"/>
          </a:p>
          <a:p>
            <a:pPr>
              <a:buFontTx/>
              <a:buNone/>
            </a:pPr>
            <a:br>
              <a:rPr lang="en-US" dirty="0"/>
            </a:br>
            <a:br>
              <a:rPr lang="en-US" dirty="0"/>
            </a:br>
            <a:endParaRPr lang="en-US" dirty="0"/>
          </a:p>
        </p:txBody>
      </p:sp>
    </p:spTree>
    <p:extLst>
      <p:ext uri="{BB962C8B-B14F-4D97-AF65-F5344CB8AC3E}">
        <p14:creationId xmlns:p14="http://schemas.microsoft.com/office/powerpoint/2010/main" val="208080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2"/>
          <p:cNvSpPr>
            <a:spLocks noGrp="1"/>
          </p:cNvSpPr>
          <p:nvPr>
            <p:ph idx="1"/>
          </p:nvPr>
        </p:nvSpPr>
        <p:spPr/>
        <p:txBody>
          <a:bodyPr/>
          <a:lstStyle/>
          <a:p>
            <a:r>
              <a:rPr lang="en-US" b="1"/>
              <a:t>(ii) Row Major Wise Calculation of above equation</a:t>
            </a:r>
            <a:endParaRPr lang="en-US"/>
          </a:p>
          <a:p>
            <a:r>
              <a:rPr lang="en-US"/>
              <a:t>The given values are: B = 1500, W = 1 byte, I = 15, J = 20, Lr = -15, Lc = 15, N = 26</a:t>
            </a:r>
          </a:p>
          <a:p>
            <a:r>
              <a:rPr lang="en-US"/>
              <a:t>Address of A [ I ][ J ] = B + W * [ N * ( I – Lr ) + ( J – Lc ) ]</a:t>
            </a:r>
          </a:p>
          <a:p>
            <a:r>
              <a:rPr lang="en-US"/>
              <a:t>= 1500 + 1* [26 * (15 – (-15))) + (20 – 15)]</a:t>
            </a:r>
            <a:br>
              <a:rPr lang="en-US"/>
            </a:br>
            <a:r>
              <a:rPr lang="en-US"/>
              <a:t>= 1500 + 1 * [26 * 30 + 5]</a:t>
            </a:r>
            <a:br>
              <a:rPr lang="en-US"/>
            </a:br>
            <a:r>
              <a:rPr lang="en-US"/>
              <a:t>= 1500 + 1 * [780 + 5]</a:t>
            </a:r>
            <a:br>
              <a:rPr lang="en-US"/>
            </a:br>
            <a:r>
              <a:rPr lang="en-US"/>
              <a:t>= 1500 + 785</a:t>
            </a:r>
            <a:br>
              <a:rPr lang="en-US"/>
            </a:br>
            <a:r>
              <a:rPr lang="en-US"/>
              <a:t>= 2285 </a:t>
            </a:r>
            <a:r>
              <a:rPr lang="en-US" b="1"/>
              <a:t>[Ans]</a:t>
            </a:r>
            <a:endParaRPr lang="en-US"/>
          </a:p>
          <a:p>
            <a:endParaRPr lang="en-US"/>
          </a:p>
        </p:txBody>
      </p:sp>
    </p:spTree>
    <p:extLst>
      <p:ext uri="{BB962C8B-B14F-4D97-AF65-F5344CB8AC3E}">
        <p14:creationId xmlns:p14="http://schemas.microsoft.com/office/powerpoint/2010/main" val="13357164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524000" y="0"/>
            <a:ext cx="9144000" cy="609600"/>
          </a:xfrm>
        </p:spPr>
        <p:txBody>
          <a:bodyPr/>
          <a:lstStyle/>
          <a:p>
            <a:pPr eaLnBrk="1" hangingPunct="1"/>
            <a:r>
              <a:rPr lang="en-US" b="1"/>
              <a:t>Sorting Techniques in Array</a:t>
            </a:r>
          </a:p>
        </p:txBody>
      </p:sp>
      <p:sp>
        <p:nvSpPr>
          <p:cNvPr id="74755" name="Rectangle 3"/>
          <p:cNvSpPr>
            <a:spLocks noGrp="1" noChangeArrowheads="1"/>
          </p:cNvSpPr>
          <p:nvPr>
            <p:ph type="body" idx="1"/>
          </p:nvPr>
        </p:nvSpPr>
        <p:spPr>
          <a:xfrm>
            <a:off x="1524000" y="609600"/>
            <a:ext cx="9144000" cy="6248400"/>
          </a:xfrm>
        </p:spPr>
        <p:txBody>
          <a:bodyPr/>
          <a:lstStyle/>
          <a:p>
            <a:pPr eaLnBrk="1" hangingPunct="1"/>
            <a:r>
              <a:rPr lang="en-US"/>
              <a:t>Bubble sort method- The bubble sort method requires n-1 passes to sort an array where n is the  size of array. In each pass, every element of the array a[i] is compared with a[i+1] for i=0 to n-k where k is the pass number. If a[i]&gt;a[i+1], they are swapped. This will cause largest element to move or bubble up.</a:t>
            </a:r>
          </a:p>
        </p:txBody>
      </p:sp>
    </p:spTree>
    <p:extLst>
      <p:ext uri="{BB962C8B-B14F-4D97-AF65-F5344CB8AC3E}">
        <p14:creationId xmlns:p14="http://schemas.microsoft.com/office/powerpoint/2010/main" val="19316728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a:xfrm>
            <a:off x="1524000" y="0"/>
            <a:ext cx="9144000" cy="6858000"/>
          </a:xfrm>
        </p:spPr>
        <p:txBody>
          <a:bodyPr/>
          <a:lstStyle/>
          <a:p>
            <a:pPr eaLnBrk="1" hangingPunct="1"/>
            <a:r>
              <a:rPr lang="en-US"/>
              <a:t>Algorithm: </a:t>
            </a:r>
            <a:r>
              <a:rPr lang="en-US" b="1"/>
              <a:t>BUBBLE(DATA, N)</a:t>
            </a:r>
          </a:p>
          <a:p>
            <a:pPr eaLnBrk="1" hangingPunct="1">
              <a:buFontTx/>
              <a:buNone/>
            </a:pPr>
            <a:r>
              <a:rPr lang="en-US"/>
              <a:t>                       Here DATA is an array with N elements. This</a:t>
            </a:r>
          </a:p>
          <a:p>
            <a:pPr eaLnBrk="1" hangingPunct="1">
              <a:buFontTx/>
              <a:buNone/>
            </a:pPr>
            <a:r>
              <a:rPr lang="en-US"/>
              <a:t>                       algorithm sorts the elements in DATA.</a:t>
            </a:r>
          </a:p>
          <a:p>
            <a:pPr eaLnBrk="1" hangingPunct="1"/>
            <a:r>
              <a:rPr lang="en-US"/>
              <a:t>Step 1: Repeat step 2 and 3 for K=1 to N-1:</a:t>
            </a:r>
          </a:p>
          <a:p>
            <a:pPr eaLnBrk="1" hangingPunct="1"/>
            <a:r>
              <a:rPr lang="en-US"/>
              <a:t>Step 2: [Initialize pass pointer PTR] Set PTR:=1</a:t>
            </a:r>
          </a:p>
          <a:p>
            <a:pPr eaLnBrk="1" hangingPunct="1"/>
            <a:r>
              <a:rPr lang="en-US"/>
              <a:t>Step 3:[Execute Pass] Repeat while PTR </a:t>
            </a:r>
            <a:r>
              <a:rPr lang="en-US">
                <a:cs typeface="Times New Roman" pitchFamily="18" charset="0"/>
              </a:rPr>
              <a:t>≤ N-K</a:t>
            </a:r>
          </a:p>
          <a:p>
            <a:pPr eaLnBrk="1" hangingPunct="1"/>
            <a:r>
              <a:rPr lang="en-US">
                <a:cs typeface="Times New Roman" pitchFamily="18" charset="0"/>
              </a:rPr>
              <a:t>            	IF DATA[PTR] &gt; DATA[PTR + 1], then:</a:t>
            </a:r>
          </a:p>
          <a:p>
            <a:pPr lvl="1" eaLnBrk="1" hangingPunct="1">
              <a:buFontTx/>
              <a:buNone/>
            </a:pPr>
            <a:r>
              <a:rPr lang="en-US">
                <a:cs typeface="Times New Roman" pitchFamily="18" charset="0"/>
              </a:rPr>
              <a:t>                 Interchange DATA[PTR] and DATA[PTR + 1]</a:t>
            </a:r>
          </a:p>
          <a:p>
            <a:pPr eaLnBrk="1" hangingPunct="1">
              <a:buFontTx/>
              <a:buNone/>
            </a:pPr>
            <a:r>
              <a:rPr lang="en-US">
                <a:cs typeface="Times New Roman" pitchFamily="18" charset="0"/>
              </a:rPr>
              <a:t>     	           [End of If structure]</a:t>
            </a:r>
            <a:r>
              <a:rPr lang="en-US"/>
              <a:t>       </a:t>
            </a:r>
          </a:p>
          <a:p>
            <a:pPr eaLnBrk="1" hangingPunct="1">
              <a:buFontTx/>
              <a:buNone/>
            </a:pPr>
            <a:r>
              <a:rPr lang="en-US"/>
              <a:t>              Set PTR:=PTR +1</a:t>
            </a:r>
          </a:p>
          <a:p>
            <a:pPr eaLnBrk="1" hangingPunct="1">
              <a:buFontTx/>
              <a:buNone/>
            </a:pPr>
            <a:r>
              <a:rPr lang="en-US"/>
              <a:t>              [End of Step 3 loop]</a:t>
            </a:r>
          </a:p>
          <a:p>
            <a:pPr eaLnBrk="1" hangingPunct="1">
              <a:buFontTx/>
              <a:buNone/>
            </a:pPr>
            <a:r>
              <a:rPr lang="en-US"/>
              <a:t>              [End of Step 1 Loop]               </a:t>
            </a:r>
          </a:p>
          <a:p>
            <a:pPr eaLnBrk="1" hangingPunct="1"/>
            <a:r>
              <a:rPr lang="en-US"/>
              <a:t>Step 4: Return</a:t>
            </a:r>
          </a:p>
        </p:txBody>
      </p:sp>
    </p:spTree>
    <p:extLst>
      <p:ext uri="{BB962C8B-B14F-4D97-AF65-F5344CB8AC3E}">
        <p14:creationId xmlns:p14="http://schemas.microsoft.com/office/powerpoint/2010/main" val="12980777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type="body" idx="1"/>
          </p:nvPr>
        </p:nvSpPr>
        <p:spPr>
          <a:xfrm>
            <a:off x="1524000" y="0"/>
            <a:ext cx="9144000" cy="6858000"/>
          </a:xfrm>
        </p:spPr>
        <p:txBody>
          <a:bodyPr/>
          <a:lstStyle/>
          <a:p>
            <a:pPr eaLnBrk="1" hangingPunct="1"/>
            <a:r>
              <a:rPr lang="en-US" dirty="0"/>
              <a:t>Complexity analysis of Bubble sort method: Traditionally, time for sorting an array is measured in terms of number of comparisons. The number f(n) of comparisons in bubble sort is easily computed. Specifically, there are n-1 comparisons during first pass, n-2 comparisons in second pass and so on.</a:t>
            </a:r>
          </a:p>
          <a:p>
            <a:pPr eaLnBrk="1" hangingPunct="1">
              <a:buFontTx/>
              <a:buNone/>
            </a:pPr>
            <a:r>
              <a:rPr lang="en-US" dirty="0"/>
              <a:t>     Thus, f(n)=(n-1) +(n-2) +-------+2+1</a:t>
            </a:r>
          </a:p>
          <a:p>
            <a:pPr eaLnBrk="1" hangingPunct="1">
              <a:buFontTx/>
              <a:buNone/>
            </a:pPr>
            <a:r>
              <a:rPr lang="en-US" dirty="0"/>
              <a:t>                    = n(n-1)/2 = n</a:t>
            </a:r>
            <a:r>
              <a:rPr lang="en-US" baseline="30000" dirty="0"/>
              <a:t>2 </a:t>
            </a:r>
            <a:r>
              <a:rPr lang="en-US" dirty="0"/>
              <a:t>/ 2 – n/2</a:t>
            </a:r>
          </a:p>
          <a:p>
            <a:pPr eaLnBrk="1" hangingPunct="1">
              <a:buFontTx/>
              <a:buNone/>
            </a:pPr>
            <a:r>
              <a:rPr lang="en-US" dirty="0"/>
              <a:t>                    = O(n</a:t>
            </a:r>
            <a:r>
              <a:rPr lang="en-US" baseline="30000" dirty="0"/>
              <a:t>2</a:t>
            </a:r>
            <a:r>
              <a:rPr lang="en-US" dirty="0"/>
              <a:t>)</a:t>
            </a:r>
          </a:p>
          <a:p>
            <a:pPr eaLnBrk="1" hangingPunct="1">
              <a:buFontTx/>
              <a:buNone/>
            </a:pPr>
            <a:r>
              <a:rPr lang="en-US" dirty="0"/>
              <a:t>    Thus time required to sort an array using bubble sort method is proportional to n</a:t>
            </a:r>
            <a:r>
              <a:rPr lang="en-US" baseline="30000" dirty="0"/>
              <a:t>2</a:t>
            </a:r>
            <a:r>
              <a:rPr lang="en-US" dirty="0"/>
              <a:t> where n is number of input items. Thus complexity of bubble sort is O(n</a:t>
            </a:r>
            <a:r>
              <a:rPr lang="en-US" baseline="30000" dirty="0"/>
              <a:t>2</a:t>
            </a:r>
            <a:r>
              <a:rPr lang="en-US" dirty="0"/>
              <a:t>). This complexity remains same in both worst case and average case. Best case complexity of bubble sort is O(n).</a:t>
            </a:r>
          </a:p>
          <a:p>
            <a:pPr eaLnBrk="1" hangingPunct="1">
              <a:buFontTx/>
              <a:buNone/>
            </a:pPr>
            <a:r>
              <a:rPr lang="en-US" dirty="0"/>
              <a:t>    Bubble sort is not considered to be a good sorting algorithm for large value of n . </a:t>
            </a:r>
          </a:p>
        </p:txBody>
      </p:sp>
    </p:spTree>
    <p:extLst>
      <p:ext uri="{BB962C8B-B14F-4D97-AF65-F5344CB8AC3E}">
        <p14:creationId xmlns:p14="http://schemas.microsoft.com/office/powerpoint/2010/main" val="14920950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p:cNvPicPr>
            <a:picLocks noGrp="1" noChangeAspect="1" noChangeArrowheads="1"/>
          </p:cNvPicPr>
          <p:nvPr>
            <p:ph idx="1"/>
          </p:nvPr>
        </p:nvPicPr>
        <p:blipFill>
          <a:blip r:embed="rId2"/>
          <a:srcRect/>
          <a:stretch>
            <a:fillRect/>
          </a:stretch>
        </p:blipFill>
        <p:spPr>
          <a:xfrm>
            <a:off x="1649414" y="1"/>
            <a:ext cx="8256587" cy="6823075"/>
          </a:xfrm>
          <a:noFill/>
        </p:spPr>
      </p:pic>
    </p:spTree>
    <p:extLst>
      <p:ext uri="{BB962C8B-B14F-4D97-AF65-F5344CB8AC3E}">
        <p14:creationId xmlns:p14="http://schemas.microsoft.com/office/powerpoint/2010/main" val="4283855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Grp="1" noChangeAspect="1" noChangeArrowheads="1"/>
          </p:cNvPicPr>
          <p:nvPr>
            <p:ph idx="1"/>
          </p:nvPr>
        </p:nvPicPr>
        <p:blipFill>
          <a:blip r:embed="rId2"/>
          <a:srcRect/>
          <a:stretch>
            <a:fillRect/>
          </a:stretch>
        </p:blipFill>
        <p:spPr>
          <a:xfrm>
            <a:off x="2030414" y="457201"/>
            <a:ext cx="7418387" cy="6215063"/>
          </a:xfrm>
          <a:noFill/>
        </p:spPr>
      </p:pic>
      <p:cxnSp>
        <p:nvCxnSpPr>
          <p:cNvPr id="4" name="Straight Arrow Connector 3"/>
          <p:cNvCxnSpPr/>
          <p:nvPr/>
        </p:nvCxnSpPr>
        <p:spPr>
          <a:xfrm rot="5400000" flipH="1" flipV="1">
            <a:off x="2476500" y="1866900"/>
            <a:ext cx="914400" cy="228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362200" y="990600"/>
            <a:ext cx="2057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Time taken by inner loop to execute</a:t>
            </a:r>
            <a:endParaRPr kumimoji="0" lang="en-IN" sz="1800" b="0" i="0" u="none" strike="noStrike" kern="1200" cap="none" spc="0" normalizeH="0" baseline="0" noProof="0" dirty="0">
              <a:ln>
                <a:noFill/>
              </a:ln>
              <a:solidFill>
                <a:srgbClr val="000000"/>
              </a:solidFill>
              <a:effectLst/>
              <a:uLnTx/>
              <a:uFillTx/>
              <a:latin typeface="Times New Roman"/>
              <a:ea typeface="+mn-ea"/>
              <a:cs typeface="+mn-cs"/>
            </a:endParaRPr>
          </a:p>
        </p:txBody>
      </p:sp>
      <p:cxnSp>
        <p:nvCxnSpPr>
          <p:cNvPr id="7" name="Straight Arrow Connector 6"/>
          <p:cNvCxnSpPr/>
          <p:nvPr/>
        </p:nvCxnSpPr>
        <p:spPr>
          <a:xfrm flipV="1">
            <a:off x="6400800" y="2057400"/>
            <a:ext cx="1371600" cy="3810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848600" y="1524000"/>
            <a:ext cx="13716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Time taken by outer loop to execute</a:t>
            </a:r>
            <a:endParaRPr kumimoji="0" lang="en-IN" sz="1800" b="0" i="0" u="none" strike="noStrike" kern="1200" cap="none" spc="0" normalizeH="0" baseline="0" noProof="0" dirty="0">
              <a:ln>
                <a:noFill/>
              </a:ln>
              <a:solidFill>
                <a:srgbClr val="000000"/>
              </a:solidFill>
              <a:effectLst/>
              <a:uLnTx/>
              <a:uFillTx/>
              <a:latin typeface="Times New Roman"/>
              <a:ea typeface="+mn-ea"/>
              <a:cs typeface="+mn-cs"/>
            </a:endParaRPr>
          </a:p>
        </p:txBody>
      </p:sp>
      <p:cxnSp>
        <p:nvCxnSpPr>
          <p:cNvPr id="10" name="Straight Arrow Connector 9"/>
          <p:cNvCxnSpPr/>
          <p:nvPr/>
        </p:nvCxnSpPr>
        <p:spPr>
          <a:xfrm rot="5400000" flipH="1" flipV="1">
            <a:off x="5600700" y="1790700"/>
            <a:ext cx="914400" cy="228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943600" y="609600"/>
            <a:ext cx="15240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0000"/>
                </a:solidFill>
                <a:effectLst/>
                <a:uLnTx/>
                <a:uFillTx/>
                <a:latin typeface="Times New Roman"/>
                <a:ea typeface="+mn-ea"/>
                <a:cs typeface="+mn-cs"/>
              </a:rPr>
              <a:t>Intialization</a:t>
            </a: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time of variables</a:t>
            </a:r>
            <a:endParaRPr kumimoji="0" lang="en-IN" sz="1800" b="0" i="0" u="none" strike="noStrike" kern="1200" cap="none" spc="0" normalizeH="0" baseline="0" noProof="0" dirty="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9398080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a:xfrm>
            <a:off x="1524000" y="0"/>
            <a:ext cx="9144000" cy="6858000"/>
          </a:xfrm>
        </p:spPr>
        <p:txBody>
          <a:bodyPr/>
          <a:lstStyle/>
          <a:p>
            <a:pPr eaLnBrk="1" hangingPunct="1"/>
            <a:r>
              <a:rPr lang="en-US" dirty="0"/>
              <a:t>Algorithm: </a:t>
            </a:r>
            <a:r>
              <a:rPr lang="en-US" b="1" dirty="0"/>
              <a:t>BUBBLE_BESTCASE(DATA, N)</a:t>
            </a:r>
          </a:p>
          <a:p>
            <a:pPr eaLnBrk="1" hangingPunct="1">
              <a:buFontTx/>
              <a:buNone/>
            </a:pPr>
            <a:r>
              <a:rPr lang="en-US" sz="2200" dirty="0"/>
              <a:t>                       Here DATA is an array with N elements. This</a:t>
            </a:r>
          </a:p>
          <a:p>
            <a:pPr eaLnBrk="1" hangingPunct="1">
              <a:buFontTx/>
              <a:buNone/>
            </a:pPr>
            <a:r>
              <a:rPr lang="en-US" sz="2200" dirty="0"/>
              <a:t>                       algorithm sorts the elements in DATA.</a:t>
            </a:r>
          </a:p>
          <a:p>
            <a:pPr eaLnBrk="1" hangingPunct="1"/>
            <a:r>
              <a:rPr lang="en-US" sz="2200" dirty="0"/>
              <a:t>Step 1: Repeat step 2 and 3 for K=1 to N-1:</a:t>
            </a:r>
          </a:p>
          <a:p>
            <a:pPr eaLnBrk="1" hangingPunct="1"/>
            <a:r>
              <a:rPr lang="en-US" sz="2200" dirty="0"/>
              <a:t>Step 2: [Initialize pass pointer PTR] Set PTR:=1</a:t>
            </a:r>
          </a:p>
          <a:p>
            <a:pPr marL="0" indent="0" eaLnBrk="1" hangingPunct="1">
              <a:buNone/>
            </a:pPr>
            <a:r>
              <a:rPr lang="en-US" sz="2200" dirty="0"/>
              <a:t>                                                                </a:t>
            </a:r>
            <a:r>
              <a:rPr lang="en-US" sz="2200" b="1" dirty="0"/>
              <a:t>Set FLAG:=0</a:t>
            </a:r>
          </a:p>
          <a:p>
            <a:pPr eaLnBrk="1" hangingPunct="1"/>
            <a:r>
              <a:rPr lang="en-US" sz="2200" dirty="0"/>
              <a:t>Step 3:[Execute Pass] Repeat while PTR </a:t>
            </a:r>
            <a:r>
              <a:rPr lang="en-US" sz="2200" dirty="0">
                <a:cs typeface="Times New Roman" pitchFamily="18" charset="0"/>
              </a:rPr>
              <a:t>≤ N-K </a:t>
            </a:r>
          </a:p>
          <a:p>
            <a:pPr eaLnBrk="1" hangingPunct="1"/>
            <a:r>
              <a:rPr lang="en-US" sz="2200" dirty="0">
                <a:cs typeface="Times New Roman" pitchFamily="18" charset="0"/>
              </a:rPr>
              <a:t>            	IF DATA[PTR] &gt; DATA[PTR + 1], then:</a:t>
            </a:r>
          </a:p>
          <a:p>
            <a:pPr eaLnBrk="1" hangingPunct="1"/>
            <a:r>
              <a:rPr lang="en-US" sz="2200" dirty="0">
                <a:cs typeface="Times New Roman" pitchFamily="18" charset="0"/>
              </a:rPr>
              <a:t>                          S</a:t>
            </a:r>
            <a:r>
              <a:rPr lang="en-US" sz="2200" b="1" dirty="0">
                <a:cs typeface="Times New Roman" pitchFamily="18" charset="0"/>
              </a:rPr>
              <a:t>ET FLAG:=1</a:t>
            </a:r>
          </a:p>
          <a:p>
            <a:pPr lvl="1" eaLnBrk="1" hangingPunct="1">
              <a:buFontTx/>
              <a:buNone/>
            </a:pPr>
            <a:r>
              <a:rPr lang="en-US" sz="2200" dirty="0">
                <a:cs typeface="Times New Roman" pitchFamily="18" charset="0"/>
              </a:rPr>
              <a:t>                 Interchange DATA[PTR] and DATA[PTR + 1]</a:t>
            </a:r>
          </a:p>
          <a:p>
            <a:pPr eaLnBrk="1" hangingPunct="1">
              <a:buFontTx/>
              <a:buNone/>
            </a:pPr>
            <a:r>
              <a:rPr lang="en-US" sz="2200" dirty="0">
                <a:cs typeface="Times New Roman" pitchFamily="18" charset="0"/>
              </a:rPr>
              <a:t>     	           [End of If structure]</a:t>
            </a:r>
            <a:r>
              <a:rPr lang="en-US" sz="2200" dirty="0"/>
              <a:t>       </a:t>
            </a:r>
          </a:p>
          <a:p>
            <a:pPr eaLnBrk="1" hangingPunct="1">
              <a:buFontTx/>
              <a:buNone/>
            </a:pPr>
            <a:r>
              <a:rPr lang="en-US" sz="2200" dirty="0"/>
              <a:t>              Set PTR:=PTR +1</a:t>
            </a:r>
          </a:p>
          <a:p>
            <a:pPr eaLnBrk="1" hangingPunct="1">
              <a:buFontTx/>
              <a:buNone/>
            </a:pPr>
            <a:r>
              <a:rPr lang="en-US" sz="2200" dirty="0"/>
              <a:t>              [End of Step 3 loop]</a:t>
            </a:r>
          </a:p>
          <a:p>
            <a:pPr eaLnBrk="1" hangingPunct="1">
              <a:buFontTx/>
              <a:buNone/>
            </a:pPr>
            <a:r>
              <a:rPr lang="en-US" sz="2200" dirty="0"/>
              <a:t>              </a:t>
            </a:r>
            <a:r>
              <a:rPr lang="en-US" sz="2200" b="1"/>
              <a:t>IF FLAG=0</a:t>
            </a:r>
            <a:r>
              <a:rPr lang="en-US" sz="2200" b="1" dirty="0"/>
              <a:t>,then:</a:t>
            </a:r>
          </a:p>
          <a:p>
            <a:pPr eaLnBrk="1" hangingPunct="1">
              <a:buFontTx/>
              <a:buNone/>
            </a:pPr>
            <a:r>
              <a:rPr lang="en-US" sz="2200" b="1" dirty="0"/>
              <a:t>              Return</a:t>
            </a:r>
          </a:p>
          <a:p>
            <a:pPr eaLnBrk="1" hangingPunct="1">
              <a:buFontTx/>
              <a:buNone/>
            </a:pPr>
            <a:r>
              <a:rPr lang="en-US" sz="2200" dirty="0"/>
              <a:t>              [End of Step 1 Loop]               </a:t>
            </a:r>
          </a:p>
          <a:p>
            <a:pPr eaLnBrk="1" hangingPunct="1"/>
            <a:r>
              <a:rPr lang="en-US" sz="2200" dirty="0"/>
              <a:t>Step 4: Return</a:t>
            </a:r>
          </a:p>
        </p:txBody>
      </p:sp>
    </p:spTree>
    <p:extLst>
      <p:ext uri="{BB962C8B-B14F-4D97-AF65-F5344CB8AC3E}">
        <p14:creationId xmlns:p14="http://schemas.microsoft.com/office/powerpoint/2010/main" val="24009148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type="body" idx="1"/>
          </p:nvPr>
        </p:nvSpPr>
        <p:spPr>
          <a:xfrm>
            <a:off x="1524000" y="0"/>
            <a:ext cx="9144000" cy="6858000"/>
          </a:xfrm>
        </p:spPr>
        <p:txBody>
          <a:bodyPr/>
          <a:lstStyle/>
          <a:p>
            <a:pPr eaLnBrk="1" hangingPunct="1"/>
            <a:r>
              <a:rPr lang="en-US"/>
              <a:t>Selection sort method: Selection sort method requires n-1 passes to sort an array. In first pass, find smallest element from elements a[0],a[1],---a[n-1] and swap with first element. i.e a[0]. In second pass, find the smallest element from a[1],a[2]----------a[n-1] and swap with a[1] and so on.</a:t>
            </a:r>
          </a:p>
          <a:p>
            <a:pPr eaLnBrk="1" hangingPunct="1"/>
            <a:r>
              <a:rPr lang="en-US"/>
              <a:t>Algorithm: (Selection sort) SELECTION(A, N)</a:t>
            </a:r>
          </a:p>
          <a:p>
            <a:pPr eaLnBrk="1" hangingPunct="1">
              <a:buFontTx/>
              <a:buNone/>
            </a:pPr>
            <a:r>
              <a:rPr lang="en-US"/>
              <a:t>                    This algorithm sorts an array A with N elements.</a:t>
            </a:r>
          </a:p>
          <a:p>
            <a:pPr eaLnBrk="1" hangingPunct="1"/>
            <a:r>
              <a:rPr lang="en-US"/>
              <a:t>Step 1: Repeat steps 2 and 3 for k=1 to N-1</a:t>
            </a:r>
          </a:p>
          <a:p>
            <a:pPr eaLnBrk="1" hangingPunct="1"/>
            <a:r>
              <a:rPr lang="en-US"/>
              <a:t>Step 2: Set Min:=A[k] and LOC:=k</a:t>
            </a:r>
          </a:p>
          <a:p>
            <a:pPr eaLnBrk="1" hangingPunct="1"/>
            <a:r>
              <a:rPr lang="en-US"/>
              <a:t>Step 3: Repeat for j=k+1 to N:</a:t>
            </a:r>
          </a:p>
          <a:p>
            <a:pPr eaLnBrk="1" hangingPunct="1">
              <a:buFontTx/>
              <a:buNone/>
            </a:pPr>
            <a:r>
              <a:rPr lang="en-US"/>
              <a:t>                 	If  Min&gt;A[j], then:</a:t>
            </a:r>
          </a:p>
          <a:p>
            <a:pPr eaLnBrk="1" hangingPunct="1">
              <a:buFontTx/>
              <a:buNone/>
            </a:pPr>
            <a:r>
              <a:rPr lang="en-US"/>
              <a:t>	                  Set Min:= A[j] and LOC:=J</a:t>
            </a:r>
          </a:p>
          <a:p>
            <a:pPr eaLnBrk="1" hangingPunct="1">
              <a:buFontTx/>
              <a:buNone/>
            </a:pPr>
            <a:r>
              <a:rPr lang="en-US"/>
              <a:t>      	           [End of if structure]</a:t>
            </a:r>
          </a:p>
          <a:p>
            <a:pPr eaLnBrk="1" hangingPunct="1">
              <a:buFontTx/>
              <a:buNone/>
            </a:pPr>
            <a:r>
              <a:rPr lang="en-US"/>
              <a:t>                 [End of  step 3 Loop]</a:t>
            </a:r>
          </a:p>
        </p:txBody>
      </p:sp>
    </p:spTree>
    <p:extLst>
      <p:ext uri="{BB962C8B-B14F-4D97-AF65-F5344CB8AC3E}">
        <p14:creationId xmlns:p14="http://schemas.microsoft.com/office/powerpoint/2010/main" val="18592593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dirty="0"/>
              <a:t>Step 4: [Interchange A[k] and A[LOC]]</a:t>
            </a:r>
          </a:p>
          <a:p>
            <a:pPr eaLnBrk="1" hangingPunct="1">
              <a:lnSpc>
                <a:spcPct val="90000"/>
              </a:lnSpc>
              <a:buFontTx/>
              <a:buNone/>
            </a:pPr>
            <a:r>
              <a:rPr lang="en-US" dirty="0"/>
              <a:t>                  Set Temp:= A[k]</a:t>
            </a:r>
          </a:p>
          <a:p>
            <a:pPr eaLnBrk="1" hangingPunct="1">
              <a:lnSpc>
                <a:spcPct val="90000"/>
              </a:lnSpc>
              <a:buFontTx/>
              <a:buNone/>
            </a:pPr>
            <a:r>
              <a:rPr lang="en-US" dirty="0"/>
              <a:t>                  Set  A[k]:= A[LOC]</a:t>
            </a:r>
          </a:p>
          <a:p>
            <a:pPr eaLnBrk="1" hangingPunct="1">
              <a:lnSpc>
                <a:spcPct val="90000"/>
              </a:lnSpc>
              <a:buFontTx/>
              <a:buNone/>
            </a:pPr>
            <a:r>
              <a:rPr lang="en-US" dirty="0"/>
              <a:t>                  Set A[LOC]:=Temp</a:t>
            </a:r>
          </a:p>
          <a:p>
            <a:pPr eaLnBrk="1" hangingPunct="1">
              <a:lnSpc>
                <a:spcPct val="90000"/>
              </a:lnSpc>
              <a:buFontTx/>
              <a:buNone/>
            </a:pPr>
            <a:r>
              <a:rPr lang="en-US" dirty="0"/>
              <a:t>                [End of step 1 Loop]</a:t>
            </a:r>
          </a:p>
          <a:p>
            <a:pPr eaLnBrk="1" hangingPunct="1">
              <a:lnSpc>
                <a:spcPct val="90000"/>
              </a:lnSpc>
            </a:pPr>
            <a:r>
              <a:rPr lang="en-US" dirty="0"/>
              <a:t>Step 5 Return</a:t>
            </a:r>
          </a:p>
          <a:p>
            <a:pPr eaLnBrk="1" hangingPunct="1">
              <a:lnSpc>
                <a:spcPct val="90000"/>
              </a:lnSpc>
            </a:pPr>
            <a:endParaRPr lang="en-US" dirty="0"/>
          </a:p>
          <a:p>
            <a:pPr eaLnBrk="1" hangingPunct="1">
              <a:lnSpc>
                <a:spcPct val="90000"/>
              </a:lnSpc>
            </a:pPr>
            <a:r>
              <a:rPr lang="en-US" dirty="0"/>
              <a:t>Complexity of Selection sort method: The number f (n) of comparisons in selection sort algorithm is independent of original order of elements. There are n-1 comparisons during pass 1 to find the smallest element, n-2 comparisons during pass 2 to find the second smallest element, and so on.</a:t>
            </a:r>
          </a:p>
          <a:p>
            <a:pPr eaLnBrk="1" hangingPunct="1">
              <a:lnSpc>
                <a:spcPct val="90000"/>
              </a:lnSpc>
            </a:pPr>
            <a:r>
              <a:rPr lang="en-US" dirty="0"/>
              <a:t>Accordingly,</a:t>
            </a:r>
          </a:p>
          <a:p>
            <a:pPr eaLnBrk="1" hangingPunct="1">
              <a:lnSpc>
                <a:spcPct val="90000"/>
              </a:lnSpc>
            </a:pPr>
            <a:r>
              <a:rPr lang="en-US" dirty="0"/>
              <a:t>f (n)= (n-1)+(n-2)+----------------------+2+1</a:t>
            </a:r>
          </a:p>
          <a:p>
            <a:pPr eaLnBrk="1" hangingPunct="1">
              <a:lnSpc>
                <a:spcPct val="90000"/>
              </a:lnSpc>
            </a:pPr>
            <a:r>
              <a:rPr lang="en-US" dirty="0"/>
              <a:t>       =   n(n-1)/2= O(n</a:t>
            </a:r>
            <a:r>
              <a:rPr lang="en-US" baseline="30000" dirty="0"/>
              <a:t>2</a:t>
            </a:r>
            <a:r>
              <a:rPr lang="en-US" dirty="0"/>
              <a:t>)</a:t>
            </a:r>
          </a:p>
          <a:p>
            <a:pPr eaLnBrk="1" hangingPunct="1">
              <a:lnSpc>
                <a:spcPct val="90000"/>
              </a:lnSpc>
            </a:pPr>
            <a:r>
              <a:rPr lang="en-US" dirty="0"/>
              <a:t>The f (n) holds the same value O(n</a:t>
            </a:r>
            <a:r>
              <a:rPr lang="en-US" baseline="30000" dirty="0"/>
              <a:t>2</a:t>
            </a:r>
            <a:r>
              <a:rPr lang="en-US" dirty="0"/>
              <a:t>)  for </a:t>
            </a:r>
            <a:r>
              <a:rPr lang="en-US"/>
              <a:t>best case,  </a:t>
            </a:r>
            <a:r>
              <a:rPr lang="en-US" dirty="0"/>
              <a:t>worst case and average case.</a:t>
            </a:r>
          </a:p>
        </p:txBody>
      </p:sp>
    </p:spTree>
    <p:extLst>
      <p:ext uri="{BB962C8B-B14F-4D97-AF65-F5344CB8AC3E}">
        <p14:creationId xmlns:p14="http://schemas.microsoft.com/office/powerpoint/2010/main" val="32096278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idx="1"/>
          </p:nvPr>
        </p:nvSpPr>
        <p:spPr>
          <a:xfrm>
            <a:off x="1524000" y="0"/>
            <a:ext cx="9144000" cy="6858000"/>
          </a:xfrm>
        </p:spPr>
        <p:txBody>
          <a:bodyPr/>
          <a:lstStyle/>
          <a:p>
            <a:pPr eaLnBrk="1" hangingPunct="1"/>
            <a:r>
              <a:rPr lang="en-US"/>
              <a:t>Insertion sort- In this procedure of sorting, we pick up a value and insert it at appropriate place in sorted sub list i.e during kth operation or iteration, the element a[k] is inserted in its proper place in sorted sub array a[1],a[2],a[3]---a[k-1]. This task is accomplished by comparing a [k] with a[k-1],a[k-2] ------- and so on until the first element a [j] such that a [j] </a:t>
            </a:r>
            <a:r>
              <a:rPr lang="en-US">
                <a:cs typeface="Times New Roman" pitchFamily="18" charset="0"/>
              </a:rPr>
              <a:t>≤ a [k] is found. Then each element </a:t>
            </a:r>
          </a:p>
          <a:p>
            <a:pPr eaLnBrk="1" hangingPunct="1">
              <a:buFontTx/>
              <a:buNone/>
            </a:pPr>
            <a:r>
              <a:rPr lang="en-US">
                <a:cs typeface="Times New Roman" pitchFamily="18" charset="0"/>
              </a:rPr>
              <a:t>     a[k-1],a[k-2]--------a[j+1] are moved one position up and a [k] is inserted in ( j+1)th position in array.</a:t>
            </a:r>
          </a:p>
        </p:txBody>
      </p:sp>
    </p:spTree>
    <p:extLst>
      <p:ext uri="{BB962C8B-B14F-4D97-AF65-F5344CB8AC3E}">
        <p14:creationId xmlns:p14="http://schemas.microsoft.com/office/powerpoint/2010/main" val="17285424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type="body" idx="1"/>
          </p:nvPr>
        </p:nvSpPr>
        <p:spPr>
          <a:xfrm>
            <a:off x="1524000" y="0"/>
            <a:ext cx="9144000" cy="6858000"/>
          </a:xfrm>
        </p:spPr>
        <p:txBody>
          <a:bodyPr/>
          <a:lstStyle/>
          <a:p>
            <a:pPr eaLnBrk="1" hangingPunct="1">
              <a:buFontTx/>
              <a:buNone/>
            </a:pPr>
            <a:r>
              <a:rPr lang="en-US"/>
              <a:t> Algorithm: (Insertion sort) </a:t>
            </a:r>
            <a:r>
              <a:rPr lang="en-US" b="1"/>
              <a:t>INSERTIONSORT(A , N)</a:t>
            </a:r>
          </a:p>
          <a:p>
            <a:pPr eaLnBrk="1" hangingPunct="1">
              <a:buFontTx/>
              <a:buNone/>
            </a:pPr>
            <a:r>
              <a:rPr lang="en-US"/>
              <a:t>                    This algorithm sorts the array A with N elements.</a:t>
            </a:r>
          </a:p>
          <a:p>
            <a:pPr eaLnBrk="1" hangingPunct="1"/>
            <a:r>
              <a:rPr lang="en-US"/>
              <a:t>Step 1: Set A[0]:= -</a:t>
            </a:r>
            <a:r>
              <a:rPr lang="en-US">
                <a:cs typeface="Times New Roman" pitchFamily="18" charset="0"/>
              </a:rPr>
              <a:t>∞</a:t>
            </a:r>
            <a:r>
              <a:rPr lang="en-US"/>
              <a:t> </a:t>
            </a:r>
          </a:p>
          <a:p>
            <a:pPr eaLnBrk="1" hangingPunct="1"/>
            <a:r>
              <a:rPr lang="en-US"/>
              <a:t>Step 2: Repeat steps 3 to 5 for K=2 to N:</a:t>
            </a:r>
          </a:p>
          <a:p>
            <a:pPr eaLnBrk="1" hangingPunct="1"/>
            <a:r>
              <a:rPr lang="en-US"/>
              <a:t>Step 3: Set TEMP:=A[K] and PTR:=K-1</a:t>
            </a:r>
          </a:p>
          <a:p>
            <a:pPr eaLnBrk="1" hangingPunct="1"/>
            <a:r>
              <a:rPr lang="en-US"/>
              <a:t>Step 4: Repeat while TEMP &lt;A[PTR] </a:t>
            </a:r>
            <a:r>
              <a:rPr lang="en-US">
                <a:cs typeface="Times New Roman" pitchFamily="18" charset="0"/>
              </a:rPr>
              <a:t>:</a:t>
            </a:r>
          </a:p>
          <a:p>
            <a:pPr eaLnBrk="1" hangingPunct="1">
              <a:buFontTx/>
              <a:buNone/>
            </a:pPr>
            <a:r>
              <a:rPr lang="en-US">
                <a:cs typeface="Times New Roman" pitchFamily="18" charset="0"/>
              </a:rPr>
              <a:t>                [Moves element forward] Set  A[PTR + 1]:=A[PTR]</a:t>
            </a:r>
          </a:p>
          <a:p>
            <a:pPr eaLnBrk="1" hangingPunct="1">
              <a:buFontTx/>
              <a:buNone/>
            </a:pPr>
            <a:r>
              <a:rPr lang="en-US">
                <a:cs typeface="Times New Roman" pitchFamily="18" charset="0"/>
              </a:rPr>
              <a:t>                Set PTR:= PTR – 1</a:t>
            </a:r>
          </a:p>
          <a:p>
            <a:pPr eaLnBrk="1" hangingPunct="1">
              <a:buFontTx/>
              <a:buNone/>
            </a:pPr>
            <a:r>
              <a:rPr lang="en-US">
                <a:cs typeface="Times New Roman" pitchFamily="18" charset="0"/>
              </a:rPr>
              <a:t>                [End of  step 4 Loop]</a:t>
            </a:r>
          </a:p>
          <a:p>
            <a:pPr eaLnBrk="1" hangingPunct="1"/>
            <a:r>
              <a:rPr lang="en-US">
                <a:cs typeface="Times New Roman" pitchFamily="18" charset="0"/>
              </a:rPr>
              <a:t>Step 5:[Inserts element in proper place] Set A[PTR + 1]:= TEMP</a:t>
            </a:r>
          </a:p>
          <a:p>
            <a:pPr eaLnBrk="1" hangingPunct="1">
              <a:buFontTx/>
              <a:buNone/>
            </a:pPr>
            <a:r>
              <a:rPr lang="en-US">
                <a:cs typeface="Times New Roman" pitchFamily="18" charset="0"/>
              </a:rPr>
              <a:t>                [End of  step 2 Loop] </a:t>
            </a:r>
          </a:p>
          <a:p>
            <a:pPr eaLnBrk="1" hangingPunct="1"/>
            <a:r>
              <a:rPr lang="en-US">
                <a:cs typeface="Times New Roman" pitchFamily="18" charset="0"/>
              </a:rPr>
              <a:t>Step 6: Return</a:t>
            </a:r>
          </a:p>
        </p:txBody>
      </p:sp>
    </p:spTree>
    <p:extLst>
      <p:ext uri="{BB962C8B-B14F-4D97-AF65-F5344CB8AC3E}">
        <p14:creationId xmlns:p14="http://schemas.microsoft.com/office/powerpoint/2010/main" val="30984810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type="body" idx="1"/>
          </p:nvPr>
        </p:nvSpPr>
        <p:spPr>
          <a:xfrm>
            <a:off x="1524000" y="0"/>
            <a:ext cx="9144000" cy="6858000"/>
          </a:xfrm>
        </p:spPr>
        <p:txBody>
          <a:bodyPr/>
          <a:lstStyle/>
          <a:p>
            <a:pPr eaLnBrk="1" hangingPunct="1">
              <a:buFontTx/>
              <a:buNone/>
            </a:pPr>
            <a:r>
              <a:rPr lang="en-US"/>
              <a:t> Algorithm: (Insertion sort) </a:t>
            </a:r>
            <a:r>
              <a:rPr lang="en-US" b="1"/>
              <a:t>INSERTIONSORT2(A , N)</a:t>
            </a:r>
          </a:p>
          <a:p>
            <a:pPr eaLnBrk="1" hangingPunct="1">
              <a:buFontTx/>
              <a:buNone/>
            </a:pPr>
            <a:r>
              <a:rPr lang="en-US"/>
              <a:t>                    This algorithm sorts the array A with N elements.</a:t>
            </a:r>
          </a:p>
          <a:p>
            <a:pPr eaLnBrk="1" hangingPunct="1"/>
            <a:r>
              <a:rPr lang="en-US"/>
              <a:t>Step 1: Repeat steps 3 to 5 for K=2 to N:</a:t>
            </a:r>
          </a:p>
          <a:p>
            <a:pPr eaLnBrk="1" hangingPunct="1"/>
            <a:r>
              <a:rPr lang="en-US"/>
              <a:t>Step 2: Set TEMP:=A[K] and PTR:=K-1</a:t>
            </a:r>
          </a:p>
          <a:p>
            <a:pPr eaLnBrk="1" hangingPunct="1"/>
            <a:r>
              <a:rPr lang="en-US"/>
              <a:t>Step 3: Repeat while TEMP &lt;A[PTR] and PTR &gt;= 1 </a:t>
            </a:r>
            <a:r>
              <a:rPr lang="en-US">
                <a:cs typeface="Times New Roman" pitchFamily="18" charset="0"/>
              </a:rPr>
              <a:t>:</a:t>
            </a:r>
          </a:p>
          <a:p>
            <a:pPr eaLnBrk="1" hangingPunct="1">
              <a:buFontTx/>
              <a:buNone/>
            </a:pPr>
            <a:r>
              <a:rPr lang="en-US">
                <a:cs typeface="Times New Roman" pitchFamily="18" charset="0"/>
              </a:rPr>
              <a:t>                [Moves element forward] Set  A[PTR + 1]:=A[PTR]</a:t>
            </a:r>
          </a:p>
          <a:p>
            <a:pPr eaLnBrk="1" hangingPunct="1">
              <a:buFontTx/>
              <a:buNone/>
            </a:pPr>
            <a:r>
              <a:rPr lang="en-US">
                <a:cs typeface="Times New Roman" pitchFamily="18" charset="0"/>
              </a:rPr>
              <a:t>                Set PTR:= PTR – 1</a:t>
            </a:r>
          </a:p>
          <a:p>
            <a:pPr eaLnBrk="1" hangingPunct="1">
              <a:buFontTx/>
              <a:buNone/>
            </a:pPr>
            <a:r>
              <a:rPr lang="en-US">
                <a:cs typeface="Times New Roman" pitchFamily="18" charset="0"/>
              </a:rPr>
              <a:t>                [End of  step 3 Loop]</a:t>
            </a:r>
          </a:p>
          <a:p>
            <a:pPr eaLnBrk="1" hangingPunct="1"/>
            <a:r>
              <a:rPr lang="en-US">
                <a:cs typeface="Times New Roman" pitchFamily="18" charset="0"/>
              </a:rPr>
              <a:t>Step 5:[Inserts element in proper place] Set A[PTR + 1]:= TEMP</a:t>
            </a:r>
          </a:p>
          <a:p>
            <a:pPr eaLnBrk="1" hangingPunct="1">
              <a:buFontTx/>
              <a:buNone/>
            </a:pPr>
            <a:r>
              <a:rPr lang="en-US">
                <a:cs typeface="Times New Roman" pitchFamily="18" charset="0"/>
              </a:rPr>
              <a:t>                [End of  step 1 Loop] </a:t>
            </a:r>
          </a:p>
          <a:p>
            <a:pPr eaLnBrk="1" hangingPunct="1"/>
            <a:r>
              <a:rPr lang="en-US">
                <a:cs typeface="Times New Roman" pitchFamily="18" charset="0"/>
              </a:rPr>
              <a:t>Step 6: Return</a:t>
            </a:r>
          </a:p>
        </p:txBody>
      </p:sp>
    </p:spTree>
    <p:extLst>
      <p:ext uri="{BB962C8B-B14F-4D97-AF65-F5344CB8AC3E}">
        <p14:creationId xmlns:p14="http://schemas.microsoft.com/office/powerpoint/2010/main" val="41747626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Grp="1" noChangeArrowheads="1"/>
          </p:cNvSpPr>
          <p:nvPr>
            <p:ph type="body" idx="1"/>
          </p:nvPr>
        </p:nvSpPr>
        <p:spPr>
          <a:xfrm>
            <a:off x="1524000" y="0"/>
            <a:ext cx="9144000" cy="6858000"/>
          </a:xfrm>
        </p:spPr>
        <p:txBody>
          <a:bodyPr/>
          <a:lstStyle/>
          <a:p>
            <a:pPr eaLnBrk="1" hangingPunct="1"/>
            <a:r>
              <a:rPr lang="en-US"/>
              <a:t>Complexity of Insertion Sort</a:t>
            </a:r>
          </a:p>
          <a:p>
            <a:pPr eaLnBrk="1" hangingPunct="1">
              <a:buFontTx/>
              <a:buNone/>
            </a:pPr>
            <a:r>
              <a:rPr lang="en-US"/>
              <a:t>    The number f(n) of comparisons in insertion sort algorithm can be easily computed . Worst case occurs when array A is in reverse order and inner loop must use n-1 comparisons.</a:t>
            </a:r>
          </a:p>
          <a:p>
            <a:pPr eaLnBrk="1" hangingPunct="1">
              <a:buFontTx/>
              <a:buNone/>
            </a:pPr>
            <a:r>
              <a:rPr lang="en-US"/>
              <a:t>      f(n)=1+2+----------------n-1</a:t>
            </a:r>
          </a:p>
          <a:p>
            <a:pPr eaLnBrk="1" hangingPunct="1">
              <a:buFontTx/>
              <a:buNone/>
            </a:pPr>
            <a:r>
              <a:rPr lang="en-US"/>
              <a:t>           =n(n+1)/2=O(n</a:t>
            </a:r>
            <a:r>
              <a:rPr lang="en-US" baseline="30000"/>
              <a:t>2</a:t>
            </a:r>
            <a:r>
              <a:rPr lang="en-US"/>
              <a:t>)</a:t>
            </a:r>
          </a:p>
          <a:p>
            <a:pPr eaLnBrk="1" hangingPunct="1">
              <a:buFontTx/>
              <a:buNone/>
            </a:pPr>
            <a:r>
              <a:rPr lang="en-US"/>
              <a:t>     In average case, there will be approximately (n-1)/2 comparisons in inner loop</a:t>
            </a:r>
          </a:p>
          <a:p>
            <a:pPr eaLnBrk="1" hangingPunct="1">
              <a:buFontTx/>
              <a:buNone/>
            </a:pPr>
            <a:r>
              <a:rPr lang="en-US"/>
              <a:t>     f(n)=1/2+2/2+---------------(n-1)/2=n(n+1)/4=O(n</a:t>
            </a:r>
            <a:r>
              <a:rPr lang="en-US" baseline="30000"/>
              <a:t>2</a:t>
            </a:r>
            <a:r>
              <a:rPr lang="en-US"/>
              <a:t>)</a:t>
            </a:r>
          </a:p>
          <a:p>
            <a:pPr eaLnBrk="1" hangingPunct="1">
              <a:buFontTx/>
              <a:buNone/>
            </a:pPr>
            <a:endParaRPr lang="en-US"/>
          </a:p>
          <a:p>
            <a:pPr eaLnBrk="1" hangingPunct="1">
              <a:buFontTx/>
              <a:buNone/>
            </a:pPr>
            <a:r>
              <a:rPr lang="en-US"/>
              <a:t>    In best case, the complexity of insertion sort will be O(n) as only the passes will work but no movement of elements will be done</a:t>
            </a:r>
          </a:p>
        </p:txBody>
      </p:sp>
    </p:spTree>
    <p:extLst>
      <p:ext uri="{BB962C8B-B14F-4D97-AF65-F5344CB8AC3E}">
        <p14:creationId xmlns:p14="http://schemas.microsoft.com/office/powerpoint/2010/main" val="4705128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3"/>
          <p:cNvSpPr>
            <a:spLocks noGrp="1" noChangeArrowheads="1"/>
          </p:cNvSpPr>
          <p:nvPr>
            <p:ph type="body" idx="1"/>
          </p:nvPr>
        </p:nvSpPr>
        <p:spPr>
          <a:xfrm>
            <a:off x="1524000" y="0"/>
            <a:ext cx="9144000" cy="6858000"/>
          </a:xfrm>
        </p:spPr>
        <p:txBody>
          <a:bodyPr/>
          <a:lstStyle/>
          <a:p>
            <a:pPr eaLnBrk="1" hangingPunct="1"/>
            <a:endParaRPr lang="en-US"/>
          </a:p>
          <a:p>
            <a:pPr eaLnBrk="1" hangingPunct="1"/>
            <a:endParaRPr lang="en-US"/>
          </a:p>
          <a:p>
            <a:pPr eaLnBrk="1" hangingPunct="1"/>
            <a:endParaRPr lang="en-US"/>
          </a:p>
          <a:p>
            <a:pPr eaLnBrk="1" hangingPunct="1"/>
            <a:endParaRPr lang="en-US"/>
          </a:p>
          <a:p>
            <a:pPr eaLnBrk="1" hangingPunct="1">
              <a:buFontTx/>
              <a:buNone/>
            </a:pPr>
            <a:r>
              <a:rPr lang="en-US" sz="7200"/>
              <a:t>   </a:t>
            </a:r>
            <a:r>
              <a:rPr lang="en-US" sz="9600" b="1"/>
              <a:t>LINKED LIST</a:t>
            </a:r>
          </a:p>
        </p:txBody>
      </p:sp>
    </p:spTree>
    <p:extLst>
      <p:ext uri="{BB962C8B-B14F-4D97-AF65-F5344CB8AC3E}">
        <p14:creationId xmlns:p14="http://schemas.microsoft.com/office/powerpoint/2010/main" val="20942851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Content Placeholder 2"/>
          <p:cNvSpPr>
            <a:spLocks noGrp="1"/>
          </p:cNvSpPr>
          <p:nvPr>
            <p:ph idx="1"/>
          </p:nvPr>
        </p:nvSpPr>
        <p:spPr>
          <a:xfrm>
            <a:off x="1524000" y="0"/>
            <a:ext cx="9144000" cy="6858000"/>
          </a:xfrm>
        </p:spPr>
        <p:txBody>
          <a:bodyPr/>
          <a:lstStyle/>
          <a:p>
            <a:r>
              <a:rPr lang="en-US" b="1"/>
              <a:t>Advantages and disadvantages of arrays over a linked list</a:t>
            </a:r>
          </a:p>
          <a:p>
            <a:pPr>
              <a:buFontTx/>
              <a:buNone/>
            </a:pPr>
            <a:r>
              <a:rPr lang="en-US" b="1"/>
              <a:t>     Advantages:</a:t>
            </a:r>
          </a:p>
          <a:p>
            <a:r>
              <a:rPr lang="en-US"/>
              <a:t>Arrays use contiguous memory location which facilitate calculation of address of nth element if address of first element is known.</a:t>
            </a:r>
          </a:p>
          <a:p>
            <a:r>
              <a:rPr lang="en-US"/>
              <a:t>Random access of elements is possible</a:t>
            </a:r>
          </a:p>
          <a:p>
            <a:r>
              <a:rPr lang="en-US"/>
              <a:t>Arrays consume less memory as they do not require extra memory for storage of pointers as required in a linked list</a:t>
            </a:r>
          </a:p>
          <a:p>
            <a:r>
              <a:rPr lang="en-US"/>
              <a:t>Due to random access , binary search is possible in arrays which is an efficient searching algorithm</a:t>
            </a:r>
            <a:endParaRPr lang="en-IN"/>
          </a:p>
          <a:p>
            <a:pPr>
              <a:buFontTx/>
              <a:buNone/>
            </a:pPr>
            <a:r>
              <a:rPr lang="en-US" b="1"/>
              <a:t>    Disadvantages:</a:t>
            </a:r>
          </a:p>
          <a:p>
            <a:r>
              <a:rPr lang="en-US"/>
              <a:t>Arrays require size specification before using them which cannot be changed . In other words , Arrays cannot grow in size</a:t>
            </a:r>
          </a:p>
          <a:p>
            <a:r>
              <a:rPr lang="en-US"/>
              <a:t>Arrays cannot use scattered memory</a:t>
            </a:r>
          </a:p>
          <a:p>
            <a:r>
              <a:rPr lang="en-US"/>
              <a:t>Insertion and deletion in Arrays is expensive</a:t>
            </a:r>
          </a:p>
          <a:p>
            <a:r>
              <a:rPr lang="en-US"/>
              <a:t>Arrays support only homogenous elements and thus, cannot store records or heterogeneous data  </a:t>
            </a:r>
          </a:p>
        </p:txBody>
      </p:sp>
    </p:spTree>
    <p:extLst>
      <p:ext uri="{BB962C8B-B14F-4D97-AF65-F5344CB8AC3E}">
        <p14:creationId xmlns:p14="http://schemas.microsoft.com/office/powerpoint/2010/main" val="33588907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Content Placeholder 2"/>
          <p:cNvSpPr>
            <a:spLocks noGrp="1"/>
          </p:cNvSpPr>
          <p:nvPr>
            <p:ph idx="1"/>
          </p:nvPr>
        </p:nvSpPr>
        <p:spPr>
          <a:xfrm>
            <a:off x="1524000" y="0"/>
            <a:ext cx="9144000" cy="6858000"/>
          </a:xfrm>
        </p:spPr>
        <p:txBody>
          <a:bodyPr/>
          <a:lstStyle/>
          <a:p>
            <a:r>
              <a:rPr lang="en-US" b="1"/>
              <a:t>Advantage and disadvantages of linked list over an array</a:t>
            </a:r>
          </a:p>
          <a:p>
            <a:pPr>
              <a:buFontTx/>
              <a:buNone/>
            </a:pPr>
            <a:r>
              <a:rPr lang="en-US" b="1"/>
              <a:t>    Advantages:</a:t>
            </a:r>
          </a:p>
          <a:p>
            <a:r>
              <a:rPr lang="en-US"/>
              <a:t>Linked list can use scattered memory easily </a:t>
            </a:r>
          </a:p>
          <a:p>
            <a:r>
              <a:rPr lang="en-US"/>
              <a:t>Linked lists are dynamic and grow in size as per the requirement</a:t>
            </a:r>
          </a:p>
          <a:p>
            <a:r>
              <a:rPr lang="en-US"/>
              <a:t>Linked lists support heterogeneous data and can store records</a:t>
            </a:r>
          </a:p>
          <a:p>
            <a:r>
              <a:rPr lang="en-US"/>
              <a:t>Insertion and deletion of elements in a Linked list is more conveneint and less expensive in terms of time taken</a:t>
            </a:r>
          </a:p>
          <a:p>
            <a:pPr>
              <a:buFontTx/>
              <a:buNone/>
            </a:pPr>
            <a:r>
              <a:rPr lang="en-US" b="1"/>
              <a:t>    Disadvantages:</a:t>
            </a:r>
          </a:p>
          <a:p>
            <a:r>
              <a:rPr lang="en-US"/>
              <a:t>Linked list does not support random access of elements</a:t>
            </a:r>
          </a:p>
          <a:p>
            <a:r>
              <a:rPr lang="en-US"/>
              <a:t>Linked lists can lead to problem of dangling pointers</a:t>
            </a:r>
          </a:p>
          <a:p>
            <a:r>
              <a:rPr lang="en-US"/>
              <a:t>Extra memory is wasted in each node of a linked list as each node requires a pointer for storing the address of next element</a:t>
            </a:r>
          </a:p>
          <a:p>
            <a:r>
              <a:rPr lang="en-US"/>
              <a:t>There is no way of calculating the address of nth node of a linked list from the address of first node</a:t>
            </a:r>
          </a:p>
          <a:p>
            <a:r>
              <a:rPr lang="en-US"/>
              <a:t>Binary search is not implemented in a linked list as random access is not possible </a:t>
            </a:r>
          </a:p>
          <a:p>
            <a:pPr>
              <a:buFontTx/>
              <a:buNone/>
            </a:pPr>
            <a:r>
              <a:rPr lang="en-US"/>
              <a:t> </a:t>
            </a:r>
            <a:endParaRPr lang="en-IN"/>
          </a:p>
        </p:txBody>
      </p:sp>
    </p:spTree>
    <p:extLst>
      <p:ext uri="{BB962C8B-B14F-4D97-AF65-F5344CB8AC3E}">
        <p14:creationId xmlns:p14="http://schemas.microsoft.com/office/powerpoint/2010/main" val="18544772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p:cNvSpPr>
            <a:spLocks noGrp="1" noChangeArrowheads="1"/>
          </p:cNvSpPr>
          <p:nvPr>
            <p:ph type="body" idx="1"/>
          </p:nvPr>
        </p:nvSpPr>
        <p:spPr>
          <a:xfrm>
            <a:off x="1524000" y="0"/>
            <a:ext cx="9144000" cy="6858000"/>
          </a:xfrm>
        </p:spPr>
        <p:txBody>
          <a:bodyPr/>
          <a:lstStyle/>
          <a:p>
            <a:pPr eaLnBrk="1" hangingPunct="1"/>
            <a:r>
              <a:rPr lang="en-US" b="1"/>
              <a:t>Linked List-</a:t>
            </a:r>
            <a:r>
              <a:rPr lang="en-US"/>
              <a:t> A linked list or one-way list is a linear collection of data elements, called nodes , where linear order is given by means of pointers. Each node is divided into two parts:</a:t>
            </a:r>
          </a:p>
          <a:p>
            <a:pPr eaLnBrk="1" hangingPunct="1"/>
            <a:r>
              <a:rPr lang="en-US"/>
              <a:t>The first part contains the information of the element.</a:t>
            </a:r>
          </a:p>
          <a:p>
            <a:pPr eaLnBrk="1" hangingPunct="1"/>
            <a:r>
              <a:rPr lang="en-US"/>
              <a:t>Second part, called the linked field or next pointer field, contains the address of the next node in the list.</a:t>
            </a:r>
          </a:p>
          <a:p>
            <a:pPr eaLnBrk="1" hangingPunct="1">
              <a:buFontTx/>
              <a:buNone/>
            </a:pPr>
            <a:r>
              <a:rPr lang="en-US" b="1"/>
              <a:t>	Representation of Linked list in memory</a:t>
            </a:r>
          </a:p>
          <a:p>
            <a:pPr eaLnBrk="1" hangingPunct="1"/>
            <a:r>
              <a:rPr lang="en-US"/>
              <a:t>Linked list is maintained in memory by two linear arrays: </a:t>
            </a:r>
            <a:r>
              <a:rPr lang="en-US" b="1"/>
              <a:t>INFO</a:t>
            </a:r>
            <a:r>
              <a:rPr lang="en-US"/>
              <a:t> and </a:t>
            </a:r>
            <a:r>
              <a:rPr lang="en-US" b="1"/>
              <a:t>LINK</a:t>
            </a:r>
            <a:r>
              <a:rPr lang="en-US"/>
              <a:t> such that </a:t>
            </a:r>
            <a:r>
              <a:rPr lang="en-US" b="1"/>
              <a:t>INFO[K]</a:t>
            </a:r>
            <a:r>
              <a:rPr lang="en-US"/>
              <a:t> and </a:t>
            </a:r>
            <a:r>
              <a:rPr lang="en-US" b="1"/>
              <a:t>LINK[K]</a:t>
            </a:r>
            <a:r>
              <a:rPr lang="en-US"/>
              <a:t> contain respectively the information part and the next pointer field of node of</a:t>
            </a:r>
            <a:r>
              <a:rPr lang="en-US" b="1"/>
              <a:t> LIST</a:t>
            </a:r>
            <a:r>
              <a:rPr lang="en-US"/>
              <a:t>. LIST also requires a variable name such as </a:t>
            </a:r>
            <a:r>
              <a:rPr lang="en-US" b="1"/>
              <a:t>START</a:t>
            </a:r>
            <a:r>
              <a:rPr lang="en-US"/>
              <a:t> which contains the location of the beginning of the list and the next pointer denoted by </a:t>
            </a:r>
            <a:r>
              <a:rPr lang="en-US" b="1"/>
              <a:t>NULL</a:t>
            </a:r>
            <a:r>
              <a:rPr lang="en-US"/>
              <a:t> which indicates the end of the </a:t>
            </a:r>
            <a:r>
              <a:rPr lang="en-US" b="1"/>
              <a:t>LIST</a:t>
            </a:r>
            <a:r>
              <a:rPr lang="en-US"/>
              <a:t>.</a:t>
            </a:r>
          </a:p>
        </p:txBody>
      </p:sp>
    </p:spTree>
    <p:extLst>
      <p:ext uri="{BB962C8B-B14F-4D97-AF65-F5344CB8AC3E}">
        <p14:creationId xmlns:p14="http://schemas.microsoft.com/office/powerpoint/2010/main" val="22705402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5"/>
          <p:cNvSpPr>
            <a:spLocks noChangeArrowheads="1"/>
          </p:cNvSpPr>
          <p:nvPr/>
        </p:nvSpPr>
        <p:spPr bwMode="auto">
          <a:xfrm>
            <a:off x="1905000" y="1143000"/>
            <a:ext cx="1219200" cy="4572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795" name="Rectangle 3"/>
          <p:cNvSpPr>
            <a:spLocks noGrp="1" noChangeArrowheads="1"/>
          </p:cNvSpPr>
          <p:nvPr>
            <p:ph type="body" idx="1"/>
          </p:nvPr>
        </p:nvSpPr>
        <p:spPr>
          <a:xfrm>
            <a:off x="1524000" y="0"/>
            <a:ext cx="9144000" cy="6858000"/>
          </a:xfrm>
        </p:spPr>
        <p:txBody>
          <a:bodyPr/>
          <a:lstStyle/>
          <a:p>
            <a:pPr eaLnBrk="1" hangingPunct="1"/>
            <a:endParaRPr lang="en-US"/>
          </a:p>
          <a:p>
            <a:pPr eaLnBrk="1" hangingPunct="1"/>
            <a:endParaRPr lang="en-US"/>
          </a:p>
        </p:txBody>
      </p:sp>
      <p:sp>
        <p:nvSpPr>
          <p:cNvPr id="161796" name="Text Box 4"/>
          <p:cNvSpPr txBox="1">
            <a:spLocks noChangeArrowheads="1"/>
          </p:cNvSpPr>
          <p:nvPr/>
        </p:nvSpPr>
        <p:spPr bwMode="auto">
          <a:xfrm>
            <a:off x="1981200" y="1143001"/>
            <a:ext cx="10668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START</a:t>
            </a:r>
          </a:p>
        </p:txBody>
      </p:sp>
      <p:sp>
        <p:nvSpPr>
          <p:cNvPr id="161797" name="Rectangle 7"/>
          <p:cNvSpPr>
            <a:spLocks noChangeArrowheads="1"/>
          </p:cNvSpPr>
          <p:nvPr/>
        </p:nvSpPr>
        <p:spPr bwMode="auto">
          <a:xfrm>
            <a:off x="2895600" y="2438400"/>
            <a:ext cx="1676400" cy="6096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798" name="Line 8"/>
          <p:cNvSpPr>
            <a:spLocks noChangeShapeType="1"/>
          </p:cNvSpPr>
          <p:nvPr/>
        </p:nvSpPr>
        <p:spPr bwMode="auto">
          <a:xfrm>
            <a:off x="3733800" y="2438400"/>
            <a:ext cx="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799" name="Rectangle 9"/>
          <p:cNvSpPr>
            <a:spLocks noChangeArrowheads="1"/>
          </p:cNvSpPr>
          <p:nvPr/>
        </p:nvSpPr>
        <p:spPr bwMode="auto">
          <a:xfrm>
            <a:off x="5257800" y="2438400"/>
            <a:ext cx="1600200" cy="6096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0" name="Line 10"/>
          <p:cNvSpPr>
            <a:spLocks noChangeShapeType="1"/>
          </p:cNvSpPr>
          <p:nvPr/>
        </p:nvSpPr>
        <p:spPr bwMode="auto">
          <a:xfrm>
            <a:off x="6019800" y="2438400"/>
            <a:ext cx="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1" name="Rectangle 11"/>
          <p:cNvSpPr>
            <a:spLocks noChangeArrowheads="1"/>
          </p:cNvSpPr>
          <p:nvPr/>
        </p:nvSpPr>
        <p:spPr bwMode="auto">
          <a:xfrm>
            <a:off x="7239000" y="2438400"/>
            <a:ext cx="1295400" cy="6096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2" name="Line 12"/>
          <p:cNvSpPr>
            <a:spLocks noChangeShapeType="1"/>
          </p:cNvSpPr>
          <p:nvPr/>
        </p:nvSpPr>
        <p:spPr bwMode="auto">
          <a:xfrm>
            <a:off x="7924800" y="2438400"/>
            <a:ext cx="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3" name="Line 13"/>
          <p:cNvSpPr>
            <a:spLocks noChangeShapeType="1"/>
          </p:cNvSpPr>
          <p:nvPr/>
        </p:nvSpPr>
        <p:spPr bwMode="auto">
          <a:xfrm>
            <a:off x="2819400" y="1600200"/>
            <a:ext cx="228600" cy="8382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4" name="Oval 14"/>
          <p:cNvSpPr>
            <a:spLocks noChangeArrowheads="1"/>
          </p:cNvSpPr>
          <p:nvPr/>
        </p:nvSpPr>
        <p:spPr bwMode="auto">
          <a:xfrm>
            <a:off x="4191000" y="2743200"/>
            <a:ext cx="152400" cy="152400"/>
          </a:xfrm>
          <a:prstGeom prst="ellipse">
            <a:avLst/>
          </a:prstGeom>
          <a:solidFill>
            <a:schemeClr val="tx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5" name="Oval 15"/>
          <p:cNvSpPr>
            <a:spLocks noChangeArrowheads="1"/>
          </p:cNvSpPr>
          <p:nvPr/>
        </p:nvSpPr>
        <p:spPr bwMode="auto">
          <a:xfrm>
            <a:off x="6477000" y="2667000"/>
            <a:ext cx="152400" cy="152400"/>
          </a:xfrm>
          <a:prstGeom prst="ellipse">
            <a:avLst/>
          </a:prstGeom>
          <a:solidFill>
            <a:schemeClr val="tx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6" name="Line 17"/>
          <p:cNvSpPr>
            <a:spLocks noChangeShapeType="1"/>
          </p:cNvSpPr>
          <p:nvPr/>
        </p:nvSpPr>
        <p:spPr bwMode="auto">
          <a:xfrm>
            <a:off x="4267200" y="2819400"/>
            <a:ext cx="9906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7" name="Line 18"/>
          <p:cNvSpPr>
            <a:spLocks noChangeShapeType="1"/>
          </p:cNvSpPr>
          <p:nvPr/>
        </p:nvSpPr>
        <p:spPr bwMode="auto">
          <a:xfrm>
            <a:off x="6553200" y="2743200"/>
            <a:ext cx="6858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8" name="Line 19"/>
          <p:cNvSpPr>
            <a:spLocks noChangeShapeType="1"/>
          </p:cNvSpPr>
          <p:nvPr/>
        </p:nvSpPr>
        <p:spPr bwMode="auto">
          <a:xfrm flipH="1">
            <a:off x="2743200" y="2895600"/>
            <a:ext cx="457200" cy="6096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09" name="Text Box 20"/>
          <p:cNvSpPr txBox="1">
            <a:spLocks noChangeArrowheads="1"/>
          </p:cNvSpPr>
          <p:nvPr/>
        </p:nvSpPr>
        <p:spPr bwMode="auto">
          <a:xfrm>
            <a:off x="2209800" y="3810001"/>
            <a:ext cx="13716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INFO[PTR]</a:t>
            </a:r>
          </a:p>
        </p:txBody>
      </p:sp>
      <p:sp>
        <p:nvSpPr>
          <p:cNvPr id="161810" name="Line 21"/>
          <p:cNvSpPr>
            <a:spLocks noChangeShapeType="1"/>
          </p:cNvSpPr>
          <p:nvPr/>
        </p:nvSpPr>
        <p:spPr bwMode="auto">
          <a:xfrm>
            <a:off x="4343400" y="3048000"/>
            <a:ext cx="304800" cy="8382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1811" name="Text Box 22"/>
          <p:cNvSpPr txBox="1">
            <a:spLocks noChangeArrowheads="1"/>
          </p:cNvSpPr>
          <p:nvPr/>
        </p:nvSpPr>
        <p:spPr bwMode="auto">
          <a:xfrm>
            <a:off x="4114800" y="4038601"/>
            <a:ext cx="14478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LINK[PTR]</a:t>
            </a:r>
          </a:p>
        </p:txBody>
      </p:sp>
      <p:sp>
        <p:nvSpPr>
          <p:cNvPr id="161812" name="Line 23"/>
          <p:cNvSpPr>
            <a:spLocks noChangeShapeType="1"/>
          </p:cNvSpPr>
          <p:nvPr/>
        </p:nvSpPr>
        <p:spPr bwMode="auto">
          <a:xfrm>
            <a:off x="7924800" y="2438400"/>
            <a:ext cx="6096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8210114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0210" name="Group 114"/>
          <p:cNvGraphicFramePr>
            <a:graphicFrameLocks noGrp="1"/>
          </p:cNvGraphicFramePr>
          <p:nvPr>
            <p:ph sz="half" idx="1"/>
          </p:nvPr>
        </p:nvGraphicFramePr>
        <p:xfrm>
          <a:off x="3733800" y="762001"/>
          <a:ext cx="3886200" cy="5337493"/>
        </p:xfrm>
        <a:graphic>
          <a:graphicData uri="http://schemas.openxmlformats.org/drawingml/2006/table">
            <a:tbl>
              <a:tblPr/>
              <a:tblGrid>
                <a:gridCol w="2168525">
                  <a:extLst>
                    <a:ext uri="{9D8B030D-6E8A-4147-A177-3AD203B41FA5}">
                      <a16:colId xmlns:a16="http://schemas.microsoft.com/office/drawing/2014/main" val="20000"/>
                    </a:ext>
                  </a:extLst>
                </a:gridCol>
                <a:gridCol w="1717675">
                  <a:extLst>
                    <a:ext uri="{9D8B030D-6E8A-4147-A177-3AD203B41FA5}">
                      <a16:colId xmlns:a16="http://schemas.microsoft.com/office/drawing/2014/main" val="20001"/>
                    </a:ext>
                  </a:extLst>
                </a:gridCol>
              </a:tblGrid>
              <a:tr h="582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BED NUMBER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PATIENT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Kirk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Dean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Maxwell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5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Adams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Lane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Green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Samuels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Fields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Nelson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graphicFrame>
        <p:nvGraphicFramePr>
          <p:cNvPr id="260213" name="Group 117"/>
          <p:cNvGraphicFramePr>
            <a:graphicFrameLocks noGrp="1"/>
          </p:cNvGraphicFramePr>
          <p:nvPr>
            <p:ph sz="half" idx="2"/>
          </p:nvPr>
        </p:nvGraphicFramePr>
        <p:xfrm>
          <a:off x="8153400" y="762001"/>
          <a:ext cx="1066800" cy="5421313"/>
        </p:xfrm>
        <a:graphic>
          <a:graphicData uri="http://schemas.openxmlformats.org/drawingml/2006/table">
            <a:tbl>
              <a:tblPr/>
              <a:tblGrid>
                <a:gridCol w="1066800">
                  <a:extLst>
                    <a:ext uri="{9D8B030D-6E8A-4147-A177-3AD203B41FA5}">
                      <a16:colId xmlns:a16="http://schemas.microsoft.com/office/drawing/2014/main" val="20000"/>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NEXT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048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44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156748" name="Rectangle 96"/>
          <p:cNvSpPr>
            <a:spLocks noChangeArrowheads="1"/>
          </p:cNvSpPr>
          <p:nvPr/>
        </p:nvSpPr>
        <p:spPr bwMode="auto">
          <a:xfrm>
            <a:off x="2133600" y="1600200"/>
            <a:ext cx="5334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56749" name="Text Box 97"/>
          <p:cNvSpPr txBox="1">
            <a:spLocks noChangeArrowheads="1"/>
          </p:cNvSpPr>
          <p:nvPr/>
        </p:nvSpPr>
        <p:spPr bwMode="auto">
          <a:xfrm>
            <a:off x="2209800" y="1600201"/>
            <a:ext cx="381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5</a:t>
            </a:r>
          </a:p>
        </p:txBody>
      </p:sp>
      <p:sp>
        <p:nvSpPr>
          <p:cNvPr id="156750" name="Text Box 98"/>
          <p:cNvSpPr txBox="1">
            <a:spLocks noChangeArrowheads="1"/>
          </p:cNvSpPr>
          <p:nvPr/>
        </p:nvSpPr>
        <p:spPr bwMode="auto">
          <a:xfrm>
            <a:off x="1752600" y="990601"/>
            <a:ext cx="1143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START</a:t>
            </a:r>
          </a:p>
        </p:txBody>
      </p:sp>
      <p:sp>
        <p:nvSpPr>
          <p:cNvPr id="156751" name="Line 99"/>
          <p:cNvSpPr>
            <a:spLocks noChangeShapeType="1"/>
          </p:cNvSpPr>
          <p:nvPr/>
        </p:nvSpPr>
        <p:spPr bwMode="auto">
          <a:xfrm>
            <a:off x="2667000" y="1828800"/>
            <a:ext cx="838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56752" name="Line 100"/>
          <p:cNvSpPr>
            <a:spLocks noChangeShapeType="1"/>
          </p:cNvSpPr>
          <p:nvPr/>
        </p:nvSpPr>
        <p:spPr bwMode="auto">
          <a:xfrm>
            <a:off x="3505200" y="1828800"/>
            <a:ext cx="0" cy="1295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56753" name="Line 101"/>
          <p:cNvSpPr>
            <a:spLocks noChangeShapeType="1"/>
          </p:cNvSpPr>
          <p:nvPr/>
        </p:nvSpPr>
        <p:spPr bwMode="auto">
          <a:xfrm>
            <a:off x="3505200" y="3124200"/>
            <a:ext cx="2286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cxnSp>
        <p:nvCxnSpPr>
          <p:cNvPr id="260214" name="AutoShape 118"/>
          <p:cNvCxnSpPr>
            <a:cxnSpLocks noChangeShapeType="1"/>
          </p:cNvCxnSpPr>
          <p:nvPr/>
        </p:nvCxnSpPr>
        <p:spPr bwMode="auto">
          <a:xfrm flipH="1" flipV="1">
            <a:off x="3733800" y="2333626"/>
            <a:ext cx="5486400" cy="817563"/>
          </a:xfrm>
          <a:prstGeom prst="curvedConnector5">
            <a:avLst>
              <a:gd name="adj1" fmla="val -4167"/>
              <a:gd name="adj2" fmla="val 50292"/>
              <a:gd name="adj3" fmla="val 104167"/>
            </a:avLst>
          </a:prstGeom>
          <a:noFill/>
          <a:ln w="9525">
            <a:solidFill>
              <a:schemeClr val="tx1"/>
            </a:solidFill>
            <a:round/>
            <a:headEnd/>
            <a:tailEnd type="triangle" w="med" len="med"/>
          </a:ln>
        </p:spPr>
      </p:cxnSp>
      <p:cxnSp>
        <p:nvCxnSpPr>
          <p:cNvPr id="260215" name="AutoShape 119"/>
          <p:cNvCxnSpPr>
            <a:cxnSpLocks noChangeShapeType="1"/>
          </p:cNvCxnSpPr>
          <p:nvPr/>
        </p:nvCxnSpPr>
        <p:spPr bwMode="auto">
          <a:xfrm flipH="1">
            <a:off x="3733800" y="2360614"/>
            <a:ext cx="5486400" cy="3127375"/>
          </a:xfrm>
          <a:prstGeom prst="curvedConnector3">
            <a:avLst>
              <a:gd name="adj1" fmla="val 111773"/>
            </a:avLst>
          </a:prstGeom>
          <a:noFill/>
          <a:ln w="9525">
            <a:solidFill>
              <a:schemeClr val="tx1"/>
            </a:solidFill>
            <a:round/>
            <a:headEnd/>
            <a:tailEnd type="triangle" w="med" len="med"/>
          </a:ln>
        </p:spPr>
      </p:cxnSp>
      <p:cxnSp>
        <p:nvCxnSpPr>
          <p:cNvPr id="260216" name="AutoShape 120"/>
          <p:cNvCxnSpPr>
            <a:cxnSpLocks noChangeShapeType="1"/>
          </p:cNvCxnSpPr>
          <p:nvPr/>
        </p:nvCxnSpPr>
        <p:spPr bwMode="auto">
          <a:xfrm flipH="1" flipV="1">
            <a:off x="3733800" y="4343400"/>
            <a:ext cx="5486400" cy="1189038"/>
          </a:xfrm>
          <a:prstGeom prst="curvedConnector3">
            <a:avLst>
              <a:gd name="adj1" fmla="val 109343"/>
            </a:avLst>
          </a:prstGeom>
          <a:noFill/>
          <a:ln w="9525">
            <a:solidFill>
              <a:schemeClr val="tx1"/>
            </a:solidFill>
            <a:round/>
            <a:headEnd/>
            <a:tailEnd type="triangle" w="med" len="med"/>
          </a:ln>
        </p:spPr>
      </p:cxnSp>
      <p:cxnSp>
        <p:nvCxnSpPr>
          <p:cNvPr id="260217" name="AutoShape 121"/>
          <p:cNvCxnSpPr>
            <a:cxnSpLocks noChangeShapeType="1"/>
          </p:cNvCxnSpPr>
          <p:nvPr/>
        </p:nvCxnSpPr>
        <p:spPr bwMode="auto">
          <a:xfrm flipH="1" flipV="1">
            <a:off x="3733800" y="1543050"/>
            <a:ext cx="5486400" cy="2794000"/>
          </a:xfrm>
          <a:prstGeom prst="curvedConnector5">
            <a:avLst>
              <a:gd name="adj1" fmla="val -4167"/>
              <a:gd name="adj2" fmla="val 50056"/>
              <a:gd name="adj3" fmla="val 104167"/>
            </a:avLst>
          </a:prstGeom>
          <a:noFill/>
          <a:ln w="9525">
            <a:solidFill>
              <a:schemeClr val="tx1"/>
            </a:solidFill>
            <a:round/>
            <a:headEnd/>
            <a:tailEnd/>
          </a:ln>
        </p:spPr>
      </p:cxnSp>
    </p:spTree>
    <p:extLst>
      <p:ext uri="{BB962C8B-B14F-4D97-AF65-F5344CB8AC3E}">
        <p14:creationId xmlns:p14="http://schemas.microsoft.com/office/powerpoint/2010/main" val="399449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2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02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02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02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0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3"/>
          <p:cNvSpPr>
            <a:spLocks noGrp="1" noChangeArrowheads="1"/>
          </p:cNvSpPr>
          <p:nvPr>
            <p:ph type="body" idx="1"/>
          </p:nvPr>
        </p:nvSpPr>
        <p:spPr>
          <a:xfrm>
            <a:off x="1524000" y="0"/>
            <a:ext cx="9144000" cy="6858000"/>
          </a:xfrm>
        </p:spPr>
        <p:txBody>
          <a:bodyPr/>
          <a:lstStyle/>
          <a:p>
            <a:pPr eaLnBrk="1" hangingPunct="1"/>
            <a:r>
              <a:rPr lang="en-US"/>
              <a:t>Algorithm: </a:t>
            </a:r>
            <a:r>
              <a:rPr lang="en-US" b="1"/>
              <a:t>(Traversing a Linked List)</a:t>
            </a:r>
          </a:p>
          <a:p>
            <a:pPr lvl="1" eaLnBrk="1" hangingPunct="1">
              <a:buFontTx/>
              <a:buNone/>
            </a:pPr>
            <a:r>
              <a:rPr lang="en-US"/>
              <a:t>                 Let LIST be a linked list in memory. This algorithm</a:t>
            </a:r>
          </a:p>
          <a:p>
            <a:pPr lvl="1" eaLnBrk="1" hangingPunct="1">
              <a:buFontTx/>
              <a:buNone/>
            </a:pPr>
            <a:r>
              <a:rPr lang="en-US"/>
              <a:t>                 traverses LIST, applying an operation PROCESS to each</a:t>
            </a:r>
          </a:p>
          <a:p>
            <a:pPr lvl="1" eaLnBrk="1" hangingPunct="1">
              <a:buFontTx/>
              <a:buNone/>
            </a:pPr>
            <a:r>
              <a:rPr lang="en-US"/>
              <a:t>                element of LIST. Variable PTR points to the node</a:t>
            </a:r>
          </a:p>
          <a:p>
            <a:pPr lvl="1" eaLnBrk="1" hangingPunct="1">
              <a:buFontTx/>
              <a:buNone/>
            </a:pPr>
            <a:r>
              <a:rPr lang="en-US"/>
              <a:t>                currently being processed.</a:t>
            </a:r>
          </a:p>
          <a:p>
            <a:pPr eaLnBrk="1" hangingPunct="1"/>
            <a:r>
              <a:rPr lang="en-US"/>
              <a:t>Step 1: Set PTR:= START</a:t>
            </a:r>
          </a:p>
          <a:p>
            <a:pPr eaLnBrk="1" hangingPunct="1"/>
            <a:r>
              <a:rPr lang="en-US"/>
              <a:t>Step 2: Repeat  while PTR </a:t>
            </a:r>
            <a:r>
              <a:rPr lang="en-US">
                <a:cs typeface="Times New Roman" pitchFamily="18" charset="0"/>
              </a:rPr>
              <a:t>≠ NULL:</a:t>
            </a:r>
          </a:p>
          <a:p>
            <a:pPr eaLnBrk="1" hangingPunct="1">
              <a:buFontTx/>
              <a:buNone/>
            </a:pPr>
            <a:r>
              <a:rPr lang="en-US">
                <a:cs typeface="Times New Roman" pitchFamily="18" charset="0"/>
              </a:rPr>
              <a:t>                Apply PROCESS to INFO[PTR]</a:t>
            </a:r>
          </a:p>
          <a:p>
            <a:pPr eaLnBrk="1" hangingPunct="1">
              <a:buFontTx/>
              <a:buNone/>
            </a:pPr>
            <a:r>
              <a:rPr lang="en-US">
                <a:cs typeface="Times New Roman" pitchFamily="18" charset="0"/>
              </a:rPr>
              <a:t>                Set PTR:= LINK[PTR]  [PTR now points to next node]</a:t>
            </a:r>
          </a:p>
          <a:p>
            <a:pPr eaLnBrk="1" hangingPunct="1">
              <a:buFontTx/>
              <a:buNone/>
            </a:pPr>
            <a:r>
              <a:rPr lang="en-US">
                <a:cs typeface="Times New Roman" pitchFamily="18" charset="0"/>
              </a:rPr>
              <a:t>                [End of Step 2 Loop]</a:t>
            </a:r>
          </a:p>
          <a:p>
            <a:pPr eaLnBrk="1" hangingPunct="1"/>
            <a:r>
              <a:rPr lang="en-US">
                <a:cs typeface="Times New Roman" pitchFamily="18" charset="0"/>
              </a:rPr>
              <a:t>Step 3: Exit</a:t>
            </a:r>
          </a:p>
          <a:p>
            <a:pPr eaLnBrk="1" hangingPunct="1"/>
            <a:endParaRPr lang="en-US"/>
          </a:p>
          <a:p>
            <a:pPr lvl="1" eaLnBrk="1" hangingPunct="1">
              <a:buFontTx/>
              <a:buNone/>
            </a:pPr>
            <a:endParaRPr lang="en-US"/>
          </a:p>
          <a:p>
            <a:pPr lvl="1" eaLnBrk="1" hangingPunct="1">
              <a:buFontTx/>
              <a:buNone/>
            </a:pPr>
            <a:endParaRPr lang="en-US"/>
          </a:p>
          <a:p>
            <a:pPr lvl="1" eaLnBrk="1" hangingPunct="1">
              <a:buFontTx/>
              <a:buNone/>
            </a:pPr>
            <a:endParaRPr lang="en-US"/>
          </a:p>
          <a:p>
            <a:pPr lvl="1" eaLnBrk="1" hangingPunct="1">
              <a:buFontTx/>
              <a:buNone/>
            </a:pPr>
            <a:endParaRPr lang="en-US"/>
          </a:p>
        </p:txBody>
      </p:sp>
    </p:spTree>
    <p:extLst>
      <p:ext uri="{BB962C8B-B14F-4D97-AF65-F5344CB8AC3E}">
        <p14:creationId xmlns:p14="http://schemas.microsoft.com/office/powerpoint/2010/main" val="3710305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3"/>
          <p:cNvSpPr>
            <a:spLocks noGrp="1" noChangeArrowheads="1"/>
          </p:cNvSpPr>
          <p:nvPr>
            <p:ph type="body" idx="1"/>
          </p:nvPr>
        </p:nvSpPr>
        <p:spPr>
          <a:xfrm>
            <a:off x="1524000" y="0"/>
            <a:ext cx="9144000" cy="6858000"/>
          </a:xfrm>
        </p:spPr>
        <p:txBody>
          <a:bodyPr/>
          <a:lstStyle/>
          <a:p>
            <a:pPr algn="ctr" eaLnBrk="1" hangingPunct="1">
              <a:lnSpc>
                <a:spcPct val="90000"/>
              </a:lnSpc>
              <a:buFontTx/>
              <a:buNone/>
            </a:pPr>
            <a:r>
              <a:rPr lang="en-US" b="1" u="sng" dirty="0"/>
              <a:t>Searching an unsorted Linked List</a:t>
            </a:r>
          </a:p>
          <a:p>
            <a:pPr eaLnBrk="1" hangingPunct="1">
              <a:lnSpc>
                <a:spcPct val="90000"/>
              </a:lnSpc>
            </a:pPr>
            <a:r>
              <a:rPr lang="en-US" dirty="0"/>
              <a:t>Algorithm: </a:t>
            </a:r>
            <a:r>
              <a:rPr lang="en-US" b="1" dirty="0"/>
              <a:t>SEARCH( INFO,LINK,START,ITEM,LOC)</a:t>
            </a:r>
          </a:p>
          <a:p>
            <a:pPr eaLnBrk="1" hangingPunct="1">
              <a:lnSpc>
                <a:spcPct val="90000"/>
              </a:lnSpc>
              <a:buFontTx/>
              <a:buNone/>
            </a:pPr>
            <a:r>
              <a:rPr lang="en-US" dirty="0"/>
              <a:t>                   LIST is a linked list in memory. This algorithm finds the</a:t>
            </a:r>
          </a:p>
          <a:p>
            <a:pPr eaLnBrk="1" hangingPunct="1">
              <a:lnSpc>
                <a:spcPct val="90000"/>
              </a:lnSpc>
              <a:buFontTx/>
              <a:buNone/>
            </a:pPr>
            <a:r>
              <a:rPr lang="en-US" dirty="0"/>
              <a:t>                   location, LOC, of the node where ITEM first appears in</a:t>
            </a:r>
          </a:p>
          <a:p>
            <a:pPr eaLnBrk="1" hangingPunct="1">
              <a:lnSpc>
                <a:spcPct val="90000"/>
              </a:lnSpc>
              <a:buFontTx/>
              <a:buNone/>
            </a:pPr>
            <a:r>
              <a:rPr lang="en-US" dirty="0"/>
              <a:t>                   LIST, or sets LOC=NULL</a:t>
            </a:r>
          </a:p>
          <a:p>
            <a:pPr eaLnBrk="1" hangingPunct="1">
              <a:lnSpc>
                <a:spcPct val="90000"/>
              </a:lnSpc>
            </a:pPr>
            <a:r>
              <a:rPr lang="en-US" dirty="0"/>
              <a:t>Step 1: Set PTR:=START</a:t>
            </a:r>
          </a:p>
          <a:p>
            <a:pPr eaLnBrk="1" hangingPunct="1">
              <a:lnSpc>
                <a:spcPct val="90000"/>
              </a:lnSpc>
            </a:pPr>
            <a:r>
              <a:rPr lang="en-US" dirty="0"/>
              <a:t>Step 2: Repeat while PTR</a:t>
            </a:r>
            <a:r>
              <a:rPr lang="en-US" dirty="0">
                <a:cs typeface="Times New Roman" pitchFamily="18" charset="0"/>
              </a:rPr>
              <a:t>≠ NULL</a:t>
            </a:r>
          </a:p>
          <a:p>
            <a:pPr eaLnBrk="1" hangingPunct="1">
              <a:lnSpc>
                <a:spcPct val="90000"/>
              </a:lnSpc>
              <a:buFontTx/>
              <a:buNone/>
            </a:pPr>
            <a:r>
              <a:rPr lang="en-US" dirty="0">
                <a:cs typeface="Times New Roman" pitchFamily="18" charset="0"/>
              </a:rPr>
              <a:t>                If ITEM = INFO[PTR], then:</a:t>
            </a:r>
          </a:p>
          <a:p>
            <a:pPr eaLnBrk="1" hangingPunct="1">
              <a:lnSpc>
                <a:spcPct val="90000"/>
              </a:lnSpc>
              <a:buFontTx/>
              <a:buNone/>
            </a:pPr>
            <a:r>
              <a:rPr lang="en-US" dirty="0">
                <a:cs typeface="Times New Roman" pitchFamily="18" charset="0"/>
              </a:rPr>
              <a:t>                Set LOC := PTR</a:t>
            </a:r>
          </a:p>
          <a:p>
            <a:pPr eaLnBrk="1" hangingPunct="1">
              <a:lnSpc>
                <a:spcPct val="90000"/>
              </a:lnSpc>
              <a:buFontTx/>
              <a:buNone/>
            </a:pPr>
            <a:r>
              <a:rPr lang="en-US" dirty="0">
                <a:cs typeface="Times New Roman" pitchFamily="18" charset="0"/>
              </a:rPr>
              <a:t>                Return</a:t>
            </a:r>
          </a:p>
          <a:p>
            <a:pPr eaLnBrk="1" hangingPunct="1">
              <a:lnSpc>
                <a:spcPct val="90000"/>
              </a:lnSpc>
              <a:buFontTx/>
              <a:buNone/>
            </a:pPr>
            <a:r>
              <a:rPr lang="en-US" dirty="0">
                <a:cs typeface="Times New Roman" pitchFamily="18" charset="0"/>
              </a:rPr>
              <a:t>                Set PTR:= LINK[PTR]</a:t>
            </a:r>
          </a:p>
          <a:p>
            <a:pPr eaLnBrk="1" hangingPunct="1">
              <a:lnSpc>
                <a:spcPct val="90000"/>
              </a:lnSpc>
              <a:buFontTx/>
              <a:buNone/>
            </a:pPr>
            <a:r>
              <a:rPr lang="en-US" dirty="0">
                <a:cs typeface="Times New Roman" pitchFamily="18" charset="0"/>
              </a:rPr>
              <a:t>                [End of If structure]</a:t>
            </a:r>
          </a:p>
          <a:p>
            <a:pPr eaLnBrk="1" hangingPunct="1">
              <a:lnSpc>
                <a:spcPct val="90000"/>
              </a:lnSpc>
              <a:buFontTx/>
              <a:buNone/>
            </a:pPr>
            <a:r>
              <a:rPr lang="en-US" dirty="0">
                <a:cs typeface="Times New Roman" pitchFamily="18" charset="0"/>
              </a:rPr>
              <a:t>                [End of Step 2 Loop]</a:t>
            </a:r>
          </a:p>
          <a:p>
            <a:pPr eaLnBrk="1" hangingPunct="1">
              <a:lnSpc>
                <a:spcPct val="90000"/>
              </a:lnSpc>
            </a:pPr>
            <a:r>
              <a:rPr lang="en-US" dirty="0">
                <a:cs typeface="Times New Roman" pitchFamily="18" charset="0"/>
              </a:rPr>
              <a:t>Step 3: [Search is unsuccessful] Set LOC:=NULL</a:t>
            </a:r>
          </a:p>
          <a:p>
            <a:pPr eaLnBrk="1" hangingPunct="1">
              <a:lnSpc>
                <a:spcPct val="90000"/>
              </a:lnSpc>
            </a:pPr>
            <a:r>
              <a:rPr lang="en-US" dirty="0">
                <a:cs typeface="Times New Roman" pitchFamily="18" charset="0"/>
              </a:rPr>
              <a:t>Step 4: Return</a:t>
            </a:r>
          </a:p>
          <a:p>
            <a:pPr eaLnBrk="1" hangingPunct="1">
              <a:lnSpc>
                <a:spcPct val="90000"/>
              </a:lnSpc>
            </a:pPr>
            <a:endParaRPr lang="en-US" dirty="0"/>
          </a:p>
        </p:txBody>
      </p:sp>
    </p:spTree>
    <p:extLst>
      <p:ext uri="{BB962C8B-B14F-4D97-AF65-F5344CB8AC3E}">
        <p14:creationId xmlns:p14="http://schemas.microsoft.com/office/powerpoint/2010/main" val="5506465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3"/>
          <p:cNvSpPr>
            <a:spLocks noGrp="1" noChangeArrowheads="1"/>
          </p:cNvSpPr>
          <p:nvPr>
            <p:ph type="body" idx="1"/>
          </p:nvPr>
        </p:nvSpPr>
        <p:spPr>
          <a:xfrm>
            <a:off x="1524000" y="0"/>
            <a:ext cx="9144000" cy="6858000"/>
          </a:xfrm>
        </p:spPr>
        <p:txBody>
          <a:bodyPr/>
          <a:lstStyle/>
          <a:p>
            <a:pPr eaLnBrk="1" hangingPunct="1">
              <a:buFontTx/>
              <a:buNone/>
            </a:pPr>
            <a:r>
              <a:rPr lang="en-US" dirty="0"/>
              <a:t>	</a:t>
            </a:r>
          </a:p>
          <a:p>
            <a:pPr eaLnBrk="1" hangingPunct="1">
              <a:buFontTx/>
              <a:buNone/>
            </a:pPr>
            <a:r>
              <a:rPr lang="en-US" dirty="0"/>
              <a:t>    Complexity  of this algorithm is same as that of linear search algorithm for linear array. Worst case running time is proportional to number n of elements in LIST and the average case running time is proportional to n/2 with condition that ITEM appears once in LIST but with equal probability in any node of LIST.</a:t>
            </a:r>
          </a:p>
          <a:p>
            <a:pPr eaLnBrk="1" hangingPunct="1">
              <a:buFontTx/>
              <a:buNone/>
            </a:pPr>
            <a:r>
              <a:rPr lang="en-US" dirty="0"/>
              <a:t>    The best case complexity of linear search for an element in linked list is O(1)</a:t>
            </a:r>
          </a:p>
          <a:p>
            <a:pPr eaLnBrk="1" hangingPunct="1">
              <a:buFontTx/>
              <a:buNone/>
            </a:pPr>
            <a:endParaRPr lang="en-US" dirty="0"/>
          </a:p>
          <a:p>
            <a:pPr eaLnBrk="1" hangingPunct="1">
              <a:buFontTx/>
              <a:buNone/>
            </a:pPr>
            <a:r>
              <a:rPr lang="en-US" dirty="0"/>
              <a:t>		Binary search cannot be applied to linked list as there is no provision to locate the middle element of LIST. This property is one of the main drawback of using a linked list as a data structure.</a:t>
            </a:r>
          </a:p>
        </p:txBody>
      </p:sp>
    </p:spTree>
    <p:extLst>
      <p:ext uri="{BB962C8B-B14F-4D97-AF65-F5344CB8AC3E}">
        <p14:creationId xmlns:p14="http://schemas.microsoft.com/office/powerpoint/2010/main" val="17343536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dirty="0"/>
              <a:t>Search in sorted list</a:t>
            </a:r>
          </a:p>
          <a:p>
            <a:pPr eaLnBrk="1" hangingPunct="1">
              <a:lnSpc>
                <a:spcPct val="90000"/>
              </a:lnSpc>
            </a:pPr>
            <a:r>
              <a:rPr lang="en-US" dirty="0"/>
              <a:t>Algorithm: </a:t>
            </a:r>
            <a:r>
              <a:rPr lang="en-US" b="1" dirty="0"/>
              <a:t>SRCHSL(INFO,LINK,START,ITEM,LOC)</a:t>
            </a:r>
          </a:p>
          <a:p>
            <a:pPr eaLnBrk="1" hangingPunct="1">
              <a:lnSpc>
                <a:spcPct val="90000"/>
              </a:lnSpc>
              <a:buFontTx/>
              <a:buNone/>
            </a:pPr>
            <a:r>
              <a:rPr lang="en-US" dirty="0"/>
              <a:t>                  LIST is sorted list (Sorted in ascending order) in memory.</a:t>
            </a:r>
          </a:p>
          <a:p>
            <a:pPr eaLnBrk="1" hangingPunct="1">
              <a:lnSpc>
                <a:spcPct val="90000"/>
              </a:lnSpc>
              <a:buFontTx/>
              <a:buNone/>
            </a:pPr>
            <a:r>
              <a:rPr lang="en-US" dirty="0"/>
              <a:t>                  This algorithm finds the location LOC of the node where</a:t>
            </a:r>
          </a:p>
          <a:p>
            <a:pPr eaLnBrk="1" hangingPunct="1">
              <a:lnSpc>
                <a:spcPct val="90000"/>
              </a:lnSpc>
              <a:buFontTx/>
              <a:buNone/>
            </a:pPr>
            <a:r>
              <a:rPr lang="en-US" dirty="0"/>
              <a:t>                  ITEM first appears in LIST or sets LOC=NULL</a:t>
            </a:r>
          </a:p>
          <a:p>
            <a:pPr eaLnBrk="1" hangingPunct="1">
              <a:lnSpc>
                <a:spcPct val="90000"/>
              </a:lnSpc>
            </a:pPr>
            <a:r>
              <a:rPr lang="en-US" dirty="0"/>
              <a:t>Step 1: Set PTR:= START</a:t>
            </a:r>
          </a:p>
          <a:p>
            <a:pPr eaLnBrk="1" hangingPunct="1">
              <a:lnSpc>
                <a:spcPct val="90000"/>
              </a:lnSpc>
            </a:pPr>
            <a:r>
              <a:rPr lang="en-US" dirty="0"/>
              <a:t>Step 2: Repeat while PTR </a:t>
            </a:r>
            <a:r>
              <a:rPr lang="en-US" dirty="0">
                <a:cs typeface="Times New Roman" pitchFamily="18" charset="0"/>
              </a:rPr>
              <a:t>≠ NULL and ITEM&gt;=INFO[PTR]</a:t>
            </a:r>
          </a:p>
          <a:p>
            <a:pPr marL="0" indent="0" eaLnBrk="1" hangingPunct="1">
              <a:lnSpc>
                <a:spcPct val="90000"/>
              </a:lnSpc>
              <a:buNone/>
            </a:pPr>
            <a:r>
              <a:rPr lang="en-US" dirty="0">
                <a:cs typeface="Times New Roman" pitchFamily="18" charset="0"/>
              </a:rPr>
              <a:t>                         PTR:=LINK[PTR]</a:t>
            </a:r>
          </a:p>
          <a:p>
            <a:pPr marL="0" indent="0" eaLnBrk="1" hangingPunct="1">
              <a:lnSpc>
                <a:spcPct val="90000"/>
              </a:lnSpc>
              <a:buNone/>
            </a:pPr>
            <a:r>
              <a:rPr lang="en-US" dirty="0">
                <a:cs typeface="Times New Roman" pitchFamily="18" charset="0"/>
              </a:rPr>
              <a:t>                </a:t>
            </a:r>
            <a:r>
              <a:rPr lang="en-US" dirty="0"/>
              <a:t> [End of step 2 Loop]</a:t>
            </a:r>
            <a:endParaRPr lang="en-US" dirty="0">
              <a:cs typeface="Times New Roman" pitchFamily="18" charset="0"/>
            </a:endParaRPr>
          </a:p>
          <a:p>
            <a:pPr eaLnBrk="1" hangingPunct="1">
              <a:lnSpc>
                <a:spcPct val="90000"/>
              </a:lnSpc>
            </a:pPr>
            <a:r>
              <a:rPr lang="en-US" dirty="0">
                <a:cs typeface="Times New Roman" pitchFamily="18" charset="0"/>
              </a:rPr>
              <a:t>Step 3: If ITEM = INFO[PTR], then:</a:t>
            </a:r>
          </a:p>
          <a:p>
            <a:pPr eaLnBrk="1" hangingPunct="1">
              <a:lnSpc>
                <a:spcPct val="90000"/>
              </a:lnSpc>
              <a:buFontTx/>
              <a:buNone/>
            </a:pPr>
            <a:r>
              <a:rPr lang="en-US" dirty="0">
                <a:cs typeface="Times New Roman" pitchFamily="18" charset="0"/>
              </a:rPr>
              <a:t>                 Set LOC := PTR</a:t>
            </a:r>
          </a:p>
          <a:p>
            <a:pPr eaLnBrk="1" hangingPunct="1">
              <a:lnSpc>
                <a:spcPct val="90000"/>
              </a:lnSpc>
              <a:buFontTx/>
              <a:buNone/>
            </a:pPr>
            <a:r>
              <a:rPr lang="en-US" dirty="0">
                <a:cs typeface="Times New Roman" pitchFamily="18" charset="0"/>
              </a:rPr>
              <a:t>                 Return</a:t>
            </a:r>
          </a:p>
          <a:p>
            <a:pPr eaLnBrk="1" hangingPunct="1">
              <a:lnSpc>
                <a:spcPct val="90000"/>
              </a:lnSpc>
              <a:buNone/>
            </a:pPr>
            <a:r>
              <a:rPr lang="en-US" dirty="0">
                <a:cs typeface="Times New Roman" pitchFamily="18" charset="0"/>
              </a:rPr>
              <a:t>                 [End of If structure]</a:t>
            </a:r>
          </a:p>
          <a:p>
            <a:pPr eaLnBrk="1" hangingPunct="1"/>
            <a:r>
              <a:rPr lang="en-US" dirty="0"/>
              <a:t>Step 4: Set LOC:= NULL</a:t>
            </a:r>
          </a:p>
          <a:p>
            <a:pPr eaLnBrk="1" hangingPunct="1"/>
            <a:r>
              <a:rPr lang="en-US" dirty="0"/>
              <a:t>Step 5: Return</a:t>
            </a:r>
          </a:p>
          <a:p>
            <a:pPr eaLnBrk="1" hangingPunct="1">
              <a:lnSpc>
                <a:spcPct val="90000"/>
              </a:lnSpc>
              <a:buFontTx/>
              <a:buNone/>
            </a:pPr>
            <a:r>
              <a:rPr lang="en-US" dirty="0">
                <a:cs typeface="Times New Roman" pitchFamily="18" charset="0"/>
              </a:rPr>
              <a:t>   </a:t>
            </a:r>
          </a:p>
        </p:txBody>
      </p:sp>
    </p:spTree>
    <p:extLst>
      <p:ext uri="{BB962C8B-B14F-4D97-AF65-F5344CB8AC3E}">
        <p14:creationId xmlns:p14="http://schemas.microsoft.com/office/powerpoint/2010/main" val="23861962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
          <p:cNvSpPr>
            <a:spLocks noGrp="1" noChangeArrowheads="1"/>
          </p:cNvSpPr>
          <p:nvPr>
            <p:ph type="body" idx="1"/>
          </p:nvPr>
        </p:nvSpPr>
        <p:spPr>
          <a:xfrm>
            <a:off x="1524000" y="0"/>
            <a:ext cx="9144000" cy="6858000"/>
          </a:xfrm>
        </p:spPr>
        <p:txBody>
          <a:bodyPr/>
          <a:lstStyle/>
          <a:p>
            <a:pPr eaLnBrk="1" hangingPunct="1"/>
            <a:r>
              <a:rPr lang="en-US" b="1"/>
              <a:t>Insertion into a Linked List-</a:t>
            </a:r>
            <a:r>
              <a:rPr lang="en-US"/>
              <a:t> Together with the linked list , a special list is maintained in memory which consist of unused memory cells. This list, which has its own pointer, is called the list of available space or the free storage list or the free pool. This list is called the </a:t>
            </a:r>
            <a:r>
              <a:rPr lang="en-US" b="1"/>
              <a:t>Avail List</a:t>
            </a:r>
            <a:r>
              <a:rPr lang="en-US"/>
              <a:t>. During insertion operation, new nodes are taken from this avail list which is maintained just like normal data linked list using its own pointer. Similar to START, Avail list also has its own start pointer named as </a:t>
            </a:r>
            <a:r>
              <a:rPr lang="en-US" b="1"/>
              <a:t>AVAIL </a:t>
            </a:r>
            <a:r>
              <a:rPr lang="en-US"/>
              <a:t>which stores the address of the first free node of avail list.</a:t>
            </a:r>
          </a:p>
        </p:txBody>
      </p:sp>
    </p:spTree>
    <p:extLst>
      <p:ext uri="{BB962C8B-B14F-4D97-AF65-F5344CB8AC3E}">
        <p14:creationId xmlns:p14="http://schemas.microsoft.com/office/powerpoint/2010/main" val="16387161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8"/>
          <p:cNvSpPr>
            <a:spLocks noGrp="1" noChangeArrowheads="1"/>
          </p:cNvSpPr>
          <p:nvPr>
            <p:ph type="title"/>
          </p:nvPr>
        </p:nvSpPr>
        <p:spPr/>
        <p:txBody>
          <a:bodyPr/>
          <a:lstStyle/>
          <a:p>
            <a:pPr eaLnBrk="1" hangingPunct="1"/>
            <a:endParaRPr lang="en-US"/>
          </a:p>
        </p:txBody>
      </p:sp>
      <p:graphicFrame>
        <p:nvGraphicFramePr>
          <p:cNvPr id="264272" name="Group 80"/>
          <p:cNvGraphicFramePr>
            <a:graphicFrameLocks noGrp="1"/>
          </p:cNvGraphicFramePr>
          <p:nvPr>
            <p:ph sz="half" idx="1"/>
          </p:nvPr>
        </p:nvGraphicFramePr>
        <p:xfrm>
          <a:off x="6019800" y="1600200"/>
          <a:ext cx="4038600" cy="4754880"/>
        </p:xfrm>
        <a:graphic>
          <a:graphicData uri="http://schemas.openxmlformats.org/drawingml/2006/table">
            <a:tbl>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Kirk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Dean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Maxwell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Adams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Lane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Green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Samuels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Fields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Nelson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aphicFrame>
        <p:nvGraphicFramePr>
          <p:cNvPr id="264296" name="Group 104"/>
          <p:cNvGraphicFramePr>
            <a:graphicFrameLocks noGrp="1"/>
          </p:cNvGraphicFramePr>
          <p:nvPr>
            <p:ph sz="half" idx="2"/>
          </p:nvPr>
        </p:nvGraphicFramePr>
        <p:xfrm>
          <a:off x="5562600" y="1600200"/>
          <a:ext cx="685800" cy="4754880"/>
        </p:xfrm>
        <a:graphic>
          <a:graphicData uri="http://schemas.openxmlformats.org/drawingml/2006/table">
            <a:tbl>
              <a:tblPr/>
              <a:tblGrid>
                <a:gridCol w="685800">
                  <a:extLst>
                    <a:ext uri="{9D8B030D-6E8A-4147-A177-3AD203B41FA5}">
                      <a16:colId xmlns:a16="http://schemas.microsoft.com/office/drawing/2014/main" val="20000"/>
                    </a:ext>
                  </a:extLst>
                </a:gridCol>
              </a:tblGrid>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5</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6</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8</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10</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11</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0"/>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12</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63897" name="Text Box 105"/>
          <p:cNvSpPr txBox="1">
            <a:spLocks noChangeArrowheads="1"/>
          </p:cNvSpPr>
          <p:nvPr/>
        </p:nvSpPr>
        <p:spPr bwMode="auto">
          <a:xfrm>
            <a:off x="2286000" y="2133601"/>
            <a:ext cx="9906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START</a:t>
            </a:r>
          </a:p>
        </p:txBody>
      </p:sp>
      <p:sp>
        <p:nvSpPr>
          <p:cNvPr id="163898" name="Text Box 106"/>
          <p:cNvSpPr txBox="1">
            <a:spLocks noChangeArrowheads="1"/>
          </p:cNvSpPr>
          <p:nvPr/>
        </p:nvSpPr>
        <p:spPr bwMode="auto">
          <a:xfrm>
            <a:off x="2286000" y="4495801"/>
            <a:ext cx="1143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AVAIL</a:t>
            </a:r>
          </a:p>
        </p:txBody>
      </p:sp>
      <p:sp>
        <p:nvSpPr>
          <p:cNvPr id="163899" name="Rectangle 107"/>
          <p:cNvSpPr>
            <a:spLocks noChangeArrowheads="1"/>
          </p:cNvSpPr>
          <p:nvPr/>
        </p:nvSpPr>
        <p:spPr bwMode="auto">
          <a:xfrm>
            <a:off x="3200400" y="2133600"/>
            <a:ext cx="4572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3900" name="Rectangle 108"/>
          <p:cNvSpPr>
            <a:spLocks noChangeArrowheads="1"/>
          </p:cNvSpPr>
          <p:nvPr/>
        </p:nvSpPr>
        <p:spPr bwMode="auto">
          <a:xfrm>
            <a:off x="3200400" y="4572000"/>
            <a:ext cx="5334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3901" name="Text Box 109"/>
          <p:cNvSpPr txBox="1">
            <a:spLocks noChangeArrowheads="1"/>
          </p:cNvSpPr>
          <p:nvPr/>
        </p:nvSpPr>
        <p:spPr bwMode="auto">
          <a:xfrm>
            <a:off x="3200400" y="2133601"/>
            <a:ext cx="4572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5</a:t>
            </a:r>
          </a:p>
        </p:txBody>
      </p:sp>
      <p:sp>
        <p:nvSpPr>
          <p:cNvPr id="163902" name="Text Box 110"/>
          <p:cNvSpPr txBox="1">
            <a:spLocks noChangeArrowheads="1"/>
          </p:cNvSpPr>
          <p:nvPr/>
        </p:nvSpPr>
        <p:spPr bwMode="auto">
          <a:xfrm>
            <a:off x="3200400" y="4572001"/>
            <a:ext cx="5334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10</a:t>
            </a:r>
          </a:p>
        </p:txBody>
      </p:sp>
      <p:sp>
        <p:nvSpPr>
          <p:cNvPr id="163903" name="Line 111"/>
          <p:cNvSpPr>
            <a:spLocks noChangeShapeType="1"/>
          </p:cNvSpPr>
          <p:nvPr/>
        </p:nvSpPr>
        <p:spPr bwMode="auto">
          <a:xfrm>
            <a:off x="3505200" y="2514600"/>
            <a:ext cx="0" cy="914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3904" name="Line 112"/>
          <p:cNvSpPr>
            <a:spLocks noChangeShapeType="1"/>
          </p:cNvSpPr>
          <p:nvPr/>
        </p:nvSpPr>
        <p:spPr bwMode="auto">
          <a:xfrm flipV="1">
            <a:off x="3505200" y="3429000"/>
            <a:ext cx="20574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3905" name="Line 113"/>
          <p:cNvSpPr>
            <a:spLocks noChangeShapeType="1"/>
          </p:cNvSpPr>
          <p:nvPr/>
        </p:nvSpPr>
        <p:spPr bwMode="auto">
          <a:xfrm>
            <a:off x="3505200" y="4953000"/>
            <a:ext cx="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3906" name="Line 114"/>
          <p:cNvSpPr>
            <a:spLocks noChangeShapeType="1"/>
          </p:cNvSpPr>
          <p:nvPr/>
        </p:nvSpPr>
        <p:spPr bwMode="auto">
          <a:xfrm>
            <a:off x="3505200" y="5410200"/>
            <a:ext cx="21336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1040176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3"/>
          <p:cNvSpPr>
            <a:spLocks noGrp="1" noChangeArrowheads="1"/>
          </p:cNvSpPr>
          <p:nvPr>
            <p:ph type="body" idx="1"/>
          </p:nvPr>
        </p:nvSpPr>
        <p:spPr>
          <a:xfrm>
            <a:off x="1524000" y="0"/>
            <a:ext cx="9144000" cy="6858000"/>
          </a:xfrm>
        </p:spPr>
        <p:txBody>
          <a:bodyPr/>
          <a:lstStyle/>
          <a:p>
            <a:pPr eaLnBrk="1" hangingPunct="1"/>
            <a:r>
              <a:rPr lang="en-US"/>
              <a:t>Insertion in a Linked List- Algorithms which insert  nodes into linked lists come up in various situations. Three main cases to be discussed are:</a:t>
            </a:r>
          </a:p>
          <a:p>
            <a:pPr eaLnBrk="1" hangingPunct="1"/>
            <a:r>
              <a:rPr lang="en-US"/>
              <a:t>Inserting node at the beginning of the List</a:t>
            </a:r>
          </a:p>
          <a:p>
            <a:pPr eaLnBrk="1" hangingPunct="1"/>
            <a:r>
              <a:rPr lang="en-US"/>
              <a:t>Inserting node after the node with a given location</a:t>
            </a:r>
          </a:p>
          <a:p>
            <a:pPr eaLnBrk="1" hangingPunct="1"/>
            <a:r>
              <a:rPr lang="en-US"/>
              <a:t>Inserting node into a sorted list.</a:t>
            </a:r>
          </a:p>
          <a:p>
            <a:pPr eaLnBrk="1" hangingPunct="1">
              <a:buFontTx/>
              <a:buNone/>
            </a:pPr>
            <a:r>
              <a:rPr lang="en-US"/>
              <a:t>		For all algorithms, variable </a:t>
            </a:r>
            <a:r>
              <a:rPr lang="en-US" b="1"/>
              <a:t>ITEM</a:t>
            </a:r>
            <a:r>
              <a:rPr lang="en-US"/>
              <a:t> contains the new information to be added to the list. All cases follow some common steps:</a:t>
            </a:r>
          </a:p>
          <a:p>
            <a:pPr eaLnBrk="1" hangingPunct="1"/>
            <a:r>
              <a:rPr lang="en-US"/>
              <a:t>Checking to see if free space is available in AVAIL list. If AVAIL=NULL, algorithm will print </a:t>
            </a:r>
            <a:r>
              <a:rPr lang="en-US" b="1" u="sng"/>
              <a:t>overflow</a:t>
            </a:r>
          </a:p>
          <a:p>
            <a:pPr eaLnBrk="1" hangingPunct="1"/>
            <a:r>
              <a:rPr lang="en-US"/>
              <a:t>Removing first node from AVAIL list. Using variable NEW to keep track of location of new node, this step can be implemented by the pair of assignments (in this order)</a:t>
            </a:r>
          </a:p>
          <a:p>
            <a:pPr eaLnBrk="1" hangingPunct="1">
              <a:buFontTx/>
              <a:buNone/>
            </a:pPr>
            <a:r>
              <a:rPr lang="en-US"/>
              <a:t>		       NEW:= AVAIL and AVAIL:=LINK[AVAIL]</a:t>
            </a:r>
          </a:p>
          <a:p>
            <a:pPr eaLnBrk="1" hangingPunct="1"/>
            <a:r>
              <a:rPr lang="en-US"/>
              <a:t>Copying new information into new node</a:t>
            </a:r>
          </a:p>
          <a:p>
            <a:pPr eaLnBrk="1" hangingPunct="1">
              <a:buFontTx/>
              <a:buNone/>
            </a:pPr>
            <a:r>
              <a:rPr lang="en-US"/>
              <a:t>      		INFO[NEW]:=ITEM</a:t>
            </a:r>
          </a:p>
          <a:p>
            <a:pPr eaLnBrk="1" hangingPunct="1">
              <a:buFontTx/>
              <a:buNone/>
            </a:pPr>
            <a:endParaRPr lang="en-US" b="1" u="sng"/>
          </a:p>
        </p:txBody>
      </p:sp>
    </p:spTree>
    <p:extLst>
      <p:ext uri="{BB962C8B-B14F-4D97-AF65-F5344CB8AC3E}">
        <p14:creationId xmlns:p14="http://schemas.microsoft.com/office/powerpoint/2010/main" val="33698491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p:cNvSpPr>
            <a:spLocks noGrp="1" noChangeArrowheads="1"/>
          </p:cNvSpPr>
          <p:nvPr>
            <p:ph type="body" idx="1"/>
          </p:nvPr>
        </p:nvSpPr>
        <p:spPr>
          <a:xfrm>
            <a:off x="1524000" y="0"/>
            <a:ext cx="9144000" cy="6858000"/>
          </a:xfrm>
        </p:spPr>
        <p:txBody>
          <a:bodyPr/>
          <a:lstStyle/>
          <a:p>
            <a:pPr eaLnBrk="1" hangingPunct="1"/>
            <a:endParaRPr lang="en-US"/>
          </a:p>
          <a:p>
            <a:pPr eaLnBrk="1" hangingPunct="1"/>
            <a:endParaRPr lang="en-US"/>
          </a:p>
          <a:p>
            <a:pPr eaLnBrk="1" hangingPunct="1"/>
            <a:endParaRPr lang="en-US"/>
          </a:p>
        </p:txBody>
      </p:sp>
      <p:sp>
        <p:nvSpPr>
          <p:cNvPr id="165891" name="Rectangle 5"/>
          <p:cNvSpPr>
            <a:spLocks noChangeArrowheads="1"/>
          </p:cNvSpPr>
          <p:nvPr/>
        </p:nvSpPr>
        <p:spPr bwMode="auto">
          <a:xfrm>
            <a:off x="2286000" y="2819400"/>
            <a:ext cx="6096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892" name="Rectangle 6"/>
          <p:cNvSpPr>
            <a:spLocks noChangeArrowheads="1"/>
          </p:cNvSpPr>
          <p:nvPr/>
        </p:nvSpPr>
        <p:spPr bwMode="auto">
          <a:xfrm>
            <a:off x="3657600" y="3276600"/>
            <a:ext cx="1295400" cy="4572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893" name="Rectangle 7"/>
          <p:cNvSpPr>
            <a:spLocks noChangeArrowheads="1"/>
          </p:cNvSpPr>
          <p:nvPr/>
        </p:nvSpPr>
        <p:spPr bwMode="auto">
          <a:xfrm>
            <a:off x="6477000" y="3200400"/>
            <a:ext cx="1066800" cy="4572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894" name="Rectangle 8"/>
          <p:cNvSpPr>
            <a:spLocks noChangeArrowheads="1"/>
          </p:cNvSpPr>
          <p:nvPr/>
        </p:nvSpPr>
        <p:spPr bwMode="auto">
          <a:xfrm>
            <a:off x="8458200" y="3200400"/>
            <a:ext cx="1066800" cy="4572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895" name="Line 9"/>
          <p:cNvSpPr>
            <a:spLocks noChangeShapeType="1"/>
          </p:cNvSpPr>
          <p:nvPr/>
        </p:nvSpPr>
        <p:spPr bwMode="auto">
          <a:xfrm>
            <a:off x="4495800" y="3276600"/>
            <a:ext cx="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896" name="Line 10"/>
          <p:cNvSpPr>
            <a:spLocks noChangeShapeType="1"/>
          </p:cNvSpPr>
          <p:nvPr/>
        </p:nvSpPr>
        <p:spPr bwMode="auto">
          <a:xfrm>
            <a:off x="6934200" y="3200400"/>
            <a:ext cx="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897" name="Line 11"/>
          <p:cNvSpPr>
            <a:spLocks noChangeShapeType="1"/>
          </p:cNvSpPr>
          <p:nvPr/>
        </p:nvSpPr>
        <p:spPr bwMode="auto">
          <a:xfrm>
            <a:off x="8991600" y="3200400"/>
            <a:ext cx="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898" name="Oval 12"/>
          <p:cNvSpPr>
            <a:spLocks noChangeArrowheads="1"/>
          </p:cNvSpPr>
          <p:nvPr/>
        </p:nvSpPr>
        <p:spPr bwMode="auto">
          <a:xfrm>
            <a:off x="2514600" y="30480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899" name="Line 22"/>
          <p:cNvSpPr>
            <a:spLocks noChangeShapeType="1"/>
          </p:cNvSpPr>
          <p:nvPr/>
        </p:nvSpPr>
        <p:spPr bwMode="auto">
          <a:xfrm>
            <a:off x="3276600" y="3429000"/>
            <a:ext cx="381000" cy="0"/>
          </a:xfrm>
          <a:prstGeom prst="line">
            <a:avLst/>
          </a:prstGeom>
          <a:noFill/>
          <a:ln w="9525">
            <a:solidFill>
              <a:schemeClr val="tx1"/>
            </a:solidFill>
            <a:prstDash val="dash"/>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00" name="Oval 23"/>
          <p:cNvSpPr>
            <a:spLocks noChangeArrowheads="1"/>
          </p:cNvSpPr>
          <p:nvPr/>
        </p:nvSpPr>
        <p:spPr bwMode="auto">
          <a:xfrm>
            <a:off x="4648200" y="3457575"/>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01" name="Oval 24"/>
          <p:cNvSpPr>
            <a:spLocks noChangeArrowheads="1"/>
          </p:cNvSpPr>
          <p:nvPr/>
        </p:nvSpPr>
        <p:spPr bwMode="auto">
          <a:xfrm>
            <a:off x="7162800" y="34290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02" name="Line 26"/>
          <p:cNvSpPr>
            <a:spLocks noChangeShapeType="1"/>
          </p:cNvSpPr>
          <p:nvPr/>
        </p:nvSpPr>
        <p:spPr bwMode="auto">
          <a:xfrm>
            <a:off x="4724400" y="3505200"/>
            <a:ext cx="1143000" cy="0"/>
          </a:xfrm>
          <a:prstGeom prst="line">
            <a:avLst/>
          </a:prstGeom>
          <a:noFill/>
          <a:ln w="9525">
            <a:solidFill>
              <a:schemeClr val="tx1"/>
            </a:solidFill>
            <a:prstDash val="dash"/>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03" name="Line 27"/>
          <p:cNvSpPr>
            <a:spLocks noChangeShapeType="1"/>
          </p:cNvSpPr>
          <p:nvPr/>
        </p:nvSpPr>
        <p:spPr bwMode="auto">
          <a:xfrm>
            <a:off x="2590800" y="3048000"/>
            <a:ext cx="457200" cy="0"/>
          </a:xfrm>
          <a:prstGeom prst="line">
            <a:avLst/>
          </a:prstGeom>
          <a:noFill/>
          <a:ln w="9525">
            <a:solidFill>
              <a:schemeClr val="tx1"/>
            </a:solidFill>
            <a:prstDash val="dash"/>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04" name="Line 28"/>
          <p:cNvSpPr>
            <a:spLocks noChangeShapeType="1"/>
          </p:cNvSpPr>
          <p:nvPr/>
        </p:nvSpPr>
        <p:spPr bwMode="auto">
          <a:xfrm>
            <a:off x="3048000" y="3048000"/>
            <a:ext cx="0" cy="381000"/>
          </a:xfrm>
          <a:prstGeom prst="line">
            <a:avLst/>
          </a:prstGeom>
          <a:noFill/>
          <a:ln w="9525">
            <a:solidFill>
              <a:schemeClr val="tx1"/>
            </a:solidFill>
            <a:prstDash val="dash"/>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05" name="Line 29"/>
          <p:cNvSpPr>
            <a:spLocks noChangeShapeType="1"/>
          </p:cNvSpPr>
          <p:nvPr/>
        </p:nvSpPr>
        <p:spPr bwMode="auto">
          <a:xfrm>
            <a:off x="3048000" y="3429000"/>
            <a:ext cx="228600" cy="0"/>
          </a:xfrm>
          <a:prstGeom prst="line">
            <a:avLst/>
          </a:prstGeom>
          <a:noFill/>
          <a:ln w="9525">
            <a:solidFill>
              <a:schemeClr val="tx1"/>
            </a:solidFill>
            <a:prstDash val="dash"/>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06" name="Text Box 30"/>
          <p:cNvSpPr txBox="1">
            <a:spLocks noChangeArrowheads="1"/>
          </p:cNvSpPr>
          <p:nvPr/>
        </p:nvSpPr>
        <p:spPr bwMode="auto">
          <a:xfrm>
            <a:off x="2057400" y="2452688"/>
            <a:ext cx="9906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AVAIL</a:t>
            </a:r>
          </a:p>
        </p:txBody>
      </p:sp>
      <p:sp>
        <p:nvSpPr>
          <p:cNvPr id="165907" name="Text Box 31"/>
          <p:cNvSpPr txBox="1">
            <a:spLocks noChangeArrowheads="1"/>
          </p:cNvSpPr>
          <p:nvPr/>
        </p:nvSpPr>
        <p:spPr bwMode="auto">
          <a:xfrm>
            <a:off x="3962400" y="37480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NEW</a:t>
            </a:r>
          </a:p>
        </p:txBody>
      </p:sp>
      <p:sp>
        <p:nvSpPr>
          <p:cNvPr id="165908" name="Text Box 32"/>
          <p:cNvSpPr txBox="1">
            <a:spLocks noChangeArrowheads="1"/>
          </p:cNvSpPr>
          <p:nvPr/>
        </p:nvSpPr>
        <p:spPr bwMode="auto">
          <a:xfrm>
            <a:off x="3657600" y="3276601"/>
            <a:ext cx="762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ITEM</a:t>
            </a:r>
          </a:p>
        </p:txBody>
      </p:sp>
      <p:sp>
        <p:nvSpPr>
          <p:cNvPr id="165909" name="Line 33"/>
          <p:cNvSpPr>
            <a:spLocks noChangeShapeType="1"/>
          </p:cNvSpPr>
          <p:nvPr/>
        </p:nvSpPr>
        <p:spPr bwMode="auto">
          <a:xfrm>
            <a:off x="7162800" y="3429000"/>
            <a:ext cx="12954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0" name="Line 34"/>
          <p:cNvSpPr>
            <a:spLocks noChangeShapeType="1"/>
          </p:cNvSpPr>
          <p:nvPr/>
        </p:nvSpPr>
        <p:spPr bwMode="auto">
          <a:xfrm>
            <a:off x="9220200" y="3352800"/>
            <a:ext cx="152400" cy="152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1" name="Line 35"/>
          <p:cNvSpPr>
            <a:spLocks noChangeShapeType="1"/>
          </p:cNvSpPr>
          <p:nvPr/>
        </p:nvSpPr>
        <p:spPr bwMode="auto">
          <a:xfrm flipH="1">
            <a:off x="9220200" y="3352800"/>
            <a:ext cx="152400" cy="152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2" name="Rectangle 37"/>
          <p:cNvSpPr>
            <a:spLocks noChangeArrowheads="1"/>
          </p:cNvSpPr>
          <p:nvPr/>
        </p:nvSpPr>
        <p:spPr bwMode="auto">
          <a:xfrm>
            <a:off x="4191000" y="685800"/>
            <a:ext cx="9144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3" name="Rectangle 38"/>
          <p:cNvSpPr>
            <a:spLocks noChangeArrowheads="1"/>
          </p:cNvSpPr>
          <p:nvPr/>
        </p:nvSpPr>
        <p:spPr bwMode="auto">
          <a:xfrm>
            <a:off x="5410200" y="685800"/>
            <a:ext cx="10668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4" name="Rectangle 39"/>
          <p:cNvSpPr>
            <a:spLocks noChangeArrowheads="1"/>
          </p:cNvSpPr>
          <p:nvPr/>
        </p:nvSpPr>
        <p:spPr bwMode="auto">
          <a:xfrm>
            <a:off x="7086600" y="685800"/>
            <a:ext cx="10668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5" name="Rectangle 40"/>
          <p:cNvSpPr>
            <a:spLocks noChangeArrowheads="1"/>
          </p:cNvSpPr>
          <p:nvPr/>
        </p:nvSpPr>
        <p:spPr bwMode="auto">
          <a:xfrm>
            <a:off x="8686800" y="685800"/>
            <a:ext cx="9906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6" name="Rectangle 41"/>
          <p:cNvSpPr>
            <a:spLocks noChangeArrowheads="1"/>
          </p:cNvSpPr>
          <p:nvPr/>
        </p:nvSpPr>
        <p:spPr bwMode="auto">
          <a:xfrm>
            <a:off x="3124200" y="304800"/>
            <a:ext cx="533400" cy="4572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7" name="Oval 42"/>
          <p:cNvSpPr>
            <a:spLocks noChangeArrowheads="1"/>
          </p:cNvSpPr>
          <p:nvPr/>
        </p:nvSpPr>
        <p:spPr bwMode="auto">
          <a:xfrm>
            <a:off x="3352800" y="4572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8" name="Line 44"/>
          <p:cNvSpPr>
            <a:spLocks noChangeShapeType="1"/>
          </p:cNvSpPr>
          <p:nvPr/>
        </p:nvSpPr>
        <p:spPr bwMode="auto">
          <a:xfrm>
            <a:off x="4876800" y="952500"/>
            <a:ext cx="5334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19" name="Line 45"/>
          <p:cNvSpPr>
            <a:spLocks noChangeShapeType="1"/>
          </p:cNvSpPr>
          <p:nvPr/>
        </p:nvSpPr>
        <p:spPr bwMode="auto">
          <a:xfrm flipV="1">
            <a:off x="7943850" y="914401"/>
            <a:ext cx="742950" cy="28575"/>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20" name="Line 46"/>
          <p:cNvSpPr>
            <a:spLocks noChangeShapeType="1"/>
          </p:cNvSpPr>
          <p:nvPr/>
        </p:nvSpPr>
        <p:spPr bwMode="auto">
          <a:xfrm>
            <a:off x="4572000" y="6858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21" name="Line 47"/>
          <p:cNvSpPr>
            <a:spLocks noChangeShapeType="1"/>
          </p:cNvSpPr>
          <p:nvPr/>
        </p:nvSpPr>
        <p:spPr bwMode="auto">
          <a:xfrm>
            <a:off x="5867400" y="6858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22" name="Oval 48"/>
          <p:cNvSpPr>
            <a:spLocks noChangeArrowheads="1"/>
          </p:cNvSpPr>
          <p:nvPr/>
        </p:nvSpPr>
        <p:spPr bwMode="auto">
          <a:xfrm>
            <a:off x="4800600" y="9144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23" name="Oval 49"/>
          <p:cNvSpPr>
            <a:spLocks noChangeArrowheads="1"/>
          </p:cNvSpPr>
          <p:nvPr/>
        </p:nvSpPr>
        <p:spPr bwMode="auto">
          <a:xfrm>
            <a:off x="6248400" y="9144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24" name="Oval 50"/>
          <p:cNvSpPr>
            <a:spLocks noChangeArrowheads="1"/>
          </p:cNvSpPr>
          <p:nvPr/>
        </p:nvSpPr>
        <p:spPr bwMode="auto">
          <a:xfrm>
            <a:off x="7848600" y="9144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25" name="Line 51"/>
          <p:cNvSpPr>
            <a:spLocks noChangeShapeType="1"/>
          </p:cNvSpPr>
          <p:nvPr/>
        </p:nvSpPr>
        <p:spPr bwMode="auto">
          <a:xfrm>
            <a:off x="9144000" y="685800"/>
            <a:ext cx="5334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26" name="Text Box 55"/>
          <p:cNvSpPr txBox="1">
            <a:spLocks noChangeArrowheads="1"/>
          </p:cNvSpPr>
          <p:nvPr/>
        </p:nvSpPr>
        <p:spPr bwMode="auto">
          <a:xfrm>
            <a:off x="2209800" y="228601"/>
            <a:ext cx="10668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START</a:t>
            </a:r>
          </a:p>
        </p:txBody>
      </p:sp>
      <p:sp>
        <p:nvSpPr>
          <p:cNvPr id="165927" name="Line 56"/>
          <p:cNvSpPr>
            <a:spLocks noChangeShapeType="1"/>
          </p:cNvSpPr>
          <p:nvPr/>
        </p:nvSpPr>
        <p:spPr bwMode="auto">
          <a:xfrm>
            <a:off x="6324600" y="914400"/>
            <a:ext cx="7620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79888" name="Line 16"/>
          <p:cNvSpPr>
            <a:spLocks noChangeShapeType="1"/>
          </p:cNvSpPr>
          <p:nvPr/>
        </p:nvSpPr>
        <p:spPr bwMode="auto">
          <a:xfrm>
            <a:off x="2514600" y="3124200"/>
            <a:ext cx="0" cy="1371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79889" name="Line 17"/>
          <p:cNvSpPr>
            <a:spLocks noChangeShapeType="1"/>
          </p:cNvSpPr>
          <p:nvPr/>
        </p:nvSpPr>
        <p:spPr bwMode="auto">
          <a:xfrm>
            <a:off x="2514600" y="4495800"/>
            <a:ext cx="33528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79890" name="Line 18"/>
          <p:cNvSpPr>
            <a:spLocks noChangeShapeType="1"/>
          </p:cNvSpPr>
          <p:nvPr/>
        </p:nvSpPr>
        <p:spPr bwMode="auto">
          <a:xfrm flipV="1">
            <a:off x="5867400" y="3505200"/>
            <a:ext cx="0" cy="990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31" name="Line 19"/>
          <p:cNvSpPr>
            <a:spLocks noChangeShapeType="1"/>
          </p:cNvSpPr>
          <p:nvPr/>
        </p:nvSpPr>
        <p:spPr bwMode="auto">
          <a:xfrm>
            <a:off x="5867400" y="3505200"/>
            <a:ext cx="6096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nvGrpSpPr>
          <p:cNvPr id="2" name="Group 70"/>
          <p:cNvGrpSpPr>
            <a:grpSpLocks/>
          </p:cNvGrpSpPr>
          <p:nvPr/>
        </p:nvGrpSpPr>
        <p:grpSpPr bwMode="auto">
          <a:xfrm>
            <a:off x="3352800" y="533400"/>
            <a:ext cx="304800" cy="3048000"/>
            <a:chOff x="1152" y="336"/>
            <a:chExt cx="192" cy="1920"/>
          </a:xfrm>
        </p:grpSpPr>
        <p:sp>
          <p:nvSpPr>
            <p:cNvPr id="165941" name="Line 43"/>
            <p:cNvSpPr>
              <a:spLocks noChangeShapeType="1"/>
            </p:cNvSpPr>
            <p:nvPr/>
          </p:nvSpPr>
          <p:spPr bwMode="auto">
            <a:xfrm flipH="1">
              <a:off x="1152" y="336"/>
              <a:ext cx="48" cy="192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42" name="Line 57"/>
            <p:cNvSpPr>
              <a:spLocks noChangeShapeType="1"/>
            </p:cNvSpPr>
            <p:nvPr/>
          </p:nvSpPr>
          <p:spPr bwMode="auto">
            <a:xfrm>
              <a:off x="1152" y="2256"/>
              <a:ext cx="192"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sp>
        <p:nvSpPr>
          <p:cNvPr id="79931" name="Line 59"/>
          <p:cNvSpPr>
            <a:spLocks noChangeShapeType="1"/>
          </p:cNvSpPr>
          <p:nvPr/>
        </p:nvSpPr>
        <p:spPr bwMode="auto">
          <a:xfrm flipV="1">
            <a:off x="4648200" y="1676400"/>
            <a:ext cx="0" cy="1828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79932" name="Line 60"/>
          <p:cNvSpPr>
            <a:spLocks noChangeShapeType="1"/>
          </p:cNvSpPr>
          <p:nvPr/>
        </p:nvSpPr>
        <p:spPr bwMode="auto">
          <a:xfrm flipH="1">
            <a:off x="4038600" y="1676400"/>
            <a:ext cx="6096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79933" name="Line 61"/>
          <p:cNvSpPr>
            <a:spLocks noChangeShapeType="1"/>
          </p:cNvSpPr>
          <p:nvPr/>
        </p:nvSpPr>
        <p:spPr bwMode="auto">
          <a:xfrm flipV="1">
            <a:off x="4038600" y="990600"/>
            <a:ext cx="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79934" name="Line 62"/>
          <p:cNvSpPr>
            <a:spLocks noChangeShapeType="1"/>
          </p:cNvSpPr>
          <p:nvPr/>
        </p:nvSpPr>
        <p:spPr bwMode="auto">
          <a:xfrm>
            <a:off x="4038600" y="990600"/>
            <a:ext cx="1524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37" name="Text Box 63"/>
          <p:cNvSpPr txBox="1">
            <a:spLocks noChangeArrowheads="1"/>
          </p:cNvSpPr>
          <p:nvPr/>
        </p:nvSpPr>
        <p:spPr bwMode="auto">
          <a:xfrm>
            <a:off x="2590800" y="5105401"/>
            <a:ext cx="6477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INSERTION AT THE BEGINNING OF THE LINKED LIST</a:t>
            </a:r>
          </a:p>
        </p:txBody>
      </p:sp>
      <p:sp>
        <p:nvSpPr>
          <p:cNvPr id="165938" name="Line 64"/>
          <p:cNvSpPr>
            <a:spLocks noChangeShapeType="1"/>
          </p:cNvSpPr>
          <p:nvPr/>
        </p:nvSpPr>
        <p:spPr bwMode="auto">
          <a:xfrm>
            <a:off x="7543800" y="6858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39" name="Line 65"/>
          <p:cNvSpPr>
            <a:spLocks noChangeShapeType="1"/>
          </p:cNvSpPr>
          <p:nvPr/>
        </p:nvSpPr>
        <p:spPr bwMode="auto">
          <a:xfrm>
            <a:off x="9144000" y="6858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5940" name="Line 66"/>
          <p:cNvSpPr>
            <a:spLocks noChangeShapeType="1"/>
          </p:cNvSpPr>
          <p:nvPr/>
        </p:nvSpPr>
        <p:spPr bwMode="auto">
          <a:xfrm>
            <a:off x="3429000" y="457200"/>
            <a:ext cx="762000" cy="381000"/>
          </a:xfrm>
          <a:prstGeom prst="line">
            <a:avLst/>
          </a:prstGeom>
          <a:noFill/>
          <a:ln w="9525">
            <a:solidFill>
              <a:schemeClr val="tx1"/>
            </a:solidFill>
            <a:prstDash val="dash"/>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11808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8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88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98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9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99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9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99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8" grpId="0" animBg="1"/>
      <p:bldP spid="79889" grpId="0" animBg="1"/>
      <p:bldP spid="79890" grpId="0" animBg="1"/>
      <p:bldP spid="79931" grpId="0" animBg="1"/>
      <p:bldP spid="79932" grpId="0" animBg="1"/>
      <p:bldP spid="79933" grpId="0" animBg="1"/>
      <p:bldP spid="7993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u="sng"/>
              <a:t>INSERTING AT THE BEGINNING OF THE LIST</a:t>
            </a:r>
          </a:p>
          <a:p>
            <a:pPr eaLnBrk="1" hangingPunct="1"/>
            <a:r>
              <a:rPr lang="en-US"/>
              <a:t>Algorithm: INSFIRST (INFO, LINK,START,AVAIL,ITEM)</a:t>
            </a:r>
          </a:p>
          <a:p>
            <a:pPr eaLnBrk="1" hangingPunct="1">
              <a:buFontTx/>
              <a:buNone/>
            </a:pPr>
            <a:r>
              <a:rPr lang="en-US"/>
              <a:t>                   This algorithm inserts ITEM as the first node in the list</a:t>
            </a:r>
          </a:p>
          <a:p>
            <a:pPr eaLnBrk="1" hangingPunct="1"/>
            <a:r>
              <a:rPr lang="en-US"/>
              <a:t>Step 1: [OVERFLOW ?] If AVAIL=NULL, then </a:t>
            </a:r>
          </a:p>
          <a:p>
            <a:pPr eaLnBrk="1" hangingPunct="1">
              <a:buFontTx/>
              <a:buNone/>
            </a:pPr>
            <a:r>
              <a:rPr lang="en-US"/>
              <a:t>                Write: OVERFLOW</a:t>
            </a:r>
          </a:p>
          <a:p>
            <a:pPr eaLnBrk="1" hangingPunct="1">
              <a:buFontTx/>
              <a:buNone/>
            </a:pPr>
            <a:r>
              <a:rPr lang="en-US"/>
              <a:t>                 Return</a:t>
            </a:r>
          </a:p>
          <a:p>
            <a:pPr eaLnBrk="1" hangingPunct="1"/>
            <a:r>
              <a:rPr lang="en-US"/>
              <a:t>Step 2: [Remove first node from AVAIL list ]</a:t>
            </a:r>
          </a:p>
          <a:p>
            <a:pPr eaLnBrk="1" hangingPunct="1">
              <a:buFontTx/>
              <a:buNone/>
            </a:pPr>
            <a:r>
              <a:rPr lang="en-US"/>
              <a:t>                Set NEW:=AVAIL and AVAIL:=LINK[AVAIL].</a:t>
            </a:r>
          </a:p>
          <a:p>
            <a:pPr eaLnBrk="1" hangingPunct="1"/>
            <a:r>
              <a:rPr lang="en-US"/>
              <a:t>Step 3: Set INFO[NEW]:=ITEM [Copies new data into new node]</a:t>
            </a:r>
          </a:p>
          <a:p>
            <a:pPr eaLnBrk="1" hangingPunct="1"/>
            <a:r>
              <a:rPr lang="en-US"/>
              <a:t>Step 4: Set LINK[NEW]:= START </a:t>
            </a:r>
          </a:p>
          <a:p>
            <a:pPr eaLnBrk="1" hangingPunct="1">
              <a:buFontTx/>
              <a:buNone/>
            </a:pPr>
            <a:r>
              <a:rPr lang="en-US"/>
              <a:t>                [New node now points to original first node]                </a:t>
            </a:r>
          </a:p>
          <a:p>
            <a:pPr eaLnBrk="1" hangingPunct="1"/>
            <a:r>
              <a:rPr lang="en-US"/>
              <a:t>Step 5: Set START:=NEW [Changes START so it points to new</a:t>
            </a:r>
          </a:p>
          <a:p>
            <a:pPr eaLnBrk="1" hangingPunct="1">
              <a:buFontTx/>
              <a:buNone/>
            </a:pPr>
            <a:r>
              <a:rPr lang="en-US"/>
              <a:t>                                                  node]</a:t>
            </a:r>
          </a:p>
          <a:p>
            <a:pPr eaLnBrk="1" hangingPunct="1"/>
            <a:r>
              <a:rPr lang="en-US"/>
              <a:t>Step 6: Return</a:t>
            </a:r>
          </a:p>
          <a:p>
            <a:pPr lvl="4" eaLnBrk="1" hangingPunct="1"/>
            <a:endParaRPr lang="en-US"/>
          </a:p>
        </p:txBody>
      </p:sp>
    </p:spTree>
    <p:extLst>
      <p:ext uri="{BB962C8B-B14F-4D97-AF65-F5344CB8AC3E}">
        <p14:creationId xmlns:p14="http://schemas.microsoft.com/office/powerpoint/2010/main" val="13628822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3"/>
          <p:cNvSpPr>
            <a:spLocks noGrp="1" noChangeArrowheads="1"/>
          </p:cNvSpPr>
          <p:nvPr>
            <p:ph type="body" idx="1"/>
          </p:nvPr>
        </p:nvSpPr>
        <p:spPr>
          <a:xfrm>
            <a:off x="1524000" y="0"/>
            <a:ext cx="9144000" cy="6858000"/>
          </a:xfrm>
        </p:spPr>
        <p:txBody>
          <a:bodyPr/>
          <a:lstStyle/>
          <a:p>
            <a:pPr algn="ctr" eaLnBrk="1" hangingPunct="1">
              <a:lnSpc>
                <a:spcPct val="90000"/>
              </a:lnSpc>
              <a:buFontTx/>
              <a:buNone/>
            </a:pPr>
            <a:r>
              <a:rPr lang="en-US" b="1" u="sng" dirty="0"/>
              <a:t>INSERTING AFTER A GIVEN NODE</a:t>
            </a:r>
          </a:p>
          <a:p>
            <a:pPr eaLnBrk="1" hangingPunct="1">
              <a:lnSpc>
                <a:spcPct val="90000"/>
              </a:lnSpc>
            </a:pPr>
            <a:r>
              <a:rPr lang="en-US" dirty="0"/>
              <a:t>Algorithm: INSLOC(INFO, LINK,START,AVAIL, LOC, ITEM)</a:t>
            </a:r>
          </a:p>
          <a:p>
            <a:pPr eaLnBrk="1" hangingPunct="1">
              <a:lnSpc>
                <a:spcPct val="90000"/>
              </a:lnSpc>
              <a:buFontTx/>
              <a:buNone/>
            </a:pPr>
            <a:r>
              <a:rPr lang="en-US" dirty="0"/>
              <a:t>                    This algorithm inserts ITEM so that ITEM follows the </a:t>
            </a:r>
          </a:p>
          <a:p>
            <a:pPr eaLnBrk="1" hangingPunct="1">
              <a:lnSpc>
                <a:spcPct val="90000"/>
              </a:lnSpc>
              <a:buFontTx/>
              <a:buNone/>
            </a:pPr>
            <a:r>
              <a:rPr lang="en-US" dirty="0"/>
              <a:t>                    node with location LOC or inserts ITEM as the first node</a:t>
            </a:r>
          </a:p>
          <a:p>
            <a:pPr eaLnBrk="1" hangingPunct="1">
              <a:lnSpc>
                <a:spcPct val="90000"/>
              </a:lnSpc>
              <a:buFontTx/>
              <a:buNone/>
            </a:pPr>
            <a:r>
              <a:rPr lang="en-US" dirty="0"/>
              <a:t>                    when LOC =NULL</a:t>
            </a:r>
          </a:p>
          <a:p>
            <a:pPr eaLnBrk="1" hangingPunct="1">
              <a:lnSpc>
                <a:spcPct val="90000"/>
              </a:lnSpc>
            </a:pPr>
            <a:r>
              <a:rPr lang="en-US" dirty="0"/>
              <a:t>Step 1: [OVERFLOW] If AVAIL=NULL, then:</a:t>
            </a:r>
          </a:p>
          <a:p>
            <a:pPr eaLnBrk="1" hangingPunct="1">
              <a:lnSpc>
                <a:spcPct val="90000"/>
              </a:lnSpc>
            </a:pPr>
            <a:r>
              <a:rPr lang="en-US" dirty="0"/>
              <a:t>                                     Write: OVERFLOW</a:t>
            </a:r>
          </a:p>
          <a:p>
            <a:pPr eaLnBrk="1" hangingPunct="1">
              <a:lnSpc>
                <a:spcPct val="90000"/>
              </a:lnSpc>
            </a:pPr>
            <a:r>
              <a:rPr lang="en-US" dirty="0"/>
              <a:t>                                      Return</a:t>
            </a:r>
          </a:p>
          <a:p>
            <a:pPr eaLnBrk="1" hangingPunct="1">
              <a:lnSpc>
                <a:spcPct val="90000"/>
              </a:lnSpc>
            </a:pPr>
            <a:r>
              <a:rPr lang="en-US" dirty="0"/>
              <a:t>Step 2: [Remove first node from AVAIL list]</a:t>
            </a:r>
          </a:p>
          <a:p>
            <a:pPr eaLnBrk="1" hangingPunct="1">
              <a:lnSpc>
                <a:spcPct val="90000"/>
              </a:lnSpc>
              <a:buFontTx/>
              <a:buNone/>
            </a:pPr>
            <a:r>
              <a:rPr lang="en-US" dirty="0"/>
              <a:t>                 Set NEW:=AVAIL and AVAIL:=LINK[AVAIL]</a:t>
            </a:r>
          </a:p>
          <a:p>
            <a:pPr eaLnBrk="1" hangingPunct="1">
              <a:lnSpc>
                <a:spcPct val="90000"/>
              </a:lnSpc>
            </a:pPr>
            <a:r>
              <a:rPr lang="en-US" dirty="0"/>
              <a:t>Step 3: Set INFO[NEW]:= ITEM [Copies new data  into new node]</a:t>
            </a:r>
          </a:p>
          <a:p>
            <a:pPr eaLnBrk="1" hangingPunct="1">
              <a:lnSpc>
                <a:spcPct val="90000"/>
              </a:lnSpc>
            </a:pPr>
            <a:r>
              <a:rPr lang="en-US" dirty="0"/>
              <a:t>Step 4: If LOC=NULL, then:</a:t>
            </a:r>
          </a:p>
          <a:p>
            <a:pPr eaLnBrk="1" hangingPunct="1">
              <a:lnSpc>
                <a:spcPct val="90000"/>
              </a:lnSpc>
              <a:buFontTx/>
              <a:buNone/>
            </a:pPr>
            <a:r>
              <a:rPr lang="en-US" dirty="0"/>
              <a:t>                Set LINK[NEW]:=START and START:=NEW</a:t>
            </a:r>
          </a:p>
          <a:p>
            <a:pPr eaLnBrk="1" hangingPunct="1">
              <a:lnSpc>
                <a:spcPct val="90000"/>
              </a:lnSpc>
              <a:buFontTx/>
              <a:buNone/>
            </a:pPr>
            <a:r>
              <a:rPr lang="en-US" dirty="0"/>
              <a:t>                Else:</a:t>
            </a:r>
          </a:p>
          <a:p>
            <a:pPr eaLnBrk="1" hangingPunct="1">
              <a:lnSpc>
                <a:spcPct val="90000"/>
              </a:lnSpc>
              <a:buFontTx/>
              <a:buNone/>
            </a:pPr>
            <a:r>
              <a:rPr lang="en-US" dirty="0"/>
              <a:t>                Set LINK[NEW]:=LINK[LOC] and LINK[LOC]:= NEW</a:t>
            </a:r>
          </a:p>
          <a:p>
            <a:pPr eaLnBrk="1" hangingPunct="1">
              <a:lnSpc>
                <a:spcPct val="90000"/>
              </a:lnSpc>
              <a:buFontTx/>
              <a:buNone/>
            </a:pPr>
            <a:r>
              <a:rPr lang="en-US" dirty="0"/>
              <a:t>                [End of If structure]  </a:t>
            </a:r>
          </a:p>
          <a:p>
            <a:pPr eaLnBrk="1" hangingPunct="1">
              <a:lnSpc>
                <a:spcPct val="90000"/>
              </a:lnSpc>
            </a:pPr>
            <a:r>
              <a:rPr lang="en-US" dirty="0"/>
              <a:t>Step 5: Return</a:t>
            </a:r>
          </a:p>
        </p:txBody>
      </p:sp>
    </p:spTree>
    <p:extLst>
      <p:ext uri="{BB962C8B-B14F-4D97-AF65-F5344CB8AC3E}">
        <p14:creationId xmlns:p14="http://schemas.microsoft.com/office/powerpoint/2010/main" val="348405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93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793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793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793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793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793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7938">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7938">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7938">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7938">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7938">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7938">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7938">
                                            <p:txEl>
                                              <p:pRg st="13" end="1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7938">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7938">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7938">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7938">
                                            <p:txEl>
                                              <p:pRg st="5" end="5"/>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7938">
                                            <p:txEl>
                                              <p:pRg st="6" end="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67938">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7938">
                                            <p:txEl>
                                              <p:pRg st="8" end="8"/>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67938">
                                            <p:txEl>
                                              <p:pRg st="9" end="9"/>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67938">
                                            <p:txEl>
                                              <p:pRg st="10" end="10"/>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67938">
                                            <p:txEl>
                                              <p:pRg st="11" end="11"/>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67938">
                                            <p:txEl>
                                              <p:pRg st="12" end="12"/>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67938">
                                            <p:txEl>
                                              <p:pRg st="13" end="13"/>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6793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3"/>
          <p:cNvSpPr>
            <a:spLocks noGrp="1" noChangeArrowheads="1"/>
          </p:cNvSpPr>
          <p:nvPr>
            <p:ph type="body" idx="1"/>
          </p:nvPr>
        </p:nvSpPr>
        <p:spPr>
          <a:xfrm>
            <a:off x="1524000" y="0"/>
            <a:ext cx="9144000" cy="6858000"/>
          </a:xfrm>
        </p:spPr>
        <p:txBody>
          <a:bodyPr/>
          <a:lstStyle/>
          <a:p>
            <a:pPr eaLnBrk="1" hangingPunct="1"/>
            <a:endParaRPr lang="en-US"/>
          </a:p>
        </p:txBody>
      </p:sp>
      <p:sp>
        <p:nvSpPr>
          <p:cNvPr id="168963" name="Rectangle 5"/>
          <p:cNvSpPr>
            <a:spLocks noChangeArrowheads="1"/>
          </p:cNvSpPr>
          <p:nvPr/>
        </p:nvSpPr>
        <p:spPr bwMode="auto">
          <a:xfrm>
            <a:off x="3505200" y="3352800"/>
            <a:ext cx="9906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64" name="Rectangle 6"/>
          <p:cNvSpPr>
            <a:spLocks noChangeArrowheads="1"/>
          </p:cNvSpPr>
          <p:nvPr/>
        </p:nvSpPr>
        <p:spPr bwMode="auto">
          <a:xfrm>
            <a:off x="4953000" y="3429000"/>
            <a:ext cx="9906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65" name="Rectangle 7"/>
          <p:cNvSpPr>
            <a:spLocks noChangeArrowheads="1"/>
          </p:cNvSpPr>
          <p:nvPr/>
        </p:nvSpPr>
        <p:spPr bwMode="auto">
          <a:xfrm>
            <a:off x="6553200" y="3429000"/>
            <a:ext cx="9906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66" name="Rectangle 8"/>
          <p:cNvSpPr>
            <a:spLocks noChangeArrowheads="1"/>
          </p:cNvSpPr>
          <p:nvPr/>
        </p:nvSpPr>
        <p:spPr bwMode="auto">
          <a:xfrm>
            <a:off x="8382000" y="3429000"/>
            <a:ext cx="9906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67" name="Rectangle 9"/>
          <p:cNvSpPr>
            <a:spLocks noChangeArrowheads="1"/>
          </p:cNvSpPr>
          <p:nvPr/>
        </p:nvSpPr>
        <p:spPr bwMode="auto">
          <a:xfrm>
            <a:off x="2590800" y="2743200"/>
            <a:ext cx="4572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cxnSp>
        <p:nvCxnSpPr>
          <p:cNvPr id="263178" name="AutoShape 10"/>
          <p:cNvCxnSpPr>
            <a:cxnSpLocks noChangeShapeType="1"/>
            <a:stCxn id="168986" idx="6"/>
            <a:endCxn id="168963" idx="1"/>
          </p:cNvCxnSpPr>
          <p:nvPr/>
        </p:nvCxnSpPr>
        <p:spPr bwMode="auto">
          <a:xfrm flipH="1">
            <a:off x="3505200" y="2095500"/>
            <a:ext cx="2286000" cy="1524000"/>
          </a:xfrm>
          <a:prstGeom prst="curvedConnector5">
            <a:avLst>
              <a:gd name="adj1" fmla="val -10000"/>
              <a:gd name="adj2" fmla="val 42500"/>
              <a:gd name="adj3" fmla="val 110000"/>
            </a:avLst>
          </a:prstGeom>
          <a:noFill/>
          <a:ln w="9525">
            <a:solidFill>
              <a:schemeClr val="tx1"/>
            </a:solidFill>
            <a:round/>
            <a:headEnd/>
            <a:tailEnd type="triangle" w="med" len="med"/>
          </a:ln>
        </p:spPr>
      </p:cxnSp>
      <p:cxnSp>
        <p:nvCxnSpPr>
          <p:cNvPr id="263179" name="AutoShape 11"/>
          <p:cNvCxnSpPr>
            <a:cxnSpLocks noChangeShapeType="1"/>
          </p:cNvCxnSpPr>
          <p:nvPr/>
        </p:nvCxnSpPr>
        <p:spPr bwMode="auto">
          <a:xfrm flipV="1">
            <a:off x="4267200" y="2133600"/>
            <a:ext cx="2286000" cy="1524000"/>
          </a:xfrm>
          <a:prstGeom prst="curvedConnector3">
            <a:avLst>
              <a:gd name="adj1" fmla="val 50000"/>
            </a:avLst>
          </a:prstGeom>
          <a:noFill/>
          <a:ln w="9525">
            <a:solidFill>
              <a:schemeClr val="tx1"/>
            </a:solidFill>
            <a:round/>
            <a:headEnd/>
            <a:tailEnd type="triangle" w="med" len="med"/>
          </a:ln>
        </p:spPr>
      </p:cxnSp>
      <p:sp>
        <p:nvSpPr>
          <p:cNvPr id="168970" name="Oval 13"/>
          <p:cNvSpPr>
            <a:spLocks noChangeArrowheads="1"/>
          </p:cNvSpPr>
          <p:nvPr/>
        </p:nvSpPr>
        <p:spPr bwMode="auto">
          <a:xfrm>
            <a:off x="5638800" y="35814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71" name="Oval 14"/>
          <p:cNvSpPr>
            <a:spLocks noChangeArrowheads="1"/>
          </p:cNvSpPr>
          <p:nvPr/>
        </p:nvSpPr>
        <p:spPr bwMode="auto">
          <a:xfrm>
            <a:off x="7315200" y="36576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72" name="Line 15"/>
          <p:cNvSpPr>
            <a:spLocks noChangeShapeType="1"/>
          </p:cNvSpPr>
          <p:nvPr/>
        </p:nvSpPr>
        <p:spPr bwMode="auto">
          <a:xfrm>
            <a:off x="5638800" y="3581400"/>
            <a:ext cx="9144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73" name="Line 16"/>
          <p:cNvSpPr>
            <a:spLocks noChangeShapeType="1"/>
          </p:cNvSpPr>
          <p:nvPr/>
        </p:nvSpPr>
        <p:spPr bwMode="auto">
          <a:xfrm>
            <a:off x="7391400" y="3657600"/>
            <a:ext cx="9906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74" name="Rectangle 18"/>
          <p:cNvSpPr>
            <a:spLocks noChangeArrowheads="1"/>
          </p:cNvSpPr>
          <p:nvPr/>
        </p:nvSpPr>
        <p:spPr bwMode="auto">
          <a:xfrm>
            <a:off x="3657600" y="1828800"/>
            <a:ext cx="9144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75" name="Rectangle 19"/>
          <p:cNvSpPr>
            <a:spLocks noChangeArrowheads="1"/>
          </p:cNvSpPr>
          <p:nvPr/>
        </p:nvSpPr>
        <p:spPr bwMode="auto">
          <a:xfrm>
            <a:off x="4876800" y="1828800"/>
            <a:ext cx="10668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76" name="Rectangle 20"/>
          <p:cNvSpPr>
            <a:spLocks noChangeArrowheads="1"/>
          </p:cNvSpPr>
          <p:nvPr/>
        </p:nvSpPr>
        <p:spPr bwMode="auto">
          <a:xfrm>
            <a:off x="6553200" y="1828800"/>
            <a:ext cx="10668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77" name="Rectangle 21"/>
          <p:cNvSpPr>
            <a:spLocks noChangeArrowheads="1"/>
          </p:cNvSpPr>
          <p:nvPr/>
        </p:nvSpPr>
        <p:spPr bwMode="auto">
          <a:xfrm>
            <a:off x="8153400" y="1828800"/>
            <a:ext cx="990600" cy="5334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78" name="Rectangle 22"/>
          <p:cNvSpPr>
            <a:spLocks noChangeArrowheads="1"/>
          </p:cNvSpPr>
          <p:nvPr/>
        </p:nvSpPr>
        <p:spPr bwMode="auto">
          <a:xfrm>
            <a:off x="2590800" y="1447800"/>
            <a:ext cx="533400" cy="4572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79" name="Oval 23"/>
          <p:cNvSpPr>
            <a:spLocks noChangeArrowheads="1"/>
          </p:cNvSpPr>
          <p:nvPr/>
        </p:nvSpPr>
        <p:spPr bwMode="auto">
          <a:xfrm>
            <a:off x="2819400" y="16002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0" name="Line 24"/>
          <p:cNvSpPr>
            <a:spLocks noChangeShapeType="1"/>
          </p:cNvSpPr>
          <p:nvPr/>
        </p:nvSpPr>
        <p:spPr bwMode="auto">
          <a:xfrm>
            <a:off x="2895600" y="1676400"/>
            <a:ext cx="762000" cy="3810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1" name="Line 25"/>
          <p:cNvSpPr>
            <a:spLocks noChangeShapeType="1"/>
          </p:cNvSpPr>
          <p:nvPr/>
        </p:nvSpPr>
        <p:spPr bwMode="auto">
          <a:xfrm>
            <a:off x="4343400" y="2133600"/>
            <a:ext cx="5334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2" name="Line 26"/>
          <p:cNvSpPr>
            <a:spLocks noChangeShapeType="1"/>
          </p:cNvSpPr>
          <p:nvPr/>
        </p:nvSpPr>
        <p:spPr bwMode="auto">
          <a:xfrm flipV="1">
            <a:off x="7410450" y="2057401"/>
            <a:ext cx="742950" cy="28575"/>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3" name="Line 27"/>
          <p:cNvSpPr>
            <a:spLocks noChangeShapeType="1"/>
          </p:cNvSpPr>
          <p:nvPr/>
        </p:nvSpPr>
        <p:spPr bwMode="auto">
          <a:xfrm>
            <a:off x="4038600" y="18288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4" name="Line 28"/>
          <p:cNvSpPr>
            <a:spLocks noChangeShapeType="1"/>
          </p:cNvSpPr>
          <p:nvPr/>
        </p:nvSpPr>
        <p:spPr bwMode="auto">
          <a:xfrm>
            <a:off x="5334000" y="18288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5" name="Oval 29"/>
          <p:cNvSpPr>
            <a:spLocks noChangeArrowheads="1"/>
          </p:cNvSpPr>
          <p:nvPr/>
        </p:nvSpPr>
        <p:spPr bwMode="auto">
          <a:xfrm>
            <a:off x="4267200" y="20574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6" name="Oval 30"/>
          <p:cNvSpPr>
            <a:spLocks noChangeArrowheads="1"/>
          </p:cNvSpPr>
          <p:nvPr/>
        </p:nvSpPr>
        <p:spPr bwMode="auto">
          <a:xfrm>
            <a:off x="5715000" y="20574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7" name="Oval 31"/>
          <p:cNvSpPr>
            <a:spLocks noChangeArrowheads="1"/>
          </p:cNvSpPr>
          <p:nvPr/>
        </p:nvSpPr>
        <p:spPr bwMode="auto">
          <a:xfrm>
            <a:off x="7315200" y="20574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8" name="Line 32"/>
          <p:cNvSpPr>
            <a:spLocks noChangeShapeType="1"/>
          </p:cNvSpPr>
          <p:nvPr/>
        </p:nvSpPr>
        <p:spPr bwMode="auto">
          <a:xfrm>
            <a:off x="8610600" y="1828800"/>
            <a:ext cx="5334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89" name="Text Box 33"/>
          <p:cNvSpPr txBox="1">
            <a:spLocks noChangeArrowheads="1"/>
          </p:cNvSpPr>
          <p:nvPr/>
        </p:nvSpPr>
        <p:spPr bwMode="auto">
          <a:xfrm>
            <a:off x="2362200" y="2286001"/>
            <a:ext cx="9144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AVAIL</a:t>
            </a:r>
          </a:p>
        </p:txBody>
      </p:sp>
      <p:sp>
        <p:nvSpPr>
          <p:cNvPr id="168990" name="Text Box 34"/>
          <p:cNvSpPr txBox="1">
            <a:spLocks noChangeArrowheads="1"/>
          </p:cNvSpPr>
          <p:nvPr/>
        </p:nvSpPr>
        <p:spPr bwMode="auto">
          <a:xfrm>
            <a:off x="2362200" y="1066801"/>
            <a:ext cx="14478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START</a:t>
            </a:r>
          </a:p>
        </p:txBody>
      </p:sp>
      <p:sp>
        <p:nvSpPr>
          <p:cNvPr id="168991" name="Oval 35"/>
          <p:cNvSpPr>
            <a:spLocks noChangeArrowheads="1"/>
          </p:cNvSpPr>
          <p:nvPr/>
        </p:nvSpPr>
        <p:spPr bwMode="auto">
          <a:xfrm>
            <a:off x="4191000" y="35814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63205" name="Line 37"/>
          <p:cNvSpPr>
            <a:spLocks noChangeShapeType="1"/>
          </p:cNvSpPr>
          <p:nvPr/>
        </p:nvSpPr>
        <p:spPr bwMode="auto">
          <a:xfrm>
            <a:off x="4267200" y="3657600"/>
            <a:ext cx="685800" cy="0"/>
          </a:xfrm>
          <a:prstGeom prst="line">
            <a:avLst/>
          </a:prstGeom>
          <a:noFill/>
          <a:ln w="9525">
            <a:solidFill>
              <a:schemeClr val="tx1"/>
            </a:solidFill>
            <a:prstDash val="dash"/>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93" name="Line 57"/>
          <p:cNvSpPr>
            <a:spLocks noChangeShapeType="1"/>
          </p:cNvSpPr>
          <p:nvPr/>
        </p:nvSpPr>
        <p:spPr bwMode="auto">
          <a:xfrm>
            <a:off x="7086600" y="18288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94" name="Line 58"/>
          <p:cNvSpPr>
            <a:spLocks noChangeShapeType="1"/>
          </p:cNvSpPr>
          <p:nvPr/>
        </p:nvSpPr>
        <p:spPr bwMode="auto">
          <a:xfrm>
            <a:off x="3962400" y="33528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95" name="Line 59"/>
          <p:cNvSpPr>
            <a:spLocks noChangeShapeType="1"/>
          </p:cNvSpPr>
          <p:nvPr/>
        </p:nvSpPr>
        <p:spPr bwMode="auto">
          <a:xfrm>
            <a:off x="5410200" y="34290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96" name="Line 60"/>
          <p:cNvSpPr>
            <a:spLocks noChangeShapeType="1"/>
          </p:cNvSpPr>
          <p:nvPr/>
        </p:nvSpPr>
        <p:spPr bwMode="auto">
          <a:xfrm>
            <a:off x="7010400" y="34290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97" name="Line 61"/>
          <p:cNvSpPr>
            <a:spLocks noChangeShapeType="1"/>
          </p:cNvSpPr>
          <p:nvPr/>
        </p:nvSpPr>
        <p:spPr bwMode="auto">
          <a:xfrm>
            <a:off x="8610600" y="18288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98" name="Line 62"/>
          <p:cNvSpPr>
            <a:spLocks noChangeShapeType="1"/>
          </p:cNvSpPr>
          <p:nvPr/>
        </p:nvSpPr>
        <p:spPr bwMode="auto">
          <a:xfrm>
            <a:off x="8839200" y="3429000"/>
            <a:ext cx="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8999" name="Line 63"/>
          <p:cNvSpPr>
            <a:spLocks noChangeShapeType="1"/>
          </p:cNvSpPr>
          <p:nvPr/>
        </p:nvSpPr>
        <p:spPr bwMode="auto">
          <a:xfrm>
            <a:off x="8839200" y="3429000"/>
            <a:ext cx="5334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63232" name="Line 64"/>
          <p:cNvSpPr>
            <a:spLocks noChangeShapeType="1"/>
          </p:cNvSpPr>
          <p:nvPr/>
        </p:nvSpPr>
        <p:spPr bwMode="auto">
          <a:xfrm>
            <a:off x="5715000" y="2057400"/>
            <a:ext cx="838200" cy="0"/>
          </a:xfrm>
          <a:prstGeom prst="line">
            <a:avLst/>
          </a:prstGeom>
          <a:noFill/>
          <a:ln w="9525">
            <a:solidFill>
              <a:schemeClr val="tx1"/>
            </a:solidFill>
            <a:prstDash val="dash"/>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nvGrpSpPr>
          <p:cNvPr id="2" name="Group 66"/>
          <p:cNvGrpSpPr>
            <a:grpSpLocks/>
          </p:cNvGrpSpPr>
          <p:nvPr/>
        </p:nvGrpSpPr>
        <p:grpSpPr bwMode="auto">
          <a:xfrm>
            <a:off x="2819400" y="2971800"/>
            <a:ext cx="2133600" cy="1143000"/>
            <a:chOff x="816" y="1872"/>
            <a:chExt cx="1344" cy="720"/>
          </a:xfrm>
        </p:grpSpPr>
        <p:sp>
          <p:nvSpPr>
            <p:cNvPr id="169012" name="Line 12"/>
            <p:cNvSpPr>
              <a:spLocks noChangeShapeType="1"/>
            </p:cNvSpPr>
            <p:nvPr/>
          </p:nvSpPr>
          <p:spPr bwMode="auto">
            <a:xfrm>
              <a:off x="816" y="1872"/>
              <a:ext cx="0" cy="72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9013" name="Line 38"/>
            <p:cNvSpPr>
              <a:spLocks noChangeShapeType="1"/>
            </p:cNvSpPr>
            <p:nvPr/>
          </p:nvSpPr>
          <p:spPr bwMode="auto">
            <a:xfrm>
              <a:off x="816" y="2592"/>
              <a:ext cx="1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9014" name="Line 40"/>
            <p:cNvSpPr>
              <a:spLocks noChangeShapeType="1"/>
            </p:cNvSpPr>
            <p:nvPr/>
          </p:nvSpPr>
          <p:spPr bwMode="auto">
            <a:xfrm flipV="1">
              <a:off x="2016" y="2352"/>
              <a:ext cx="0" cy="24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9015" name="Line 65"/>
            <p:cNvSpPr>
              <a:spLocks noChangeShapeType="1"/>
            </p:cNvSpPr>
            <p:nvPr/>
          </p:nvSpPr>
          <p:spPr bwMode="auto">
            <a:xfrm>
              <a:off x="2016" y="2352"/>
              <a:ext cx="144"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sp>
        <p:nvSpPr>
          <p:cNvPr id="169002" name="Line 67"/>
          <p:cNvSpPr>
            <a:spLocks noChangeShapeType="1"/>
          </p:cNvSpPr>
          <p:nvPr/>
        </p:nvSpPr>
        <p:spPr bwMode="auto">
          <a:xfrm flipH="1" flipV="1">
            <a:off x="2667000" y="3581400"/>
            <a:ext cx="76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nvGrpSpPr>
          <p:cNvPr id="3" name="Group 75"/>
          <p:cNvGrpSpPr>
            <a:grpSpLocks/>
          </p:cNvGrpSpPr>
          <p:nvPr/>
        </p:nvGrpSpPr>
        <p:grpSpPr bwMode="auto">
          <a:xfrm>
            <a:off x="2667000" y="3124200"/>
            <a:ext cx="762000" cy="457200"/>
            <a:chOff x="720" y="1968"/>
            <a:chExt cx="480" cy="288"/>
          </a:xfrm>
        </p:grpSpPr>
        <p:sp>
          <p:nvSpPr>
            <p:cNvPr id="169010" name="Line 36"/>
            <p:cNvSpPr>
              <a:spLocks noChangeShapeType="1"/>
            </p:cNvSpPr>
            <p:nvPr/>
          </p:nvSpPr>
          <p:spPr bwMode="auto">
            <a:xfrm>
              <a:off x="720" y="2256"/>
              <a:ext cx="480" cy="0"/>
            </a:xfrm>
            <a:prstGeom prst="line">
              <a:avLst/>
            </a:prstGeom>
            <a:noFill/>
            <a:ln w="9525">
              <a:solidFill>
                <a:schemeClr val="tx1"/>
              </a:solidFill>
              <a:prstDash val="dash"/>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9011" name="Line 68"/>
            <p:cNvSpPr>
              <a:spLocks noChangeShapeType="1"/>
            </p:cNvSpPr>
            <p:nvPr/>
          </p:nvSpPr>
          <p:spPr bwMode="auto">
            <a:xfrm flipV="1">
              <a:off x="720" y="1968"/>
              <a:ext cx="0" cy="288"/>
            </a:xfrm>
            <a:prstGeom prst="line">
              <a:avLst/>
            </a:prstGeom>
            <a:noFill/>
            <a:ln w="9525">
              <a:solidFill>
                <a:schemeClr val="tx1"/>
              </a:solidFill>
              <a:prstDash val="dash"/>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sp>
        <p:nvSpPr>
          <p:cNvPr id="169004" name="Text Box 69"/>
          <p:cNvSpPr txBox="1">
            <a:spLocks noChangeArrowheads="1"/>
          </p:cNvSpPr>
          <p:nvPr/>
        </p:nvSpPr>
        <p:spPr bwMode="auto">
          <a:xfrm>
            <a:off x="3505200" y="4495801"/>
            <a:ext cx="10668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NEW</a:t>
            </a:r>
          </a:p>
        </p:txBody>
      </p:sp>
      <p:sp>
        <p:nvSpPr>
          <p:cNvPr id="169005" name="Line 70"/>
          <p:cNvSpPr>
            <a:spLocks noChangeShapeType="1"/>
          </p:cNvSpPr>
          <p:nvPr/>
        </p:nvSpPr>
        <p:spPr bwMode="auto">
          <a:xfrm flipV="1">
            <a:off x="3810000" y="3886200"/>
            <a:ext cx="0" cy="6858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69006" name="Text Box 71"/>
          <p:cNvSpPr txBox="1">
            <a:spLocks noChangeArrowheads="1"/>
          </p:cNvSpPr>
          <p:nvPr/>
        </p:nvSpPr>
        <p:spPr bwMode="auto">
          <a:xfrm>
            <a:off x="4953000" y="1143001"/>
            <a:ext cx="762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LOC</a:t>
            </a:r>
          </a:p>
        </p:txBody>
      </p:sp>
      <p:sp>
        <p:nvSpPr>
          <p:cNvPr id="169007" name="Line 72"/>
          <p:cNvSpPr>
            <a:spLocks noChangeShapeType="1"/>
          </p:cNvSpPr>
          <p:nvPr/>
        </p:nvSpPr>
        <p:spPr bwMode="auto">
          <a:xfrm>
            <a:off x="5257800" y="1447800"/>
            <a:ext cx="0" cy="3810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63241" name="Text Box 73"/>
          <p:cNvSpPr txBox="1">
            <a:spLocks noChangeArrowheads="1"/>
          </p:cNvSpPr>
          <p:nvPr/>
        </p:nvSpPr>
        <p:spPr bwMode="auto">
          <a:xfrm>
            <a:off x="3352800" y="5638801"/>
            <a:ext cx="762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 18</a:t>
            </a:r>
          </a:p>
        </p:txBody>
      </p:sp>
      <p:sp>
        <p:nvSpPr>
          <p:cNvPr id="169009" name="Text Box 74"/>
          <p:cNvSpPr txBox="1">
            <a:spLocks noChangeArrowheads="1"/>
          </p:cNvSpPr>
          <p:nvPr/>
        </p:nvSpPr>
        <p:spPr bwMode="auto">
          <a:xfrm>
            <a:off x="3962400" y="5791201"/>
            <a:ext cx="9906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ITEM</a:t>
            </a:r>
          </a:p>
        </p:txBody>
      </p:sp>
    </p:spTree>
    <p:extLst>
      <p:ext uri="{BB962C8B-B14F-4D97-AF65-F5344CB8AC3E}">
        <p14:creationId xmlns:p14="http://schemas.microsoft.com/office/powerpoint/2010/main" val="50022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 0  L 0 -0.33302  E" pathEditMode="relative" ptsTypes="">
                                      <p:cBhvr>
                                        <p:cTn id="6" dur="2000" fill="hold"/>
                                        <p:tgtEl>
                                          <p:spTgt spid="263241"/>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0" nodeType="clickEffect">
                                  <p:stCondLst>
                                    <p:cond delay="0"/>
                                  </p:stCondLst>
                                  <p:childTnLst>
                                    <p:animEffect transition="out" filter="wipe(down)">
                                      <p:cBhvr>
                                        <p:cTn id="14" dur="500"/>
                                        <p:tgtEl>
                                          <p:spTgt spid="263205"/>
                                        </p:tgtEl>
                                      </p:cBhvr>
                                    </p:animEffect>
                                    <p:set>
                                      <p:cBhvr>
                                        <p:cTn id="15" dur="1" fill="hold">
                                          <p:stCondLst>
                                            <p:cond delay="499"/>
                                          </p:stCondLst>
                                        </p:cTn>
                                        <p:tgtEl>
                                          <p:spTgt spid="26320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nodeType="clickEffect">
                                  <p:stCondLst>
                                    <p:cond delay="0"/>
                                  </p:stCondLst>
                                  <p:childTnLst>
                                    <p:animEffect transition="out" filter="wipe(down)">
                                      <p:cBhvr>
                                        <p:cTn id="19" dur="500"/>
                                        <p:tgtEl>
                                          <p:spTgt spid="3"/>
                                        </p:tgtEl>
                                      </p:cBhvr>
                                    </p:animEffect>
                                    <p:set>
                                      <p:cBhvr>
                                        <p:cTn id="20" dur="1" fill="hold">
                                          <p:stCondLst>
                                            <p:cond delay="499"/>
                                          </p:stCondLst>
                                        </p:cTn>
                                        <p:tgtEl>
                                          <p:spTgt spid="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317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grpId="0" nodeType="clickEffect">
                                  <p:stCondLst>
                                    <p:cond delay="0"/>
                                  </p:stCondLst>
                                  <p:childTnLst>
                                    <p:animEffect transition="out" filter="wipe(down)">
                                      <p:cBhvr>
                                        <p:cTn id="28" dur="500"/>
                                        <p:tgtEl>
                                          <p:spTgt spid="263232"/>
                                        </p:tgtEl>
                                      </p:cBhvr>
                                    </p:animEffect>
                                    <p:set>
                                      <p:cBhvr>
                                        <p:cTn id="29" dur="1" fill="hold">
                                          <p:stCondLst>
                                            <p:cond delay="499"/>
                                          </p:stCondLst>
                                        </p:cTn>
                                        <p:tgtEl>
                                          <p:spTgt spid="263232"/>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63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205" grpId="0" animBg="1"/>
      <p:bldP spid="263232" grpId="0" animBg="1"/>
      <p:bldP spid="263241"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3"/>
          <p:cNvSpPr>
            <a:spLocks noGrp="1" noChangeArrowheads="1"/>
          </p:cNvSpPr>
          <p:nvPr>
            <p:ph type="body" idx="1"/>
          </p:nvPr>
        </p:nvSpPr>
        <p:spPr>
          <a:xfrm>
            <a:off x="0" y="0"/>
            <a:ext cx="12192000" cy="6858000"/>
          </a:xfrm>
        </p:spPr>
        <p:txBody>
          <a:bodyPr numCol="2"/>
          <a:lstStyle/>
          <a:p>
            <a:pPr algn="ctr" eaLnBrk="1" hangingPunct="1">
              <a:lnSpc>
                <a:spcPct val="90000"/>
              </a:lnSpc>
              <a:buFontTx/>
              <a:buNone/>
            </a:pPr>
            <a:r>
              <a:rPr lang="en-US" sz="1600" b="1" u="sng" dirty="0"/>
              <a:t>INSERTING IN SORTED LIST </a:t>
            </a:r>
          </a:p>
          <a:p>
            <a:pPr eaLnBrk="1" hangingPunct="1">
              <a:lnSpc>
                <a:spcPct val="90000"/>
              </a:lnSpc>
            </a:pPr>
            <a:r>
              <a:rPr lang="en-US" sz="1800" dirty="0"/>
              <a:t>Algorithm: INSSORT(INFO, LINK,START,AVAIL, LOC, ITEM)</a:t>
            </a:r>
          </a:p>
          <a:p>
            <a:pPr eaLnBrk="1" hangingPunct="1">
              <a:lnSpc>
                <a:spcPct val="90000"/>
              </a:lnSpc>
              <a:buFontTx/>
              <a:buNone/>
            </a:pPr>
            <a:r>
              <a:rPr lang="en-US" sz="1800" dirty="0"/>
              <a:t>     [This algorithm inserts ITEM so that ITEM follows the node with location LOC or inserts ITEM as the first node]</a:t>
            </a:r>
          </a:p>
          <a:p>
            <a:pPr eaLnBrk="1" hangingPunct="1">
              <a:lnSpc>
                <a:spcPct val="90000"/>
              </a:lnSpc>
              <a:buFontTx/>
              <a:buNone/>
            </a:pPr>
            <a:r>
              <a:rPr lang="en-US" sz="1800" dirty="0"/>
              <a:t>      when LOC =NULL]</a:t>
            </a:r>
          </a:p>
          <a:p>
            <a:pPr eaLnBrk="1" hangingPunct="1">
              <a:lnSpc>
                <a:spcPct val="90000"/>
              </a:lnSpc>
            </a:pPr>
            <a:r>
              <a:rPr lang="en-US" sz="2000" dirty="0"/>
              <a:t>Step 1: [OVERFLOW] </a:t>
            </a:r>
          </a:p>
          <a:p>
            <a:pPr eaLnBrk="1" hangingPunct="1">
              <a:lnSpc>
                <a:spcPct val="90000"/>
              </a:lnSpc>
            </a:pPr>
            <a:r>
              <a:rPr lang="en-US" sz="2000" dirty="0"/>
              <a:t>If AVAIL=NULL, then:</a:t>
            </a:r>
          </a:p>
          <a:p>
            <a:pPr marL="496888" indent="0" eaLnBrk="1" hangingPunct="1">
              <a:lnSpc>
                <a:spcPct val="90000"/>
              </a:lnSpc>
              <a:buNone/>
            </a:pPr>
            <a:r>
              <a:rPr lang="en-US" sz="2000" dirty="0"/>
              <a:t>Write: OVERFLOW</a:t>
            </a:r>
          </a:p>
          <a:p>
            <a:pPr marL="496888" indent="0" eaLnBrk="1" hangingPunct="1">
              <a:lnSpc>
                <a:spcPct val="90000"/>
              </a:lnSpc>
              <a:buNone/>
            </a:pPr>
            <a:r>
              <a:rPr lang="en-US" sz="2000" dirty="0"/>
              <a:t> Return</a:t>
            </a:r>
          </a:p>
          <a:p>
            <a:pPr marL="142875" indent="0" eaLnBrk="1" hangingPunct="1">
              <a:lnSpc>
                <a:spcPct val="90000"/>
              </a:lnSpc>
              <a:buNone/>
            </a:pPr>
            <a:r>
              <a:rPr lang="en-US" sz="2000" dirty="0"/>
              <a:t>   [end of if structure]</a:t>
            </a:r>
          </a:p>
          <a:p>
            <a:pPr eaLnBrk="1" hangingPunct="1">
              <a:lnSpc>
                <a:spcPct val="90000"/>
              </a:lnSpc>
            </a:pPr>
            <a:r>
              <a:rPr lang="en-US" sz="2000" dirty="0"/>
              <a:t>Step 2: </a:t>
            </a:r>
            <a:r>
              <a:rPr lang="en-US" sz="1400" dirty="0"/>
              <a:t>[Remove first node from AVAIL list]</a:t>
            </a:r>
          </a:p>
          <a:p>
            <a:pPr eaLnBrk="1" hangingPunct="1">
              <a:lnSpc>
                <a:spcPct val="90000"/>
              </a:lnSpc>
              <a:buFontTx/>
              <a:buNone/>
            </a:pPr>
            <a:r>
              <a:rPr lang="en-US" sz="2000" dirty="0"/>
              <a:t>      Set NEW:=AVAIL and AVAIL:=LINK[AVAIL]</a:t>
            </a:r>
          </a:p>
          <a:p>
            <a:pPr eaLnBrk="1" hangingPunct="1">
              <a:lnSpc>
                <a:spcPct val="90000"/>
              </a:lnSpc>
            </a:pPr>
            <a:r>
              <a:rPr lang="en-US" sz="2000" dirty="0"/>
              <a:t>Step 3: Set INFO[NEW]:= ITEM</a:t>
            </a:r>
          </a:p>
          <a:p>
            <a:pPr marL="0" indent="0" eaLnBrk="1" hangingPunct="1">
              <a:lnSpc>
                <a:spcPct val="90000"/>
              </a:lnSpc>
              <a:buNone/>
            </a:pPr>
            <a:r>
              <a:rPr lang="en-US" sz="2000" dirty="0"/>
              <a:t>                 [</a:t>
            </a:r>
            <a:r>
              <a:rPr lang="en-US" sz="1400" dirty="0"/>
              <a:t>Copies new data  into new node]</a:t>
            </a:r>
          </a:p>
          <a:p>
            <a:pPr eaLnBrk="1" hangingPunct="1">
              <a:lnSpc>
                <a:spcPct val="90000"/>
              </a:lnSpc>
            </a:pPr>
            <a:r>
              <a:rPr lang="en-US" sz="2000" dirty="0"/>
              <a:t>Step 4: </a:t>
            </a:r>
            <a:r>
              <a:rPr lang="en-US" sz="1400" dirty="0"/>
              <a:t>[save previous address]</a:t>
            </a:r>
          </a:p>
          <a:p>
            <a:pPr eaLnBrk="1" hangingPunct="1">
              <a:lnSpc>
                <a:spcPct val="90000"/>
              </a:lnSpc>
            </a:pPr>
            <a:r>
              <a:rPr lang="en-US" sz="2000" dirty="0"/>
              <a:t>Set SAVE:=NULL and PTR:=START</a:t>
            </a:r>
          </a:p>
          <a:p>
            <a:pPr eaLnBrk="1" hangingPunct="1">
              <a:lnSpc>
                <a:spcPct val="90000"/>
              </a:lnSpc>
            </a:pPr>
            <a:r>
              <a:rPr lang="en-US" sz="2000" dirty="0"/>
              <a:t>Step 5: </a:t>
            </a:r>
          </a:p>
          <a:p>
            <a:pPr eaLnBrk="1" hangingPunct="1">
              <a:lnSpc>
                <a:spcPct val="90000"/>
              </a:lnSpc>
            </a:pPr>
            <a:r>
              <a:rPr lang="en-US" sz="1600" dirty="0"/>
              <a:t>Repeat while ITEM&gt;=INFO[PTR] and PTR </a:t>
            </a:r>
            <a:r>
              <a:rPr lang="en-US" sz="1600" dirty="0">
                <a:cs typeface="Times New Roman" pitchFamily="18" charset="0"/>
              </a:rPr>
              <a:t>≠ NULL</a:t>
            </a:r>
            <a:endParaRPr lang="en-US" sz="1600" dirty="0"/>
          </a:p>
          <a:p>
            <a:pPr marL="274638" indent="0" eaLnBrk="1" hangingPunct="1">
              <a:lnSpc>
                <a:spcPct val="90000"/>
              </a:lnSpc>
              <a:buNone/>
            </a:pPr>
            <a:r>
              <a:rPr lang="en-US" sz="2000" dirty="0"/>
              <a:t>      SAVE:=PTR and  PTR:=LINK[PTR]</a:t>
            </a:r>
          </a:p>
          <a:p>
            <a:pPr marL="0" indent="0" eaLnBrk="1" hangingPunct="1">
              <a:lnSpc>
                <a:spcPct val="90000"/>
              </a:lnSpc>
              <a:buNone/>
            </a:pPr>
            <a:r>
              <a:rPr lang="en-US" sz="2000" dirty="0"/>
              <a:t>       [End of while loop]</a:t>
            </a:r>
          </a:p>
          <a:p>
            <a:pPr marL="1157288" indent="-333375" eaLnBrk="1" hangingPunct="1">
              <a:lnSpc>
                <a:spcPct val="90000"/>
              </a:lnSpc>
            </a:pPr>
            <a:r>
              <a:rPr lang="en-US" sz="2000" dirty="0"/>
              <a:t>Step 6: Set LOC:=SAVE</a:t>
            </a:r>
          </a:p>
          <a:p>
            <a:pPr marL="1157288" indent="-333375" eaLnBrk="1" hangingPunct="1">
              <a:lnSpc>
                <a:spcPct val="90000"/>
              </a:lnSpc>
            </a:pPr>
            <a:r>
              <a:rPr lang="en-US" sz="2000" dirty="0"/>
              <a:t>Step 7:</a:t>
            </a:r>
          </a:p>
          <a:p>
            <a:pPr marL="1157288" indent="-333375" eaLnBrk="1" hangingPunct="1">
              <a:lnSpc>
                <a:spcPct val="90000"/>
              </a:lnSpc>
              <a:buNone/>
            </a:pPr>
            <a:r>
              <a:rPr lang="en-US" sz="2000" dirty="0"/>
              <a:t>      If LOC=NULL, then:</a:t>
            </a:r>
          </a:p>
          <a:p>
            <a:pPr marL="1157288" indent="-333375" eaLnBrk="1" hangingPunct="1">
              <a:lnSpc>
                <a:spcPct val="90000"/>
              </a:lnSpc>
              <a:buFontTx/>
              <a:buNone/>
            </a:pPr>
            <a:r>
              <a:rPr lang="en-US" sz="2000" dirty="0"/>
              <a:t>      Set LINK[NEW]:=START and START:=NEW</a:t>
            </a:r>
          </a:p>
          <a:p>
            <a:pPr marL="1157288" indent="-333375" eaLnBrk="1" hangingPunct="1">
              <a:lnSpc>
                <a:spcPct val="90000"/>
              </a:lnSpc>
              <a:buFontTx/>
              <a:buNone/>
            </a:pPr>
            <a:r>
              <a:rPr lang="en-US" sz="2000" dirty="0"/>
              <a:t>      Else:</a:t>
            </a:r>
          </a:p>
          <a:p>
            <a:pPr marL="1157288" indent="-333375" eaLnBrk="1" hangingPunct="1">
              <a:lnSpc>
                <a:spcPct val="90000"/>
              </a:lnSpc>
              <a:buFontTx/>
              <a:buNone/>
            </a:pPr>
            <a:r>
              <a:rPr lang="en-US" sz="2000" dirty="0"/>
              <a:t>     Set LINK[NEW]:=LINK[LOC] and LINK[LOC]:= NEW</a:t>
            </a:r>
          </a:p>
          <a:p>
            <a:pPr marL="1157288" indent="-333375" eaLnBrk="1" hangingPunct="1">
              <a:lnSpc>
                <a:spcPct val="90000"/>
              </a:lnSpc>
              <a:buFontTx/>
              <a:buNone/>
            </a:pPr>
            <a:r>
              <a:rPr lang="en-US" sz="2000" dirty="0"/>
              <a:t>     [End of If structure]  </a:t>
            </a:r>
          </a:p>
          <a:p>
            <a:pPr marL="1157288" indent="-333375" eaLnBrk="1" hangingPunct="1">
              <a:lnSpc>
                <a:spcPct val="90000"/>
              </a:lnSpc>
            </a:pPr>
            <a:r>
              <a:rPr lang="en-US" sz="2000" dirty="0"/>
              <a:t>Step 8: Return</a:t>
            </a:r>
          </a:p>
        </p:txBody>
      </p:sp>
    </p:spTree>
    <p:extLst>
      <p:ext uri="{BB962C8B-B14F-4D97-AF65-F5344CB8AC3E}">
        <p14:creationId xmlns:p14="http://schemas.microsoft.com/office/powerpoint/2010/main" val="4049044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93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7938">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793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7938">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7938">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7938">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793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7938">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7938">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7938">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7938">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7938">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7938">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7938">
                                            <p:txEl>
                                              <p:pRg st="17" end="1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7938">
                                            <p:txEl>
                                              <p:pRg st="18" end="1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7938">
                                            <p:txEl>
                                              <p:pRg st="19" end="1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67938">
                                            <p:txEl>
                                              <p:pRg st="20" end="2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67938">
                                            <p:txEl>
                                              <p:pRg st="21" end="21"/>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67938">
                                            <p:txEl>
                                              <p:pRg st="22" end="22"/>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67938">
                                            <p:txEl>
                                              <p:pRg st="23" end="23"/>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67938">
                                            <p:txEl>
                                              <p:pRg st="24" end="24"/>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67938">
                                            <p:txEl>
                                              <p:pRg st="25" end="2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67938">
                                            <p:txEl>
                                              <p:pRg st="26" end="2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646771"/>
          </a:xfrm>
        </p:spPr>
        <p:txBody>
          <a:bodyPr/>
          <a:lstStyle/>
          <a:p>
            <a:r>
              <a:rPr lang="en-US" b="1" dirty="0"/>
              <a:t>Complexity of insertion in Linked list</a:t>
            </a:r>
          </a:p>
        </p:txBody>
      </p:sp>
      <p:sp>
        <p:nvSpPr>
          <p:cNvPr id="3" name="Content Placeholder 2"/>
          <p:cNvSpPr>
            <a:spLocks noGrp="1"/>
          </p:cNvSpPr>
          <p:nvPr>
            <p:ph idx="1"/>
          </p:nvPr>
        </p:nvSpPr>
        <p:spPr>
          <a:xfrm>
            <a:off x="0" y="1143000"/>
            <a:ext cx="12192000" cy="5715000"/>
          </a:xfrm>
        </p:spPr>
        <p:txBody>
          <a:bodyPr/>
          <a:lstStyle/>
          <a:p>
            <a:pPr marL="0" indent="0">
              <a:buNone/>
            </a:pPr>
            <a:r>
              <a:rPr lang="en-US" dirty="0"/>
              <a:t>Complexity of insertion in a linked list depends on position where to insert:</a:t>
            </a:r>
          </a:p>
          <a:p>
            <a:pPr marL="0" indent="0">
              <a:buNone/>
            </a:pPr>
            <a:endParaRPr lang="en-US" dirty="0"/>
          </a:p>
          <a:p>
            <a:r>
              <a:rPr lang="en-US" dirty="0"/>
              <a:t>In beginning</a:t>
            </a:r>
          </a:p>
          <a:p>
            <a:pPr marL="577850" indent="-333375"/>
            <a:r>
              <a:rPr lang="en-US" dirty="0"/>
              <a:t>For insertion in beginning, the complexity is always O(1) for all cases( Best, average and worst case)</a:t>
            </a:r>
          </a:p>
          <a:p>
            <a:pPr marL="244475" indent="0">
              <a:buNone/>
            </a:pPr>
            <a:endParaRPr lang="en-US" dirty="0"/>
          </a:p>
          <a:p>
            <a:r>
              <a:rPr lang="en-US" dirty="0"/>
              <a:t>Insertion at the end:</a:t>
            </a:r>
          </a:p>
          <a:p>
            <a:pPr marL="668338" indent="-334963"/>
            <a:r>
              <a:rPr lang="en-US" dirty="0"/>
              <a:t>The complexity is O(n) for insertion at the end for a list of n nodes</a:t>
            </a:r>
          </a:p>
          <a:p>
            <a:pPr marL="333375" indent="0">
              <a:buNone/>
            </a:pPr>
            <a:endParaRPr lang="en-US" dirty="0"/>
          </a:p>
          <a:p>
            <a:r>
              <a:rPr lang="en-US" dirty="0"/>
              <a:t>For insertion in between the list:</a:t>
            </a:r>
          </a:p>
          <a:p>
            <a:pPr marL="757238" indent="-334963"/>
            <a:r>
              <a:rPr lang="en-US" dirty="0"/>
              <a:t>The complexity is  O(k) where k is the position where to insert.</a:t>
            </a:r>
          </a:p>
        </p:txBody>
      </p:sp>
    </p:spTree>
    <p:extLst>
      <p:ext uri="{BB962C8B-B14F-4D97-AF65-F5344CB8AC3E}">
        <p14:creationId xmlns:p14="http://schemas.microsoft.com/office/powerpoint/2010/main" val="30407017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body" idx="1"/>
          </p:nvPr>
        </p:nvSpPr>
        <p:spPr>
          <a:xfrm>
            <a:off x="1524000" y="0"/>
            <a:ext cx="9144000" cy="6858000"/>
          </a:xfrm>
        </p:spPr>
        <p:txBody>
          <a:bodyPr/>
          <a:lstStyle/>
          <a:p>
            <a:pPr algn="ctr" eaLnBrk="1" hangingPunct="1">
              <a:lnSpc>
                <a:spcPct val="80000"/>
              </a:lnSpc>
              <a:buFontTx/>
              <a:buNone/>
            </a:pPr>
            <a:r>
              <a:rPr lang="en-US" sz="2000" b="1" u="sng"/>
              <a:t>INSERTING BEFORE A GIVEN NODE</a:t>
            </a:r>
          </a:p>
          <a:p>
            <a:pPr eaLnBrk="1" hangingPunct="1">
              <a:lnSpc>
                <a:spcPct val="80000"/>
              </a:lnSpc>
            </a:pPr>
            <a:r>
              <a:rPr lang="en-US" sz="2000"/>
              <a:t>Algorithm: INSLOC(INFO, LINK,START,AVAIL,  ITEM, ITEM1)</a:t>
            </a:r>
          </a:p>
          <a:p>
            <a:pPr eaLnBrk="1" hangingPunct="1">
              <a:lnSpc>
                <a:spcPct val="80000"/>
              </a:lnSpc>
              <a:buFontTx/>
              <a:buNone/>
            </a:pPr>
            <a:r>
              <a:rPr lang="en-US" sz="2000"/>
              <a:t>                    This algorithm inserts ITEM so that </a:t>
            </a:r>
            <a:r>
              <a:rPr lang="en-US" sz="2000" b="1"/>
              <a:t>ITEM PRECEDES</a:t>
            </a:r>
            <a:r>
              <a:rPr lang="en-US" sz="2000"/>
              <a:t> the </a:t>
            </a:r>
          </a:p>
          <a:p>
            <a:pPr eaLnBrk="1" hangingPunct="1">
              <a:lnSpc>
                <a:spcPct val="80000"/>
              </a:lnSpc>
              <a:buFontTx/>
              <a:buNone/>
            </a:pPr>
            <a:r>
              <a:rPr lang="en-US" sz="2000"/>
              <a:t>                    node with </a:t>
            </a:r>
            <a:r>
              <a:rPr lang="en-US" sz="2000" b="1"/>
              <a:t>data item ITEM1</a:t>
            </a:r>
          </a:p>
          <a:p>
            <a:pPr eaLnBrk="1" hangingPunct="1">
              <a:lnSpc>
                <a:spcPct val="80000"/>
              </a:lnSpc>
            </a:pPr>
            <a:r>
              <a:rPr lang="en-US" sz="2000"/>
              <a:t>Step 1: [OVERFLOW] If AVAIL=NULL, then:</a:t>
            </a:r>
          </a:p>
          <a:p>
            <a:pPr eaLnBrk="1" hangingPunct="1">
              <a:lnSpc>
                <a:spcPct val="80000"/>
              </a:lnSpc>
              <a:buFontTx/>
              <a:buNone/>
            </a:pPr>
            <a:r>
              <a:rPr lang="en-US" sz="2000"/>
              <a:t>                                     Write: OVERFLOW</a:t>
            </a:r>
          </a:p>
          <a:p>
            <a:pPr eaLnBrk="1" hangingPunct="1">
              <a:lnSpc>
                <a:spcPct val="80000"/>
              </a:lnSpc>
              <a:buFontTx/>
              <a:buNone/>
            </a:pPr>
            <a:r>
              <a:rPr lang="en-US" sz="2000"/>
              <a:t>                                      Return</a:t>
            </a:r>
          </a:p>
          <a:p>
            <a:pPr eaLnBrk="1" hangingPunct="1">
              <a:lnSpc>
                <a:spcPct val="80000"/>
              </a:lnSpc>
            </a:pPr>
            <a:r>
              <a:rPr lang="en-US" sz="2000"/>
              <a:t>Step 2: [Remove first node from AVAIL list]</a:t>
            </a:r>
          </a:p>
          <a:p>
            <a:pPr eaLnBrk="1" hangingPunct="1">
              <a:lnSpc>
                <a:spcPct val="80000"/>
              </a:lnSpc>
              <a:buFontTx/>
              <a:buNone/>
            </a:pPr>
            <a:r>
              <a:rPr lang="en-US" sz="2000"/>
              <a:t>                 Set NEW:=AVAIL and AVAIL:=LINK[AVAIL]</a:t>
            </a:r>
          </a:p>
          <a:p>
            <a:pPr eaLnBrk="1" hangingPunct="1">
              <a:lnSpc>
                <a:spcPct val="80000"/>
              </a:lnSpc>
            </a:pPr>
            <a:r>
              <a:rPr lang="en-US" sz="2000"/>
              <a:t>Step 3: Set INFO[NEW]:= ITEM [Copies new data  into new node]</a:t>
            </a:r>
          </a:p>
          <a:p>
            <a:pPr eaLnBrk="1" hangingPunct="1">
              <a:lnSpc>
                <a:spcPct val="80000"/>
              </a:lnSpc>
            </a:pPr>
            <a:r>
              <a:rPr lang="en-US" sz="2000"/>
              <a:t>Step 4: Set PTR:=START and SAVE:=NULL</a:t>
            </a:r>
          </a:p>
          <a:p>
            <a:pPr eaLnBrk="1" hangingPunct="1">
              <a:lnSpc>
                <a:spcPct val="80000"/>
              </a:lnSpc>
            </a:pPr>
            <a:r>
              <a:rPr lang="en-US" sz="2000"/>
              <a:t>Step 5: Repeat while INFO[PTR]</a:t>
            </a:r>
            <a:r>
              <a:rPr lang="en-US" sz="2000">
                <a:cs typeface="Times New Roman" pitchFamily="18" charset="0"/>
              </a:rPr>
              <a:t>≠ ITEM1</a:t>
            </a:r>
          </a:p>
          <a:p>
            <a:pPr eaLnBrk="1" hangingPunct="1">
              <a:lnSpc>
                <a:spcPct val="80000"/>
              </a:lnSpc>
              <a:buFontTx/>
              <a:buNone/>
            </a:pPr>
            <a:r>
              <a:rPr lang="en-US" sz="2000">
                <a:cs typeface="Times New Roman" pitchFamily="18" charset="0"/>
              </a:rPr>
              <a:t>                 Set   SAVE:=PTR  and PTR:=LINK[PTR]</a:t>
            </a:r>
          </a:p>
          <a:p>
            <a:pPr eaLnBrk="1" hangingPunct="1">
              <a:lnSpc>
                <a:spcPct val="80000"/>
              </a:lnSpc>
              <a:buFontTx/>
              <a:buNone/>
            </a:pPr>
            <a:r>
              <a:rPr lang="en-US" sz="2000">
                <a:cs typeface="Times New Roman" pitchFamily="18" charset="0"/>
              </a:rPr>
              <a:t>                [End of Loop]</a:t>
            </a:r>
          </a:p>
          <a:p>
            <a:pPr eaLnBrk="1" hangingPunct="1">
              <a:lnSpc>
                <a:spcPct val="80000"/>
              </a:lnSpc>
            </a:pPr>
            <a:r>
              <a:rPr lang="en-US" sz="2000">
                <a:cs typeface="Times New Roman" pitchFamily="18" charset="0"/>
              </a:rPr>
              <a:t>Step 6:Set LOC:=SAVE</a:t>
            </a:r>
          </a:p>
          <a:p>
            <a:pPr eaLnBrk="1" hangingPunct="1">
              <a:lnSpc>
                <a:spcPct val="80000"/>
              </a:lnSpc>
            </a:pPr>
            <a:r>
              <a:rPr lang="en-US" sz="2000">
                <a:cs typeface="Times New Roman" pitchFamily="18" charset="0"/>
              </a:rPr>
              <a:t>Step 7: </a:t>
            </a:r>
            <a:r>
              <a:rPr lang="en-US" sz="2000"/>
              <a:t>If LOC=NULL, then:</a:t>
            </a:r>
          </a:p>
          <a:p>
            <a:pPr eaLnBrk="1" hangingPunct="1">
              <a:lnSpc>
                <a:spcPct val="80000"/>
              </a:lnSpc>
              <a:buFontTx/>
              <a:buNone/>
            </a:pPr>
            <a:r>
              <a:rPr lang="en-US" sz="2000"/>
              <a:t>                Set LINK[NEW]:=START and START:=NEW</a:t>
            </a:r>
          </a:p>
          <a:p>
            <a:pPr eaLnBrk="1" hangingPunct="1">
              <a:lnSpc>
                <a:spcPct val="80000"/>
              </a:lnSpc>
              <a:buFontTx/>
              <a:buNone/>
            </a:pPr>
            <a:r>
              <a:rPr lang="en-US" sz="2000"/>
              <a:t>                Else:</a:t>
            </a:r>
          </a:p>
          <a:p>
            <a:pPr eaLnBrk="1" hangingPunct="1">
              <a:lnSpc>
                <a:spcPct val="80000"/>
              </a:lnSpc>
              <a:buFontTx/>
              <a:buNone/>
            </a:pPr>
            <a:r>
              <a:rPr lang="en-US" sz="2000"/>
              <a:t>                Set LINK[NEW]:=LINK[LOC] and LINK[LOC]:= NEW</a:t>
            </a:r>
          </a:p>
          <a:p>
            <a:pPr eaLnBrk="1" hangingPunct="1">
              <a:lnSpc>
                <a:spcPct val="80000"/>
              </a:lnSpc>
              <a:buFontTx/>
              <a:buNone/>
            </a:pPr>
            <a:r>
              <a:rPr lang="en-US" sz="2000"/>
              <a:t>                [End of If structure] </a:t>
            </a:r>
          </a:p>
          <a:p>
            <a:pPr eaLnBrk="1" hangingPunct="1">
              <a:lnSpc>
                <a:spcPct val="80000"/>
              </a:lnSpc>
            </a:pPr>
            <a:r>
              <a:rPr lang="en-US" sz="2000"/>
              <a:t>Step 8: Return</a:t>
            </a:r>
          </a:p>
        </p:txBody>
      </p:sp>
    </p:spTree>
    <p:extLst>
      <p:ext uri="{BB962C8B-B14F-4D97-AF65-F5344CB8AC3E}">
        <p14:creationId xmlns:p14="http://schemas.microsoft.com/office/powerpoint/2010/main" val="29367000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1010" name="Rectangle 2"/>
          <p:cNvSpPr>
            <a:spLocks noGrp="1" noChangeArrowheads="1"/>
          </p:cNvSpPr>
          <p:nvPr>
            <p:ph type="body" idx="1"/>
          </p:nvPr>
        </p:nvSpPr>
        <p:spPr>
          <a:xfrm>
            <a:off x="1524000" y="0"/>
            <a:ext cx="9144000" cy="6858000"/>
          </a:xfrm>
        </p:spPr>
        <p:txBody>
          <a:bodyPr/>
          <a:lstStyle/>
          <a:p>
            <a:pPr algn="ctr" eaLnBrk="1" hangingPunct="1">
              <a:lnSpc>
                <a:spcPct val="80000"/>
              </a:lnSpc>
              <a:buFontTx/>
              <a:buNone/>
            </a:pPr>
            <a:r>
              <a:rPr lang="en-US" sz="2000" b="1" u="sng" dirty="0"/>
              <a:t>INSERTING BEFORE A GIVEN NODE WITH LOCATION GIVEN</a:t>
            </a:r>
          </a:p>
          <a:p>
            <a:pPr eaLnBrk="1" hangingPunct="1">
              <a:lnSpc>
                <a:spcPct val="80000"/>
              </a:lnSpc>
            </a:pPr>
            <a:r>
              <a:rPr lang="en-US" sz="2000" dirty="0"/>
              <a:t>Algorithm: INSLOC(INFO, LINK,START,AVAIL,  ITEM, LOC)</a:t>
            </a:r>
          </a:p>
          <a:p>
            <a:pPr eaLnBrk="1" hangingPunct="1">
              <a:lnSpc>
                <a:spcPct val="80000"/>
              </a:lnSpc>
              <a:buFontTx/>
              <a:buNone/>
            </a:pPr>
            <a:r>
              <a:rPr lang="en-US" sz="2000" dirty="0"/>
              <a:t>                    This algorithm inserts ITEM so that </a:t>
            </a:r>
            <a:r>
              <a:rPr lang="en-US" sz="2000" b="1" dirty="0"/>
              <a:t>ITEM PRECEDES</a:t>
            </a:r>
            <a:r>
              <a:rPr lang="en-US" sz="2000" dirty="0"/>
              <a:t> the </a:t>
            </a:r>
          </a:p>
          <a:p>
            <a:pPr eaLnBrk="1" hangingPunct="1">
              <a:lnSpc>
                <a:spcPct val="80000"/>
              </a:lnSpc>
              <a:buFontTx/>
              <a:buNone/>
            </a:pPr>
            <a:r>
              <a:rPr lang="en-US" sz="2000" dirty="0"/>
              <a:t>                    node with </a:t>
            </a:r>
            <a:r>
              <a:rPr lang="en-US" sz="2000" b="1" dirty="0"/>
              <a:t>location LOC</a:t>
            </a:r>
          </a:p>
          <a:p>
            <a:pPr eaLnBrk="1" hangingPunct="1">
              <a:lnSpc>
                <a:spcPct val="80000"/>
              </a:lnSpc>
            </a:pPr>
            <a:r>
              <a:rPr lang="en-US" sz="2000" dirty="0"/>
              <a:t>Step 1: [OVERFLOW] If AVAIL=NULL, then:</a:t>
            </a:r>
          </a:p>
          <a:p>
            <a:pPr eaLnBrk="1" hangingPunct="1">
              <a:lnSpc>
                <a:spcPct val="80000"/>
              </a:lnSpc>
              <a:buFontTx/>
              <a:buNone/>
            </a:pPr>
            <a:r>
              <a:rPr lang="en-US" sz="2000" dirty="0"/>
              <a:t>                                     Write: OVERFLOW</a:t>
            </a:r>
          </a:p>
          <a:p>
            <a:pPr eaLnBrk="1" hangingPunct="1">
              <a:lnSpc>
                <a:spcPct val="80000"/>
              </a:lnSpc>
              <a:buFontTx/>
              <a:buNone/>
            </a:pPr>
            <a:r>
              <a:rPr lang="en-US" sz="2000" dirty="0"/>
              <a:t>                                      Return</a:t>
            </a:r>
          </a:p>
          <a:p>
            <a:pPr eaLnBrk="1" hangingPunct="1">
              <a:lnSpc>
                <a:spcPct val="80000"/>
              </a:lnSpc>
            </a:pPr>
            <a:r>
              <a:rPr lang="en-US" sz="2000" dirty="0"/>
              <a:t>Step 2: [Remove first node from AVAIL list]</a:t>
            </a:r>
          </a:p>
          <a:p>
            <a:pPr eaLnBrk="1" hangingPunct="1">
              <a:lnSpc>
                <a:spcPct val="80000"/>
              </a:lnSpc>
              <a:buFontTx/>
              <a:buNone/>
            </a:pPr>
            <a:r>
              <a:rPr lang="en-US" sz="2000" dirty="0"/>
              <a:t>                 Set NEW:=AVAIL and AVAIL:=LINK[AVAIL]</a:t>
            </a:r>
          </a:p>
          <a:p>
            <a:pPr eaLnBrk="1" hangingPunct="1">
              <a:lnSpc>
                <a:spcPct val="80000"/>
              </a:lnSpc>
            </a:pPr>
            <a:r>
              <a:rPr lang="en-US" sz="2000" dirty="0"/>
              <a:t>Step 3: Set INFO[NEW]:= ITEM [Copies new data  into new node]</a:t>
            </a:r>
          </a:p>
          <a:p>
            <a:pPr eaLnBrk="1" hangingPunct="1">
              <a:lnSpc>
                <a:spcPct val="80000"/>
              </a:lnSpc>
            </a:pPr>
            <a:r>
              <a:rPr lang="en-US" sz="2000" dirty="0"/>
              <a:t>Step 4: Set PTR:=START and SAVE:=NULL</a:t>
            </a:r>
          </a:p>
          <a:p>
            <a:pPr eaLnBrk="1" hangingPunct="1">
              <a:lnSpc>
                <a:spcPct val="80000"/>
              </a:lnSpc>
            </a:pPr>
            <a:r>
              <a:rPr lang="en-US" sz="2000" dirty="0"/>
              <a:t>Step 5: Repeat while PTR</a:t>
            </a:r>
            <a:r>
              <a:rPr lang="en-US" sz="2000" dirty="0">
                <a:cs typeface="Times New Roman" pitchFamily="18" charset="0"/>
              </a:rPr>
              <a:t>≠ LOC</a:t>
            </a:r>
          </a:p>
          <a:p>
            <a:pPr eaLnBrk="1" hangingPunct="1">
              <a:lnSpc>
                <a:spcPct val="80000"/>
              </a:lnSpc>
              <a:buFontTx/>
              <a:buNone/>
            </a:pPr>
            <a:r>
              <a:rPr lang="en-US" sz="2000" dirty="0">
                <a:cs typeface="Times New Roman" pitchFamily="18" charset="0"/>
              </a:rPr>
              <a:t>                 Set   SAVE:=PTR  and PTR:=LINK[PTR]</a:t>
            </a:r>
          </a:p>
          <a:p>
            <a:pPr eaLnBrk="1" hangingPunct="1">
              <a:lnSpc>
                <a:spcPct val="80000"/>
              </a:lnSpc>
              <a:buFontTx/>
              <a:buNone/>
            </a:pPr>
            <a:r>
              <a:rPr lang="en-US" sz="2000" dirty="0">
                <a:cs typeface="Times New Roman" pitchFamily="18" charset="0"/>
              </a:rPr>
              <a:t>                [End of Loop]</a:t>
            </a:r>
          </a:p>
          <a:p>
            <a:pPr eaLnBrk="1" hangingPunct="1">
              <a:lnSpc>
                <a:spcPct val="80000"/>
              </a:lnSpc>
            </a:pPr>
            <a:r>
              <a:rPr lang="en-US" sz="2000" dirty="0">
                <a:cs typeface="Times New Roman" pitchFamily="18" charset="0"/>
              </a:rPr>
              <a:t>Step 6:Set LOC:=SAVE</a:t>
            </a:r>
          </a:p>
          <a:p>
            <a:pPr eaLnBrk="1" hangingPunct="1">
              <a:lnSpc>
                <a:spcPct val="80000"/>
              </a:lnSpc>
            </a:pPr>
            <a:r>
              <a:rPr lang="en-US" sz="2000" dirty="0">
                <a:cs typeface="Times New Roman" pitchFamily="18" charset="0"/>
              </a:rPr>
              <a:t>Step 7: </a:t>
            </a:r>
            <a:r>
              <a:rPr lang="en-US" sz="2000" dirty="0"/>
              <a:t>If LOC=NULL, then:</a:t>
            </a:r>
          </a:p>
          <a:p>
            <a:pPr eaLnBrk="1" hangingPunct="1">
              <a:lnSpc>
                <a:spcPct val="80000"/>
              </a:lnSpc>
              <a:buFontTx/>
              <a:buNone/>
            </a:pPr>
            <a:r>
              <a:rPr lang="en-US" sz="2000" dirty="0"/>
              <a:t>                Set LINK[NEW]:=START and START:=NEW</a:t>
            </a:r>
          </a:p>
          <a:p>
            <a:pPr eaLnBrk="1" hangingPunct="1">
              <a:lnSpc>
                <a:spcPct val="80000"/>
              </a:lnSpc>
              <a:buFontTx/>
              <a:buNone/>
            </a:pPr>
            <a:r>
              <a:rPr lang="en-US" sz="2000" dirty="0"/>
              <a:t>                Else:</a:t>
            </a:r>
          </a:p>
          <a:p>
            <a:pPr eaLnBrk="1" hangingPunct="1">
              <a:lnSpc>
                <a:spcPct val="80000"/>
              </a:lnSpc>
              <a:buFontTx/>
              <a:buNone/>
            </a:pPr>
            <a:r>
              <a:rPr lang="en-US" sz="2000" dirty="0"/>
              <a:t>                Set LINK[NEW]:=LINK[LOC] and LINK[LOC]:= NEW</a:t>
            </a:r>
          </a:p>
          <a:p>
            <a:pPr eaLnBrk="1" hangingPunct="1">
              <a:lnSpc>
                <a:spcPct val="80000"/>
              </a:lnSpc>
              <a:buFontTx/>
              <a:buNone/>
            </a:pPr>
            <a:r>
              <a:rPr lang="en-US" sz="2000" dirty="0"/>
              <a:t>                [End of If structure] </a:t>
            </a:r>
          </a:p>
          <a:p>
            <a:pPr eaLnBrk="1" hangingPunct="1">
              <a:lnSpc>
                <a:spcPct val="80000"/>
              </a:lnSpc>
            </a:pPr>
            <a:r>
              <a:rPr lang="en-US" sz="2000" dirty="0"/>
              <a:t>Step 8: Return</a:t>
            </a:r>
          </a:p>
        </p:txBody>
      </p:sp>
    </p:spTree>
    <p:extLst>
      <p:ext uri="{BB962C8B-B14F-4D97-AF65-F5344CB8AC3E}">
        <p14:creationId xmlns:p14="http://schemas.microsoft.com/office/powerpoint/2010/main" val="7642461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2034" name="Rectangle 2"/>
          <p:cNvSpPr>
            <a:spLocks noGrp="1" noChangeArrowheads="1"/>
          </p:cNvSpPr>
          <p:nvPr>
            <p:ph type="body" idx="1"/>
          </p:nvPr>
        </p:nvSpPr>
        <p:spPr>
          <a:xfrm>
            <a:off x="1524000" y="0"/>
            <a:ext cx="9144000" cy="6858000"/>
          </a:xfrm>
        </p:spPr>
        <p:txBody>
          <a:bodyPr/>
          <a:lstStyle/>
          <a:p>
            <a:pPr algn="ctr" eaLnBrk="1" hangingPunct="1">
              <a:lnSpc>
                <a:spcPct val="80000"/>
              </a:lnSpc>
              <a:buFontTx/>
              <a:buNone/>
            </a:pPr>
            <a:r>
              <a:rPr lang="en-US" sz="2000" b="1" u="sng" dirty="0"/>
              <a:t>INSERTING BEFORE  N</a:t>
            </a:r>
            <a:r>
              <a:rPr lang="en-US" sz="2000" b="1" u="sng" baseline="30000" dirty="0"/>
              <a:t>TH</a:t>
            </a:r>
            <a:r>
              <a:rPr lang="en-US" sz="2000" b="1" u="sng" dirty="0"/>
              <a:t> NODE</a:t>
            </a:r>
          </a:p>
          <a:p>
            <a:pPr eaLnBrk="1" hangingPunct="1">
              <a:lnSpc>
                <a:spcPct val="80000"/>
              </a:lnSpc>
            </a:pPr>
            <a:r>
              <a:rPr lang="en-US" sz="2000" dirty="0"/>
              <a:t>Algorithm: INSLOC(INFO, LINK,START,AVAIL,  ITEM, N)</a:t>
            </a:r>
          </a:p>
          <a:p>
            <a:pPr eaLnBrk="1" hangingPunct="1">
              <a:lnSpc>
                <a:spcPct val="80000"/>
              </a:lnSpc>
              <a:buFontTx/>
              <a:buNone/>
            </a:pPr>
            <a:r>
              <a:rPr lang="en-US" sz="2000" dirty="0"/>
              <a:t>                    This algorithm inserts ITEM so that </a:t>
            </a:r>
            <a:r>
              <a:rPr lang="en-US" sz="2000" b="1" dirty="0"/>
              <a:t>ITEM PRECEDES</a:t>
            </a:r>
            <a:r>
              <a:rPr lang="en-US" sz="2000" dirty="0"/>
              <a:t> the </a:t>
            </a:r>
            <a:r>
              <a:rPr lang="en-US" sz="2000" b="1" dirty="0"/>
              <a:t>N</a:t>
            </a:r>
            <a:r>
              <a:rPr lang="en-US" sz="2000" b="1" baseline="30000" dirty="0"/>
              <a:t>th</a:t>
            </a:r>
            <a:r>
              <a:rPr lang="en-US" sz="2000" b="1" dirty="0"/>
              <a:t> node</a:t>
            </a:r>
          </a:p>
          <a:p>
            <a:pPr eaLnBrk="1" hangingPunct="1">
              <a:lnSpc>
                <a:spcPct val="80000"/>
              </a:lnSpc>
            </a:pPr>
            <a:r>
              <a:rPr lang="en-US" sz="2000" dirty="0"/>
              <a:t>Step 1: [OVERFLOW] If AVAIL=NULL, then:</a:t>
            </a:r>
          </a:p>
          <a:p>
            <a:pPr eaLnBrk="1" hangingPunct="1">
              <a:lnSpc>
                <a:spcPct val="80000"/>
              </a:lnSpc>
              <a:buFontTx/>
              <a:buNone/>
            </a:pPr>
            <a:r>
              <a:rPr lang="en-US" sz="2000" dirty="0"/>
              <a:t>                                     Write: OVERFLOW</a:t>
            </a:r>
          </a:p>
          <a:p>
            <a:pPr eaLnBrk="1" hangingPunct="1">
              <a:lnSpc>
                <a:spcPct val="80000"/>
              </a:lnSpc>
              <a:buFontTx/>
              <a:buNone/>
            </a:pPr>
            <a:r>
              <a:rPr lang="en-US" sz="2000" dirty="0"/>
              <a:t>                                      Return</a:t>
            </a:r>
          </a:p>
          <a:p>
            <a:pPr eaLnBrk="1" hangingPunct="1">
              <a:lnSpc>
                <a:spcPct val="80000"/>
              </a:lnSpc>
            </a:pPr>
            <a:r>
              <a:rPr lang="en-US" sz="2000" dirty="0"/>
              <a:t>Step 2: [Remove first node from AVAIL list]</a:t>
            </a:r>
          </a:p>
          <a:p>
            <a:pPr eaLnBrk="1" hangingPunct="1">
              <a:lnSpc>
                <a:spcPct val="80000"/>
              </a:lnSpc>
              <a:buFontTx/>
              <a:buNone/>
            </a:pPr>
            <a:r>
              <a:rPr lang="en-US" sz="2000" dirty="0"/>
              <a:t>                 Set NEW:=AVAIL and AVAIL:=LINK[AVAIL]</a:t>
            </a:r>
          </a:p>
          <a:p>
            <a:pPr eaLnBrk="1" hangingPunct="1">
              <a:lnSpc>
                <a:spcPct val="80000"/>
              </a:lnSpc>
            </a:pPr>
            <a:r>
              <a:rPr lang="en-US" sz="2000" dirty="0"/>
              <a:t>Step 3: Set INFO[NEW]:= ITEM [Copies new data  into new node]</a:t>
            </a:r>
          </a:p>
          <a:p>
            <a:pPr eaLnBrk="1" hangingPunct="1">
              <a:lnSpc>
                <a:spcPct val="80000"/>
              </a:lnSpc>
            </a:pPr>
            <a:r>
              <a:rPr lang="en-US" sz="2000" dirty="0"/>
              <a:t>Step 4: Set PTR:=START , K:=1, LOC:=NULL</a:t>
            </a:r>
          </a:p>
          <a:p>
            <a:pPr eaLnBrk="1" hangingPunct="1">
              <a:lnSpc>
                <a:spcPct val="80000"/>
              </a:lnSpc>
            </a:pPr>
            <a:r>
              <a:rPr lang="en-US" sz="2000" dirty="0"/>
              <a:t>Step 5: Repeat while K</a:t>
            </a:r>
            <a:r>
              <a:rPr lang="en-US" sz="2000" dirty="0">
                <a:cs typeface="Times New Roman" pitchFamily="18" charset="0"/>
              </a:rPr>
              <a:t>&lt; N-1</a:t>
            </a:r>
          </a:p>
          <a:p>
            <a:pPr marL="1371600" lvl="3" indent="0" eaLnBrk="1" hangingPunct="1">
              <a:lnSpc>
                <a:spcPct val="80000"/>
              </a:lnSpc>
              <a:buNone/>
            </a:pPr>
            <a:r>
              <a:rPr lang="en-US" sz="2000" dirty="0">
                <a:cs typeface="Times New Roman" pitchFamily="18" charset="0"/>
              </a:rPr>
              <a:t>PTR:=LINK[PTR]</a:t>
            </a:r>
          </a:p>
          <a:p>
            <a:pPr eaLnBrk="1" hangingPunct="1">
              <a:lnSpc>
                <a:spcPct val="80000"/>
              </a:lnSpc>
            </a:pPr>
            <a:r>
              <a:rPr lang="en-US" sz="2000" dirty="0"/>
              <a:t>               Set K:=K+1</a:t>
            </a:r>
          </a:p>
          <a:p>
            <a:pPr marL="1371600" lvl="3" indent="0" eaLnBrk="1" hangingPunct="1">
              <a:lnSpc>
                <a:spcPct val="80000"/>
              </a:lnSpc>
              <a:buNone/>
            </a:pPr>
            <a:r>
              <a:rPr lang="en-US" sz="2000" dirty="0"/>
              <a:t>Set LOC:=PTR</a:t>
            </a:r>
          </a:p>
          <a:p>
            <a:pPr eaLnBrk="1" hangingPunct="1">
              <a:lnSpc>
                <a:spcPct val="80000"/>
              </a:lnSpc>
            </a:pPr>
            <a:r>
              <a:rPr lang="en-US" sz="2000" dirty="0"/>
              <a:t>            [End of Loop]</a:t>
            </a:r>
          </a:p>
          <a:p>
            <a:pPr eaLnBrk="1" hangingPunct="1">
              <a:lnSpc>
                <a:spcPct val="80000"/>
              </a:lnSpc>
            </a:pPr>
            <a:r>
              <a:rPr lang="en-US" sz="2000" dirty="0">
                <a:cs typeface="Times New Roman" pitchFamily="18" charset="0"/>
              </a:rPr>
              <a:t>Step 7: </a:t>
            </a:r>
            <a:r>
              <a:rPr lang="en-US" sz="2000" dirty="0"/>
              <a:t>If LOC=NULL, then:</a:t>
            </a:r>
          </a:p>
          <a:p>
            <a:pPr eaLnBrk="1" hangingPunct="1">
              <a:lnSpc>
                <a:spcPct val="80000"/>
              </a:lnSpc>
              <a:buFontTx/>
              <a:buNone/>
            </a:pPr>
            <a:r>
              <a:rPr lang="en-US" sz="2000" dirty="0"/>
              <a:t>                Set LINK[NEW]:=START and START:=NEW</a:t>
            </a:r>
          </a:p>
          <a:p>
            <a:pPr eaLnBrk="1" hangingPunct="1">
              <a:lnSpc>
                <a:spcPct val="80000"/>
              </a:lnSpc>
              <a:buFontTx/>
              <a:buNone/>
            </a:pPr>
            <a:r>
              <a:rPr lang="en-US" sz="2000" dirty="0"/>
              <a:t>                Else:</a:t>
            </a:r>
          </a:p>
          <a:p>
            <a:pPr eaLnBrk="1" hangingPunct="1">
              <a:lnSpc>
                <a:spcPct val="80000"/>
              </a:lnSpc>
              <a:buFontTx/>
              <a:buNone/>
            </a:pPr>
            <a:r>
              <a:rPr lang="en-US" sz="2000" dirty="0"/>
              <a:t>                Set LINK[NEW]:=LINK[LOC] and LINK[LOC]:= NEW</a:t>
            </a:r>
          </a:p>
          <a:p>
            <a:pPr eaLnBrk="1" hangingPunct="1">
              <a:lnSpc>
                <a:spcPct val="80000"/>
              </a:lnSpc>
              <a:buFontTx/>
              <a:buNone/>
            </a:pPr>
            <a:r>
              <a:rPr lang="en-US" sz="2000" dirty="0"/>
              <a:t>                [End of If structure] </a:t>
            </a:r>
          </a:p>
          <a:p>
            <a:pPr eaLnBrk="1" hangingPunct="1">
              <a:lnSpc>
                <a:spcPct val="80000"/>
              </a:lnSpc>
            </a:pPr>
            <a:r>
              <a:rPr lang="en-US" sz="2000" dirty="0"/>
              <a:t>Step 8: Return</a:t>
            </a:r>
          </a:p>
        </p:txBody>
      </p:sp>
    </p:spTree>
    <p:extLst>
      <p:ext uri="{BB962C8B-B14F-4D97-AF65-F5344CB8AC3E}">
        <p14:creationId xmlns:p14="http://schemas.microsoft.com/office/powerpoint/2010/main" val="293808544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sz="2000" b="1" u="sng"/>
              <a:t>Deletion of a node from a linked list</a:t>
            </a:r>
          </a:p>
          <a:p>
            <a:pPr eaLnBrk="1" hangingPunct="1"/>
            <a:r>
              <a:rPr lang="en-US" sz="2000"/>
              <a:t>Case 1: Deletion of node following a given node</a:t>
            </a:r>
          </a:p>
          <a:p>
            <a:pPr eaLnBrk="1" hangingPunct="1"/>
            <a:r>
              <a:rPr lang="en-US" sz="2000"/>
              <a:t>Algorithm: </a:t>
            </a:r>
            <a:r>
              <a:rPr lang="en-US" sz="2000" b="1"/>
              <a:t>DEL(INFO,LINK,START,AVAIL,LOC,LOCP)</a:t>
            </a:r>
          </a:p>
          <a:p>
            <a:pPr eaLnBrk="1" hangingPunct="1">
              <a:buFontTx/>
              <a:buNone/>
            </a:pPr>
            <a:r>
              <a:rPr lang="en-US" sz="2000"/>
              <a:t>                   This algorithm deletes node N with location LOC. LOCP</a:t>
            </a:r>
          </a:p>
          <a:p>
            <a:pPr eaLnBrk="1" hangingPunct="1">
              <a:buFontTx/>
              <a:buNone/>
            </a:pPr>
            <a:r>
              <a:rPr lang="en-US" sz="2000"/>
              <a:t>                   is location of node which precedes N or when N is first</a:t>
            </a:r>
          </a:p>
          <a:p>
            <a:pPr eaLnBrk="1" hangingPunct="1">
              <a:buFontTx/>
              <a:buNone/>
            </a:pPr>
            <a:r>
              <a:rPr lang="en-US" sz="2000"/>
              <a:t>                   node, LOCP=NULL.</a:t>
            </a:r>
          </a:p>
          <a:p>
            <a:pPr eaLnBrk="1" hangingPunct="1"/>
            <a:r>
              <a:rPr lang="en-US" sz="2000"/>
              <a:t>Step 1: If LOC=NULL, then:</a:t>
            </a:r>
          </a:p>
          <a:p>
            <a:pPr eaLnBrk="1" hangingPunct="1">
              <a:buFontTx/>
              <a:buNone/>
            </a:pPr>
            <a:r>
              <a:rPr lang="en-US" sz="2000"/>
              <a:t>                 Write: ‘UNDERFLOW’</a:t>
            </a:r>
          </a:p>
          <a:p>
            <a:pPr eaLnBrk="1" hangingPunct="1">
              <a:buFontTx/>
              <a:buNone/>
            </a:pPr>
            <a:r>
              <a:rPr lang="en-US" sz="2000"/>
              <a:t>                  Return</a:t>
            </a:r>
          </a:p>
          <a:p>
            <a:pPr eaLnBrk="1" hangingPunct="1"/>
            <a:r>
              <a:rPr lang="en-US" sz="2000"/>
              <a:t>Step 2: If LOCP=NULL, then:</a:t>
            </a:r>
          </a:p>
          <a:p>
            <a:pPr eaLnBrk="1" hangingPunct="1">
              <a:buFontTx/>
              <a:buNone/>
            </a:pPr>
            <a:r>
              <a:rPr lang="en-US" sz="2000"/>
              <a:t>                 Set START:=LINK[START] [Deletes first node]</a:t>
            </a:r>
          </a:p>
          <a:p>
            <a:pPr eaLnBrk="1" hangingPunct="1">
              <a:buFontTx/>
              <a:buNone/>
            </a:pPr>
            <a:r>
              <a:rPr lang="en-US" sz="2000"/>
              <a:t>                  Else:</a:t>
            </a:r>
          </a:p>
          <a:p>
            <a:pPr eaLnBrk="1" hangingPunct="1">
              <a:buFontTx/>
              <a:buNone/>
            </a:pPr>
            <a:r>
              <a:rPr lang="en-US" sz="2000"/>
              <a:t>                 Set LINK[LOCP]:=LINK[LOC]</a:t>
            </a:r>
          </a:p>
          <a:p>
            <a:pPr eaLnBrk="1" hangingPunct="1">
              <a:buFontTx/>
              <a:buNone/>
            </a:pPr>
            <a:r>
              <a:rPr lang="en-US" sz="2000"/>
              <a:t>                  [End of if structure]</a:t>
            </a:r>
          </a:p>
          <a:p>
            <a:pPr eaLnBrk="1" hangingPunct="1"/>
            <a:r>
              <a:rPr lang="en-US" sz="2000"/>
              <a:t>Step 3: [Return deleted node to AVAIL list]</a:t>
            </a:r>
          </a:p>
          <a:p>
            <a:pPr eaLnBrk="1" hangingPunct="1">
              <a:buFontTx/>
              <a:buNone/>
            </a:pPr>
            <a:r>
              <a:rPr lang="en-US" sz="2000"/>
              <a:t>                 Set LINK[LOC]:=AVAIL and </a:t>
            </a:r>
          </a:p>
          <a:p>
            <a:pPr eaLnBrk="1" hangingPunct="1">
              <a:buFontTx/>
              <a:buNone/>
            </a:pPr>
            <a:r>
              <a:rPr lang="en-US" sz="2000"/>
              <a:t>                 AVAIL:=LOC</a:t>
            </a:r>
          </a:p>
          <a:p>
            <a:pPr eaLnBrk="1" hangingPunct="1"/>
            <a:r>
              <a:rPr lang="en-US" sz="2000"/>
              <a:t>Step 4: Return</a:t>
            </a:r>
          </a:p>
        </p:txBody>
      </p:sp>
    </p:spTree>
    <p:extLst>
      <p:ext uri="{BB962C8B-B14F-4D97-AF65-F5344CB8AC3E}">
        <p14:creationId xmlns:p14="http://schemas.microsoft.com/office/powerpoint/2010/main" val="246459377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u="sng" dirty="0"/>
              <a:t>Deleting the node with a given item of information</a:t>
            </a:r>
          </a:p>
          <a:p>
            <a:pPr algn="just" eaLnBrk="1" hangingPunct="1">
              <a:buFontTx/>
              <a:buNone/>
            </a:pPr>
            <a:r>
              <a:rPr lang="en-US" dirty="0"/>
              <a:t>		</a:t>
            </a:r>
          </a:p>
          <a:p>
            <a:pPr algn="just" eaLnBrk="1" hangingPunct="1">
              <a:buFontTx/>
              <a:buNone/>
            </a:pPr>
            <a:r>
              <a:rPr lang="en-US" dirty="0"/>
              <a:t>     For deleting with given item of information, we first need to know the location of item to be deleted and also the location preceding the item to be deleted. For this, one algorithm will be called from the main algorithm to search for the two locations. Two variables, SAVE and PTR will be used to save the location of preceding and current node at every comparison respectively. Once , locations are found, deletion will be done in main algorithm.</a:t>
            </a:r>
          </a:p>
        </p:txBody>
      </p:sp>
    </p:spTree>
    <p:extLst>
      <p:ext uri="{BB962C8B-B14F-4D97-AF65-F5344CB8AC3E}">
        <p14:creationId xmlns:p14="http://schemas.microsoft.com/office/powerpoint/2010/main" val="199454263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dirty="0"/>
              <a:t>Algorithm: DELETE(INFO,LINK,START,ITEM,LOC,LOCP)</a:t>
            </a:r>
          </a:p>
          <a:p>
            <a:pPr eaLnBrk="1" hangingPunct="1">
              <a:lnSpc>
                <a:spcPct val="90000"/>
              </a:lnSpc>
              <a:buFontTx/>
              <a:buNone/>
            </a:pPr>
            <a:r>
              <a:rPr lang="en-US" sz="2000" dirty="0"/>
              <a:t>                     [This algorithm finds the location LOC of first node N </a:t>
            </a:r>
          </a:p>
          <a:p>
            <a:pPr eaLnBrk="1" hangingPunct="1">
              <a:lnSpc>
                <a:spcPct val="90000"/>
              </a:lnSpc>
              <a:buFontTx/>
              <a:buNone/>
            </a:pPr>
            <a:r>
              <a:rPr lang="en-US" sz="2000" dirty="0"/>
              <a:t>                      which contains ITEM and location LOCP of node</a:t>
            </a:r>
          </a:p>
          <a:p>
            <a:pPr eaLnBrk="1" hangingPunct="1">
              <a:lnSpc>
                <a:spcPct val="90000"/>
              </a:lnSpc>
              <a:buFontTx/>
              <a:buNone/>
            </a:pPr>
            <a:r>
              <a:rPr lang="en-US" sz="2000" dirty="0"/>
              <a:t>                      preceding N. if ITEM does not appear in the list, procedure</a:t>
            </a:r>
          </a:p>
          <a:p>
            <a:pPr eaLnBrk="1" hangingPunct="1">
              <a:lnSpc>
                <a:spcPct val="90000"/>
              </a:lnSpc>
              <a:buFontTx/>
              <a:buNone/>
            </a:pPr>
            <a:r>
              <a:rPr lang="en-US" sz="2000" dirty="0"/>
              <a:t>                      sets LOC=NULL and if ITEM appears in first node, then it</a:t>
            </a:r>
          </a:p>
          <a:p>
            <a:pPr eaLnBrk="1" hangingPunct="1">
              <a:lnSpc>
                <a:spcPct val="90000"/>
              </a:lnSpc>
              <a:buFontTx/>
              <a:buNone/>
            </a:pPr>
            <a:r>
              <a:rPr lang="en-US" sz="2000" dirty="0"/>
              <a:t>                      sets LOCP=NULL]</a:t>
            </a:r>
          </a:p>
          <a:p>
            <a:pPr eaLnBrk="1" hangingPunct="1">
              <a:lnSpc>
                <a:spcPct val="90000"/>
              </a:lnSpc>
            </a:pPr>
            <a:r>
              <a:rPr lang="en-US" sz="2000" dirty="0"/>
              <a:t>Step 1: If START=NULL, then:</a:t>
            </a:r>
          </a:p>
          <a:p>
            <a:pPr marL="0" indent="0" eaLnBrk="1" hangingPunct="1">
              <a:lnSpc>
                <a:spcPct val="90000"/>
              </a:lnSpc>
              <a:buNone/>
            </a:pPr>
            <a:r>
              <a:rPr lang="en-US" sz="2000" dirty="0"/>
              <a:t>                  Write: ‘Underflow’</a:t>
            </a:r>
          </a:p>
          <a:p>
            <a:pPr marL="0" indent="0" eaLnBrk="1" hangingPunct="1">
              <a:lnSpc>
                <a:spcPct val="90000"/>
              </a:lnSpc>
              <a:buNone/>
            </a:pPr>
            <a:r>
              <a:rPr lang="en-US" sz="2000" dirty="0"/>
              <a:t>                 Return</a:t>
            </a:r>
          </a:p>
          <a:p>
            <a:pPr eaLnBrk="1" hangingPunct="1">
              <a:lnSpc>
                <a:spcPct val="90000"/>
              </a:lnSpc>
            </a:pPr>
            <a:r>
              <a:rPr lang="en-US" sz="2000" dirty="0"/>
              <a:t>Step 2: Set PTR=START</a:t>
            </a:r>
          </a:p>
          <a:p>
            <a:pPr eaLnBrk="1" hangingPunct="1">
              <a:lnSpc>
                <a:spcPct val="90000"/>
              </a:lnSpc>
            </a:pPr>
            <a:r>
              <a:rPr lang="en-US" sz="2000" dirty="0"/>
              <a:t>Step 3: Set SAVE:=NULL and PTR:=START</a:t>
            </a:r>
          </a:p>
          <a:p>
            <a:pPr marL="0" indent="0" eaLnBrk="1" hangingPunct="1">
              <a:lnSpc>
                <a:spcPct val="90000"/>
              </a:lnSpc>
              <a:buNone/>
            </a:pPr>
            <a:r>
              <a:rPr lang="en-US" sz="2000" dirty="0"/>
              <a:t>                 Repeat while INFO[PTR]</a:t>
            </a:r>
            <a:r>
              <a:rPr lang="en-US" sz="2000" dirty="0">
                <a:cs typeface="Times New Roman" pitchFamily="18" charset="0"/>
              </a:rPr>
              <a:t> ≠ ITEM and </a:t>
            </a:r>
            <a:r>
              <a:rPr lang="en-US" sz="2000" dirty="0"/>
              <a:t> PTR</a:t>
            </a:r>
            <a:r>
              <a:rPr lang="en-US" sz="2000" dirty="0">
                <a:cs typeface="Times New Roman" pitchFamily="18" charset="0"/>
              </a:rPr>
              <a:t>≠NULL:</a:t>
            </a:r>
          </a:p>
          <a:p>
            <a:pPr marL="0" indent="0" eaLnBrk="1" hangingPunct="1">
              <a:lnSpc>
                <a:spcPct val="90000"/>
              </a:lnSpc>
              <a:buNone/>
            </a:pPr>
            <a:r>
              <a:rPr lang="en-US" sz="2000" dirty="0"/>
              <a:t>                  Set SAVE:=PTR and PTR:=LINK[PTR]</a:t>
            </a:r>
          </a:p>
          <a:p>
            <a:pPr marL="0" indent="0" eaLnBrk="1" hangingPunct="1">
              <a:lnSpc>
                <a:spcPct val="90000"/>
              </a:lnSpc>
              <a:buNone/>
            </a:pPr>
            <a:r>
              <a:rPr lang="en-US" sz="2000" dirty="0">
                <a:cs typeface="Times New Roman" pitchFamily="18" charset="0"/>
              </a:rPr>
              <a:t>                 [end of while loop] </a:t>
            </a:r>
          </a:p>
          <a:p>
            <a:pPr eaLnBrk="1" hangingPunct="1">
              <a:lnSpc>
                <a:spcPct val="90000"/>
              </a:lnSpc>
            </a:pPr>
            <a:r>
              <a:rPr lang="en-US" sz="2000" dirty="0">
                <a:cs typeface="Times New Roman" pitchFamily="18" charset="0"/>
              </a:rPr>
              <a:t> Step 4:  Set LOC:=PTR and LOCP:=SAVE</a:t>
            </a:r>
          </a:p>
          <a:p>
            <a:pPr eaLnBrk="1" hangingPunct="1">
              <a:lnSpc>
                <a:spcPct val="90000"/>
              </a:lnSpc>
            </a:pPr>
            <a:r>
              <a:rPr lang="en-US" sz="2000" dirty="0">
                <a:cs typeface="Times New Roman" pitchFamily="18" charset="0"/>
              </a:rPr>
              <a:t>Step 5: IF LOC=NULL, then</a:t>
            </a:r>
          </a:p>
          <a:p>
            <a:pPr marL="0" indent="0" eaLnBrk="1" hangingPunct="1">
              <a:lnSpc>
                <a:spcPct val="90000"/>
              </a:lnSpc>
              <a:buNone/>
            </a:pPr>
            <a:r>
              <a:rPr lang="en-US" sz="2000" dirty="0">
                <a:cs typeface="Times New Roman" pitchFamily="18" charset="0"/>
              </a:rPr>
              <a:t>                 </a:t>
            </a:r>
            <a:r>
              <a:rPr lang="en-US" sz="2000" dirty="0" err="1">
                <a:cs typeface="Times New Roman" pitchFamily="18" charset="0"/>
              </a:rPr>
              <a:t>Write:`element</a:t>
            </a:r>
            <a:r>
              <a:rPr lang="en-US" sz="2000" dirty="0">
                <a:cs typeface="Times New Roman" pitchFamily="18" charset="0"/>
              </a:rPr>
              <a:t> not in list’</a:t>
            </a:r>
          </a:p>
          <a:p>
            <a:pPr marL="0" indent="0" eaLnBrk="1" hangingPunct="1">
              <a:lnSpc>
                <a:spcPct val="90000"/>
              </a:lnSpc>
              <a:buNone/>
            </a:pPr>
            <a:r>
              <a:rPr lang="en-US" sz="2000" dirty="0">
                <a:cs typeface="Times New Roman" pitchFamily="18" charset="0"/>
              </a:rPr>
              <a:t>                 Return         </a:t>
            </a:r>
          </a:p>
          <a:p>
            <a:pPr eaLnBrk="1" hangingPunct="1">
              <a:lnSpc>
                <a:spcPct val="90000"/>
              </a:lnSpc>
              <a:buFontTx/>
              <a:buNone/>
            </a:pPr>
            <a:r>
              <a:rPr lang="en-US" dirty="0"/>
              <a:t>    </a:t>
            </a:r>
          </a:p>
        </p:txBody>
      </p:sp>
    </p:spTree>
    <p:extLst>
      <p:ext uri="{BB962C8B-B14F-4D97-AF65-F5344CB8AC3E}">
        <p14:creationId xmlns:p14="http://schemas.microsoft.com/office/powerpoint/2010/main" val="37076903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3"/>
          <p:cNvSpPr>
            <a:spLocks noGrp="1" noChangeArrowheads="1"/>
          </p:cNvSpPr>
          <p:nvPr>
            <p:ph type="body" idx="1"/>
          </p:nvPr>
        </p:nvSpPr>
        <p:spPr>
          <a:xfrm>
            <a:off x="1524000" y="0"/>
            <a:ext cx="9144000" cy="6858000"/>
          </a:xfrm>
        </p:spPr>
        <p:txBody>
          <a:bodyPr/>
          <a:lstStyle/>
          <a:p>
            <a:pPr eaLnBrk="1" hangingPunct="1"/>
            <a:endParaRPr lang="en-US" dirty="0"/>
          </a:p>
          <a:p>
            <a:pPr eaLnBrk="1" hangingPunct="1"/>
            <a:r>
              <a:rPr lang="en-US" dirty="0"/>
              <a:t>Step 3: If LOCP=NULL, then:</a:t>
            </a:r>
          </a:p>
          <a:p>
            <a:pPr eaLnBrk="1" hangingPunct="1">
              <a:buFontTx/>
              <a:buNone/>
            </a:pPr>
            <a:r>
              <a:rPr lang="en-US" dirty="0"/>
              <a:t>                Set START:= LINK[START]</a:t>
            </a:r>
          </a:p>
          <a:p>
            <a:pPr eaLnBrk="1" hangingPunct="1">
              <a:buFontTx/>
              <a:buNone/>
            </a:pPr>
            <a:r>
              <a:rPr lang="en-US" dirty="0"/>
              <a:t>                Else: </a:t>
            </a:r>
          </a:p>
          <a:p>
            <a:pPr eaLnBrk="1" hangingPunct="1">
              <a:buFontTx/>
              <a:buNone/>
            </a:pPr>
            <a:r>
              <a:rPr lang="en-US" dirty="0"/>
              <a:t>                Set LINK[LOCP]:=LINK[LOC]</a:t>
            </a:r>
          </a:p>
          <a:p>
            <a:pPr eaLnBrk="1" hangingPunct="1">
              <a:buFontTx/>
              <a:buNone/>
            </a:pPr>
            <a:r>
              <a:rPr lang="en-US" dirty="0"/>
              <a:t>               [End of if structure]</a:t>
            </a:r>
          </a:p>
          <a:p>
            <a:pPr eaLnBrk="1" hangingPunct="1"/>
            <a:r>
              <a:rPr lang="en-US" dirty="0"/>
              <a:t>Step 4: Set LINK[LOC]:=AVAIL and AVAIL:=LOC</a:t>
            </a:r>
          </a:p>
          <a:p>
            <a:pPr eaLnBrk="1" hangingPunct="1"/>
            <a:r>
              <a:rPr lang="en-US" dirty="0"/>
              <a:t>Step 5: Return        </a:t>
            </a:r>
          </a:p>
        </p:txBody>
      </p:sp>
    </p:spTree>
    <p:extLst>
      <p:ext uri="{BB962C8B-B14F-4D97-AF65-F5344CB8AC3E}">
        <p14:creationId xmlns:p14="http://schemas.microsoft.com/office/powerpoint/2010/main" val="12585417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sz="2800" b="1" u="sng"/>
              <a:t>Concatenating two linear linked lists</a:t>
            </a:r>
          </a:p>
          <a:p>
            <a:pPr eaLnBrk="1" hangingPunct="1"/>
            <a:r>
              <a:rPr lang="en-US"/>
              <a:t>Algorithm: Concatenate(INFO,LINK,START1,START2)</a:t>
            </a:r>
          </a:p>
          <a:p>
            <a:pPr eaLnBrk="1" hangingPunct="1">
              <a:buFontTx/>
              <a:buNone/>
            </a:pPr>
            <a:r>
              <a:rPr lang="en-US"/>
              <a:t>                       This algorithm concatenates two linked lists with start</a:t>
            </a:r>
          </a:p>
          <a:p>
            <a:pPr eaLnBrk="1" hangingPunct="1">
              <a:buFontTx/>
              <a:buNone/>
            </a:pPr>
            <a:r>
              <a:rPr lang="en-US"/>
              <a:t>                        pointers START1 and START2</a:t>
            </a:r>
          </a:p>
          <a:p>
            <a:pPr eaLnBrk="1" hangingPunct="1"/>
            <a:r>
              <a:rPr lang="en-US"/>
              <a:t>Step 1: Set PTR:=START1</a:t>
            </a:r>
          </a:p>
          <a:p>
            <a:pPr eaLnBrk="1" hangingPunct="1"/>
            <a:r>
              <a:rPr lang="en-US"/>
              <a:t>Step 2: Repeat while LINK[PTR]</a:t>
            </a:r>
            <a:r>
              <a:rPr lang="en-US">
                <a:cs typeface="Times New Roman" pitchFamily="18" charset="0"/>
              </a:rPr>
              <a:t>≠NULL:</a:t>
            </a:r>
          </a:p>
          <a:p>
            <a:pPr eaLnBrk="1" hangingPunct="1">
              <a:buFontTx/>
              <a:buNone/>
            </a:pPr>
            <a:r>
              <a:rPr lang="en-US">
                <a:cs typeface="Times New Roman" pitchFamily="18" charset="0"/>
              </a:rPr>
              <a:t>                Set PTR:=LINK[PTR]</a:t>
            </a:r>
          </a:p>
          <a:p>
            <a:pPr eaLnBrk="1" hangingPunct="1">
              <a:buFontTx/>
              <a:buNone/>
            </a:pPr>
            <a:r>
              <a:rPr lang="en-US">
                <a:cs typeface="Times New Roman" pitchFamily="18" charset="0"/>
              </a:rPr>
              <a:t>                [End of Step 2 Loop]</a:t>
            </a:r>
          </a:p>
          <a:p>
            <a:pPr eaLnBrk="1" hangingPunct="1"/>
            <a:r>
              <a:rPr lang="en-US">
                <a:cs typeface="Times New Roman" pitchFamily="18" charset="0"/>
              </a:rPr>
              <a:t>Step 3: Set LINK[PTR]:=START2</a:t>
            </a:r>
          </a:p>
          <a:p>
            <a:pPr eaLnBrk="1" hangingPunct="1"/>
            <a:r>
              <a:rPr lang="en-US">
                <a:cs typeface="Times New Roman" pitchFamily="18" charset="0"/>
              </a:rPr>
              <a:t>Step 4: Return</a:t>
            </a:r>
          </a:p>
        </p:txBody>
      </p:sp>
    </p:spTree>
    <p:extLst>
      <p:ext uri="{BB962C8B-B14F-4D97-AF65-F5344CB8AC3E}">
        <p14:creationId xmlns:p14="http://schemas.microsoft.com/office/powerpoint/2010/main" val="31521181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3"/>
          <p:cNvSpPr>
            <a:spLocks noGrp="1" noChangeArrowheads="1"/>
          </p:cNvSpPr>
          <p:nvPr>
            <p:ph type="body" idx="1"/>
          </p:nvPr>
        </p:nvSpPr>
        <p:spPr>
          <a:xfrm>
            <a:off x="1524000" y="0"/>
            <a:ext cx="9144000" cy="6858000"/>
          </a:xfrm>
        </p:spPr>
        <p:txBody>
          <a:bodyPr/>
          <a:lstStyle/>
          <a:p>
            <a:pPr algn="just" eaLnBrk="1" hangingPunct="1">
              <a:lnSpc>
                <a:spcPct val="90000"/>
              </a:lnSpc>
            </a:pPr>
            <a:r>
              <a:rPr lang="en-US" b="1" dirty="0"/>
              <a:t>Circular Linked List-</a:t>
            </a:r>
            <a:r>
              <a:rPr lang="en-US" dirty="0"/>
              <a:t> A circular linked list is a linked list in which last element or node of the list  points to first node. For non-empty circular linked list, there are no NULL pointers. The memory declarations for representing the circular linked lists are the same as for linear linked lists. All operations performed on linear linked lists can be easily extended to circular linked lists with following exceptions:</a:t>
            </a:r>
          </a:p>
          <a:p>
            <a:pPr algn="just" eaLnBrk="1" hangingPunct="1">
              <a:lnSpc>
                <a:spcPct val="90000"/>
              </a:lnSpc>
            </a:pPr>
            <a:r>
              <a:rPr lang="en-US" dirty="0"/>
              <a:t>While inserting new node at the end of the list, its next pointer field is made to point to the first node.</a:t>
            </a:r>
          </a:p>
          <a:p>
            <a:pPr algn="just" eaLnBrk="1" hangingPunct="1">
              <a:lnSpc>
                <a:spcPct val="90000"/>
              </a:lnSpc>
            </a:pPr>
            <a:r>
              <a:rPr lang="en-US" dirty="0"/>
              <a:t>While testing for end of list, we compare the next pointer field with address of the first node</a:t>
            </a:r>
          </a:p>
          <a:p>
            <a:pPr lvl="2" algn="just" eaLnBrk="1" hangingPunct="1">
              <a:lnSpc>
                <a:spcPct val="90000"/>
              </a:lnSpc>
              <a:buFontTx/>
              <a:buNone/>
            </a:pPr>
            <a:r>
              <a:rPr lang="en-US" dirty="0"/>
              <a:t>Circular linked list is usually implemented using </a:t>
            </a:r>
            <a:r>
              <a:rPr lang="en-US" b="1" dirty="0"/>
              <a:t>header linked</a:t>
            </a:r>
          </a:p>
          <a:p>
            <a:pPr indent="20638" algn="just" eaLnBrk="1" hangingPunct="1">
              <a:lnSpc>
                <a:spcPct val="90000"/>
              </a:lnSpc>
              <a:buNone/>
            </a:pPr>
            <a:r>
              <a:rPr lang="en-US" b="1" dirty="0"/>
              <a:t>list</a:t>
            </a:r>
            <a:r>
              <a:rPr lang="en-US" dirty="0"/>
              <a:t>. Header linked list is a linked list which always contains a special</a:t>
            </a:r>
          </a:p>
          <a:p>
            <a:pPr indent="-23813" algn="just" eaLnBrk="1" hangingPunct="1">
              <a:lnSpc>
                <a:spcPct val="90000"/>
              </a:lnSpc>
              <a:buNone/>
            </a:pPr>
            <a:r>
              <a:rPr lang="en-US" dirty="0"/>
              <a:t> node called the </a:t>
            </a:r>
            <a:r>
              <a:rPr lang="en-US" b="1" dirty="0"/>
              <a:t>header node</a:t>
            </a:r>
            <a:r>
              <a:rPr lang="en-US" dirty="0"/>
              <a:t>, at the beginning of the list. This header</a:t>
            </a:r>
          </a:p>
          <a:p>
            <a:pPr algn="just" eaLnBrk="1" hangingPunct="1">
              <a:lnSpc>
                <a:spcPct val="90000"/>
              </a:lnSpc>
              <a:buFontTx/>
              <a:buNone/>
            </a:pPr>
            <a:r>
              <a:rPr lang="en-US" dirty="0"/>
              <a:t>     node usually contains vital information about the linked list such as</a:t>
            </a:r>
          </a:p>
          <a:p>
            <a:pPr algn="just" eaLnBrk="1" hangingPunct="1">
              <a:lnSpc>
                <a:spcPct val="90000"/>
              </a:lnSpc>
              <a:buFontTx/>
              <a:buNone/>
            </a:pPr>
            <a:r>
              <a:rPr lang="en-US" dirty="0"/>
              <a:t>     number of nodes in lists, whether list is sorted or not etc. Circular</a:t>
            </a:r>
          </a:p>
          <a:p>
            <a:pPr algn="just" eaLnBrk="1" hangingPunct="1">
              <a:lnSpc>
                <a:spcPct val="90000"/>
              </a:lnSpc>
              <a:buFontTx/>
              <a:buNone/>
            </a:pPr>
            <a:r>
              <a:rPr lang="en-US" dirty="0"/>
              <a:t>     header lists are frequently used instead of ordinary linked lists as many operations are much easier to state and implement using header lists</a:t>
            </a:r>
          </a:p>
        </p:txBody>
      </p:sp>
    </p:spTree>
    <p:extLst>
      <p:ext uri="{BB962C8B-B14F-4D97-AF65-F5344CB8AC3E}">
        <p14:creationId xmlns:p14="http://schemas.microsoft.com/office/powerpoint/2010/main" val="3535428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3"/>
          <p:cNvSpPr>
            <a:spLocks noGrp="1" noChangeArrowheads="1"/>
          </p:cNvSpPr>
          <p:nvPr>
            <p:ph type="body" idx="1"/>
          </p:nvPr>
        </p:nvSpPr>
        <p:spPr>
          <a:xfrm>
            <a:off x="1524000" y="0"/>
            <a:ext cx="9144000" cy="6858000"/>
          </a:xfrm>
        </p:spPr>
        <p:txBody>
          <a:bodyPr/>
          <a:lstStyle/>
          <a:p>
            <a:pPr eaLnBrk="1" hangingPunct="1"/>
            <a:r>
              <a:rPr lang="en-US"/>
              <a:t>This comes from the following two properties of circular header linked lists:</a:t>
            </a:r>
          </a:p>
          <a:p>
            <a:pPr eaLnBrk="1" hangingPunct="1"/>
            <a:r>
              <a:rPr lang="en-US"/>
              <a:t>The null pointer is not used, and hence all pointers contain valid addresses</a:t>
            </a:r>
          </a:p>
          <a:p>
            <a:pPr eaLnBrk="1" hangingPunct="1"/>
            <a:r>
              <a:rPr lang="en-US"/>
              <a:t>Every (ordinary ) node has a predecessor, so the first node may not require a special case.</a:t>
            </a:r>
          </a:p>
        </p:txBody>
      </p:sp>
    </p:spTree>
    <p:extLst>
      <p:ext uri="{BB962C8B-B14F-4D97-AF65-F5344CB8AC3E}">
        <p14:creationId xmlns:p14="http://schemas.microsoft.com/office/powerpoint/2010/main" val="208138881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3"/>
          <p:cNvSpPr>
            <a:spLocks noGrp="1" noChangeArrowheads="1"/>
          </p:cNvSpPr>
          <p:nvPr>
            <p:ph type="body" idx="1"/>
          </p:nvPr>
        </p:nvSpPr>
        <p:spPr>
          <a:xfrm>
            <a:off x="1524000" y="0"/>
            <a:ext cx="9144000" cy="6858000"/>
          </a:xfrm>
        </p:spPr>
        <p:txBody>
          <a:bodyPr/>
          <a:lstStyle/>
          <a:p>
            <a:pPr eaLnBrk="1" hangingPunct="1"/>
            <a:r>
              <a:rPr lang="en-US"/>
              <a:t>Algorithm: </a:t>
            </a:r>
            <a:r>
              <a:rPr lang="en-US" b="1"/>
              <a:t>(Traversing a circular header linked  list)</a:t>
            </a:r>
          </a:p>
          <a:p>
            <a:pPr eaLnBrk="1" hangingPunct="1">
              <a:buFontTx/>
              <a:buNone/>
            </a:pPr>
            <a:r>
              <a:rPr lang="en-US"/>
              <a:t>                   This algorithm traverses a </a:t>
            </a:r>
            <a:r>
              <a:rPr lang="en-US" b="1"/>
              <a:t>circular header linked list</a:t>
            </a:r>
            <a:r>
              <a:rPr lang="en-US"/>
              <a:t> with</a:t>
            </a:r>
          </a:p>
          <a:p>
            <a:pPr eaLnBrk="1" hangingPunct="1">
              <a:buFontTx/>
              <a:buNone/>
            </a:pPr>
            <a:r>
              <a:rPr lang="en-US"/>
              <a:t>                    START pointer storing the address of the header node.  </a:t>
            </a:r>
          </a:p>
          <a:p>
            <a:pPr eaLnBrk="1" hangingPunct="1"/>
            <a:r>
              <a:rPr lang="en-US"/>
              <a:t>Step 1: Set PTR:=LINK[START]</a:t>
            </a:r>
          </a:p>
          <a:p>
            <a:pPr eaLnBrk="1" hangingPunct="1"/>
            <a:r>
              <a:rPr lang="en-US"/>
              <a:t>Step 2: Repeat while PTR</a:t>
            </a:r>
            <a:r>
              <a:rPr lang="en-US">
                <a:cs typeface="Times New Roman" pitchFamily="18" charset="0"/>
              </a:rPr>
              <a:t>≠START:</a:t>
            </a:r>
          </a:p>
          <a:p>
            <a:pPr eaLnBrk="1" hangingPunct="1">
              <a:buFontTx/>
              <a:buNone/>
            </a:pPr>
            <a:r>
              <a:rPr lang="en-US">
                <a:cs typeface="Times New Roman" pitchFamily="18" charset="0"/>
              </a:rPr>
              <a:t>                Apply PROCESS to INFO[PTR]</a:t>
            </a:r>
          </a:p>
          <a:p>
            <a:pPr eaLnBrk="1" hangingPunct="1">
              <a:buFontTx/>
              <a:buNone/>
            </a:pPr>
            <a:r>
              <a:rPr lang="en-US">
                <a:cs typeface="Times New Roman" pitchFamily="18" charset="0"/>
              </a:rPr>
              <a:t>                Set PTR:=LINK[PTR]</a:t>
            </a:r>
          </a:p>
          <a:p>
            <a:pPr eaLnBrk="1" hangingPunct="1">
              <a:buFontTx/>
              <a:buNone/>
            </a:pPr>
            <a:r>
              <a:rPr lang="en-US">
                <a:cs typeface="Times New Roman" pitchFamily="18" charset="0"/>
              </a:rPr>
              <a:t>                [End of Loop]</a:t>
            </a:r>
          </a:p>
          <a:p>
            <a:pPr eaLnBrk="1" hangingPunct="1"/>
            <a:r>
              <a:rPr lang="en-US">
                <a:cs typeface="Times New Roman" pitchFamily="18" charset="0"/>
              </a:rPr>
              <a:t>Step 3: Return  </a:t>
            </a:r>
          </a:p>
          <a:p>
            <a:pPr eaLnBrk="1" hangingPunct="1"/>
            <a:endParaRPr lang="en-US"/>
          </a:p>
        </p:txBody>
      </p:sp>
    </p:spTree>
    <p:extLst>
      <p:ext uri="{BB962C8B-B14F-4D97-AF65-F5344CB8AC3E}">
        <p14:creationId xmlns:p14="http://schemas.microsoft.com/office/powerpoint/2010/main" val="35211238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u="sng"/>
              <a:t>Searching a circular header linked list</a:t>
            </a:r>
          </a:p>
          <a:p>
            <a:pPr eaLnBrk="1" hangingPunct="1"/>
            <a:r>
              <a:rPr lang="en-US"/>
              <a:t>Algorithm: SRCHHL(INFO,LINK,START,ITEM,LOC)</a:t>
            </a:r>
          </a:p>
          <a:p>
            <a:pPr eaLnBrk="1" hangingPunct="1"/>
            <a:r>
              <a:rPr lang="en-US"/>
              <a:t>                   This algorithm searches a circular header linked list</a:t>
            </a:r>
          </a:p>
          <a:p>
            <a:pPr eaLnBrk="1" hangingPunct="1"/>
            <a:r>
              <a:rPr lang="en-US"/>
              <a:t>Step 1: Set PTR:=LINK[START]</a:t>
            </a:r>
          </a:p>
          <a:p>
            <a:pPr eaLnBrk="1" hangingPunct="1"/>
            <a:r>
              <a:rPr lang="en-US"/>
              <a:t>Step 2: Repeat while INFO[PTR]</a:t>
            </a:r>
            <a:r>
              <a:rPr lang="en-US">
                <a:cs typeface="Times New Roman" pitchFamily="18" charset="0"/>
              </a:rPr>
              <a:t>≠ITEM and PTR≠START:</a:t>
            </a:r>
          </a:p>
          <a:p>
            <a:pPr eaLnBrk="1" hangingPunct="1">
              <a:buFontTx/>
              <a:buNone/>
            </a:pPr>
            <a:r>
              <a:rPr lang="en-US">
                <a:cs typeface="Times New Roman" pitchFamily="18" charset="0"/>
              </a:rPr>
              <a:t>                 Set PTR:=LINK[PTR]</a:t>
            </a:r>
          </a:p>
          <a:p>
            <a:pPr eaLnBrk="1" hangingPunct="1">
              <a:buFontTx/>
              <a:buNone/>
            </a:pPr>
            <a:r>
              <a:rPr lang="en-US">
                <a:cs typeface="Times New Roman" pitchFamily="18" charset="0"/>
              </a:rPr>
              <a:t>                 [End of Loop]</a:t>
            </a:r>
          </a:p>
          <a:p>
            <a:pPr eaLnBrk="1" hangingPunct="1"/>
            <a:r>
              <a:rPr lang="en-US">
                <a:cs typeface="Times New Roman" pitchFamily="18" charset="0"/>
              </a:rPr>
              <a:t>Step 3: If INFO[PTR]=ITEM, then:</a:t>
            </a:r>
          </a:p>
          <a:p>
            <a:pPr eaLnBrk="1" hangingPunct="1">
              <a:buFontTx/>
              <a:buNone/>
            </a:pPr>
            <a:r>
              <a:rPr lang="en-US">
                <a:cs typeface="Times New Roman" pitchFamily="18" charset="0"/>
              </a:rPr>
              <a:t>                 Set LOC:=PTR</a:t>
            </a:r>
          </a:p>
          <a:p>
            <a:pPr eaLnBrk="1" hangingPunct="1">
              <a:buFontTx/>
              <a:buNone/>
            </a:pPr>
            <a:r>
              <a:rPr lang="en-US">
                <a:cs typeface="Times New Roman" pitchFamily="18" charset="0"/>
              </a:rPr>
              <a:t>                 Else:</a:t>
            </a:r>
          </a:p>
          <a:p>
            <a:pPr eaLnBrk="1" hangingPunct="1">
              <a:buFontTx/>
              <a:buNone/>
            </a:pPr>
            <a:r>
              <a:rPr lang="en-US">
                <a:cs typeface="Times New Roman" pitchFamily="18" charset="0"/>
              </a:rPr>
              <a:t>                 Set LOC:=NULL</a:t>
            </a:r>
          </a:p>
          <a:p>
            <a:pPr eaLnBrk="1" hangingPunct="1">
              <a:buFontTx/>
              <a:buNone/>
            </a:pPr>
            <a:r>
              <a:rPr lang="en-US">
                <a:cs typeface="Times New Roman" pitchFamily="18" charset="0"/>
              </a:rPr>
              <a:t>                 [End of If structure]</a:t>
            </a:r>
          </a:p>
          <a:p>
            <a:pPr eaLnBrk="1" hangingPunct="1"/>
            <a:r>
              <a:rPr lang="en-US">
                <a:cs typeface="Times New Roman" pitchFamily="18" charset="0"/>
              </a:rPr>
              <a:t>Step 4: Return  </a:t>
            </a:r>
          </a:p>
          <a:p>
            <a:pPr eaLnBrk="1" hangingPunct="1"/>
            <a:endParaRPr lang="en-US">
              <a:cs typeface="Times New Roman" pitchFamily="18" charset="0"/>
            </a:endParaRPr>
          </a:p>
        </p:txBody>
      </p:sp>
    </p:spTree>
    <p:extLst>
      <p:ext uri="{BB962C8B-B14F-4D97-AF65-F5344CB8AC3E}">
        <p14:creationId xmlns:p14="http://schemas.microsoft.com/office/powerpoint/2010/main" val="189848694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u="sng"/>
              <a:t>Insertion in a circular header linked list</a:t>
            </a:r>
          </a:p>
          <a:p>
            <a:pPr eaLnBrk="1" hangingPunct="1">
              <a:buFontTx/>
              <a:buNone/>
            </a:pPr>
            <a:r>
              <a:rPr lang="en-US"/>
              <a:t>Algorithm: INSRT(INFO,LINK,START,AVAIL,ITEM,LOC)</a:t>
            </a:r>
          </a:p>
          <a:p>
            <a:pPr eaLnBrk="1" hangingPunct="1">
              <a:buFontTx/>
              <a:buNone/>
            </a:pPr>
            <a:r>
              <a:rPr lang="en-US"/>
              <a:t>                    This algorithm inserts item in a circular header linked list</a:t>
            </a:r>
          </a:p>
          <a:p>
            <a:pPr eaLnBrk="1" hangingPunct="1">
              <a:buFontTx/>
              <a:buNone/>
            </a:pPr>
            <a:r>
              <a:rPr lang="en-US"/>
              <a:t>                     after the location LOC</a:t>
            </a:r>
          </a:p>
          <a:p>
            <a:pPr eaLnBrk="1" hangingPunct="1"/>
            <a:r>
              <a:rPr lang="en-US"/>
              <a:t>Step 1:If AVAIL=NULL, then</a:t>
            </a:r>
          </a:p>
          <a:p>
            <a:pPr eaLnBrk="1" hangingPunct="1">
              <a:buFontTx/>
              <a:buNone/>
            </a:pPr>
            <a:r>
              <a:rPr lang="en-US"/>
              <a:t>               Write: ‘OVERFLOW’</a:t>
            </a:r>
          </a:p>
          <a:p>
            <a:pPr eaLnBrk="1" hangingPunct="1">
              <a:buFontTx/>
              <a:buNone/>
            </a:pPr>
            <a:r>
              <a:rPr lang="en-US"/>
              <a:t>               Exit </a:t>
            </a:r>
          </a:p>
          <a:p>
            <a:pPr eaLnBrk="1" hangingPunct="1"/>
            <a:r>
              <a:rPr lang="en-US"/>
              <a:t>Step 2: Set NEW:=AVAIL and AVAIL:=LINK[AVAIL]</a:t>
            </a:r>
          </a:p>
          <a:p>
            <a:pPr eaLnBrk="1" hangingPunct="1"/>
            <a:r>
              <a:rPr lang="en-US"/>
              <a:t>Step 3: Set INFO[NEW]:=ITEM</a:t>
            </a:r>
          </a:p>
          <a:p>
            <a:pPr eaLnBrk="1" hangingPunct="1"/>
            <a:r>
              <a:rPr lang="en-US"/>
              <a:t>Step 4: Set LINK[NEW]:=LINK[LOC]</a:t>
            </a:r>
          </a:p>
          <a:p>
            <a:pPr eaLnBrk="1" hangingPunct="1">
              <a:buFontTx/>
              <a:buNone/>
            </a:pPr>
            <a:r>
              <a:rPr lang="en-US"/>
              <a:t>                 Set LINK[LOC]:=NEW</a:t>
            </a:r>
          </a:p>
          <a:p>
            <a:pPr eaLnBrk="1" hangingPunct="1"/>
            <a:r>
              <a:rPr lang="en-US"/>
              <a:t>Step 5: Return  </a:t>
            </a:r>
          </a:p>
        </p:txBody>
      </p:sp>
    </p:spTree>
    <p:extLst>
      <p:ext uri="{BB962C8B-B14F-4D97-AF65-F5344CB8AC3E}">
        <p14:creationId xmlns:p14="http://schemas.microsoft.com/office/powerpoint/2010/main" val="2381952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3"/>
          <p:cNvSpPr>
            <a:spLocks noGrp="1" noChangeArrowheads="1"/>
          </p:cNvSpPr>
          <p:nvPr>
            <p:ph type="body" idx="1"/>
          </p:nvPr>
        </p:nvSpPr>
        <p:spPr>
          <a:xfrm>
            <a:off x="1524000" y="0"/>
            <a:ext cx="9144000" cy="6858000"/>
          </a:xfrm>
        </p:spPr>
        <p:txBody>
          <a:bodyPr/>
          <a:lstStyle/>
          <a:p>
            <a:pPr marL="457200" indent="-457200" algn="ctr" eaLnBrk="1" hangingPunct="1">
              <a:buNone/>
            </a:pPr>
            <a:r>
              <a:rPr lang="en-US" b="1" u="sng" dirty="0"/>
              <a:t>Insertion in a sorted circular header linked list</a:t>
            </a:r>
          </a:p>
          <a:p>
            <a:pPr marL="457200" indent="-457200" eaLnBrk="1" hangingPunct="1">
              <a:buNone/>
            </a:pPr>
            <a:r>
              <a:rPr lang="en-US" dirty="0"/>
              <a:t>Algorithm: INSSRT(INFO,LINK,START,AVAIL,ITEM)</a:t>
            </a:r>
          </a:p>
          <a:p>
            <a:pPr marL="457200" indent="-457200" eaLnBrk="1" hangingPunct="1">
              <a:buNone/>
            </a:pPr>
            <a:r>
              <a:rPr lang="en-US" dirty="0"/>
              <a:t>                   This algorithm inserts an element in a sorted circular header</a:t>
            </a:r>
          </a:p>
          <a:p>
            <a:pPr marL="457200" indent="-457200" eaLnBrk="1" hangingPunct="1">
              <a:buNone/>
            </a:pPr>
            <a:r>
              <a:rPr lang="en-US" dirty="0"/>
              <a:t>                    linked list</a:t>
            </a:r>
          </a:p>
          <a:p>
            <a:pPr marL="457200" indent="-457200" eaLnBrk="1" hangingPunct="1">
              <a:buNone/>
            </a:pPr>
            <a:r>
              <a:rPr lang="en-US" sz="2000" dirty="0"/>
              <a:t>Step 1:  If AVAIL=NULL, then</a:t>
            </a:r>
          </a:p>
          <a:p>
            <a:pPr marL="457200" indent="-457200" eaLnBrk="1" hangingPunct="1">
              <a:buNone/>
            </a:pPr>
            <a:r>
              <a:rPr lang="en-US" sz="2000" dirty="0"/>
              <a:t>            Write: ‘OVERFLOW’</a:t>
            </a:r>
          </a:p>
          <a:p>
            <a:pPr marL="457200" indent="-457200" eaLnBrk="1" hangingPunct="1">
              <a:buNone/>
            </a:pPr>
            <a:r>
              <a:rPr lang="en-US" sz="2000" dirty="0"/>
              <a:t>             Return </a:t>
            </a:r>
          </a:p>
          <a:p>
            <a:pPr marL="457200" indent="-457200" eaLnBrk="1" hangingPunct="1">
              <a:buNone/>
            </a:pPr>
            <a:r>
              <a:rPr lang="en-US" sz="2000" dirty="0"/>
              <a:t>Step 2: Set NEW:=AVAIL and AVAIL:=LINK[AVAIL]</a:t>
            </a:r>
          </a:p>
          <a:p>
            <a:pPr marL="457200" indent="-457200" eaLnBrk="1" hangingPunct="1">
              <a:buNone/>
            </a:pPr>
            <a:r>
              <a:rPr lang="en-US" sz="2000" dirty="0"/>
              <a:t>Step 3: Set INFO[NEW]:=ITEM</a:t>
            </a:r>
          </a:p>
          <a:p>
            <a:pPr marL="0" indent="0" eaLnBrk="1" hangingPunct="1">
              <a:buNone/>
            </a:pPr>
            <a:r>
              <a:rPr lang="en-US" sz="2000" dirty="0"/>
              <a:t>Step 4: Set SAVE:=START and PTR:=LINK[START]</a:t>
            </a:r>
          </a:p>
          <a:p>
            <a:pPr marL="0" indent="0" eaLnBrk="1" hangingPunct="1">
              <a:buNone/>
            </a:pPr>
            <a:r>
              <a:rPr lang="en-US" sz="2000" dirty="0"/>
              <a:t>Step 5: Repeat while PTR</a:t>
            </a:r>
            <a:r>
              <a:rPr lang="en-US" sz="2000" dirty="0">
                <a:cs typeface="Times New Roman" pitchFamily="18" charset="0"/>
              </a:rPr>
              <a:t>≠START and ITEM &gt;=INFO[PTR]</a:t>
            </a:r>
          </a:p>
          <a:p>
            <a:pPr eaLnBrk="1" hangingPunct="1">
              <a:buFontTx/>
              <a:buNone/>
            </a:pPr>
            <a:r>
              <a:rPr lang="en-US" sz="2000" dirty="0">
                <a:cs typeface="Times New Roman" pitchFamily="18" charset="0"/>
              </a:rPr>
              <a:t>                     Set SAVE:=PTR and PTR:=LINK[PTR]</a:t>
            </a:r>
          </a:p>
          <a:p>
            <a:pPr eaLnBrk="1" hangingPunct="1">
              <a:buFontTx/>
              <a:buNone/>
            </a:pPr>
            <a:r>
              <a:rPr lang="en-US" sz="2000" dirty="0">
                <a:cs typeface="Times New Roman" pitchFamily="18" charset="0"/>
              </a:rPr>
              <a:t>                [End of Loop]</a:t>
            </a:r>
          </a:p>
          <a:p>
            <a:pPr marL="0" indent="0" eaLnBrk="1" hangingPunct="1">
              <a:buNone/>
            </a:pPr>
            <a:r>
              <a:rPr lang="en-US" sz="2000" dirty="0">
                <a:cs typeface="Times New Roman" pitchFamily="18" charset="0"/>
              </a:rPr>
              <a:t>Step 6 : Set LOC:=SAVE</a:t>
            </a:r>
          </a:p>
          <a:p>
            <a:pPr marL="457200" indent="-457200" eaLnBrk="1" hangingPunct="1">
              <a:buNone/>
            </a:pPr>
            <a:r>
              <a:rPr lang="en-US" sz="2000" dirty="0"/>
              <a:t>Step 5: Set LINK[NEW]:=LINK[LOC]</a:t>
            </a:r>
          </a:p>
          <a:p>
            <a:pPr marL="457200" indent="-457200" eaLnBrk="1" hangingPunct="1">
              <a:buNone/>
            </a:pPr>
            <a:r>
              <a:rPr lang="en-US" sz="2000" dirty="0"/>
              <a:t>             Set LINK[LOC]:=NEW</a:t>
            </a:r>
          </a:p>
          <a:p>
            <a:pPr marL="457200" indent="-457200" eaLnBrk="1" hangingPunct="1">
              <a:buNone/>
            </a:pPr>
            <a:r>
              <a:rPr lang="en-US" dirty="0"/>
              <a:t>Step 6: Return           </a:t>
            </a:r>
          </a:p>
        </p:txBody>
      </p:sp>
    </p:spTree>
    <p:extLst>
      <p:ext uri="{BB962C8B-B14F-4D97-AF65-F5344CB8AC3E}">
        <p14:creationId xmlns:p14="http://schemas.microsoft.com/office/powerpoint/2010/main" val="21691100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u="sng" dirty="0"/>
              <a:t>Deletion from a circular header linked list</a:t>
            </a:r>
          </a:p>
          <a:p>
            <a:pPr eaLnBrk="1" hangingPunct="1">
              <a:buFontTx/>
              <a:buNone/>
            </a:pPr>
            <a:r>
              <a:rPr lang="en-US" dirty="0"/>
              <a:t> </a:t>
            </a:r>
            <a:r>
              <a:rPr lang="en-US" sz="2000" dirty="0"/>
              <a:t>Algorithm: DELLOCHL(INFO,LINK,START,AVAIL,ITEM)</a:t>
            </a:r>
          </a:p>
          <a:p>
            <a:pPr eaLnBrk="1" hangingPunct="1">
              <a:buFontTx/>
              <a:buNone/>
            </a:pPr>
            <a:r>
              <a:rPr lang="en-US" sz="2000" dirty="0"/>
              <a:t>                       This algorithm deletes an item from a circular header linked  list.</a:t>
            </a:r>
          </a:p>
          <a:p>
            <a:pPr eaLnBrk="1" hangingPunct="1"/>
            <a:r>
              <a:rPr lang="en-US" sz="1800" dirty="0"/>
              <a:t>Step 1: Set SAVE:=START and PTR:=LINK[START]</a:t>
            </a:r>
          </a:p>
          <a:p>
            <a:pPr eaLnBrk="1" hangingPunct="1"/>
            <a:r>
              <a:rPr lang="en-US" sz="1800" dirty="0"/>
              <a:t>Step 2: Repeat while INFO[PTR]</a:t>
            </a:r>
            <a:r>
              <a:rPr lang="en-US" sz="1800" dirty="0">
                <a:cs typeface="Times New Roman" pitchFamily="18" charset="0"/>
              </a:rPr>
              <a:t>≠ITEM and PTR≠START</a:t>
            </a:r>
          </a:p>
          <a:p>
            <a:pPr eaLnBrk="1" hangingPunct="1">
              <a:buFontTx/>
              <a:buNone/>
            </a:pPr>
            <a:r>
              <a:rPr lang="en-US" sz="1800" dirty="0">
                <a:cs typeface="Times New Roman" pitchFamily="18" charset="0"/>
              </a:rPr>
              <a:t>                Set SAVE:=PTR and PTR:=LINK[PTR]</a:t>
            </a:r>
          </a:p>
          <a:p>
            <a:pPr eaLnBrk="1" hangingPunct="1">
              <a:buFontTx/>
              <a:buNone/>
            </a:pPr>
            <a:r>
              <a:rPr lang="en-US" sz="1800" dirty="0">
                <a:cs typeface="Times New Roman" pitchFamily="18" charset="0"/>
              </a:rPr>
              <a:t>                [End of Loop]</a:t>
            </a:r>
          </a:p>
          <a:p>
            <a:pPr eaLnBrk="1" hangingPunct="1"/>
            <a:r>
              <a:rPr lang="en-US" sz="1800" dirty="0">
                <a:cs typeface="Times New Roman" pitchFamily="18" charset="0"/>
              </a:rPr>
              <a:t>Step 3: If INFO[PTR]=ITEM, then:</a:t>
            </a:r>
          </a:p>
          <a:p>
            <a:pPr eaLnBrk="1" hangingPunct="1">
              <a:buFontTx/>
              <a:buNone/>
            </a:pPr>
            <a:r>
              <a:rPr lang="en-US" sz="1800" dirty="0">
                <a:cs typeface="Times New Roman" pitchFamily="18" charset="0"/>
              </a:rPr>
              <a:t>                Set LOC:=PTR and LOCP:=SAVE</a:t>
            </a:r>
          </a:p>
          <a:p>
            <a:pPr eaLnBrk="1" hangingPunct="1">
              <a:buFontTx/>
              <a:buNone/>
            </a:pPr>
            <a:r>
              <a:rPr lang="en-US" sz="1800" dirty="0">
                <a:cs typeface="Times New Roman" pitchFamily="18" charset="0"/>
              </a:rPr>
              <a:t>                Else:</a:t>
            </a:r>
          </a:p>
          <a:p>
            <a:pPr eaLnBrk="1" hangingPunct="1">
              <a:buFontTx/>
              <a:buNone/>
            </a:pPr>
            <a:r>
              <a:rPr lang="en-US" sz="1800" dirty="0">
                <a:cs typeface="Times New Roman" pitchFamily="18" charset="0"/>
              </a:rPr>
              <a:t>                Set LOC:=NULL and LOCP:=SAVE</a:t>
            </a:r>
          </a:p>
          <a:p>
            <a:pPr eaLnBrk="1" hangingPunct="1">
              <a:buFontTx/>
              <a:buNone/>
            </a:pPr>
            <a:r>
              <a:rPr lang="en-US" sz="1800" dirty="0">
                <a:cs typeface="Times New Roman" pitchFamily="18" charset="0"/>
              </a:rPr>
              <a:t>                [End of If Structure]</a:t>
            </a:r>
          </a:p>
          <a:p>
            <a:pPr eaLnBrk="1" hangingPunct="1"/>
            <a:r>
              <a:rPr lang="en-US" sz="1800" dirty="0"/>
              <a:t>Step 2: If LOC=NULL, then:</a:t>
            </a:r>
          </a:p>
          <a:p>
            <a:pPr eaLnBrk="1" hangingPunct="1">
              <a:buFontTx/>
              <a:buNone/>
            </a:pPr>
            <a:r>
              <a:rPr lang="en-US" sz="1800" dirty="0"/>
              <a:t>                Write: ‘item not in the list’ </a:t>
            </a:r>
          </a:p>
          <a:p>
            <a:pPr eaLnBrk="1" hangingPunct="1">
              <a:buFontTx/>
              <a:buNone/>
            </a:pPr>
            <a:r>
              <a:rPr lang="en-US" sz="1800" dirty="0"/>
              <a:t>                  Return</a:t>
            </a:r>
          </a:p>
          <a:p>
            <a:pPr eaLnBrk="1" hangingPunct="1"/>
            <a:r>
              <a:rPr lang="en-US" sz="1800" dirty="0"/>
              <a:t>Step 3: Set LINK[LOCP]:=LINK[LOC] [Node deleted]</a:t>
            </a:r>
          </a:p>
          <a:p>
            <a:pPr eaLnBrk="1" hangingPunct="1"/>
            <a:r>
              <a:rPr lang="en-US" sz="1800" dirty="0"/>
              <a:t>Step 4: Set LINK[LOC]:=AVAIL and AVAIL:=LOC</a:t>
            </a:r>
          </a:p>
          <a:p>
            <a:pPr eaLnBrk="1" hangingPunct="1"/>
            <a:r>
              <a:rPr lang="en-US" sz="1800" dirty="0"/>
              <a:t>             [Memory retuned to Avail list]</a:t>
            </a:r>
          </a:p>
          <a:p>
            <a:pPr eaLnBrk="1" hangingPunct="1"/>
            <a:r>
              <a:rPr lang="en-US" sz="1800" dirty="0"/>
              <a:t>Step 5: Return</a:t>
            </a:r>
          </a:p>
        </p:txBody>
      </p:sp>
    </p:spTree>
    <p:extLst>
      <p:ext uri="{BB962C8B-B14F-4D97-AF65-F5344CB8AC3E}">
        <p14:creationId xmlns:p14="http://schemas.microsoft.com/office/powerpoint/2010/main" val="42645642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1524000" y="0"/>
            <a:ext cx="9144000" cy="609600"/>
          </a:xfrm>
        </p:spPr>
        <p:txBody>
          <a:bodyPr/>
          <a:lstStyle/>
          <a:p>
            <a:pPr eaLnBrk="1" hangingPunct="1"/>
            <a:r>
              <a:rPr lang="en-US" sz="3600" b="1"/>
              <a:t>Doubly Linked List: Two-way List</a:t>
            </a:r>
          </a:p>
        </p:txBody>
      </p:sp>
      <p:sp>
        <p:nvSpPr>
          <p:cNvPr id="206851" name="Rectangle 3"/>
          <p:cNvSpPr>
            <a:spLocks noGrp="1" noChangeArrowheads="1"/>
          </p:cNvSpPr>
          <p:nvPr>
            <p:ph type="body" idx="1"/>
          </p:nvPr>
        </p:nvSpPr>
        <p:spPr>
          <a:xfrm>
            <a:off x="1524000" y="609600"/>
            <a:ext cx="9144000" cy="6248400"/>
          </a:xfrm>
        </p:spPr>
        <p:txBody>
          <a:bodyPr/>
          <a:lstStyle/>
          <a:p>
            <a:pPr eaLnBrk="1" hangingPunct="1"/>
            <a:r>
              <a:rPr lang="en-US"/>
              <a:t>A two-way list is a linear linked list which can be traversed in two directions: in usual forward direction from beginning of the list to end and in backward direction from end of list to the beginning. Thus, given the location LOC of a node N in list, one has immediate access to both the next node and the preceding node in the list.</a:t>
            </a:r>
          </a:p>
          <a:p>
            <a:pPr eaLnBrk="1" hangingPunct="1"/>
            <a:r>
              <a:rPr lang="en-US"/>
              <a:t>Each node of a two-way list is divided into three parts:</a:t>
            </a:r>
          </a:p>
          <a:p>
            <a:pPr lvl="1" eaLnBrk="1" hangingPunct="1"/>
            <a:r>
              <a:rPr lang="en-US"/>
              <a:t>An information field INFO which contains data of N</a:t>
            </a:r>
          </a:p>
          <a:p>
            <a:pPr lvl="1" eaLnBrk="1" hangingPunct="1"/>
            <a:r>
              <a:rPr lang="en-US"/>
              <a:t>A pointer field FORW which contains the location of next node in the list</a:t>
            </a:r>
          </a:p>
          <a:p>
            <a:pPr lvl="1" eaLnBrk="1" hangingPunct="1"/>
            <a:r>
              <a:rPr lang="en-US"/>
              <a:t>A pointer field BACK which contains the location of preceding node.</a:t>
            </a:r>
          </a:p>
          <a:p>
            <a:pPr eaLnBrk="1" hangingPunct="1">
              <a:buFontTx/>
              <a:buNone/>
            </a:pPr>
            <a:r>
              <a:rPr lang="en-US"/>
              <a:t>          The list also requires two list pointer variables FIRST which points to first node in the list and LAST which points to the last node in the list. Thus null pointer will appear in FORW field of last node in list and also in BACK field of first node in list.</a:t>
            </a:r>
          </a:p>
          <a:p>
            <a:pPr lvl="1" eaLnBrk="1" hangingPunct="1">
              <a:buFontTx/>
              <a:buNone/>
            </a:pPr>
            <a:endParaRPr lang="en-US"/>
          </a:p>
        </p:txBody>
      </p:sp>
    </p:spTree>
    <p:extLst>
      <p:ext uri="{BB962C8B-B14F-4D97-AF65-F5344CB8AC3E}">
        <p14:creationId xmlns:p14="http://schemas.microsoft.com/office/powerpoint/2010/main" val="38808638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3"/>
          <p:cNvSpPr>
            <a:spLocks noGrp="1" noChangeArrowheads="1"/>
          </p:cNvSpPr>
          <p:nvPr>
            <p:ph type="body" idx="1"/>
          </p:nvPr>
        </p:nvSpPr>
        <p:spPr>
          <a:xfrm>
            <a:off x="1524000" y="0"/>
            <a:ext cx="9144000" cy="6858000"/>
          </a:xfrm>
        </p:spPr>
        <p:txBody>
          <a:bodyPr/>
          <a:lstStyle/>
          <a:p>
            <a:pPr eaLnBrk="1" hangingPunct="1"/>
            <a:r>
              <a:rPr lang="en-US"/>
              <a:t>Two way lists are maintained in memory by means of linear arrays in same way as one way list except that two pointer arrays , FORW and BACK , are required instead of one list pointer variable. The list AVAIL will still be maintained as a one-way list.</a:t>
            </a:r>
          </a:p>
        </p:txBody>
      </p:sp>
      <p:sp>
        <p:nvSpPr>
          <p:cNvPr id="207875" name="Oval 18"/>
          <p:cNvSpPr>
            <a:spLocks noChangeArrowheads="1"/>
          </p:cNvSpPr>
          <p:nvPr/>
        </p:nvSpPr>
        <p:spPr bwMode="auto">
          <a:xfrm>
            <a:off x="1981200" y="2209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76" name="Oval 20"/>
          <p:cNvSpPr>
            <a:spLocks noChangeArrowheads="1"/>
          </p:cNvSpPr>
          <p:nvPr/>
        </p:nvSpPr>
        <p:spPr bwMode="auto">
          <a:xfrm>
            <a:off x="7543800" y="3352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77" name="Oval 22"/>
          <p:cNvSpPr>
            <a:spLocks noChangeArrowheads="1"/>
          </p:cNvSpPr>
          <p:nvPr/>
        </p:nvSpPr>
        <p:spPr bwMode="auto">
          <a:xfrm>
            <a:off x="5638800" y="3352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78" name="Oval 25"/>
          <p:cNvSpPr>
            <a:spLocks noChangeArrowheads="1"/>
          </p:cNvSpPr>
          <p:nvPr/>
        </p:nvSpPr>
        <p:spPr bwMode="auto">
          <a:xfrm>
            <a:off x="3429000" y="34290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79" name="Line 27"/>
          <p:cNvSpPr>
            <a:spLocks noChangeShapeType="1"/>
          </p:cNvSpPr>
          <p:nvPr/>
        </p:nvSpPr>
        <p:spPr bwMode="auto">
          <a:xfrm>
            <a:off x="9220200" y="3124200"/>
            <a:ext cx="5334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80" name="Text Box 28"/>
          <p:cNvSpPr txBox="1">
            <a:spLocks noChangeArrowheads="1"/>
          </p:cNvSpPr>
          <p:nvPr/>
        </p:nvSpPr>
        <p:spPr bwMode="auto">
          <a:xfrm>
            <a:off x="1676400" y="1614488"/>
            <a:ext cx="9906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FIRST</a:t>
            </a:r>
          </a:p>
        </p:txBody>
      </p:sp>
      <p:sp>
        <p:nvSpPr>
          <p:cNvPr id="207881" name="Text Box 29"/>
          <p:cNvSpPr txBox="1">
            <a:spLocks noChangeArrowheads="1"/>
          </p:cNvSpPr>
          <p:nvPr/>
        </p:nvSpPr>
        <p:spPr bwMode="auto">
          <a:xfrm>
            <a:off x="9525000" y="1447801"/>
            <a:ext cx="9144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LAST</a:t>
            </a:r>
          </a:p>
        </p:txBody>
      </p:sp>
      <p:sp>
        <p:nvSpPr>
          <p:cNvPr id="207882" name="Line 53"/>
          <p:cNvSpPr>
            <a:spLocks noChangeShapeType="1"/>
          </p:cNvSpPr>
          <p:nvPr/>
        </p:nvSpPr>
        <p:spPr bwMode="auto">
          <a:xfrm flipV="1">
            <a:off x="7010400" y="3733800"/>
            <a:ext cx="0" cy="3048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83" name="Text Box 56"/>
          <p:cNvSpPr txBox="1">
            <a:spLocks noChangeArrowheads="1"/>
          </p:cNvSpPr>
          <p:nvPr/>
        </p:nvSpPr>
        <p:spPr bwMode="auto">
          <a:xfrm>
            <a:off x="3200400" y="5029201"/>
            <a:ext cx="1524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FORW[PTR]</a:t>
            </a:r>
          </a:p>
        </p:txBody>
      </p:sp>
      <p:grpSp>
        <p:nvGrpSpPr>
          <p:cNvPr id="2" name="Group 81"/>
          <p:cNvGrpSpPr>
            <a:grpSpLocks/>
          </p:cNvGrpSpPr>
          <p:nvPr/>
        </p:nvGrpSpPr>
        <p:grpSpPr bwMode="auto">
          <a:xfrm>
            <a:off x="1752600" y="1828800"/>
            <a:ext cx="8458200" cy="3276600"/>
            <a:chOff x="144" y="1152"/>
            <a:chExt cx="5328" cy="2064"/>
          </a:xfrm>
        </p:grpSpPr>
        <p:sp>
          <p:nvSpPr>
            <p:cNvPr id="207886" name="Rectangle 4"/>
            <p:cNvSpPr>
              <a:spLocks noChangeArrowheads="1"/>
            </p:cNvSpPr>
            <p:nvPr/>
          </p:nvSpPr>
          <p:spPr bwMode="auto">
            <a:xfrm>
              <a:off x="336" y="1968"/>
              <a:ext cx="1104" cy="384"/>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87" name="Rectangle 5"/>
            <p:cNvSpPr>
              <a:spLocks noChangeArrowheads="1"/>
            </p:cNvSpPr>
            <p:nvPr/>
          </p:nvSpPr>
          <p:spPr bwMode="auto">
            <a:xfrm>
              <a:off x="1632" y="1968"/>
              <a:ext cx="1152" cy="384"/>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88" name="Rectangle 6"/>
            <p:cNvSpPr>
              <a:spLocks noChangeArrowheads="1"/>
            </p:cNvSpPr>
            <p:nvPr/>
          </p:nvSpPr>
          <p:spPr bwMode="auto">
            <a:xfrm>
              <a:off x="2976" y="1968"/>
              <a:ext cx="1008" cy="384"/>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89" name="Rectangle 7"/>
            <p:cNvSpPr>
              <a:spLocks noChangeArrowheads="1"/>
            </p:cNvSpPr>
            <p:nvPr/>
          </p:nvSpPr>
          <p:spPr bwMode="auto">
            <a:xfrm>
              <a:off x="4128" y="1968"/>
              <a:ext cx="1056" cy="384"/>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0" name="Rectangle 8"/>
            <p:cNvSpPr>
              <a:spLocks noChangeArrowheads="1"/>
            </p:cNvSpPr>
            <p:nvPr/>
          </p:nvSpPr>
          <p:spPr bwMode="auto">
            <a:xfrm>
              <a:off x="5136" y="1152"/>
              <a:ext cx="336" cy="336"/>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1" name="Rectangle 9"/>
            <p:cNvSpPr>
              <a:spLocks noChangeArrowheads="1"/>
            </p:cNvSpPr>
            <p:nvPr/>
          </p:nvSpPr>
          <p:spPr bwMode="auto">
            <a:xfrm>
              <a:off x="144" y="1248"/>
              <a:ext cx="336" cy="336"/>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2" name="Line 10"/>
            <p:cNvSpPr>
              <a:spLocks noChangeShapeType="1"/>
            </p:cNvSpPr>
            <p:nvPr/>
          </p:nvSpPr>
          <p:spPr bwMode="auto">
            <a:xfrm>
              <a:off x="672" y="1968"/>
              <a:ext cx="0"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3" name="Line 11"/>
            <p:cNvSpPr>
              <a:spLocks noChangeShapeType="1"/>
            </p:cNvSpPr>
            <p:nvPr/>
          </p:nvSpPr>
          <p:spPr bwMode="auto">
            <a:xfrm>
              <a:off x="1056" y="1968"/>
              <a:ext cx="0"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4" name="Line 12"/>
            <p:cNvSpPr>
              <a:spLocks noChangeShapeType="1"/>
            </p:cNvSpPr>
            <p:nvPr/>
          </p:nvSpPr>
          <p:spPr bwMode="auto">
            <a:xfrm>
              <a:off x="2016" y="1968"/>
              <a:ext cx="0"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5" name="Line 13"/>
            <p:cNvSpPr>
              <a:spLocks noChangeShapeType="1"/>
            </p:cNvSpPr>
            <p:nvPr/>
          </p:nvSpPr>
          <p:spPr bwMode="auto">
            <a:xfrm>
              <a:off x="2448" y="1968"/>
              <a:ext cx="0"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6" name="Line 14"/>
            <p:cNvSpPr>
              <a:spLocks noChangeShapeType="1"/>
            </p:cNvSpPr>
            <p:nvPr/>
          </p:nvSpPr>
          <p:spPr bwMode="auto">
            <a:xfrm>
              <a:off x="3312" y="1968"/>
              <a:ext cx="0"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7" name="Line 15"/>
            <p:cNvSpPr>
              <a:spLocks noChangeShapeType="1"/>
            </p:cNvSpPr>
            <p:nvPr/>
          </p:nvSpPr>
          <p:spPr bwMode="auto">
            <a:xfrm>
              <a:off x="3648" y="1968"/>
              <a:ext cx="0"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8" name="Line 16"/>
            <p:cNvSpPr>
              <a:spLocks noChangeShapeType="1"/>
            </p:cNvSpPr>
            <p:nvPr/>
          </p:nvSpPr>
          <p:spPr bwMode="auto">
            <a:xfrm>
              <a:off x="4464" y="1968"/>
              <a:ext cx="0"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899" name="Line 17"/>
            <p:cNvSpPr>
              <a:spLocks noChangeShapeType="1"/>
            </p:cNvSpPr>
            <p:nvPr/>
          </p:nvSpPr>
          <p:spPr bwMode="auto">
            <a:xfrm>
              <a:off x="4848" y="1968"/>
              <a:ext cx="0"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0" name="Oval 19"/>
            <p:cNvSpPr>
              <a:spLocks noChangeArrowheads="1"/>
            </p:cNvSpPr>
            <p:nvPr/>
          </p:nvSpPr>
          <p:spPr bwMode="auto">
            <a:xfrm>
              <a:off x="5280" y="1296"/>
              <a:ext cx="48" cy="48"/>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1" name="Oval 21"/>
            <p:cNvSpPr>
              <a:spLocks noChangeArrowheads="1"/>
            </p:cNvSpPr>
            <p:nvPr/>
          </p:nvSpPr>
          <p:spPr bwMode="auto">
            <a:xfrm>
              <a:off x="4224" y="2112"/>
              <a:ext cx="48" cy="48"/>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2" name="Oval 23"/>
            <p:cNvSpPr>
              <a:spLocks noChangeArrowheads="1"/>
            </p:cNvSpPr>
            <p:nvPr/>
          </p:nvSpPr>
          <p:spPr bwMode="auto">
            <a:xfrm>
              <a:off x="3120" y="2112"/>
              <a:ext cx="48" cy="48"/>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3" name="Oval 24"/>
            <p:cNvSpPr>
              <a:spLocks noChangeArrowheads="1"/>
            </p:cNvSpPr>
            <p:nvPr/>
          </p:nvSpPr>
          <p:spPr bwMode="auto">
            <a:xfrm>
              <a:off x="1776" y="2112"/>
              <a:ext cx="48" cy="48"/>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4" name="Line 26"/>
            <p:cNvSpPr>
              <a:spLocks noChangeShapeType="1"/>
            </p:cNvSpPr>
            <p:nvPr/>
          </p:nvSpPr>
          <p:spPr bwMode="auto">
            <a:xfrm>
              <a:off x="336" y="1968"/>
              <a:ext cx="336"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5" name="Line 30"/>
            <p:cNvSpPr>
              <a:spLocks noChangeShapeType="1"/>
            </p:cNvSpPr>
            <p:nvPr/>
          </p:nvSpPr>
          <p:spPr bwMode="auto">
            <a:xfrm>
              <a:off x="288" y="1392"/>
              <a:ext cx="192" cy="576"/>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6" name="Line 35"/>
            <p:cNvSpPr>
              <a:spLocks noChangeShapeType="1"/>
            </p:cNvSpPr>
            <p:nvPr/>
          </p:nvSpPr>
          <p:spPr bwMode="auto">
            <a:xfrm flipV="1">
              <a:off x="1200" y="1728"/>
              <a:ext cx="0" cy="48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7" name="Line 36"/>
            <p:cNvSpPr>
              <a:spLocks noChangeShapeType="1"/>
            </p:cNvSpPr>
            <p:nvPr/>
          </p:nvSpPr>
          <p:spPr bwMode="auto">
            <a:xfrm>
              <a:off x="1200" y="1728"/>
              <a:ext cx="96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8" name="Line 37"/>
            <p:cNvSpPr>
              <a:spLocks noChangeShapeType="1"/>
            </p:cNvSpPr>
            <p:nvPr/>
          </p:nvSpPr>
          <p:spPr bwMode="auto">
            <a:xfrm>
              <a:off x="2160" y="1728"/>
              <a:ext cx="0" cy="24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09" name="Line 38"/>
            <p:cNvSpPr>
              <a:spLocks noChangeShapeType="1"/>
            </p:cNvSpPr>
            <p:nvPr/>
          </p:nvSpPr>
          <p:spPr bwMode="auto">
            <a:xfrm>
              <a:off x="1794" y="2160"/>
              <a:ext cx="0" cy="38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0" name="Line 39"/>
            <p:cNvSpPr>
              <a:spLocks noChangeShapeType="1"/>
            </p:cNvSpPr>
            <p:nvPr/>
          </p:nvSpPr>
          <p:spPr bwMode="auto">
            <a:xfrm flipH="1">
              <a:off x="864" y="2544"/>
              <a:ext cx="96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1" name="Line 40"/>
            <p:cNvSpPr>
              <a:spLocks noChangeShapeType="1"/>
            </p:cNvSpPr>
            <p:nvPr/>
          </p:nvSpPr>
          <p:spPr bwMode="auto">
            <a:xfrm flipV="1">
              <a:off x="864" y="2352"/>
              <a:ext cx="0" cy="192"/>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2" name="Line 41"/>
            <p:cNvSpPr>
              <a:spLocks noChangeShapeType="1"/>
            </p:cNvSpPr>
            <p:nvPr/>
          </p:nvSpPr>
          <p:spPr bwMode="auto">
            <a:xfrm flipV="1">
              <a:off x="2601" y="1728"/>
              <a:ext cx="0" cy="432"/>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3" name="Line 42"/>
            <p:cNvSpPr>
              <a:spLocks noChangeShapeType="1"/>
            </p:cNvSpPr>
            <p:nvPr/>
          </p:nvSpPr>
          <p:spPr bwMode="auto">
            <a:xfrm>
              <a:off x="2592" y="1728"/>
              <a:ext cx="864"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4" name="Line 43"/>
            <p:cNvSpPr>
              <a:spLocks noChangeShapeType="1"/>
            </p:cNvSpPr>
            <p:nvPr/>
          </p:nvSpPr>
          <p:spPr bwMode="auto">
            <a:xfrm>
              <a:off x="3456" y="1728"/>
              <a:ext cx="0" cy="24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5" name="Line 45"/>
            <p:cNvSpPr>
              <a:spLocks noChangeShapeType="1"/>
            </p:cNvSpPr>
            <p:nvPr/>
          </p:nvSpPr>
          <p:spPr bwMode="auto">
            <a:xfrm flipH="1">
              <a:off x="2256" y="2592"/>
              <a:ext cx="864"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6" name="Line 46"/>
            <p:cNvSpPr>
              <a:spLocks noChangeShapeType="1"/>
            </p:cNvSpPr>
            <p:nvPr/>
          </p:nvSpPr>
          <p:spPr bwMode="auto">
            <a:xfrm flipV="1">
              <a:off x="2256" y="2352"/>
              <a:ext cx="0" cy="24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7" name="Line 47"/>
            <p:cNvSpPr>
              <a:spLocks noChangeShapeType="1"/>
            </p:cNvSpPr>
            <p:nvPr/>
          </p:nvSpPr>
          <p:spPr bwMode="auto">
            <a:xfrm>
              <a:off x="3120" y="2160"/>
              <a:ext cx="0" cy="432"/>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8" name="Line 48"/>
            <p:cNvSpPr>
              <a:spLocks noChangeShapeType="1"/>
            </p:cNvSpPr>
            <p:nvPr/>
          </p:nvSpPr>
          <p:spPr bwMode="auto">
            <a:xfrm flipV="1">
              <a:off x="3801" y="1728"/>
              <a:ext cx="0" cy="432"/>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19" name="Line 49"/>
            <p:cNvSpPr>
              <a:spLocks noChangeShapeType="1"/>
            </p:cNvSpPr>
            <p:nvPr/>
          </p:nvSpPr>
          <p:spPr bwMode="auto">
            <a:xfrm>
              <a:off x="3792" y="1728"/>
              <a:ext cx="816"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20" name="Line 50"/>
            <p:cNvSpPr>
              <a:spLocks noChangeShapeType="1"/>
            </p:cNvSpPr>
            <p:nvPr/>
          </p:nvSpPr>
          <p:spPr bwMode="auto">
            <a:xfrm>
              <a:off x="4608" y="1728"/>
              <a:ext cx="0" cy="24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21" name="Line 51"/>
            <p:cNvSpPr>
              <a:spLocks noChangeShapeType="1"/>
            </p:cNvSpPr>
            <p:nvPr/>
          </p:nvSpPr>
          <p:spPr bwMode="auto">
            <a:xfrm>
              <a:off x="4272" y="2112"/>
              <a:ext cx="0" cy="432"/>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22" name="Line 52"/>
            <p:cNvSpPr>
              <a:spLocks noChangeShapeType="1"/>
            </p:cNvSpPr>
            <p:nvPr/>
          </p:nvSpPr>
          <p:spPr bwMode="auto">
            <a:xfrm flipH="1">
              <a:off x="3456" y="2544"/>
              <a:ext cx="816"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23" name="Line 54"/>
            <p:cNvSpPr>
              <a:spLocks noChangeShapeType="1"/>
            </p:cNvSpPr>
            <p:nvPr/>
          </p:nvSpPr>
          <p:spPr bwMode="auto">
            <a:xfrm flipH="1">
              <a:off x="4848" y="1344"/>
              <a:ext cx="480" cy="624"/>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24" name="Line 55"/>
            <p:cNvSpPr>
              <a:spLocks noChangeShapeType="1"/>
            </p:cNvSpPr>
            <p:nvPr/>
          </p:nvSpPr>
          <p:spPr bwMode="auto">
            <a:xfrm>
              <a:off x="1200" y="2352"/>
              <a:ext cx="0" cy="864"/>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07925" name="Line 57"/>
            <p:cNvSpPr>
              <a:spLocks noChangeShapeType="1"/>
            </p:cNvSpPr>
            <p:nvPr/>
          </p:nvSpPr>
          <p:spPr bwMode="auto">
            <a:xfrm>
              <a:off x="480" y="2352"/>
              <a:ext cx="0" cy="816"/>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sp>
        <p:nvSpPr>
          <p:cNvPr id="207885" name="Text Box 58"/>
          <p:cNvSpPr txBox="1">
            <a:spLocks noChangeArrowheads="1"/>
          </p:cNvSpPr>
          <p:nvPr/>
        </p:nvSpPr>
        <p:spPr bwMode="auto">
          <a:xfrm>
            <a:off x="1600200" y="5181601"/>
            <a:ext cx="1524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BACK[PTR]</a:t>
            </a:r>
          </a:p>
        </p:txBody>
      </p:sp>
      <p:sp>
        <p:nvSpPr>
          <p:cNvPr id="54" name="Line 26">
            <a:extLst>
              <a:ext uri="{FF2B5EF4-FFF2-40B4-BE49-F238E27FC236}">
                <a16:creationId xmlns:a16="http://schemas.microsoft.com/office/drawing/2014/main" id="{0B0FB0A0-442C-774B-ABB0-DE24237AB689}"/>
              </a:ext>
            </a:extLst>
          </p:cNvPr>
          <p:cNvSpPr>
            <a:spLocks noChangeShapeType="1"/>
          </p:cNvSpPr>
          <p:nvPr/>
        </p:nvSpPr>
        <p:spPr bwMode="auto">
          <a:xfrm>
            <a:off x="9249006" y="3138487"/>
            <a:ext cx="5334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5154201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body" idx="1"/>
          </p:nvPr>
        </p:nvSpPr>
        <p:spPr>
          <a:xfrm>
            <a:off x="1524000" y="0"/>
            <a:ext cx="9144000" cy="6858000"/>
          </a:xfrm>
        </p:spPr>
        <p:txBody>
          <a:bodyPr/>
          <a:lstStyle/>
          <a:p>
            <a:pPr eaLnBrk="1" hangingPunct="1"/>
            <a:r>
              <a:rPr lang="en-US"/>
              <a:t>Trailer node- A trailer node is like a header node in a linked list except that it stores the address of the last node in  a linked list. The significance of this node is in a doubly linked list that can be traversed in both the direction. In doubly linked list, we can take the advantage of trailer node in searching a node in a sorted doubly linked list. The search will be  more efficient.</a:t>
            </a:r>
          </a:p>
        </p:txBody>
      </p:sp>
    </p:spTree>
    <p:extLst>
      <p:ext uri="{BB962C8B-B14F-4D97-AF65-F5344CB8AC3E}">
        <p14:creationId xmlns:p14="http://schemas.microsoft.com/office/powerpoint/2010/main" val="239464563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sz="3200" b="1" dirty="0"/>
              <a:t>Operations on a Two-way list</a:t>
            </a:r>
          </a:p>
          <a:p>
            <a:pPr eaLnBrk="1" hangingPunct="1"/>
            <a:r>
              <a:rPr lang="en-US" dirty="0"/>
              <a:t>Traversal</a:t>
            </a:r>
          </a:p>
          <a:p>
            <a:pPr eaLnBrk="1" hangingPunct="1"/>
            <a:r>
              <a:rPr lang="en-US" dirty="0"/>
              <a:t>Algorithm: </a:t>
            </a:r>
            <a:r>
              <a:rPr lang="en-US" b="1" dirty="0"/>
              <a:t>Traversal</a:t>
            </a:r>
          </a:p>
          <a:p>
            <a:pPr eaLnBrk="1" hangingPunct="1">
              <a:buFontTx/>
              <a:buNone/>
            </a:pPr>
            <a:r>
              <a:rPr lang="en-US" dirty="0"/>
              <a:t>                   This algorithm traverses a two-way list. FORW and BACK </a:t>
            </a:r>
          </a:p>
          <a:p>
            <a:pPr eaLnBrk="1" hangingPunct="1">
              <a:buFontTx/>
              <a:buNone/>
            </a:pPr>
            <a:r>
              <a:rPr lang="en-US" dirty="0"/>
              <a:t>                   are the two address parts of each node containing the address</a:t>
            </a:r>
          </a:p>
          <a:p>
            <a:pPr eaLnBrk="1" hangingPunct="1">
              <a:buFontTx/>
              <a:buNone/>
            </a:pPr>
            <a:r>
              <a:rPr lang="en-US" dirty="0"/>
              <a:t>                   of next node and previous node respectively. INFO is the</a:t>
            </a:r>
          </a:p>
          <a:p>
            <a:pPr eaLnBrk="1" hangingPunct="1">
              <a:buFontTx/>
              <a:buNone/>
            </a:pPr>
            <a:r>
              <a:rPr lang="en-US" dirty="0"/>
              <a:t>                   information part of each node. START contains the address</a:t>
            </a:r>
          </a:p>
          <a:p>
            <a:pPr eaLnBrk="1" hangingPunct="1">
              <a:buFontTx/>
              <a:buNone/>
            </a:pPr>
            <a:r>
              <a:rPr lang="en-US" dirty="0"/>
              <a:t>                   of the first node</a:t>
            </a:r>
          </a:p>
          <a:p>
            <a:pPr eaLnBrk="1" hangingPunct="1">
              <a:buFontTx/>
              <a:buNone/>
            </a:pPr>
            <a:r>
              <a:rPr lang="en-US" dirty="0"/>
              <a:t>Step 1: Set PTR:=START</a:t>
            </a:r>
          </a:p>
          <a:p>
            <a:pPr eaLnBrk="1" hangingPunct="1">
              <a:buFontTx/>
              <a:buNone/>
            </a:pPr>
            <a:r>
              <a:rPr lang="en-US" dirty="0"/>
              <a:t>Step 2: Repeat while PTR</a:t>
            </a:r>
            <a:r>
              <a:rPr lang="en-US" dirty="0">
                <a:cs typeface="Times New Roman" pitchFamily="18" charset="0"/>
              </a:rPr>
              <a:t>≠ NULL</a:t>
            </a:r>
          </a:p>
          <a:p>
            <a:pPr eaLnBrk="1" hangingPunct="1">
              <a:buFontTx/>
              <a:buNone/>
            </a:pPr>
            <a:r>
              <a:rPr lang="en-US" dirty="0">
                <a:cs typeface="Times New Roman" pitchFamily="18" charset="0"/>
              </a:rPr>
              <a:t>             Apply PROCESS to INFO[PTR]</a:t>
            </a:r>
          </a:p>
          <a:p>
            <a:pPr eaLnBrk="1" hangingPunct="1">
              <a:buFontTx/>
              <a:buNone/>
            </a:pPr>
            <a:r>
              <a:rPr lang="en-US" dirty="0">
                <a:cs typeface="Times New Roman" pitchFamily="18" charset="0"/>
              </a:rPr>
              <a:t>Step 3: Set PTR:=FORW[PTR]</a:t>
            </a:r>
          </a:p>
          <a:p>
            <a:pPr eaLnBrk="1" hangingPunct="1">
              <a:buFontTx/>
              <a:buNone/>
            </a:pPr>
            <a:r>
              <a:rPr lang="en-US" dirty="0">
                <a:cs typeface="Times New Roman" pitchFamily="18" charset="0"/>
              </a:rPr>
              <a:t>            [End of Step 2 Loop]</a:t>
            </a:r>
          </a:p>
          <a:p>
            <a:pPr eaLnBrk="1" hangingPunct="1">
              <a:buFontTx/>
              <a:buNone/>
            </a:pPr>
            <a:r>
              <a:rPr lang="en-US" dirty="0">
                <a:cs typeface="Times New Roman" pitchFamily="18" charset="0"/>
              </a:rPr>
              <a:t>Step 4: Exit </a:t>
            </a:r>
          </a:p>
          <a:p>
            <a:pPr eaLnBrk="1" hangingPunct="1"/>
            <a:endParaRPr lang="en-US" dirty="0"/>
          </a:p>
        </p:txBody>
      </p:sp>
    </p:spTree>
    <p:extLst>
      <p:ext uri="{BB962C8B-B14F-4D97-AF65-F5344CB8AC3E}">
        <p14:creationId xmlns:p14="http://schemas.microsoft.com/office/powerpoint/2010/main" val="847277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3"/>
          <p:cNvSpPr>
            <a:spLocks noGrp="1" noChangeArrowheads="1"/>
          </p:cNvSpPr>
          <p:nvPr>
            <p:ph type="body" idx="1"/>
          </p:nvPr>
        </p:nvSpPr>
        <p:spPr>
          <a:xfrm>
            <a:off x="1524000" y="0"/>
            <a:ext cx="9144000" cy="6858000"/>
          </a:xfrm>
        </p:spPr>
        <p:txBody>
          <a:bodyPr/>
          <a:lstStyle/>
          <a:p>
            <a:pPr eaLnBrk="1" hangingPunct="1"/>
            <a:r>
              <a:rPr lang="en-US"/>
              <a:t>Algorithm: SEARCH(INFO,FORW,BACK,ITEM,START,LOC)</a:t>
            </a:r>
          </a:p>
          <a:p>
            <a:pPr eaLnBrk="1" hangingPunct="1">
              <a:buFontTx/>
              <a:buNone/>
            </a:pPr>
            <a:r>
              <a:rPr lang="en-US"/>
              <a:t>                  This algorithm searches the location  LOC of  ITEM in a two-</a:t>
            </a:r>
          </a:p>
          <a:p>
            <a:pPr eaLnBrk="1" hangingPunct="1">
              <a:buFontTx/>
              <a:buNone/>
            </a:pPr>
            <a:r>
              <a:rPr lang="en-US"/>
              <a:t>                  way list  and sets LOC=NULL if ITEM is not found in the list</a:t>
            </a:r>
          </a:p>
          <a:p>
            <a:pPr eaLnBrk="1" hangingPunct="1"/>
            <a:r>
              <a:rPr lang="en-US"/>
              <a:t>Step 1: Set PTR:=START</a:t>
            </a:r>
          </a:p>
          <a:p>
            <a:pPr eaLnBrk="1" hangingPunct="1"/>
            <a:r>
              <a:rPr lang="en-US"/>
              <a:t>Step 2: Repeat while PTR</a:t>
            </a:r>
            <a:r>
              <a:rPr lang="en-US">
                <a:cs typeface="Times New Roman" pitchFamily="18" charset="0"/>
              </a:rPr>
              <a:t>≠NULL and INFO[PTR]≠ITEM</a:t>
            </a:r>
          </a:p>
          <a:p>
            <a:pPr eaLnBrk="1" hangingPunct="1">
              <a:buFontTx/>
              <a:buNone/>
            </a:pPr>
            <a:r>
              <a:rPr lang="en-US">
                <a:cs typeface="Times New Roman" pitchFamily="18" charset="0"/>
              </a:rPr>
              <a:t>              Set PTR:=FORW[PTR]</a:t>
            </a:r>
          </a:p>
          <a:p>
            <a:pPr eaLnBrk="1" hangingPunct="1">
              <a:buFontTx/>
              <a:buNone/>
            </a:pPr>
            <a:r>
              <a:rPr lang="en-US">
                <a:cs typeface="Times New Roman" pitchFamily="18" charset="0"/>
              </a:rPr>
              <a:t>              [End of Loop]</a:t>
            </a:r>
          </a:p>
          <a:p>
            <a:pPr eaLnBrk="1" hangingPunct="1"/>
            <a:r>
              <a:rPr lang="en-US">
                <a:cs typeface="Times New Roman" pitchFamily="18" charset="0"/>
              </a:rPr>
              <a:t>Step 3: If INFO[PTR]=ITEM, then:</a:t>
            </a:r>
          </a:p>
          <a:p>
            <a:pPr eaLnBrk="1" hangingPunct="1">
              <a:buFontTx/>
              <a:buNone/>
            </a:pPr>
            <a:r>
              <a:rPr lang="en-US">
                <a:cs typeface="Times New Roman" pitchFamily="18" charset="0"/>
              </a:rPr>
              <a:t>              Set LOC:=PTR</a:t>
            </a:r>
          </a:p>
          <a:p>
            <a:pPr eaLnBrk="1" hangingPunct="1">
              <a:buFontTx/>
              <a:buNone/>
            </a:pPr>
            <a:r>
              <a:rPr lang="en-US">
                <a:cs typeface="Times New Roman" pitchFamily="18" charset="0"/>
              </a:rPr>
              <a:t>              Else:</a:t>
            </a:r>
          </a:p>
          <a:p>
            <a:pPr eaLnBrk="1" hangingPunct="1">
              <a:buFontTx/>
              <a:buNone/>
            </a:pPr>
            <a:r>
              <a:rPr lang="en-US">
                <a:cs typeface="Times New Roman" pitchFamily="18" charset="0"/>
              </a:rPr>
              <a:t>             Set LOC:=NULL</a:t>
            </a:r>
          </a:p>
          <a:p>
            <a:pPr eaLnBrk="1" hangingPunct="1"/>
            <a:r>
              <a:rPr lang="en-US">
                <a:cs typeface="Times New Roman" pitchFamily="18" charset="0"/>
              </a:rPr>
              <a:t>Step 4: Return</a:t>
            </a:r>
          </a:p>
        </p:txBody>
      </p:sp>
    </p:spTree>
    <p:extLst>
      <p:ext uri="{BB962C8B-B14F-4D97-AF65-F5344CB8AC3E}">
        <p14:creationId xmlns:p14="http://schemas.microsoft.com/office/powerpoint/2010/main" val="30758478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3"/>
          <p:cNvSpPr>
            <a:spLocks noGrp="1" noChangeArrowheads="1"/>
          </p:cNvSpPr>
          <p:nvPr>
            <p:ph type="body" idx="1"/>
          </p:nvPr>
        </p:nvSpPr>
        <p:spPr>
          <a:xfrm>
            <a:off x="1524000" y="0"/>
            <a:ext cx="9144000" cy="6858000"/>
          </a:xfrm>
        </p:spPr>
        <p:txBody>
          <a:bodyPr/>
          <a:lstStyle/>
          <a:p>
            <a:pPr eaLnBrk="1" hangingPunct="1"/>
            <a:r>
              <a:rPr lang="en-US"/>
              <a:t>Algorithm:INSRT (</a:t>
            </a:r>
            <a:r>
              <a:rPr lang="en-US" sz="2000"/>
              <a:t>INFO,FORW,BACK,START,AVAIL,LOCA, LOCB, ITEM)</a:t>
            </a:r>
          </a:p>
          <a:p>
            <a:pPr eaLnBrk="1" hangingPunct="1">
              <a:buFontTx/>
              <a:buNone/>
            </a:pPr>
            <a:r>
              <a:rPr lang="en-US"/>
              <a:t>                      This algorithm inserts an item in a doubly linked list. LOCA and LOCB location of adjacent nodes A and B</a:t>
            </a:r>
          </a:p>
          <a:p>
            <a:pPr eaLnBrk="1" hangingPunct="1"/>
            <a:r>
              <a:rPr lang="en-US"/>
              <a:t>Step 1: [OVERFLOW] If AVAIL=NULL, then:</a:t>
            </a:r>
          </a:p>
          <a:p>
            <a:pPr eaLnBrk="1" hangingPunct="1">
              <a:buFontTx/>
              <a:buNone/>
            </a:pPr>
            <a:r>
              <a:rPr lang="en-US"/>
              <a:t>                     Write: OVERFLOW</a:t>
            </a:r>
          </a:p>
          <a:p>
            <a:pPr eaLnBrk="1" hangingPunct="1">
              <a:buFontTx/>
              <a:buNone/>
            </a:pPr>
            <a:r>
              <a:rPr lang="en-US"/>
              <a:t>                     Return</a:t>
            </a:r>
          </a:p>
          <a:p>
            <a:pPr eaLnBrk="1" hangingPunct="1"/>
            <a:r>
              <a:rPr lang="en-US"/>
              <a:t>Step 2: Set NEW:=AVAIL and AVAIL:=LINK[AVAIL]</a:t>
            </a:r>
          </a:p>
          <a:p>
            <a:pPr eaLnBrk="1" hangingPunct="1">
              <a:buFontTx/>
              <a:buNone/>
            </a:pPr>
            <a:r>
              <a:rPr lang="en-US"/>
              <a:t>            Set INFO[NEW]:=ITEM</a:t>
            </a:r>
          </a:p>
          <a:p>
            <a:pPr eaLnBrk="1" hangingPunct="1"/>
            <a:r>
              <a:rPr lang="en-US"/>
              <a:t>Step 3: Set FORW[LOCA]:=NEW and BACK[NEW]:=LOCA</a:t>
            </a:r>
          </a:p>
          <a:p>
            <a:pPr eaLnBrk="1" hangingPunct="1">
              <a:buFontTx/>
              <a:buNone/>
            </a:pPr>
            <a:r>
              <a:rPr lang="en-US"/>
              <a:t>             Set FORW[NEW]:=LOCB and BACK[LOCB]:=NEW</a:t>
            </a:r>
          </a:p>
          <a:p>
            <a:pPr eaLnBrk="1" hangingPunct="1"/>
            <a:r>
              <a:rPr lang="en-US"/>
              <a:t>Step 4: Return </a:t>
            </a:r>
          </a:p>
          <a:p>
            <a:pPr eaLnBrk="1" hangingPunct="1"/>
            <a:endParaRPr lang="en-US"/>
          </a:p>
        </p:txBody>
      </p:sp>
    </p:spTree>
    <p:extLst>
      <p:ext uri="{BB962C8B-B14F-4D97-AF65-F5344CB8AC3E}">
        <p14:creationId xmlns:p14="http://schemas.microsoft.com/office/powerpoint/2010/main" val="4212290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3"/>
          <p:cNvSpPr>
            <a:spLocks noGrp="1" noChangeArrowheads="1"/>
          </p:cNvSpPr>
          <p:nvPr>
            <p:ph type="body" idx="1"/>
          </p:nvPr>
        </p:nvSpPr>
        <p:spPr>
          <a:xfrm>
            <a:off x="1524000" y="0"/>
            <a:ext cx="9144000" cy="6858000"/>
          </a:xfrm>
        </p:spPr>
        <p:txBody>
          <a:bodyPr/>
          <a:lstStyle/>
          <a:p>
            <a:pPr eaLnBrk="1" hangingPunct="1"/>
            <a:r>
              <a:rPr lang="en-US" dirty="0"/>
              <a:t>Algorithm: DELETE(INFO,FROW,BACK,START,AVAIL,LOC)</a:t>
            </a:r>
          </a:p>
          <a:p>
            <a:pPr eaLnBrk="1" hangingPunct="1">
              <a:buFontTx/>
              <a:buNone/>
            </a:pPr>
            <a:r>
              <a:rPr lang="en-US" dirty="0"/>
              <a:t>                   This algorithm deletes a node from a two-way list</a:t>
            </a:r>
          </a:p>
          <a:p>
            <a:pPr eaLnBrk="1" hangingPunct="1"/>
            <a:r>
              <a:rPr lang="en-US" dirty="0"/>
              <a:t>Step 1: If LOC=START , then:</a:t>
            </a:r>
          </a:p>
          <a:p>
            <a:pPr eaLnBrk="1" hangingPunct="1">
              <a:buFontTx/>
              <a:buNone/>
            </a:pPr>
            <a:r>
              <a:rPr lang="en-US" dirty="0"/>
              <a:t>                START:=FORW[START]</a:t>
            </a:r>
          </a:p>
          <a:p>
            <a:pPr eaLnBrk="1" hangingPunct="1">
              <a:buFontTx/>
              <a:buNone/>
            </a:pPr>
            <a:r>
              <a:rPr lang="en-US" dirty="0"/>
              <a:t>                BACK[START]:=NULL</a:t>
            </a:r>
          </a:p>
          <a:p>
            <a:pPr eaLnBrk="1" hangingPunct="1">
              <a:buFontTx/>
              <a:buNone/>
            </a:pPr>
            <a:r>
              <a:rPr lang="en-US" dirty="0"/>
              <a:t>                Return</a:t>
            </a:r>
          </a:p>
          <a:p>
            <a:pPr eaLnBrk="1" hangingPunct="1"/>
            <a:r>
              <a:rPr lang="en-US" dirty="0"/>
              <a:t>Step 2: [Delete node] Set FORW[BACK[LOC]]:=FORW[LOC]</a:t>
            </a:r>
          </a:p>
          <a:p>
            <a:pPr eaLnBrk="1" hangingPunct="1">
              <a:buFontTx/>
              <a:buNone/>
            </a:pPr>
            <a:r>
              <a:rPr lang="en-US" dirty="0"/>
              <a:t>                             Set BACK[FORW[LOC]]:=BACK[LOC]</a:t>
            </a:r>
          </a:p>
          <a:p>
            <a:pPr eaLnBrk="1" hangingPunct="1"/>
            <a:r>
              <a:rPr lang="en-US" dirty="0"/>
              <a:t>Step 3: [Returning node to AVAIL]</a:t>
            </a:r>
          </a:p>
          <a:p>
            <a:pPr eaLnBrk="1" hangingPunct="1">
              <a:buFontTx/>
              <a:buNone/>
            </a:pPr>
            <a:r>
              <a:rPr lang="en-US" dirty="0"/>
              <a:t>                             Set FORW[LOC]:=AVAIL and AVAIL:=LOC</a:t>
            </a:r>
          </a:p>
          <a:p>
            <a:pPr eaLnBrk="1" hangingPunct="1"/>
            <a:r>
              <a:rPr lang="en-US" dirty="0"/>
              <a:t>Step 4: Return</a:t>
            </a:r>
          </a:p>
          <a:p>
            <a:pPr eaLnBrk="1" hangingPunct="1">
              <a:buFontTx/>
              <a:buNone/>
            </a:pPr>
            <a:endParaRPr lang="en-US" dirty="0"/>
          </a:p>
          <a:p>
            <a:pPr eaLnBrk="1" hangingPunct="1"/>
            <a:endParaRPr lang="en-US" dirty="0"/>
          </a:p>
        </p:txBody>
      </p:sp>
    </p:spTree>
    <p:extLst>
      <p:ext uri="{BB962C8B-B14F-4D97-AF65-F5344CB8AC3E}">
        <p14:creationId xmlns:p14="http://schemas.microsoft.com/office/powerpoint/2010/main" val="310151904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3"/>
          <p:cNvSpPr>
            <a:spLocks noGrp="1" noChangeArrowheads="1"/>
          </p:cNvSpPr>
          <p:nvPr>
            <p:ph type="body" idx="1"/>
          </p:nvPr>
        </p:nvSpPr>
        <p:spPr>
          <a:xfrm>
            <a:off x="308225" y="0"/>
            <a:ext cx="11548153" cy="6858000"/>
          </a:xfrm>
        </p:spPr>
        <p:txBody>
          <a:bodyPr numCol="2"/>
          <a:lstStyle/>
          <a:p>
            <a:pPr marL="0" indent="0" eaLnBrk="1" hangingPunct="1">
              <a:buNone/>
            </a:pPr>
            <a:r>
              <a:rPr lang="en-US" sz="1800" dirty="0"/>
              <a:t>Algorithm: </a:t>
            </a:r>
            <a:r>
              <a:rPr lang="en-US" sz="1600" dirty="0"/>
              <a:t>DELETE(INFO,FROW,BACK,START,AVAIL,LOC, ITEM)</a:t>
            </a:r>
          </a:p>
          <a:p>
            <a:pPr eaLnBrk="1" hangingPunct="1">
              <a:buFontTx/>
              <a:buNone/>
            </a:pPr>
            <a:r>
              <a:rPr lang="en-US" sz="1800" dirty="0"/>
              <a:t>   [This algorithm deletes a node from a two-way list when item to be deleted is given]</a:t>
            </a:r>
          </a:p>
          <a:p>
            <a:pPr eaLnBrk="1" hangingPunct="1"/>
            <a:r>
              <a:rPr lang="en-US" sz="1800" dirty="0"/>
              <a:t>Step 1: If START =NULL</a:t>
            </a:r>
          </a:p>
          <a:p>
            <a:pPr marL="9525" indent="0" eaLnBrk="1" hangingPunct="1">
              <a:buNone/>
            </a:pPr>
            <a:r>
              <a:rPr lang="en-US" sz="1800" dirty="0"/>
              <a:t>                  Write: ‘Underflow’</a:t>
            </a:r>
          </a:p>
          <a:p>
            <a:pPr marL="9525" indent="0" eaLnBrk="1" hangingPunct="1">
              <a:buNone/>
            </a:pPr>
            <a:r>
              <a:rPr lang="en-US" sz="1800" dirty="0"/>
              <a:t>                  Return</a:t>
            </a:r>
          </a:p>
          <a:p>
            <a:pPr marL="9525" indent="0" eaLnBrk="1" hangingPunct="1">
              <a:buNone/>
            </a:pPr>
            <a:r>
              <a:rPr lang="en-US" sz="1800" dirty="0"/>
              <a:t>                 [End of If Structure]</a:t>
            </a:r>
          </a:p>
          <a:p>
            <a:pPr eaLnBrk="1" hangingPunct="1"/>
            <a:r>
              <a:rPr lang="en-US" sz="1800" dirty="0"/>
              <a:t>Step 2: Set PTR:=START</a:t>
            </a:r>
          </a:p>
          <a:p>
            <a:pPr eaLnBrk="1" hangingPunct="1"/>
            <a:r>
              <a:rPr lang="en-US" sz="1800" dirty="0"/>
              <a:t>Step 3: </a:t>
            </a:r>
            <a:r>
              <a:rPr lang="en-US" sz="1600" dirty="0"/>
              <a:t>Repeat while PTR </a:t>
            </a:r>
            <a:r>
              <a:rPr lang="en-US" sz="1600" dirty="0">
                <a:cs typeface="Times New Roman" pitchFamily="18" charset="0"/>
              </a:rPr>
              <a:t>≠ </a:t>
            </a:r>
            <a:r>
              <a:rPr lang="en-US" sz="1600" dirty="0"/>
              <a:t>NULL and INFO[PTR]</a:t>
            </a:r>
            <a:r>
              <a:rPr lang="en-US" sz="1600" dirty="0">
                <a:cs typeface="Times New Roman" pitchFamily="18" charset="0"/>
              </a:rPr>
              <a:t> ≠ ITEM</a:t>
            </a:r>
          </a:p>
          <a:p>
            <a:pPr marL="0" indent="0" eaLnBrk="1" hangingPunct="1">
              <a:buNone/>
            </a:pPr>
            <a:r>
              <a:rPr lang="en-US" sz="1800" dirty="0">
                <a:cs typeface="Times New Roman" pitchFamily="18" charset="0"/>
              </a:rPr>
              <a:t>            PTR:=FORW[PTR]</a:t>
            </a:r>
          </a:p>
          <a:p>
            <a:pPr marL="0" indent="0" eaLnBrk="1" hangingPunct="1">
              <a:buNone/>
            </a:pPr>
            <a:r>
              <a:rPr lang="en-US" sz="1800" dirty="0">
                <a:cs typeface="Times New Roman" pitchFamily="18" charset="0"/>
              </a:rPr>
              <a:t>           [End of While Loop]</a:t>
            </a:r>
          </a:p>
          <a:p>
            <a:pPr eaLnBrk="1" hangingPunct="1"/>
            <a:r>
              <a:rPr lang="en-US" sz="1800" dirty="0">
                <a:cs typeface="Times New Roman" pitchFamily="18" charset="0"/>
              </a:rPr>
              <a:t>Step 4: If PTR=NULL</a:t>
            </a:r>
          </a:p>
          <a:p>
            <a:pPr marL="0" indent="0" eaLnBrk="1" hangingPunct="1">
              <a:buNone/>
            </a:pPr>
            <a:r>
              <a:rPr lang="en-US" sz="1800" dirty="0">
                <a:cs typeface="Times New Roman" pitchFamily="18" charset="0"/>
              </a:rPr>
              <a:t>               Write : ’element already deleted’</a:t>
            </a:r>
          </a:p>
          <a:p>
            <a:pPr marL="0" indent="0" eaLnBrk="1" hangingPunct="1">
              <a:buNone/>
            </a:pPr>
            <a:r>
              <a:rPr lang="en-US" sz="1800" dirty="0">
                <a:cs typeface="Times New Roman" pitchFamily="18" charset="0"/>
              </a:rPr>
              <a:t>                Return</a:t>
            </a:r>
          </a:p>
          <a:p>
            <a:pPr marL="0" indent="0" eaLnBrk="1" hangingPunct="1">
              <a:buNone/>
            </a:pPr>
            <a:r>
              <a:rPr lang="en-US" sz="1800" dirty="0">
                <a:cs typeface="Times New Roman" pitchFamily="18" charset="0"/>
              </a:rPr>
              <a:t>               [End of If Structure]</a:t>
            </a:r>
          </a:p>
          <a:p>
            <a:pPr eaLnBrk="1" hangingPunct="1"/>
            <a:r>
              <a:rPr lang="en-US" sz="1800" dirty="0">
                <a:cs typeface="Times New Roman" pitchFamily="18" charset="0"/>
              </a:rPr>
              <a:t>Step 5: If INFO[PTR]=ITEM</a:t>
            </a:r>
          </a:p>
          <a:p>
            <a:pPr marL="0" indent="0" eaLnBrk="1" hangingPunct="1">
              <a:buNone/>
            </a:pPr>
            <a:r>
              <a:rPr lang="en-US" sz="1800" dirty="0">
                <a:cs typeface="Times New Roman" pitchFamily="18" charset="0"/>
              </a:rPr>
              <a:t>                 Set LOC:=PTR</a:t>
            </a:r>
          </a:p>
          <a:p>
            <a:pPr marL="0" indent="0" eaLnBrk="1" hangingPunct="1">
              <a:buNone/>
            </a:pPr>
            <a:r>
              <a:rPr lang="en-US" sz="1800" dirty="0">
                <a:cs typeface="Times New Roman" pitchFamily="18" charset="0"/>
              </a:rPr>
              <a:t>                [End of If Structure]</a:t>
            </a:r>
          </a:p>
          <a:p>
            <a:pPr eaLnBrk="1" hangingPunct="1"/>
            <a:r>
              <a:rPr lang="en-US" sz="1800" dirty="0">
                <a:cs typeface="Times New Roman" pitchFamily="18" charset="0"/>
              </a:rPr>
              <a:t>Ste 5: </a:t>
            </a:r>
            <a:r>
              <a:rPr lang="en-US" sz="1800" dirty="0"/>
              <a:t>If LOC=START , then:</a:t>
            </a:r>
          </a:p>
          <a:p>
            <a:pPr eaLnBrk="1" hangingPunct="1">
              <a:buFontTx/>
              <a:buNone/>
            </a:pPr>
            <a:r>
              <a:rPr lang="en-US" sz="1800" dirty="0"/>
              <a:t>                START:=FORW[START]</a:t>
            </a:r>
          </a:p>
          <a:p>
            <a:pPr eaLnBrk="1" hangingPunct="1">
              <a:buFontTx/>
              <a:buNone/>
            </a:pPr>
            <a:r>
              <a:rPr lang="en-US" sz="1800" dirty="0"/>
              <a:t>                BACK[START]:=NULL</a:t>
            </a:r>
          </a:p>
          <a:p>
            <a:pPr eaLnBrk="1" hangingPunct="1">
              <a:buFontTx/>
              <a:buNone/>
            </a:pPr>
            <a:r>
              <a:rPr lang="en-US" sz="1800" dirty="0"/>
              <a:t>                Return</a:t>
            </a:r>
          </a:p>
          <a:p>
            <a:pPr eaLnBrk="1" hangingPunct="1"/>
            <a:r>
              <a:rPr lang="en-US" sz="1800" dirty="0"/>
              <a:t>Step 6: [Delete node] </a:t>
            </a:r>
          </a:p>
          <a:p>
            <a:pPr marL="0" indent="0" eaLnBrk="1" hangingPunct="1">
              <a:buNone/>
            </a:pPr>
            <a:r>
              <a:rPr lang="en-US" sz="1800" dirty="0"/>
              <a:t>      Set FORW[BACK[LOC]]:=FORW[LOC]</a:t>
            </a:r>
          </a:p>
          <a:p>
            <a:pPr marL="0" indent="0" eaLnBrk="1" hangingPunct="1">
              <a:buNone/>
            </a:pPr>
            <a:r>
              <a:rPr lang="en-US" sz="1800" dirty="0"/>
              <a:t>      Set BACK[FORW[LOC]]:=BACK[LOC]</a:t>
            </a:r>
          </a:p>
          <a:p>
            <a:pPr eaLnBrk="1" hangingPunct="1"/>
            <a:r>
              <a:rPr lang="en-US" sz="1800" dirty="0"/>
              <a:t>Step 7: [Returning node to AVAIL]</a:t>
            </a:r>
          </a:p>
          <a:p>
            <a:pPr eaLnBrk="1" hangingPunct="1">
              <a:buFontTx/>
              <a:buNone/>
            </a:pPr>
            <a:r>
              <a:rPr lang="en-US" sz="1800" dirty="0"/>
              <a:t>       Set FORW[LOC]:=AVAIL and AVAIL:=LOC</a:t>
            </a:r>
          </a:p>
          <a:p>
            <a:pPr eaLnBrk="1" hangingPunct="1"/>
            <a:r>
              <a:rPr lang="en-US" sz="1800" dirty="0"/>
              <a:t>Step 8: Return</a:t>
            </a:r>
          </a:p>
          <a:p>
            <a:pPr eaLnBrk="1" hangingPunct="1">
              <a:buFontTx/>
              <a:buNone/>
            </a:pPr>
            <a:endParaRPr lang="en-US" dirty="0"/>
          </a:p>
          <a:p>
            <a:pPr eaLnBrk="1" hangingPunct="1"/>
            <a:endParaRPr lang="en-US" dirty="0"/>
          </a:p>
        </p:txBody>
      </p:sp>
    </p:spTree>
    <p:extLst>
      <p:ext uri="{BB962C8B-B14F-4D97-AF65-F5344CB8AC3E}">
        <p14:creationId xmlns:p14="http://schemas.microsoft.com/office/powerpoint/2010/main" val="25935090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3"/>
          <p:cNvSpPr>
            <a:spLocks noGrp="1" noChangeArrowheads="1"/>
          </p:cNvSpPr>
          <p:nvPr>
            <p:ph type="body" idx="1"/>
          </p:nvPr>
        </p:nvSpPr>
        <p:spPr/>
        <p:txBody>
          <a:bodyPr/>
          <a:lstStyle/>
          <a:p>
            <a:pPr algn="ctr" eaLnBrk="1" hangingPunct="1">
              <a:buFontTx/>
              <a:buNone/>
            </a:pPr>
            <a:r>
              <a:rPr lang="en-US" sz="11700" b="1" u="sng"/>
              <a:t>STACKS</a:t>
            </a:r>
          </a:p>
        </p:txBody>
      </p:sp>
    </p:spTree>
    <p:extLst>
      <p:ext uri="{BB962C8B-B14F-4D97-AF65-F5344CB8AC3E}">
        <p14:creationId xmlns:p14="http://schemas.microsoft.com/office/powerpoint/2010/main" val="202737804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3"/>
          <p:cNvSpPr>
            <a:spLocks noGrp="1" noChangeArrowheads="1"/>
          </p:cNvSpPr>
          <p:nvPr>
            <p:ph type="body" idx="1"/>
          </p:nvPr>
        </p:nvSpPr>
        <p:spPr>
          <a:xfrm>
            <a:off x="410966" y="0"/>
            <a:ext cx="11188558" cy="6858000"/>
          </a:xfrm>
        </p:spPr>
        <p:txBody>
          <a:bodyPr/>
          <a:lstStyle/>
          <a:p>
            <a:pPr eaLnBrk="1" hangingPunct="1"/>
            <a:r>
              <a:rPr lang="en-US" dirty="0"/>
              <a:t>Stack- A stack is a linear data structure in which items may be added or removed only at one end . Accordingly, stacks are also called last-in-first-out or LIFO lists. The end at which element is added or removed is called the </a:t>
            </a:r>
            <a:r>
              <a:rPr lang="en-US" b="1" dirty="0"/>
              <a:t>top of the stack</a:t>
            </a:r>
            <a:r>
              <a:rPr lang="en-US" dirty="0"/>
              <a:t>. Two basic operations associated with stacks are:</a:t>
            </a:r>
          </a:p>
          <a:p>
            <a:pPr marL="0" indent="0" eaLnBrk="1" hangingPunct="1">
              <a:buNone/>
            </a:pPr>
            <a:endParaRPr lang="en-US" dirty="0"/>
          </a:p>
          <a:p>
            <a:pPr eaLnBrk="1" hangingPunct="1"/>
            <a:r>
              <a:rPr lang="en-US" b="1" dirty="0"/>
              <a:t>Push</a:t>
            </a:r>
            <a:r>
              <a:rPr lang="en-US" dirty="0"/>
              <a:t>- Term used to denote insertion of an element onto a stack.</a:t>
            </a:r>
          </a:p>
          <a:p>
            <a:pPr eaLnBrk="1" hangingPunct="1">
              <a:buFontTx/>
              <a:buNone/>
            </a:pPr>
            <a:endParaRPr lang="en-US" dirty="0"/>
          </a:p>
          <a:p>
            <a:pPr eaLnBrk="1" hangingPunct="1"/>
            <a:r>
              <a:rPr lang="en-US" b="1" dirty="0"/>
              <a:t>Pop</a:t>
            </a:r>
            <a:r>
              <a:rPr lang="en-US" dirty="0"/>
              <a:t>- Term used to describe deletion of an element from a stack.</a:t>
            </a:r>
          </a:p>
          <a:p>
            <a:pPr eaLnBrk="1" hangingPunct="1"/>
            <a:endParaRPr lang="en-US" dirty="0"/>
          </a:p>
          <a:p>
            <a:pPr eaLnBrk="1" hangingPunct="1"/>
            <a:r>
              <a:rPr lang="en-US" b="1" dirty="0"/>
              <a:t>Peek- </a:t>
            </a:r>
            <a:r>
              <a:rPr lang="en-US" dirty="0"/>
              <a:t>Term used to return the topmost element from a stack</a:t>
            </a:r>
          </a:p>
          <a:p>
            <a:pPr lvl="1" eaLnBrk="1" hangingPunct="1">
              <a:buFontTx/>
              <a:buNone/>
            </a:pPr>
            <a:endParaRPr lang="en-US" dirty="0"/>
          </a:p>
          <a:p>
            <a:pPr marL="541338" lvl="1" indent="0" eaLnBrk="1" hangingPunct="1">
              <a:buFontTx/>
              <a:buNone/>
            </a:pPr>
            <a:r>
              <a:rPr lang="en-US" dirty="0"/>
              <a:t>The order in which elements are pushed onto a stack is reverse of the order in which elements are popped from a stack</a:t>
            </a:r>
          </a:p>
        </p:txBody>
      </p:sp>
    </p:spTree>
    <p:extLst>
      <p:ext uri="{BB962C8B-B14F-4D97-AF65-F5344CB8AC3E}">
        <p14:creationId xmlns:p14="http://schemas.microsoft.com/office/powerpoint/2010/main" val="243903446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Content Placeholder 2"/>
          <p:cNvSpPr>
            <a:spLocks noGrp="1"/>
          </p:cNvSpPr>
          <p:nvPr>
            <p:ph idx="1"/>
          </p:nvPr>
        </p:nvSpPr>
        <p:spPr>
          <a:xfrm>
            <a:off x="1524000" y="0"/>
            <a:ext cx="9144000" cy="6858000"/>
          </a:xfrm>
        </p:spPr>
        <p:txBody>
          <a:bodyPr/>
          <a:lstStyle/>
          <a:p>
            <a:pPr>
              <a:buFontTx/>
              <a:buNone/>
            </a:pPr>
            <a:r>
              <a:rPr lang="en-US" b="1" dirty="0"/>
              <a:t>    Applications of Stack</a:t>
            </a:r>
          </a:p>
          <a:p>
            <a:r>
              <a:rPr lang="en-US" dirty="0"/>
              <a:t>Evaluation of arithmetic expressions</a:t>
            </a:r>
          </a:p>
          <a:p>
            <a:r>
              <a:rPr lang="en-US" dirty="0"/>
              <a:t>Conversion of infix to postfix or prefix notation</a:t>
            </a:r>
          </a:p>
          <a:p>
            <a:r>
              <a:rPr lang="en-US" dirty="0"/>
              <a:t>Backtracking(game playing, path finding , exhaustive searching)</a:t>
            </a:r>
          </a:p>
          <a:p>
            <a:r>
              <a:rPr lang="en-US" dirty="0"/>
              <a:t>Memory management</a:t>
            </a:r>
          </a:p>
          <a:p>
            <a:r>
              <a:rPr lang="en-US" dirty="0"/>
              <a:t>Function call and return process</a:t>
            </a:r>
          </a:p>
          <a:p>
            <a:r>
              <a:rPr lang="en-US" dirty="0"/>
              <a:t>In scheduling algorithms</a:t>
            </a:r>
          </a:p>
          <a:p>
            <a:r>
              <a:rPr lang="en-US" dirty="0"/>
              <a:t>In sorting of arrays (Quick sort and Merge sort and heap sort)</a:t>
            </a:r>
          </a:p>
          <a:p>
            <a:r>
              <a:rPr lang="en-US" dirty="0"/>
              <a:t>Recursion: Calling a function from within itself.</a:t>
            </a:r>
          </a:p>
          <a:p>
            <a:r>
              <a:rPr lang="en-US" dirty="0"/>
              <a:t>Two conditions required for recursion:</a:t>
            </a:r>
          </a:p>
          <a:p>
            <a:pPr lvl="1"/>
            <a:r>
              <a:rPr lang="en-US" dirty="0"/>
              <a:t>The problem should be recursive in nature</a:t>
            </a:r>
          </a:p>
          <a:p>
            <a:pPr lvl="1"/>
            <a:r>
              <a:rPr lang="en-US" dirty="0"/>
              <a:t>There should be some termination of recursion</a:t>
            </a:r>
          </a:p>
          <a:p>
            <a:pPr lvl="1"/>
            <a:endParaRPr lang="en-US" dirty="0"/>
          </a:p>
          <a:p>
            <a:endParaRPr lang="en-US" dirty="0"/>
          </a:p>
          <a:p>
            <a:endParaRPr lang="en-US" dirty="0"/>
          </a:p>
        </p:txBody>
      </p:sp>
    </p:spTree>
    <p:extLst>
      <p:ext uri="{BB962C8B-B14F-4D97-AF65-F5344CB8AC3E}">
        <p14:creationId xmlns:p14="http://schemas.microsoft.com/office/powerpoint/2010/main" val="114421985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3"/>
          <p:cNvSpPr>
            <a:spLocks noGrp="1" noChangeArrowheads="1"/>
          </p:cNvSpPr>
          <p:nvPr>
            <p:ph type="body" idx="1"/>
          </p:nvPr>
        </p:nvSpPr>
        <p:spPr>
          <a:xfrm>
            <a:off x="92467" y="0"/>
            <a:ext cx="11825555" cy="6858000"/>
          </a:xfrm>
        </p:spPr>
        <p:txBody>
          <a:bodyPr/>
          <a:lstStyle/>
          <a:p>
            <a:pPr algn="ctr" eaLnBrk="1" hangingPunct="1">
              <a:buFontTx/>
              <a:buNone/>
            </a:pPr>
            <a:r>
              <a:rPr lang="en-US" b="1" u="sng" dirty="0"/>
              <a:t>Representation of stacks</a:t>
            </a:r>
          </a:p>
          <a:p>
            <a:pPr eaLnBrk="1" hangingPunct="1"/>
            <a:r>
              <a:rPr lang="en-US" dirty="0"/>
              <a:t>Stacks may be represented in memory in various ways usually by means of one-way list or a linear array</a:t>
            </a:r>
          </a:p>
          <a:p>
            <a:pPr marL="0" indent="0" eaLnBrk="1" hangingPunct="1">
              <a:buNone/>
            </a:pPr>
            <a:endParaRPr lang="en-US" dirty="0"/>
          </a:p>
          <a:p>
            <a:pPr eaLnBrk="1" hangingPunct="1"/>
            <a:r>
              <a:rPr lang="en-US" dirty="0"/>
              <a:t>In array representation of stack, stack is maintained by an array named STACK , a  variable TOP which contains the location/index of top element of stack and a variable MAXSTK giving the maximum number of elements that can be held by the stack. The condition TOP=0 or TOP=NULL indicates that stack is empty.</a:t>
            </a:r>
          </a:p>
          <a:p>
            <a:pPr eaLnBrk="1" hangingPunct="1"/>
            <a:endParaRPr lang="en-US" dirty="0"/>
          </a:p>
          <a:p>
            <a:pPr algn="just" eaLnBrk="1" hangingPunct="1"/>
            <a:r>
              <a:rPr lang="en-US" dirty="0"/>
              <a:t>The operation of addition of an item on stack and operation of removing an item from a stack may be implemented respectively by sub algorithms, called </a:t>
            </a:r>
            <a:r>
              <a:rPr lang="en-US" b="1" dirty="0"/>
              <a:t>PUSH</a:t>
            </a:r>
            <a:r>
              <a:rPr lang="en-US" dirty="0"/>
              <a:t> and </a:t>
            </a:r>
            <a:r>
              <a:rPr lang="en-US" b="1" dirty="0"/>
              <a:t>POP</a:t>
            </a:r>
            <a:r>
              <a:rPr lang="en-US" dirty="0"/>
              <a:t>. Before executing operation PUSH on to a stack, one must first test whether there is room in the stack for the new item. If not, then we have the condition known as </a:t>
            </a:r>
            <a:r>
              <a:rPr lang="en-US" b="1" u="sng" dirty="0"/>
              <a:t>overflow. </a:t>
            </a:r>
            <a:r>
              <a:rPr lang="en-US" dirty="0"/>
              <a:t>Analogously, in executing the POP operation, one must first test where there is an element in stack to be deleted. If not, then we have condition known as </a:t>
            </a:r>
            <a:r>
              <a:rPr lang="en-US" b="1" u="sng" dirty="0"/>
              <a:t>underflow.</a:t>
            </a:r>
          </a:p>
        </p:txBody>
      </p:sp>
    </p:spTree>
    <p:extLst>
      <p:ext uri="{BB962C8B-B14F-4D97-AF65-F5344CB8AC3E}">
        <p14:creationId xmlns:p14="http://schemas.microsoft.com/office/powerpoint/2010/main" val="3919965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3"/>
          <p:cNvSpPr>
            <a:spLocks noGrp="1" noChangeArrowheads="1"/>
          </p:cNvSpPr>
          <p:nvPr>
            <p:ph type="body" idx="1"/>
          </p:nvPr>
        </p:nvSpPr>
        <p:spPr>
          <a:xfrm>
            <a:off x="1524000" y="0"/>
            <a:ext cx="9144000" cy="6858000"/>
          </a:xfrm>
        </p:spPr>
        <p:txBody>
          <a:bodyPr/>
          <a:lstStyle/>
          <a:p>
            <a:pPr algn="ctr" eaLnBrk="1" hangingPunct="1">
              <a:buFontTx/>
              <a:buNone/>
            </a:pPr>
            <a:endParaRPr lang="en-US" sz="7200"/>
          </a:p>
          <a:p>
            <a:pPr algn="ctr" eaLnBrk="1" hangingPunct="1">
              <a:buFontTx/>
              <a:buNone/>
            </a:pPr>
            <a:r>
              <a:rPr lang="en-US" sz="7200" u="sng"/>
              <a:t>ARRAY IMPLEMENTATION OF STACK</a:t>
            </a:r>
          </a:p>
        </p:txBody>
      </p:sp>
    </p:spTree>
    <p:extLst>
      <p:ext uri="{BB962C8B-B14F-4D97-AF65-F5344CB8AC3E}">
        <p14:creationId xmlns:p14="http://schemas.microsoft.com/office/powerpoint/2010/main" val="36623970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3"/>
          <p:cNvSpPr>
            <a:spLocks noGrp="1" noChangeArrowheads="1"/>
          </p:cNvSpPr>
          <p:nvPr>
            <p:ph type="body" idx="1"/>
          </p:nvPr>
        </p:nvSpPr>
        <p:spPr>
          <a:xfrm>
            <a:off x="1524000" y="0"/>
            <a:ext cx="9144000" cy="6858000"/>
          </a:xfrm>
        </p:spPr>
        <p:txBody>
          <a:bodyPr/>
          <a:lstStyle/>
          <a:p>
            <a:pPr eaLnBrk="1" hangingPunct="1"/>
            <a:r>
              <a:rPr lang="en-US"/>
              <a:t>Algorithm: PUSH (STACK,TOP,MAXSTK,ITEM)</a:t>
            </a:r>
          </a:p>
          <a:p>
            <a:pPr eaLnBrk="1" hangingPunct="1">
              <a:buFontTx/>
              <a:buNone/>
            </a:pPr>
            <a:r>
              <a:rPr lang="en-US"/>
              <a:t>                      This algorithm pushes an item onto the stack array. TOP </a:t>
            </a:r>
          </a:p>
          <a:p>
            <a:pPr eaLnBrk="1" hangingPunct="1">
              <a:buFontTx/>
              <a:buNone/>
            </a:pPr>
            <a:r>
              <a:rPr lang="en-US"/>
              <a:t>                      stores the index of top element of the stack and MAXSTK</a:t>
            </a:r>
          </a:p>
          <a:p>
            <a:pPr eaLnBrk="1" hangingPunct="1">
              <a:buFontTx/>
              <a:buNone/>
            </a:pPr>
            <a:r>
              <a:rPr lang="en-US"/>
              <a:t>                      stores the maximum size of the stack.</a:t>
            </a:r>
          </a:p>
          <a:p>
            <a:pPr eaLnBrk="1" hangingPunct="1"/>
            <a:r>
              <a:rPr lang="en-US" sz="2800"/>
              <a:t>Step 1: [Stack already filled]</a:t>
            </a:r>
          </a:p>
          <a:p>
            <a:pPr eaLnBrk="1" hangingPunct="1">
              <a:buFontTx/>
              <a:buNone/>
            </a:pPr>
            <a:r>
              <a:rPr lang="en-US" sz="2800"/>
              <a:t>               If TOP=MAXSTK, then:</a:t>
            </a:r>
          </a:p>
          <a:p>
            <a:pPr eaLnBrk="1" hangingPunct="1">
              <a:buFontTx/>
              <a:buNone/>
            </a:pPr>
            <a:r>
              <a:rPr lang="en-US" sz="2800"/>
              <a:t>               Write: ‘OVERFLOW’</a:t>
            </a:r>
          </a:p>
          <a:p>
            <a:pPr eaLnBrk="1" hangingPunct="1">
              <a:buFontTx/>
              <a:buNone/>
            </a:pPr>
            <a:r>
              <a:rPr lang="en-US" sz="2800"/>
              <a:t>               Return</a:t>
            </a:r>
          </a:p>
          <a:p>
            <a:pPr eaLnBrk="1" hangingPunct="1"/>
            <a:r>
              <a:rPr lang="en-US" sz="2800"/>
              <a:t>Step 2: Set TOP:=TOP+1</a:t>
            </a:r>
          </a:p>
          <a:p>
            <a:pPr eaLnBrk="1" hangingPunct="1"/>
            <a:r>
              <a:rPr lang="en-US" sz="2800"/>
              <a:t>Step 3: Set STACK[TOP]:=ITEM</a:t>
            </a:r>
          </a:p>
          <a:p>
            <a:pPr eaLnBrk="1" hangingPunct="1"/>
            <a:r>
              <a:rPr lang="en-US" sz="2800"/>
              <a:t>Step 4: Return</a:t>
            </a:r>
          </a:p>
        </p:txBody>
      </p:sp>
    </p:spTree>
    <p:extLst>
      <p:ext uri="{BB962C8B-B14F-4D97-AF65-F5344CB8AC3E}">
        <p14:creationId xmlns:p14="http://schemas.microsoft.com/office/powerpoint/2010/main" val="40714419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3"/>
          <p:cNvSpPr>
            <a:spLocks noGrp="1" noChangeArrowheads="1"/>
          </p:cNvSpPr>
          <p:nvPr>
            <p:ph type="body" idx="1"/>
          </p:nvPr>
        </p:nvSpPr>
        <p:spPr>
          <a:xfrm>
            <a:off x="1524000" y="0"/>
            <a:ext cx="9144000" cy="6858000"/>
          </a:xfrm>
        </p:spPr>
        <p:txBody>
          <a:bodyPr/>
          <a:lstStyle/>
          <a:p>
            <a:pPr eaLnBrk="1" hangingPunct="1">
              <a:buFontTx/>
              <a:buNone/>
            </a:pPr>
            <a:r>
              <a:rPr lang="en-US" sz="2800"/>
              <a:t>  Algorithm: POP(STACK,TOP,ITEM)</a:t>
            </a:r>
          </a:p>
          <a:p>
            <a:pPr eaLnBrk="1" hangingPunct="1">
              <a:buFontTx/>
              <a:buNone/>
            </a:pPr>
            <a:r>
              <a:rPr lang="en-US" sz="2800"/>
              <a:t>                     This procedure deletes the top element of </a:t>
            </a:r>
          </a:p>
          <a:p>
            <a:pPr eaLnBrk="1" hangingPunct="1">
              <a:buFontTx/>
              <a:buNone/>
            </a:pPr>
            <a:r>
              <a:rPr lang="en-US" sz="2800"/>
              <a:t>                     STACK array and assign it to variable ITEM</a:t>
            </a:r>
          </a:p>
          <a:p>
            <a:pPr eaLnBrk="1" hangingPunct="1"/>
            <a:r>
              <a:rPr lang="en-US" sz="3200"/>
              <a:t>Step 1: If TOP=0,then:</a:t>
            </a:r>
          </a:p>
          <a:p>
            <a:pPr eaLnBrk="1" hangingPunct="1">
              <a:buFontTx/>
              <a:buNone/>
            </a:pPr>
            <a:r>
              <a:rPr lang="en-US" sz="3200"/>
              <a:t>               Write: ‘UNDERFLOW’</a:t>
            </a:r>
          </a:p>
          <a:p>
            <a:pPr eaLnBrk="1" hangingPunct="1">
              <a:buFontTx/>
              <a:buNone/>
            </a:pPr>
            <a:r>
              <a:rPr lang="en-US" sz="3200"/>
              <a:t>                 Return</a:t>
            </a:r>
          </a:p>
          <a:p>
            <a:pPr eaLnBrk="1" hangingPunct="1"/>
            <a:r>
              <a:rPr lang="en-US" sz="3200"/>
              <a:t>Step 2: Set ITEM:=STACK[TOP]</a:t>
            </a:r>
          </a:p>
          <a:p>
            <a:pPr eaLnBrk="1" hangingPunct="1"/>
            <a:r>
              <a:rPr lang="en-US" sz="3200"/>
              <a:t>Step 3: Set TOP:=TOP-1</a:t>
            </a:r>
          </a:p>
          <a:p>
            <a:pPr eaLnBrk="1" hangingPunct="1"/>
            <a:r>
              <a:rPr lang="en-US" sz="3200"/>
              <a:t>Step 4: Return </a:t>
            </a:r>
          </a:p>
        </p:txBody>
      </p:sp>
    </p:spTree>
    <p:extLst>
      <p:ext uri="{BB962C8B-B14F-4D97-AF65-F5344CB8AC3E}">
        <p14:creationId xmlns:p14="http://schemas.microsoft.com/office/powerpoint/2010/main" val="166504219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3"/>
          <p:cNvSpPr>
            <a:spLocks noGrp="1" noChangeArrowheads="1"/>
          </p:cNvSpPr>
          <p:nvPr>
            <p:ph type="body" idx="1"/>
          </p:nvPr>
        </p:nvSpPr>
        <p:spPr>
          <a:xfrm>
            <a:off x="0" y="0"/>
            <a:ext cx="12191999" cy="6858000"/>
          </a:xfrm>
        </p:spPr>
        <p:txBody>
          <a:bodyPr/>
          <a:lstStyle/>
          <a:p>
            <a:pPr eaLnBrk="1" hangingPunct="1"/>
            <a:endParaRPr lang="en-US" dirty="0"/>
          </a:p>
          <a:p>
            <a:pPr eaLnBrk="1" hangingPunct="1"/>
            <a:r>
              <a:rPr lang="en-US" dirty="0"/>
              <a:t>A stack represented using a linked list is also known as linked stack. The array based representation of stack suffers from following limitations:</a:t>
            </a:r>
          </a:p>
          <a:p>
            <a:pPr eaLnBrk="1" hangingPunct="1"/>
            <a:endParaRPr lang="en-US" dirty="0"/>
          </a:p>
          <a:p>
            <a:pPr marL="941388" indent="0" eaLnBrk="1" hangingPunct="1"/>
            <a:r>
              <a:rPr lang="en-US" dirty="0"/>
              <a:t> Size of stack must be known in advance</a:t>
            </a:r>
          </a:p>
          <a:p>
            <a:pPr marL="941388" indent="0" eaLnBrk="1" hangingPunct="1">
              <a:buNone/>
            </a:pPr>
            <a:endParaRPr lang="en-US" dirty="0"/>
          </a:p>
          <a:p>
            <a:pPr marL="941388" indent="0" eaLnBrk="1" hangingPunct="1"/>
            <a:r>
              <a:rPr lang="en-US" dirty="0"/>
              <a:t> Representing stack as an array prohibits the growth of stack beyond finite number of</a:t>
            </a:r>
          </a:p>
          <a:p>
            <a:pPr marL="941388" indent="0" eaLnBrk="1" hangingPunct="1">
              <a:buNone/>
            </a:pPr>
            <a:r>
              <a:rPr lang="en-US" dirty="0"/>
              <a:t>   elements.</a:t>
            </a:r>
          </a:p>
          <a:p>
            <a:pPr eaLnBrk="1" hangingPunct="1">
              <a:buFontTx/>
              <a:buNone/>
            </a:pPr>
            <a:r>
              <a:rPr lang="en-US" dirty="0"/>
              <a:t>              </a:t>
            </a:r>
          </a:p>
          <a:p>
            <a:pPr indent="-25400" eaLnBrk="1" hangingPunct="1">
              <a:buFontTx/>
              <a:buNone/>
            </a:pPr>
            <a:r>
              <a:rPr lang="en-US" dirty="0"/>
              <a:t>In a linked list implementation of stack, each memory cell will contain the data part of the current element of stack and pointer that stores the address of its bottom element and the memory cell containing the bottom most element will have a</a:t>
            </a:r>
            <a:r>
              <a:rPr lang="en-US" b="1" dirty="0"/>
              <a:t> NULL</a:t>
            </a:r>
            <a:r>
              <a:rPr lang="en-US" dirty="0"/>
              <a:t> pointer </a:t>
            </a:r>
          </a:p>
          <a:p>
            <a:pPr eaLnBrk="1" hangingPunct="1">
              <a:buFontTx/>
              <a:buNone/>
            </a:pPr>
            <a:endParaRPr lang="en-US" dirty="0"/>
          </a:p>
        </p:txBody>
      </p:sp>
    </p:spTree>
    <p:extLst>
      <p:ext uri="{BB962C8B-B14F-4D97-AF65-F5344CB8AC3E}">
        <p14:creationId xmlns:p14="http://schemas.microsoft.com/office/powerpoint/2010/main" val="40618311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3"/>
          <p:cNvSpPr>
            <a:spLocks noGrp="1" noChangeArrowheads="1"/>
          </p:cNvSpPr>
          <p:nvPr>
            <p:ph type="body" idx="1"/>
          </p:nvPr>
        </p:nvSpPr>
        <p:spPr>
          <a:xfrm>
            <a:off x="1524000" y="0"/>
            <a:ext cx="9144000" cy="6858000"/>
          </a:xfrm>
        </p:spPr>
        <p:txBody>
          <a:bodyPr/>
          <a:lstStyle/>
          <a:p>
            <a:pPr algn="ctr" eaLnBrk="1" hangingPunct="1">
              <a:lnSpc>
                <a:spcPct val="90000"/>
              </a:lnSpc>
              <a:buFontTx/>
              <a:buNone/>
            </a:pPr>
            <a:r>
              <a:rPr lang="en-US" b="1"/>
              <a:t>Push operation on linked list representation of stack</a:t>
            </a:r>
          </a:p>
          <a:p>
            <a:pPr eaLnBrk="1" hangingPunct="1">
              <a:lnSpc>
                <a:spcPct val="90000"/>
              </a:lnSpc>
            </a:pPr>
            <a:r>
              <a:rPr lang="en-US"/>
              <a:t>Algorithm: PUSH(INFO, LINK, TOP, ITEM, AVAIL)</a:t>
            </a:r>
          </a:p>
          <a:p>
            <a:pPr eaLnBrk="1" hangingPunct="1">
              <a:lnSpc>
                <a:spcPct val="90000"/>
              </a:lnSpc>
              <a:buFontTx/>
              <a:buNone/>
            </a:pPr>
            <a:r>
              <a:rPr lang="en-US"/>
              <a:t>                   This algorithm pushes an element to the top of the stack</a:t>
            </a:r>
          </a:p>
          <a:p>
            <a:pPr eaLnBrk="1" hangingPunct="1">
              <a:lnSpc>
                <a:spcPct val="90000"/>
              </a:lnSpc>
              <a:buFontTx/>
              <a:buNone/>
            </a:pPr>
            <a:r>
              <a:rPr lang="en-US"/>
              <a:t>Step 1: If AVAIL=NULL, then</a:t>
            </a:r>
          </a:p>
          <a:p>
            <a:pPr eaLnBrk="1" hangingPunct="1">
              <a:lnSpc>
                <a:spcPct val="90000"/>
              </a:lnSpc>
              <a:buFontTx/>
              <a:buNone/>
            </a:pPr>
            <a:r>
              <a:rPr lang="en-US"/>
              <a:t>             Write: ‘OVERFLOW’</a:t>
            </a:r>
          </a:p>
          <a:p>
            <a:pPr eaLnBrk="1" hangingPunct="1">
              <a:lnSpc>
                <a:spcPct val="90000"/>
              </a:lnSpc>
              <a:buFontTx/>
              <a:buNone/>
            </a:pPr>
            <a:r>
              <a:rPr lang="en-US"/>
              <a:t>            Return</a:t>
            </a:r>
          </a:p>
          <a:p>
            <a:pPr eaLnBrk="1" hangingPunct="1">
              <a:lnSpc>
                <a:spcPct val="90000"/>
              </a:lnSpc>
              <a:buFontTx/>
              <a:buNone/>
            </a:pPr>
            <a:r>
              <a:rPr lang="en-US"/>
              <a:t>Step 2: Set NEW:=AVAIL and AVAIL:=LINK[AVAIL]</a:t>
            </a:r>
          </a:p>
          <a:p>
            <a:pPr eaLnBrk="1" hangingPunct="1">
              <a:lnSpc>
                <a:spcPct val="90000"/>
              </a:lnSpc>
              <a:buFontTx/>
              <a:buNone/>
            </a:pPr>
            <a:r>
              <a:rPr lang="en-US"/>
              <a:t>Step 3: Set INFO[NEW]:=ITEM</a:t>
            </a:r>
          </a:p>
          <a:p>
            <a:pPr eaLnBrk="1" hangingPunct="1">
              <a:lnSpc>
                <a:spcPct val="90000"/>
              </a:lnSpc>
              <a:buFontTx/>
              <a:buNone/>
            </a:pPr>
            <a:r>
              <a:rPr lang="en-US"/>
              <a:t>Step 4: If TOP=NULL, then</a:t>
            </a:r>
          </a:p>
          <a:p>
            <a:pPr eaLnBrk="1" hangingPunct="1">
              <a:lnSpc>
                <a:spcPct val="90000"/>
              </a:lnSpc>
              <a:buFontTx/>
              <a:buNone/>
            </a:pPr>
            <a:r>
              <a:rPr lang="en-US"/>
              <a:t>             Set LINK[NEW]:=NULL</a:t>
            </a:r>
          </a:p>
          <a:p>
            <a:pPr eaLnBrk="1" hangingPunct="1">
              <a:lnSpc>
                <a:spcPct val="90000"/>
              </a:lnSpc>
              <a:buFontTx/>
              <a:buNone/>
            </a:pPr>
            <a:r>
              <a:rPr lang="en-US"/>
              <a:t>             Set TOP:=NEW</a:t>
            </a:r>
          </a:p>
          <a:p>
            <a:pPr eaLnBrk="1" hangingPunct="1">
              <a:lnSpc>
                <a:spcPct val="90000"/>
              </a:lnSpc>
              <a:buFontTx/>
              <a:buNone/>
            </a:pPr>
            <a:r>
              <a:rPr lang="en-US"/>
              <a:t>              Return  </a:t>
            </a:r>
          </a:p>
          <a:p>
            <a:pPr eaLnBrk="1" hangingPunct="1">
              <a:lnSpc>
                <a:spcPct val="90000"/>
              </a:lnSpc>
              <a:buFontTx/>
              <a:buNone/>
            </a:pPr>
            <a:r>
              <a:rPr lang="en-US"/>
              <a:t>            Else:</a:t>
            </a:r>
          </a:p>
          <a:p>
            <a:pPr eaLnBrk="1" hangingPunct="1">
              <a:lnSpc>
                <a:spcPct val="90000"/>
              </a:lnSpc>
              <a:buFontTx/>
              <a:buNone/>
            </a:pPr>
            <a:r>
              <a:rPr lang="en-US"/>
              <a:t>             Set LINK[NEW]:=TOP</a:t>
            </a:r>
          </a:p>
          <a:p>
            <a:pPr eaLnBrk="1" hangingPunct="1">
              <a:lnSpc>
                <a:spcPct val="90000"/>
              </a:lnSpc>
              <a:buFontTx/>
              <a:buNone/>
            </a:pPr>
            <a:r>
              <a:rPr lang="en-US"/>
              <a:t>             Set TOP:=NEW</a:t>
            </a:r>
          </a:p>
          <a:p>
            <a:pPr eaLnBrk="1" hangingPunct="1">
              <a:lnSpc>
                <a:spcPct val="90000"/>
              </a:lnSpc>
              <a:buFontTx/>
              <a:buNone/>
            </a:pPr>
            <a:r>
              <a:rPr lang="en-US"/>
              <a:t>Step 5: Return</a:t>
            </a:r>
          </a:p>
        </p:txBody>
      </p:sp>
    </p:spTree>
    <p:extLst>
      <p:ext uri="{BB962C8B-B14F-4D97-AF65-F5344CB8AC3E}">
        <p14:creationId xmlns:p14="http://schemas.microsoft.com/office/powerpoint/2010/main" val="88318043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a:t>POP operation on linked list representation of stack</a:t>
            </a:r>
          </a:p>
          <a:p>
            <a:pPr eaLnBrk="1" hangingPunct="1"/>
            <a:r>
              <a:rPr lang="en-US"/>
              <a:t>Algorithm: POP(INFO, LINK, TOP, AVAIL)</a:t>
            </a:r>
          </a:p>
          <a:p>
            <a:pPr eaLnBrk="1" hangingPunct="1"/>
            <a:r>
              <a:rPr lang="en-US"/>
              <a:t>                   This algorithm deletes an element from the top of the</a:t>
            </a:r>
          </a:p>
          <a:p>
            <a:pPr eaLnBrk="1" hangingPunct="1">
              <a:buFontTx/>
              <a:buNone/>
            </a:pPr>
            <a:r>
              <a:rPr lang="en-US"/>
              <a:t>                        stack</a:t>
            </a:r>
          </a:p>
          <a:p>
            <a:pPr eaLnBrk="1" hangingPunct="1"/>
            <a:r>
              <a:rPr lang="en-US"/>
              <a:t>Step 1: If TOP=NULL , then:</a:t>
            </a:r>
          </a:p>
          <a:p>
            <a:pPr eaLnBrk="1" hangingPunct="1">
              <a:buFontTx/>
              <a:buNone/>
            </a:pPr>
            <a:r>
              <a:rPr lang="en-US"/>
              <a:t>                Write: ‘UNDERFLOW’</a:t>
            </a:r>
          </a:p>
          <a:p>
            <a:pPr eaLnBrk="1" hangingPunct="1">
              <a:buFontTx/>
              <a:buNone/>
            </a:pPr>
            <a:r>
              <a:rPr lang="en-US"/>
              <a:t>                 Return</a:t>
            </a:r>
          </a:p>
          <a:p>
            <a:pPr eaLnBrk="1" hangingPunct="1"/>
            <a:r>
              <a:rPr lang="en-US"/>
              <a:t>Step 2: Set PTR:=TOP</a:t>
            </a:r>
          </a:p>
          <a:p>
            <a:pPr eaLnBrk="1" hangingPunct="1">
              <a:buFontTx/>
              <a:buNone/>
            </a:pPr>
            <a:r>
              <a:rPr lang="en-US"/>
              <a:t>                Set TOP:=LINK[TOP]</a:t>
            </a:r>
          </a:p>
          <a:p>
            <a:pPr eaLnBrk="1" hangingPunct="1">
              <a:buFontTx/>
              <a:buNone/>
            </a:pPr>
            <a:r>
              <a:rPr lang="en-US"/>
              <a:t>                Write: INFO[PTR]</a:t>
            </a:r>
          </a:p>
          <a:p>
            <a:pPr eaLnBrk="1" hangingPunct="1"/>
            <a:r>
              <a:rPr lang="en-US"/>
              <a:t>Step 3: Set LINK[PTR]:=AVAIL and AVAIL:=PTR</a:t>
            </a:r>
          </a:p>
          <a:p>
            <a:pPr eaLnBrk="1" hangingPunct="1"/>
            <a:r>
              <a:rPr lang="en-US"/>
              <a:t>Step 4: Return</a:t>
            </a:r>
          </a:p>
        </p:txBody>
      </p:sp>
    </p:spTree>
    <p:extLst>
      <p:ext uri="{BB962C8B-B14F-4D97-AF65-F5344CB8AC3E}">
        <p14:creationId xmlns:p14="http://schemas.microsoft.com/office/powerpoint/2010/main" val="79168598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a:t>Application of stack</a:t>
            </a:r>
          </a:p>
          <a:p>
            <a:pPr eaLnBrk="1" hangingPunct="1"/>
            <a:r>
              <a:rPr lang="en-US" b="1"/>
              <a:t>Evaluation of arithmetic expression.</a:t>
            </a:r>
          </a:p>
          <a:p>
            <a:pPr eaLnBrk="1" hangingPunct="1"/>
            <a:r>
              <a:rPr lang="en-US"/>
              <a:t>For most common arithmetic operations, operator symbol is placed between its operands. This is called </a:t>
            </a:r>
            <a:r>
              <a:rPr lang="en-US" b="1"/>
              <a:t>infix notation</a:t>
            </a:r>
            <a:r>
              <a:rPr lang="en-US"/>
              <a:t> of an expression. To use stack to evaluate an arithmetic  expression, we have to convert the expression into its prefix or postfix notation.</a:t>
            </a:r>
          </a:p>
          <a:p>
            <a:pPr eaLnBrk="1" hangingPunct="1"/>
            <a:r>
              <a:rPr lang="en-US" b="1"/>
              <a:t>Polish notation </a:t>
            </a:r>
            <a:r>
              <a:rPr lang="en-US"/>
              <a:t>, refers to the notation in which operator symbol is placed before its two operands. This is also called </a:t>
            </a:r>
            <a:r>
              <a:rPr lang="en-US" b="1"/>
              <a:t>prefix notation</a:t>
            </a:r>
            <a:r>
              <a:rPr lang="en-US"/>
              <a:t> of an arithmetic expression. The fundamental property of polish notation is that the order in which operations are to be performed is completely determined by positions of operators and operands in expression. Accordingly, one never needs parentheses when writing expression in polish notation.</a:t>
            </a:r>
          </a:p>
          <a:p>
            <a:pPr eaLnBrk="1" hangingPunct="1"/>
            <a:r>
              <a:rPr lang="en-US" b="1"/>
              <a:t>Reverse Polish notation</a:t>
            </a:r>
            <a:r>
              <a:rPr lang="en-US"/>
              <a:t> refers to notation in which operator is placed after its two operands. This notation is frequently called </a:t>
            </a:r>
            <a:r>
              <a:rPr lang="en-US" b="1"/>
              <a:t>postfix notation</a:t>
            </a:r>
            <a:r>
              <a:rPr lang="en-US"/>
              <a:t>. Examples of three notations are: </a:t>
            </a:r>
          </a:p>
        </p:txBody>
      </p:sp>
    </p:spTree>
    <p:extLst>
      <p:ext uri="{BB962C8B-B14F-4D97-AF65-F5344CB8AC3E}">
        <p14:creationId xmlns:p14="http://schemas.microsoft.com/office/powerpoint/2010/main" val="221386629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3"/>
          <p:cNvSpPr>
            <a:spLocks noGrp="1" noChangeArrowheads="1"/>
          </p:cNvSpPr>
          <p:nvPr>
            <p:ph type="body" idx="1"/>
          </p:nvPr>
        </p:nvSpPr>
        <p:spPr>
          <a:xfrm>
            <a:off x="1524000" y="0"/>
            <a:ext cx="9144000" cy="6858000"/>
          </a:xfrm>
        </p:spPr>
        <p:txBody>
          <a:bodyPr/>
          <a:lstStyle/>
          <a:p>
            <a:pPr eaLnBrk="1" hangingPunct="1"/>
            <a:r>
              <a:rPr lang="en-US"/>
              <a:t>INFIX NOTATION:                            A+B</a:t>
            </a:r>
          </a:p>
          <a:p>
            <a:pPr eaLnBrk="1" hangingPunct="1"/>
            <a:r>
              <a:rPr lang="en-US"/>
              <a:t>PREFIX OR POLISH NOTATION:    +AB</a:t>
            </a:r>
          </a:p>
          <a:p>
            <a:pPr eaLnBrk="1" hangingPunct="1"/>
            <a:r>
              <a:rPr lang="en-US"/>
              <a:t>POSTFIX OR  REVERSE POLISH NOATATION:  AB+</a:t>
            </a:r>
          </a:p>
          <a:p>
            <a:pPr eaLnBrk="1" hangingPunct="1"/>
            <a:endParaRPr lang="en-US"/>
          </a:p>
          <a:p>
            <a:pPr eaLnBrk="1" hangingPunct="1"/>
            <a:r>
              <a:rPr lang="en-US"/>
              <a:t>Convert the following infix expressions to prefix and postfix forms</a:t>
            </a:r>
          </a:p>
          <a:p>
            <a:pPr eaLnBrk="1" hangingPunct="1"/>
            <a:r>
              <a:rPr lang="en-US"/>
              <a:t>A+(B*C)</a:t>
            </a:r>
          </a:p>
          <a:p>
            <a:pPr eaLnBrk="1" hangingPunct="1"/>
            <a:r>
              <a:rPr lang="en-US"/>
              <a:t>(A+B)/(C+D)</a:t>
            </a:r>
          </a:p>
          <a:p>
            <a:pPr eaLnBrk="1" hangingPunct="1"/>
            <a:r>
              <a:rPr lang="en-US"/>
              <a:t>Prefix:      +A*BC           Postfix: A BC*+</a:t>
            </a:r>
          </a:p>
          <a:p>
            <a:pPr eaLnBrk="1" hangingPunct="1"/>
            <a:r>
              <a:rPr lang="en-US"/>
              <a:t>Prefix:   / +AB+CD         Postfix:  AB+CD+/</a:t>
            </a:r>
          </a:p>
          <a:p>
            <a:pPr eaLnBrk="1" hangingPunct="1">
              <a:buFontTx/>
              <a:buNone/>
            </a:pPr>
            <a:r>
              <a:rPr lang="en-US"/>
              <a:t>                                   </a:t>
            </a:r>
          </a:p>
          <a:p>
            <a:pPr eaLnBrk="1" hangingPunct="1">
              <a:buFontTx/>
              <a:buNone/>
            </a:pPr>
            <a:r>
              <a:rPr lang="en-US"/>
              <a:t>		</a:t>
            </a:r>
          </a:p>
        </p:txBody>
      </p:sp>
    </p:spTree>
    <p:extLst>
      <p:ext uri="{BB962C8B-B14F-4D97-AF65-F5344CB8AC3E}">
        <p14:creationId xmlns:p14="http://schemas.microsoft.com/office/powerpoint/2010/main" val="240128856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3"/>
          <p:cNvSpPr>
            <a:spLocks noGrp="1" noChangeArrowheads="1"/>
          </p:cNvSpPr>
          <p:nvPr>
            <p:ph type="body" idx="1"/>
          </p:nvPr>
        </p:nvSpPr>
        <p:spPr>
          <a:xfrm>
            <a:off x="1524000" y="0"/>
            <a:ext cx="9144000" cy="6858000"/>
          </a:xfrm>
        </p:spPr>
        <p:txBody>
          <a:bodyPr/>
          <a:lstStyle/>
          <a:p>
            <a:pPr eaLnBrk="1" hangingPunct="1">
              <a:buFontTx/>
              <a:buNone/>
            </a:pPr>
            <a:r>
              <a:rPr lang="en-US"/>
              <a:t>The computer usually evaluates an arithmetic expression written in infix notation in two steps.</a:t>
            </a:r>
          </a:p>
          <a:p>
            <a:pPr eaLnBrk="1" hangingPunct="1"/>
            <a:r>
              <a:rPr lang="en-US"/>
              <a:t>Converts expression to postfix notation </a:t>
            </a:r>
          </a:p>
          <a:p>
            <a:pPr eaLnBrk="1" hangingPunct="1"/>
            <a:r>
              <a:rPr lang="en-US"/>
              <a:t>Evaluates the postfix notation.</a:t>
            </a:r>
          </a:p>
          <a:p>
            <a:pPr eaLnBrk="1" hangingPunct="1"/>
            <a:endParaRPr lang="en-US"/>
          </a:p>
          <a:p>
            <a:pPr eaLnBrk="1" hangingPunct="1"/>
            <a:r>
              <a:rPr lang="en-US" b="1"/>
              <a:t>Evaluation of postfix expression</a:t>
            </a:r>
          </a:p>
          <a:p>
            <a:pPr eaLnBrk="1" hangingPunct="1"/>
            <a:r>
              <a:rPr lang="en-US"/>
              <a:t>Suppose P is an arithmetic expression written in postfix notation. The following algorithm uses a STACK to hold operands and evaluates P</a:t>
            </a:r>
          </a:p>
          <a:p>
            <a:pPr eaLnBrk="1" hangingPunct="1">
              <a:buFontTx/>
              <a:buNone/>
            </a:pPr>
            <a:endParaRPr lang="en-US"/>
          </a:p>
        </p:txBody>
      </p:sp>
    </p:spTree>
    <p:extLst>
      <p:ext uri="{BB962C8B-B14F-4D97-AF65-F5344CB8AC3E}">
        <p14:creationId xmlns:p14="http://schemas.microsoft.com/office/powerpoint/2010/main" val="33088268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3"/>
          <p:cNvSpPr>
            <a:spLocks noGrp="1" noChangeArrowheads="1"/>
          </p:cNvSpPr>
          <p:nvPr>
            <p:ph type="body" idx="1"/>
          </p:nvPr>
        </p:nvSpPr>
        <p:spPr>
          <a:xfrm>
            <a:off x="1524000" y="0"/>
            <a:ext cx="9144000" cy="6858000"/>
          </a:xfrm>
        </p:spPr>
        <p:txBody>
          <a:bodyPr/>
          <a:lstStyle/>
          <a:p>
            <a:pPr eaLnBrk="1" hangingPunct="1"/>
            <a:r>
              <a:rPr lang="en-US"/>
              <a:t>Algorithm: This algorithm finds the VALUE of an arithmetic </a:t>
            </a:r>
          </a:p>
          <a:p>
            <a:pPr eaLnBrk="1" hangingPunct="1">
              <a:buFontTx/>
              <a:buNone/>
            </a:pPr>
            <a:r>
              <a:rPr lang="en-US"/>
              <a:t>                        expression P written in Postfix notation.</a:t>
            </a:r>
          </a:p>
          <a:p>
            <a:pPr eaLnBrk="1" hangingPunct="1">
              <a:buFontTx/>
              <a:buNone/>
            </a:pPr>
            <a:r>
              <a:rPr lang="en-US"/>
              <a:t>Step 1: Add a right parentheses “ )” at the end of P</a:t>
            </a:r>
          </a:p>
          <a:p>
            <a:pPr eaLnBrk="1" hangingPunct="1">
              <a:buFontTx/>
              <a:buNone/>
            </a:pPr>
            <a:r>
              <a:rPr lang="en-US"/>
              <a:t>Step 2: Scan P from left to right and repeat step 3 and 4 for each element</a:t>
            </a:r>
          </a:p>
          <a:p>
            <a:pPr eaLnBrk="1" hangingPunct="1">
              <a:buFontTx/>
              <a:buNone/>
            </a:pPr>
            <a:r>
              <a:rPr lang="en-US"/>
              <a:t>            of P until “)” is encountered</a:t>
            </a:r>
          </a:p>
          <a:p>
            <a:pPr eaLnBrk="1" hangingPunct="1">
              <a:buFontTx/>
              <a:buNone/>
            </a:pPr>
            <a:r>
              <a:rPr lang="en-US"/>
              <a:t>Step 3: If an operand is encountered, put the operand on the stack</a:t>
            </a:r>
          </a:p>
          <a:p>
            <a:pPr eaLnBrk="1" hangingPunct="1">
              <a:buFontTx/>
              <a:buNone/>
            </a:pPr>
            <a:r>
              <a:rPr lang="en-US"/>
              <a:t>Step 4: If an operator       is encountered , then:</a:t>
            </a:r>
          </a:p>
          <a:p>
            <a:pPr eaLnBrk="1" hangingPunct="1">
              <a:buFontTx/>
              <a:buNone/>
            </a:pPr>
            <a:r>
              <a:rPr lang="en-US"/>
              <a:t>           (a) Remove the two top elements of stack, where A is top element</a:t>
            </a:r>
          </a:p>
          <a:p>
            <a:pPr eaLnBrk="1" hangingPunct="1">
              <a:buFontTx/>
              <a:buNone/>
            </a:pPr>
            <a:r>
              <a:rPr lang="en-US"/>
              <a:t>               and B is next-top-element.</a:t>
            </a:r>
          </a:p>
          <a:p>
            <a:pPr eaLnBrk="1" hangingPunct="1">
              <a:buFontTx/>
              <a:buNone/>
            </a:pPr>
            <a:r>
              <a:rPr lang="en-US"/>
              <a:t>           (b) Evaluate    B    A </a:t>
            </a:r>
          </a:p>
          <a:p>
            <a:pPr eaLnBrk="1" hangingPunct="1">
              <a:buFontTx/>
              <a:buNone/>
            </a:pPr>
            <a:r>
              <a:rPr lang="en-US"/>
              <a:t>           (c ) Place the result of (b) back on stack </a:t>
            </a:r>
          </a:p>
          <a:p>
            <a:pPr eaLnBrk="1" hangingPunct="1">
              <a:buFontTx/>
              <a:buNone/>
            </a:pPr>
            <a:r>
              <a:rPr lang="en-US"/>
              <a:t>          [End of if structure]</a:t>
            </a:r>
          </a:p>
          <a:p>
            <a:pPr eaLnBrk="1" hangingPunct="1">
              <a:buFontTx/>
              <a:buNone/>
            </a:pPr>
            <a:r>
              <a:rPr lang="en-US"/>
              <a:t>          [End of step 2 loop]</a:t>
            </a:r>
          </a:p>
          <a:p>
            <a:pPr eaLnBrk="1" hangingPunct="1">
              <a:buFontTx/>
              <a:buNone/>
            </a:pPr>
            <a:r>
              <a:rPr lang="en-US"/>
              <a:t>Step 5: Set VALUE equal to the top element of stack</a:t>
            </a:r>
          </a:p>
          <a:p>
            <a:pPr eaLnBrk="1" hangingPunct="1">
              <a:buFontTx/>
              <a:buNone/>
            </a:pPr>
            <a:r>
              <a:rPr lang="en-US"/>
              <a:t>Step 6: Exit </a:t>
            </a:r>
          </a:p>
          <a:p>
            <a:pPr eaLnBrk="1" hangingPunct="1">
              <a:buFontTx/>
              <a:buNone/>
            </a:pPr>
            <a:endParaRPr lang="en-US"/>
          </a:p>
        </p:txBody>
      </p:sp>
      <p:grpSp>
        <p:nvGrpSpPr>
          <p:cNvPr id="2" name="Group 12"/>
          <p:cNvGrpSpPr>
            <a:grpSpLocks/>
          </p:cNvGrpSpPr>
          <p:nvPr/>
        </p:nvGrpSpPr>
        <p:grpSpPr bwMode="auto">
          <a:xfrm>
            <a:off x="4343400" y="2743200"/>
            <a:ext cx="228600" cy="228600"/>
            <a:chOff x="1968" y="1728"/>
            <a:chExt cx="144" cy="144"/>
          </a:xfrm>
        </p:grpSpPr>
        <p:sp>
          <p:nvSpPr>
            <p:cNvPr id="238599" name="Oval 5"/>
            <p:cNvSpPr>
              <a:spLocks noChangeArrowheads="1"/>
            </p:cNvSpPr>
            <p:nvPr/>
          </p:nvSpPr>
          <p:spPr bwMode="auto">
            <a:xfrm>
              <a:off x="1968" y="1728"/>
              <a:ext cx="144" cy="144"/>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38600" name="Line 6"/>
            <p:cNvSpPr>
              <a:spLocks noChangeShapeType="1"/>
            </p:cNvSpPr>
            <p:nvPr/>
          </p:nvSpPr>
          <p:spPr bwMode="auto">
            <a:xfrm>
              <a:off x="1986" y="1749"/>
              <a:ext cx="96" cy="96"/>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38601" name="Line 8"/>
            <p:cNvSpPr>
              <a:spLocks noChangeShapeType="1"/>
            </p:cNvSpPr>
            <p:nvPr/>
          </p:nvSpPr>
          <p:spPr bwMode="auto">
            <a:xfrm flipH="1">
              <a:off x="1989" y="1749"/>
              <a:ext cx="96" cy="96"/>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sp>
        <p:nvSpPr>
          <p:cNvPr id="238596" name="Oval 9"/>
          <p:cNvSpPr>
            <a:spLocks noChangeArrowheads="1"/>
          </p:cNvSpPr>
          <p:nvPr/>
        </p:nvSpPr>
        <p:spPr bwMode="auto">
          <a:xfrm>
            <a:off x="4495800" y="4052888"/>
            <a:ext cx="228600" cy="22860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38597" name="Line 10"/>
          <p:cNvSpPr>
            <a:spLocks noChangeShapeType="1"/>
          </p:cNvSpPr>
          <p:nvPr/>
        </p:nvSpPr>
        <p:spPr bwMode="auto">
          <a:xfrm>
            <a:off x="4524375" y="4086225"/>
            <a:ext cx="152400" cy="152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38598" name="Line 11"/>
          <p:cNvSpPr>
            <a:spLocks noChangeShapeType="1"/>
          </p:cNvSpPr>
          <p:nvPr/>
        </p:nvSpPr>
        <p:spPr bwMode="auto">
          <a:xfrm flipH="1">
            <a:off x="4529138" y="4086225"/>
            <a:ext cx="152400" cy="152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43311519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a:t>Transforming Infix Expression into Postfix Expression</a:t>
            </a:r>
          </a:p>
          <a:p>
            <a:pPr eaLnBrk="1" hangingPunct="1"/>
            <a:r>
              <a:rPr lang="en-US"/>
              <a:t>The algorithm uses a stack to temporarily hold operators and left parentheses. The postfix expression P will be constructed from left to right using operands from Q and operators which are removed from STACK. The algorithm begins by </a:t>
            </a:r>
            <a:r>
              <a:rPr lang="en-US" b="1"/>
              <a:t>pushing a left parentheses onto stack and adding a right parentheses at the end of Q</a:t>
            </a:r>
          </a:p>
          <a:p>
            <a:pPr eaLnBrk="1" hangingPunct="1"/>
            <a:r>
              <a:rPr lang="en-US"/>
              <a:t>Algorithm:[Reverse Polish] POSTFIX (Q, P)</a:t>
            </a:r>
          </a:p>
          <a:p>
            <a:pPr eaLnBrk="1" hangingPunct="1">
              <a:buFontTx/>
              <a:buNone/>
            </a:pPr>
            <a:r>
              <a:rPr lang="en-US"/>
              <a:t>                      Suppose Q is an arithmetic expression written in infix</a:t>
            </a:r>
          </a:p>
          <a:p>
            <a:pPr eaLnBrk="1" hangingPunct="1">
              <a:buFontTx/>
              <a:buNone/>
            </a:pPr>
            <a:r>
              <a:rPr lang="en-US"/>
              <a:t>                      notation. This algorithm finds the equivalent postfix</a:t>
            </a:r>
          </a:p>
          <a:p>
            <a:pPr eaLnBrk="1" hangingPunct="1">
              <a:buFontTx/>
              <a:buNone/>
            </a:pPr>
            <a:r>
              <a:rPr lang="en-US"/>
              <a:t>                      expression P</a:t>
            </a:r>
          </a:p>
          <a:p>
            <a:pPr eaLnBrk="1" hangingPunct="1">
              <a:buFontTx/>
              <a:buNone/>
            </a:pPr>
            <a:r>
              <a:rPr lang="en-US"/>
              <a:t>Step 1: Push  “(“ on to the STACK and add “)” to the end of Q</a:t>
            </a:r>
          </a:p>
          <a:p>
            <a:pPr eaLnBrk="1" hangingPunct="1">
              <a:buFontTx/>
              <a:buNone/>
            </a:pPr>
            <a:r>
              <a:rPr lang="en-US"/>
              <a:t>Step 2: Scan Q from left to right and repeat step 3 to 6 for each element</a:t>
            </a:r>
          </a:p>
          <a:p>
            <a:pPr eaLnBrk="1" hangingPunct="1">
              <a:buFontTx/>
              <a:buNone/>
            </a:pPr>
            <a:r>
              <a:rPr lang="en-US"/>
              <a:t>            of Q until the STACK is empty </a:t>
            </a:r>
          </a:p>
          <a:p>
            <a:pPr eaLnBrk="1" hangingPunct="1">
              <a:buFontTx/>
              <a:buNone/>
            </a:pPr>
            <a:r>
              <a:rPr lang="en-US"/>
              <a:t>Step 3: If an operand is encountered, add it to P</a:t>
            </a:r>
          </a:p>
          <a:p>
            <a:pPr eaLnBrk="1" hangingPunct="1">
              <a:buFontTx/>
              <a:buNone/>
            </a:pPr>
            <a:r>
              <a:rPr lang="en-US"/>
              <a:t>Step 4: If left parentheses is encountered, add it to STACK</a:t>
            </a:r>
          </a:p>
          <a:p>
            <a:pPr eaLnBrk="1" hangingPunct="1"/>
            <a:endParaRPr lang="en-US"/>
          </a:p>
        </p:txBody>
      </p:sp>
    </p:spTree>
    <p:extLst>
      <p:ext uri="{BB962C8B-B14F-4D97-AF65-F5344CB8AC3E}">
        <p14:creationId xmlns:p14="http://schemas.microsoft.com/office/powerpoint/2010/main" val="429110471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3"/>
          <p:cNvSpPr>
            <a:spLocks noGrp="1" noChangeArrowheads="1"/>
          </p:cNvSpPr>
          <p:nvPr>
            <p:ph type="body" idx="1"/>
          </p:nvPr>
        </p:nvSpPr>
        <p:spPr>
          <a:xfrm>
            <a:off x="1524000" y="0"/>
            <a:ext cx="9144000" cy="6858000"/>
          </a:xfrm>
        </p:spPr>
        <p:txBody>
          <a:bodyPr/>
          <a:lstStyle/>
          <a:p>
            <a:pPr eaLnBrk="1" hangingPunct="1">
              <a:buFontTx/>
              <a:buNone/>
            </a:pPr>
            <a:r>
              <a:rPr lang="en-US"/>
              <a:t>Step 5: If an operator         is encountered, then:</a:t>
            </a:r>
          </a:p>
          <a:p>
            <a:pPr eaLnBrk="1" hangingPunct="1">
              <a:buFontTx/>
              <a:buNone/>
            </a:pPr>
            <a:r>
              <a:rPr lang="en-US"/>
              <a:t>            (a) Repeatedly pop from STACK and add to P each operator</a:t>
            </a:r>
          </a:p>
          <a:p>
            <a:pPr eaLnBrk="1" hangingPunct="1">
              <a:buFontTx/>
              <a:buNone/>
            </a:pPr>
            <a:r>
              <a:rPr lang="en-US"/>
              <a:t>                 which has same precedence or higher precedence than        </a:t>
            </a:r>
          </a:p>
          <a:p>
            <a:pPr eaLnBrk="1" hangingPunct="1">
              <a:buFontTx/>
              <a:buNone/>
            </a:pPr>
            <a:r>
              <a:rPr lang="en-US"/>
              <a:t>             (b) Add       to STACK</a:t>
            </a:r>
          </a:p>
          <a:p>
            <a:pPr eaLnBrk="1" hangingPunct="1">
              <a:buFontTx/>
              <a:buNone/>
            </a:pPr>
            <a:r>
              <a:rPr lang="en-US"/>
              <a:t>Step 6: If a right parentheses is encountered , then:</a:t>
            </a:r>
          </a:p>
          <a:p>
            <a:pPr eaLnBrk="1" hangingPunct="1">
              <a:buFontTx/>
              <a:buNone/>
            </a:pPr>
            <a:r>
              <a:rPr lang="en-US"/>
              <a:t>            (a) Repeatedly pop from STACK and add to P each operator until</a:t>
            </a:r>
          </a:p>
          <a:p>
            <a:pPr eaLnBrk="1" hangingPunct="1">
              <a:buFontTx/>
              <a:buNone/>
            </a:pPr>
            <a:r>
              <a:rPr lang="en-US"/>
              <a:t>                 a left parentheses is encountered</a:t>
            </a:r>
          </a:p>
          <a:p>
            <a:pPr eaLnBrk="1" hangingPunct="1">
              <a:buFontTx/>
              <a:buNone/>
            </a:pPr>
            <a:r>
              <a:rPr lang="en-US"/>
              <a:t>           (b) Remove the left parentheses   </a:t>
            </a:r>
          </a:p>
          <a:p>
            <a:pPr eaLnBrk="1" hangingPunct="1">
              <a:buFontTx/>
              <a:buNone/>
            </a:pPr>
            <a:r>
              <a:rPr lang="en-US"/>
              <a:t>           [End of Step 2 Loop]</a:t>
            </a:r>
          </a:p>
          <a:p>
            <a:pPr eaLnBrk="1" hangingPunct="1">
              <a:buFontTx/>
              <a:buNone/>
            </a:pPr>
            <a:r>
              <a:rPr lang="en-US"/>
              <a:t>Step 7: Exit</a:t>
            </a:r>
          </a:p>
          <a:p>
            <a:pPr eaLnBrk="1" hangingPunct="1">
              <a:buFontTx/>
              <a:buNone/>
            </a:pPr>
            <a:endParaRPr lang="en-US"/>
          </a:p>
          <a:p>
            <a:pPr eaLnBrk="1" hangingPunct="1">
              <a:buFontTx/>
              <a:buNone/>
            </a:pPr>
            <a:endParaRPr lang="en-US"/>
          </a:p>
        </p:txBody>
      </p:sp>
      <p:grpSp>
        <p:nvGrpSpPr>
          <p:cNvPr id="2" name="Group 7"/>
          <p:cNvGrpSpPr>
            <a:grpSpLocks/>
          </p:cNvGrpSpPr>
          <p:nvPr/>
        </p:nvGrpSpPr>
        <p:grpSpPr bwMode="auto">
          <a:xfrm>
            <a:off x="4376739" y="152400"/>
            <a:ext cx="242887" cy="228600"/>
            <a:chOff x="1815" y="96"/>
            <a:chExt cx="153" cy="144"/>
          </a:xfrm>
        </p:grpSpPr>
        <p:sp>
          <p:nvSpPr>
            <p:cNvPr id="240652" name="Oval 4"/>
            <p:cNvSpPr>
              <a:spLocks noChangeArrowheads="1"/>
            </p:cNvSpPr>
            <p:nvPr/>
          </p:nvSpPr>
          <p:spPr bwMode="auto">
            <a:xfrm>
              <a:off x="1824" y="96"/>
              <a:ext cx="144" cy="144"/>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0653" name="Line 5"/>
            <p:cNvSpPr>
              <a:spLocks noChangeShapeType="1"/>
            </p:cNvSpPr>
            <p:nvPr/>
          </p:nvSpPr>
          <p:spPr bwMode="auto">
            <a:xfrm>
              <a:off x="1824" y="96"/>
              <a:ext cx="144" cy="14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0654" name="Line 6"/>
            <p:cNvSpPr>
              <a:spLocks noChangeShapeType="1"/>
            </p:cNvSpPr>
            <p:nvPr/>
          </p:nvSpPr>
          <p:spPr bwMode="auto">
            <a:xfrm flipV="1">
              <a:off x="1815" y="123"/>
              <a:ext cx="144" cy="96"/>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grpSp>
        <p:nvGrpSpPr>
          <p:cNvPr id="3" name="Group 8"/>
          <p:cNvGrpSpPr>
            <a:grpSpLocks/>
          </p:cNvGrpSpPr>
          <p:nvPr/>
        </p:nvGrpSpPr>
        <p:grpSpPr bwMode="auto">
          <a:xfrm>
            <a:off x="9586914" y="990600"/>
            <a:ext cx="242887" cy="228600"/>
            <a:chOff x="1815" y="96"/>
            <a:chExt cx="153" cy="144"/>
          </a:xfrm>
        </p:grpSpPr>
        <p:sp>
          <p:nvSpPr>
            <p:cNvPr id="240649" name="Oval 9"/>
            <p:cNvSpPr>
              <a:spLocks noChangeArrowheads="1"/>
            </p:cNvSpPr>
            <p:nvPr/>
          </p:nvSpPr>
          <p:spPr bwMode="auto">
            <a:xfrm>
              <a:off x="1824" y="96"/>
              <a:ext cx="144" cy="144"/>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0650" name="Line 10"/>
            <p:cNvSpPr>
              <a:spLocks noChangeShapeType="1"/>
            </p:cNvSpPr>
            <p:nvPr/>
          </p:nvSpPr>
          <p:spPr bwMode="auto">
            <a:xfrm>
              <a:off x="1824" y="96"/>
              <a:ext cx="144" cy="14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0651" name="Line 11"/>
            <p:cNvSpPr>
              <a:spLocks noChangeShapeType="1"/>
            </p:cNvSpPr>
            <p:nvPr/>
          </p:nvSpPr>
          <p:spPr bwMode="auto">
            <a:xfrm flipV="1">
              <a:off x="1815" y="123"/>
              <a:ext cx="144" cy="96"/>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grpSp>
        <p:nvGrpSpPr>
          <p:cNvPr id="4" name="Group 12"/>
          <p:cNvGrpSpPr>
            <a:grpSpLocks/>
          </p:cNvGrpSpPr>
          <p:nvPr/>
        </p:nvGrpSpPr>
        <p:grpSpPr bwMode="auto">
          <a:xfrm>
            <a:off x="3690939" y="1428750"/>
            <a:ext cx="242887" cy="228600"/>
            <a:chOff x="1815" y="96"/>
            <a:chExt cx="153" cy="144"/>
          </a:xfrm>
        </p:grpSpPr>
        <p:sp>
          <p:nvSpPr>
            <p:cNvPr id="240646" name="Oval 13"/>
            <p:cNvSpPr>
              <a:spLocks noChangeArrowheads="1"/>
            </p:cNvSpPr>
            <p:nvPr/>
          </p:nvSpPr>
          <p:spPr bwMode="auto">
            <a:xfrm>
              <a:off x="1824" y="96"/>
              <a:ext cx="144" cy="144"/>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0647" name="Line 14"/>
            <p:cNvSpPr>
              <a:spLocks noChangeShapeType="1"/>
            </p:cNvSpPr>
            <p:nvPr/>
          </p:nvSpPr>
          <p:spPr bwMode="auto">
            <a:xfrm>
              <a:off x="1824" y="96"/>
              <a:ext cx="144" cy="144"/>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0648" name="Line 15"/>
            <p:cNvSpPr>
              <a:spLocks noChangeShapeType="1"/>
            </p:cNvSpPr>
            <p:nvPr/>
          </p:nvSpPr>
          <p:spPr bwMode="auto">
            <a:xfrm flipV="1">
              <a:off x="1815" y="123"/>
              <a:ext cx="144" cy="96"/>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spTree>
    <p:extLst>
      <p:ext uri="{BB962C8B-B14F-4D97-AF65-F5344CB8AC3E}">
        <p14:creationId xmlns:p14="http://schemas.microsoft.com/office/powerpoint/2010/main" val="161829886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3"/>
          <p:cNvSpPr>
            <a:spLocks noGrp="1" noChangeArrowheads="1"/>
          </p:cNvSpPr>
          <p:nvPr>
            <p:ph type="body" idx="1"/>
          </p:nvPr>
        </p:nvSpPr>
        <p:spPr>
          <a:xfrm>
            <a:off x="1524000" y="0"/>
            <a:ext cx="9144000" cy="6858000"/>
          </a:xfrm>
        </p:spPr>
        <p:txBody>
          <a:bodyPr/>
          <a:lstStyle/>
          <a:p>
            <a:pPr eaLnBrk="1" hangingPunct="1">
              <a:lnSpc>
                <a:spcPct val="80000"/>
              </a:lnSpc>
            </a:pPr>
            <a:r>
              <a:rPr lang="en-US" sz="1800" dirty="0"/>
              <a:t>Example: Convert  Q=A+(B*C) / D)  to its corresponding postfix form</a:t>
            </a:r>
          </a:p>
          <a:p>
            <a:pPr eaLnBrk="1" hangingPunct="1">
              <a:lnSpc>
                <a:spcPct val="80000"/>
              </a:lnSpc>
            </a:pPr>
            <a:r>
              <a:rPr lang="en-US" sz="1800" dirty="0"/>
              <a:t>Solution:  put “)” at the end of  Q and put “(“ on stack</a:t>
            </a:r>
          </a:p>
          <a:p>
            <a:pPr eaLnBrk="1" hangingPunct="1">
              <a:lnSpc>
                <a:spcPct val="80000"/>
              </a:lnSpc>
            </a:pPr>
            <a:r>
              <a:rPr lang="en-US" sz="1800" dirty="0"/>
              <a:t>Starting from left:  Operand A , put it on P </a:t>
            </a:r>
          </a:p>
          <a:p>
            <a:pPr eaLnBrk="1" hangingPunct="1">
              <a:lnSpc>
                <a:spcPct val="80000"/>
              </a:lnSpc>
            </a:pPr>
            <a:r>
              <a:rPr lang="en-US" sz="1800" dirty="0"/>
              <a:t>                               Operator +        move to stack as no operator there</a:t>
            </a:r>
          </a:p>
          <a:p>
            <a:pPr eaLnBrk="1" hangingPunct="1">
              <a:lnSpc>
                <a:spcPct val="80000"/>
              </a:lnSpc>
            </a:pPr>
            <a:r>
              <a:rPr lang="en-US" sz="1800" dirty="0"/>
              <a:t>                                 (                  move on stack</a:t>
            </a:r>
          </a:p>
          <a:p>
            <a:pPr eaLnBrk="1" hangingPunct="1">
              <a:lnSpc>
                <a:spcPct val="80000"/>
              </a:lnSpc>
            </a:pPr>
            <a:r>
              <a:rPr lang="en-US" sz="1800" dirty="0"/>
              <a:t>                              Operand B, put it on P</a:t>
            </a:r>
          </a:p>
          <a:p>
            <a:pPr eaLnBrk="1" hangingPunct="1">
              <a:lnSpc>
                <a:spcPct val="80000"/>
              </a:lnSpc>
            </a:pPr>
            <a:r>
              <a:rPr lang="en-US" sz="1800" dirty="0"/>
              <a:t>                              Operator * , move   to stack as no operator</a:t>
            </a:r>
          </a:p>
          <a:p>
            <a:pPr eaLnBrk="1" hangingPunct="1">
              <a:lnSpc>
                <a:spcPct val="80000"/>
              </a:lnSpc>
            </a:pPr>
            <a:r>
              <a:rPr lang="en-US" sz="1800" dirty="0"/>
              <a:t>                              Operand C , move to P</a:t>
            </a:r>
          </a:p>
          <a:p>
            <a:pPr eaLnBrk="1" hangingPunct="1">
              <a:lnSpc>
                <a:spcPct val="80000"/>
              </a:lnSpc>
            </a:pPr>
            <a:r>
              <a:rPr lang="en-US" sz="1800" dirty="0"/>
              <a:t>                              )     , pop from stack and put on P until “ (“ is encountered. </a:t>
            </a:r>
          </a:p>
          <a:p>
            <a:pPr eaLnBrk="1" hangingPunct="1">
              <a:lnSpc>
                <a:spcPct val="80000"/>
              </a:lnSpc>
            </a:pPr>
            <a:r>
              <a:rPr lang="en-US" sz="1800" dirty="0"/>
              <a:t>                            Pop “(“  also </a:t>
            </a:r>
          </a:p>
          <a:p>
            <a:pPr eaLnBrk="1" hangingPunct="1">
              <a:lnSpc>
                <a:spcPct val="80000"/>
              </a:lnSpc>
            </a:pPr>
            <a:r>
              <a:rPr lang="en-US" sz="1800" dirty="0"/>
              <a:t>                             operator /,  as precedence of / is higher than + on stack, no pop</a:t>
            </a:r>
          </a:p>
          <a:p>
            <a:pPr eaLnBrk="1" hangingPunct="1">
              <a:lnSpc>
                <a:spcPct val="80000"/>
              </a:lnSpc>
            </a:pPr>
            <a:r>
              <a:rPr lang="en-US" sz="1800" dirty="0"/>
              <a:t>                             possible. Push / on stack</a:t>
            </a:r>
          </a:p>
          <a:p>
            <a:pPr eaLnBrk="1" hangingPunct="1">
              <a:lnSpc>
                <a:spcPct val="80000"/>
              </a:lnSpc>
            </a:pPr>
            <a:r>
              <a:rPr lang="en-US" sz="1800" dirty="0"/>
              <a:t>                            Operand D , put it on P</a:t>
            </a:r>
          </a:p>
          <a:p>
            <a:pPr eaLnBrk="1" hangingPunct="1">
              <a:lnSpc>
                <a:spcPct val="80000"/>
              </a:lnSpc>
            </a:pPr>
            <a:r>
              <a:rPr lang="en-US" sz="1800" dirty="0"/>
              <a:t>                            Right parentheses ), Pop all the elements and add the P until  ( is encountered. Also remove ( from stack</a:t>
            </a:r>
          </a:p>
          <a:p>
            <a:pPr eaLnBrk="1" hangingPunct="1">
              <a:lnSpc>
                <a:spcPct val="80000"/>
              </a:lnSpc>
            </a:pPr>
            <a:endParaRPr lang="en-US" sz="1800" dirty="0"/>
          </a:p>
          <a:p>
            <a:pPr eaLnBrk="1" hangingPunct="1">
              <a:lnSpc>
                <a:spcPct val="80000"/>
              </a:lnSpc>
            </a:pPr>
            <a:endParaRPr lang="en-US" sz="1800" dirty="0"/>
          </a:p>
          <a:p>
            <a:pPr eaLnBrk="1" hangingPunct="1">
              <a:lnSpc>
                <a:spcPct val="80000"/>
              </a:lnSpc>
            </a:pPr>
            <a:endParaRPr lang="en-US" sz="1800" dirty="0"/>
          </a:p>
          <a:p>
            <a:pPr eaLnBrk="1" hangingPunct="1">
              <a:lnSpc>
                <a:spcPct val="80000"/>
              </a:lnSpc>
            </a:pPr>
            <a:endParaRPr lang="en-US" sz="1800" dirty="0"/>
          </a:p>
          <a:p>
            <a:pPr eaLnBrk="1" hangingPunct="1">
              <a:lnSpc>
                <a:spcPct val="80000"/>
              </a:lnSpc>
            </a:pPr>
            <a:endParaRPr lang="en-US" sz="1800" dirty="0"/>
          </a:p>
          <a:p>
            <a:pPr eaLnBrk="1" hangingPunct="1">
              <a:lnSpc>
                <a:spcPct val="80000"/>
              </a:lnSpc>
            </a:pPr>
            <a:endParaRPr lang="en-US" sz="1800" dirty="0"/>
          </a:p>
          <a:p>
            <a:pPr eaLnBrk="1" hangingPunct="1">
              <a:lnSpc>
                <a:spcPct val="80000"/>
              </a:lnSpc>
            </a:pPr>
            <a:endParaRPr lang="en-US" sz="1800" dirty="0"/>
          </a:p>
          <a:p>
            <a:pPr eaLnBrk="1" hangingPunct="1">
              <a:lnSpc>
                <a:spcPct val="80000"/>
              </a:lnSpc>
            </a:pPr>
            <a:r>
              <a:rPr lang="en-US" sz="1800" dirty="0"/>
              <a:t>                                                  P= A  B C* D / +</a:t>
            </a:r>
          </a:p>
        </p:txBody>
      </p:sp>
      <p:sp>
        <p:nvSpPr>
          <p:cNvPr id="241667" name="Line 5"/>
          <p:cNvSpPr>
            <a:spLocks noChangeShapeType="1"/>
          </p:cNvSpPr>
          <p:nvPr/>
        </p:nvSpPr>
        <p:spPr bwMode="auto">
          <a:xfrm>
            <a:off x="1981200" y="6553200"/>
            <a:ext cx="533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68" name="Line 7"/>
          <p:cNvSpPr>
            <a:spLocks noChangeShapeType="1"/>
          </p:cNvSpPr>
          <p:nvPr/>
        </p:nvSpPr>
        <p:spPr bwMode="auto">
          <a:xfrm>
            <a:off x="1981200" y="6096000"/>
            <a:ext cx="533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69" name="Line 11"/>
          <p:cNvSpPr>
            <a:spLocks noChangeShapeType="1"/>
          </p:cNvSpPr>
          <p:nvPr/>
        </p:nvSpPr>
        <p:spPr bwMode="auto">
          <a:xfrm>
            <a:off x="1981200" y="5638800"/>
            <a:ext cx="533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70" name="Line 13"/>
          <p:cNvSpPr>
            <a:spLocks noChangeShapeType="1"/>
          </p:cNvSpPr>
          <p:nvPr/>
        </p:nvSpPr>
        <p:spPr bwMode="auto">
          <a:xfrm>
            <a:off x="1981200" y="5105400"/>
            <a:ext cx="533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71" name="Line 4"/>
          <p:cNvSpPr>
            <a:spLocks noChangeShapeType="1"/>
          </p:cNvSpPr>
          <p:nvPr/>
        </p:nvSpPr>
        <p:spPr bwMode="auto">
          <a:xfrm>
            <a:off x="1981200" y="4495800"/>
            <a:ext cx="0" cy="2057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72" name="Line 6"/>
          <p:cNvSpPr>
            <a:spLocks noChangeShapeType="1"/>
          </p:cNvSpPr>
          <p:nvPr/>
        </p:nvSpPr>
        <p:spPr bwMode="auto">
          <a:xfrm flipV="1">
            <a:off x="2514600" y="4495800"/>
            <a:ext cx="0" cy="2057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48488" name="Text Box 8"/>
          <p:cNvSpPr txBox="1">
            <a:spLocks noChangeArrowheads="1"/>
          </p:cNvSpPr>
          <p:nvPr/>
        </p:nvSpPr>
        <p:spPr bwMode="auto">
          <a:xfrm>
            <a:off x="1981200" y="5638800"/>
            <a:ext cx="533400" cy="457200"/>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a:t>
            </a:r>
          </a:p>
        </p:txBody>
      </p:sp>
      <p:sp>
        <p:nvSpPr>
          <p:cNvPr id="241674" name="Text Box 10"/>
          <p:cNvSpPr txBox="1">
            <a:spLocks noChangeArrowheads="1"/>
          </p:cNvSpPr>
          <p:nvPr/>
        </p:nvSpPr>
        <p:spPr bwMode="auto">
          <a:xfrm>
            <a:off x="1981200" y="6172201"/>
            <a:ext cx="533400" cy="396875"/>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a:ea typeface="+mn-ea"/>
                <a:cs typeface="+mn-cs"/>
              </a:rPr>
              <a:t>(</a:t>
            </a:r>
          </a:p>
        </p:txBody>
      </p:sp>
      <p:sp>
        <p:nvSpPr>
          <p:cNvPr id="148492" name="Text Box 12"/>
          <p:cNvSpPr txBox="1">
            <a:spLocks noChangeArrowheads="1"/>
          </p:cNvSpPr>
          <p:nvPr/>
        </p:nvSpPr>
        <p:spPr bwMode="auto">
          <a:xfrm>
            <a:off x="1981200" y="5181601"/>
            <a:ext cx="5334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a:t>
            </a:r>
          </a:p>
        </p:txBody>
      </p:sp>
      <p:sp>
        <p:nvSpPr>
          <p:cNvPr id="148494" name="Text Box 14"/>
          <p:cNvSpPr txBox="1">
            <a:spLocks noChangeArrowheads="1"/>
          </p:cNvSpPr>
          <p:nvPr/>
        </p:nvSpPr>
        <p:spPr bwMode="auto">
          <a:xfrm>
            <a:off x="1981200" y="4724401"/>
            <a:ext cx="5334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a:t>
            </a:r>
          </a:p>
        </p:txBody>
      </p:sp>
      <p:sp>
        <p:nvSpPr>
          <p:cNvPr id="241677" name="Line 23"/>
          <p:cNvSpPr>
            <a:spLocks noChangeShapeType="1"/>
          </p:cNvSpPr>
          <p:nvPr/>
        </p:nvSpPr>
        <p:spPr bwMode="auto">
          <a:xfrm>
            <a:off x="2819400" y="6553200"/>
            <a:ext cx="533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78" name="Line 17"/>
          <p:cNvSpPr>
            <a:spLocks noChangeShapeType="1"/>
          </p:cNvSpPr>
          <p:nvPr/>
        </p:nvSpPr>
        <p:spPr bwMode="auto">
          <a:xfrm>
            <a:off x="2819400" y="4648200"/>
            <a:ext cx="0" cy="1906588"/>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79" name="Line 18"/>
          <p:cNvSpPr>
            <a:spLocks noChangeShapeType="1"/>
          </p:cNvSpPr>
          <p:nvPr/>
        </p:nvSpPr>
        <p:spPr bwMode="auto">
          <a:xfrm flipV="1">
            <a:off x="3352800" y="4648200"/>
            <a:ext cx="0" cy="1906588"/>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nvGrpSpPr>
          <p:cNvPr id="2" name="Group 39"/>
          <p:cNvGrpSpPr>
            <a:grpSpLocks/>
          </p:cNvGrpSpPr>
          <p:nvPr/>
        </p:nvGrpSpPr>
        <p:grpSpPr bwMode="auto">
          <a:xfrm>
            <a:off x="2819400" y="4781551"/>
            <a:ext cx="533400" cy="1800225"/>
            <a:chOff x="816" y="3012"/>
            <a:chExt cx="336" cy="1134"/>
          </a:xfrm>
        </p:grpSpPr>
        <p:sp>
          <p:nvSpPr>
            <p:cNvPr id="241698" name="Text Box 19"/>
            <p:cNvSpPr txBox="1">
              <a:spLocks noChangeArrowheads="1"/>
            </p:cNvSpPr>
            <p:nvPr/>
          </p:nvSpPr>
          <p:spPr bwMode="auto">
            <a:xfrm>
              <a:off x="816" y="3570"/>
              <a:ext cx="336" cy="288"/>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a:t>
              </a:r>
            </a:p>
          </p:txBody>
        </p:sp>
        <p:sp>
          <p:nvSpPr>
            <p:cNvPr id="241699" name="Text Box 20"/>
            <p:cNvSpPr txBox="1">
              <a:spLocks noChangeArrowheads="1"/>
            </p:cNvSpPr>
            <p:nvPr/>
          </p:nvSpPr>
          <p:spPr bwMode="auto">
            <a:xfrm>
              <a:off x="816" y="3896"/>
              <a:ext cx="336" cy="250"/>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a:ea typeface="+mn-ea"/>
                  <a:cs typeface="+mn-cs"/>
                </a:rPr>
                <a:t>(</a:t>
              </a:r>
            </a:p>
          </p:txBody>
        </p:sp>
        <p:sp>
          <p:nvSpPr>
            <p:cNvPr id="241700" name="Text Box 21"/>
            <p:cNvSpPr txBox="1">
              <a:spLocks noChangeArrowheads="1"/>
            </p:cNvSpPr>
            <p:nvPr/>
          </p:nvSpPr>
          <p:spPr bwMode="auto">
            <a:xfrm>
              <a:off x="816" y="3291"/>
              <a:ext cx="336" cy="2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701" name="Text Box 22"/>
            <p:cNvSpPr txBox="1">
              <a:spLocks noChangeArrowheads="1"/>
            </p:cNvSpPr>
            <p:nvPr/>
          </p:nvSpPr>
          <p:spPr bwMode="auto">
            <a:xfrm>
              <a:off x="816" y="3012"/>
              <a:ext cx="336" cy="2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sp>
        <p:nvSpPr>
          <p:cNvPr id="241681" name="Line 24"/>
          <p:cNvSpPr>
            <a:spLocks noChangeShapeType="1"/>
          </p:cNvSpPr>
          <p:nvPr/>
        </p:nvSpPr>
        <p:spPr bwMode="auto">
          <a:xfrm>
            <a:off x="2819400" y="6096000"/>
            <a:ext cx="533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82" name="Line 25"/>
          <p:cNvSpPr>
            <a:spLocks noChangeShapeType="1"/>
          </p:cNvSpPr>
          <p:nvPr/>
        </p:nvSpPr>
        <p:spPr bwMode="auto">
          <a:xfrm>
            <a:off x="2819400" y="5715000"/>
            <a:ext cx="533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83" name="Line 29"/>
          <p:cNvSpPr>
            <a:spLocks noChangeShapeType="1"/>
          </p:cNvSpPr>
          <p:nvPr/>
        </p:nvSpPr>
        <p:spPr bwMode="auto">
          <a:xfrm>
            <a:off x="3429000" y="4648200"/>
            <a:ext cx="0" cy="1905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84" name="Line 30"/>
          <p:cNvSpPr>
            <a:spLocks noChangeShapeType="1"/>
          </p:cNvSpPr>
          <p:nvPr/>
        </p:nvSpPr>
        <p:spPr bwMode="auto">
          <a:xfrm flipV="1">
            <a:off x="3962400" y="4648200"/>
            <a:ext cx="0" cy="1905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nvGrpSpPr>
          <p:cNvPr id="3" name="Group 41"/>
          <p:cNvGrpSpPr>
            <a:grpSpLocks/>
          </p:cNvGrpSpPr>
          <p:nvPr/>
        </p:nvGrpSpPr>
        <p:grpSpPr bwMode="auto">
          <a:xfrm>
            <a:off x="3429000" y="4708526"/>
            <a:ext cx="533400" cy="1844675"/>
            <a:chOff x="1200" y="2966"/>
            <a:chExt cx="336" cy="1162"/>
          </a:xfrm>
        </p:grpSpPr>
        <p:grpSp>
          <p:nvGrpSpPr>
            <p:cNvPr id="4" name="Group 40"/>
            <p:cNvGrpSpPr>
              <a:grpSpLocks/>
            </p:cNvGrpSpPr>
            <p:nvPr/>
          </p:nvGrpSpPr>
          <p:grpSpPr bwMode="auto">
            <a:xfrm>
              <a:off x="1200" y="2966"/>
              <a:ext cx="336" cy="1162"/>
              <a:chOff x="1200" y="2976"/>
              <a:chExt cx="336" cy="1162"/>
            </a:xfrm>
          </p:grpSpPr>
          <p:sp>
            <p:nvSpPr>
              <p:cNvPr id="241691" name="Text Box 31"/>
              <p:cNvSpPr txBox="1">
                <a:spLocks noChangeArrowheads="1"/>
              </p:cNvSpPr>
              <p:nvPr/>
            </p:nvSpPr>
            <p:spPr bwMode="auto">
              <a:xfrm>
                <a:off x="1200" y="3552"/>
                <a:ext cx="336" cy="288"/>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a:t>
                </a:r>
              </a:p>
            </p:txBody>
          </p:sp>
          <p:sp>
            <p:nvSpPr>
              <p:cNvPr id="241692" name="Text Box 32"/>
              <p:cNvSpPr txBox="1">
                <a:spLocks noChangeArrowheads="1"/>
              </p:cNvSpPr>
              <p:nvPr/>
            </p:nvSpPr>
            <p:spPr bwMode="auto">
              <a:xfrm>
                <a:off x="1200" y="3888"/>
                <a:ext cx="336" cy="250"/>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a:ea typeface="+mn-ea"/>
                    <a:cs typeface="+mn-cs"/>
                  </a:rPr>
                  <a:t>(</a:t>
                </a:r>
              </a:p>
            </p:txBody>
          </p:sp>
          <p:sp>
            <p:nvSpPr>
              <p:cNvPr id="241693" name="Text Box 33"/>
              <p:cNvSpPr txBox="1">
                <a:spLocks noChangeArrowheads="1"/>
              </p:cNvSpPr>
              <p:nvPr/>
            </p:nvSpPr>
            <p:spPr bwMode="auto">
              <a:xfrm>
                <a:off x="1200" y="3264"/>
                <a:ext cx="336" cy="2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94" name="Text Box 34"/>
              <p:cNvSpPr txBox="1">
                <a:spLocks noChangeArrowheads="1"/>
              </p:cNvSpPr>
              <p:nvPr/>
            </p:nvSpPr>
            <p:spPr bwMode="auto">
              <a:xfrm>
                <a:off x="1200" y="2976"/>
                <a:ext cx="336" cy="2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95" name="Line 35"/>
              <p:cNvSpPr>
                <a:spLocks noChangeShapeType="1"/>
              </p:cNvSpPr>
              <p:nvPr/>
            </p:nvSpPr>
            <p:spPr bwMode="auto">
              <a:xfrm>
                <a:off x="1200" y="3840"/>
                <a:ext cx="336"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96" name="Line 36"/>
              <p:cNvSpPr>
                <a:spLocks noChangeShapeType="1"/>
              </p:cNvSpPr>
              <p:nvPr/>
            </p:nvSpPr>
            <p:spPr bwMode="auto">
              <a:xfrm>
                <a:off x="1200" y="3600"/>
                <a:ext cx="336"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97" name="Line 37"/>
              <p:cNvSpPr>
                <a:spLocks noChangeShapeType="1"/>
              </p:cNvSpPr>
              <p:nvPr/>
            </p:nvSpPr>
            <p:spPr bwMode="auto">
              <a:xfrm>
                <a:off x="1200" y="4128"/>
                <a:ext cx="336"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grpSp>
        <p:sp>
          <p:nvSpPr>
            <p:cNvPr id="241690" name="Text Box 38"/>
            <p:cNvSpPr txBox="1">
              <a:spLocks noChangeArrowheads="1"/>
            </p:cNvSpPr>
            <p:nvPr/>
          </p:nvSpPr>
          <p:spPr bwMode="auto">
            <a:xfrm>
              <a:off x="1200" y="3312"/>
              <a:ext cx="336" cy="231"/>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a:t>
              </a:r>
            </a:p>
          </p:txBody>
        </p:sp>
      </p:grpSp>
      <p:sp>
        <p:nvSpPr>
          <p:cNvPr id="241686" name="Line 42"/>
          <p:cNvSpPr>
            <a:spLocks noChangeShapeType="1"/>
          </p:cNvSpPr>
          <p:nvPr/>
        </p:nvSpPr>
        <p:spPr bwMode="auto">
          <a:xfrm>
            <a:off x="4114800" y="4648200"/>
            <a:ext cx="0" cy="1905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87" name="Line 43"/>
          <p:cNvSpPr>
            <a:spLocks noChangeShapeType="1"/>
          </p:cNvSpPr>
          <p:nvPr/>
        </p:nvSpPr>
        <p:spPr bwMode="auto">
          <a:xfrm>
            <a:off x="4114800" y="6553200"/>
            <a:ext cx="5334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41688" name="Line 44"/>
          <p:cNvSpPr>
            <a:spLocks noChangeShapeType="1"/>
          </p:cNvSpPr>
          <p:nvPr/>
        </p:nvSpPr>
        <p:spPr bwMode="auto">
          <a:xfrm flipV="1">
            <a:off x="4648200" y="4648200"/>
            <a:ext cx="0" cy="1905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620685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84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84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84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1800"/>
                                  </p:iterate>
                                  <p:childTnLst>
                                    <p:set>
                                      <p:cBhvr>
                                        <p:cTn id="26" dur="1" fill="hold">
                                          <p:stCondLst>
                                            <p:cond delay="0"/>
                                          </p:stCondLst>
                                        </p:cTn>
                                        <p:tgtEl>
                                          <p:spTgt spid="148483">
                                            <p:txEl>
                                              <p:pRg st="21" end="2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8483">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8483">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8483">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8483">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8483">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8483">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8483">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8483">
                                            <p:txEl>
                                              <p:pRg st="8" end="8"/>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8483">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8483">
                                            <p:txEl>
                                              <p:pRg st="10" end="1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8483">
                                            <p:txEl>
                                              <p:pRg st="11" end="1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48483">
                                            <p:txEl>
                                              <p:pRg st="12" end="1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4848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8" grpId="0"/>
      <p:bldP spid="148492" grpId="0"/>
      <p:bldP spid="148494"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9144000" cy="762000"/>
          </a:xfrm>
        </p:spPr>
        <p:txBody>
          <a:bodyPr/>
          <a:lstStyle/>
          <a:p>
            <a:r>
              <a:rPr lang="en-US" dirty="0"/>
              <a:t>Q=A+(B*C) / D))</a:t>
            </a:r>
          </a:p>
        </p:txBody>
      </p:sp>
      <p:sp>
        <p:nvSpPr>
          <p:cNvPr id="3" name="Content Placeholder 2"/>
          <p:cNvSpPr>
            <a:spLocks noGrp="1"/>
          </p:cNvSpPr>
          <p:nvPr>
            <p:ph idx="1"/>
          </p:nvPr>
        </p:nvSpPr>
        <p:spPr>
          <a:xfrm>
            <a:off x="1524000" y="609600"/>
            <a:ext cx="9144000" cy="6248400"/>
          </a:xfrm>
        </p:spPr>
        <p:txBody>
          <a:bodyPr/>
          <a:lstStyle/>
          <a:p>
            <a:r>
              <a:rPr lang="en-US" dirty="0"/>
              <a:t>Symbol		Stack		Expression</a:t>
            </a:r>
          </a:p>
          <a:p>
            <a:pPr>
              <a:buNone/>
            </a:pPr>
            <a:r>
              <a:rPr lang="en-US" dirty="0"/>
              <a:t>                                     (</a:t>
            </a:r>
          </a:p>
          <a:p>
            <a:pPr>
              <a:buNone/>
            </a:pPr>
            <a:r>
              <a:rPr lang="en-US" dirty="0"/>
              <a:t>      A                                                     </a:t>
            </a:r>
            <a:r>
              <a:rPr lang="en-US" dirty="0" err="1"/>
              <a:t>A</a:t>
            </a:r>
            <a:endParaRPr lang="en-US" dirty="0"/>
          </a:p>
          <a:p>
            <a:pPr>
              <a:buNone/>
            </a:pPr>
            <a:r>
              <a:rPr lang="en-US" dirty="0"/>
              <a:t>      +                            (+                      A</a:t>
            </a:r>
          </a:p>
          <a:p>
            <a:pPr>
              <a:buNone/>
            </a:pPr>
            <a:r>
              <a:rPr lang="en-US" dirty="0"/>
              <a:t>      (                            (+ (                     A</a:t>
            </a:r>
          </a:p>
          <a:p>
            <a:pPr>
              <a:buNone/>
            </a:pPr>
            <a:r>
              <a:rPr lang="en-US" dirty="0"/>
              <a:t>      B                                                      AB  </a:t>
            </a:r>
          </a:p>
          <a:p>
            <a:pPr>
              <a:buNone/>
            </a:pPr>
            <a:r>
              <a:rPr lang="en-US" dirty="0"/>
              <a:t>      *                            (+(*                    AB</a:t>
            </a:r>
          </a:p>
          <a:p>
            <a:pPr>
              <a:buNone/>
            </a:pPr>
            <a:r>
              <a:rPr lang="en-US" dirty="0"/>
              <a:t>      C                           (+ ( *                  ABC</a:t>
            </a:r>
          </a:p>
          <a:p>
            <a:pPr>
              <a:buNone/>
            </a:pPr>
            <a:r>
              <a:rPr lang="en-US" dirty="0"/>
              <a:t>      )                             (+ ( *                 ABC * </a:t>
            </a:r>
          </a:p>
          <a:p>
            <a:pPr>
              <a:buNone/>
            </a:pPr>
            <a:r>
              <a:rPr lang="en-US" dirty="0"/>
              <a:t>     /                              ( + /                    ABC *</a:t>
            </a:r>
          </a:p>
          <a:p>
            <a:pPr>
              <a:buNone/>
            </a:pPr>
            <a:r>
              <a:rPr lang="en-US" dirty="0"/>
              <a:t>     D                                                       ABC * D</a:t>
            </a:r>
          </a:p>
          <a:p>
            <a:pPr>
              <a:buNone/>
            </a:pPr>
            <a:r>
              <a:rPr lang="en-US" dirty="0"/>
              <a:t>     )                           ( + /                       ABC * D / +</a:t>
            </a:r>
          </a:p>
          <a:p>
            <a:pPr>
              <a:buNone/>
            </a:pPr>
            <a:r>
              <a:rPr lang="en-US" dirty="0"/>
              <a:t>     )                                                         </a:t>
            </a:r>
            <a:r>
              <a:rPr lang="en-US" b="1" dirty="0"/>
              <a:t>ABC * D / +         </a:t>
            </a:r>
          </a:p>
        </p:txBody>
      </p:sp>
      <p:cxnSp>
        <p:nvCxnSpPr>
          <p:cNvPr id="5" name="Straight Connector 4"/>
          <p:cNvCxnSpPr/>
          <p:nvPr/>
        </p:nvCxnSpPr>
        <p:spPr>
          <a:xfrm flipV="1">
            <a:off x="4572000" y="4267200"/>
            <a:ext cx="381000" cy="304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4191000" y="5486400"/>
            <a:ext cx="5334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861781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2690" name="Rectangle 2"/>
          <p:cNvSpPr>
            <a:spLocks noGrp="1" noChangeArrowheads="1"/>
          </p:cNvSpPr>
          <p:nvPr>
            <p:ph type="body" idx="1"/>
          </p:nvPr>
        </p:nvSpPr>
        <p:spPr>
          <a:xfrm>
            <a:off x="1524000" y="0"/>
            <a:ext cx="9144000" cy="6858000"/>
          </a:xfrm>
        </p:spPr>
        <p:txBody>
          <a:bodyPr/>
          <a:lstStyle/>
          <a:p>
            <a:pPr algn="ctr" eaLnBrk="1" hangingPunct="1">
              <a:lnSpc>
                <a:spcPct val="90000"/>
              </a:lnSpc>
              <a:buFontTx/>
              <a:buNone/>
            </a:pPr>
            <a:r>
              <a:rPr lang="en-US" b="1" dirty="0"/>
              <a:t>Transforming Infix Expression into Prefix Expression</a:t>
            </a:r>
          </a:p>
          <a:p>
            <a:pPr eaLnBrk="1" hangingPunct="1">
              <a:lnSpc>
                <a:spcPct val="90000"/>
              </a:lnSpc>
            </a:pPr>
            <a:r>
              <a:rPr lang="en-US" dirty="0"/>
              <a:t>Algorithm: [Polish Notation] PREFIX (Q, P)</a:t>
            </a:r>
          </a:p>
          <a:p>
            <a:pPr eaLnBrk="1" hangingPunct="1">
              <a:lnSpc>
                <a:spcPct val="90000"/>
              </a:lnSpc>
              <a:buFontTx/>
              <a:buNone/>
            </a:pPr>
            <a:r>
              <a:rPr lang="en-US" dirty="0"/>
              <a:t>                      Suppose Q is an arithmetic expression written in infix</a:t>
            </a:r>
          </a:p>
          <a:p>
            <a:pPr eaLnBrk="1" hangingPunct="1">
              <a:lnSpc>
                <a:spcPct val="90000"/>
              </a:lnSpc>
              <a:buFontTx/>
              <a:buNone/>
            </a:pPr>
            <a:r>
              <a:rPr lang="en-US" dirty="0"/>
              <a:t>                      notation. This algorithm finds the equivalent prefix</a:t>
            </a:r>
          </a:p>
          <a:p>
            <a:pPr eaLnBrk="1" hangingPunct="1">
              <a:lnSpc>
                <a:spcPct val="90000"/>
              </a:lnSpc>
              <a:buFontTx/>
              <a:buNone/>
            </a:pPr>
            <a:r>
              <a:rPr lang="en-US" dirty="0"/>
              <a:t>                      expression P</a:t>
            </a:r>
          </a:p>
          <a:p>
            <a:pPr eaLnBrk="1" hangingPunct="1">
              <a:lnSpc>
                <a:spcPct val="90000"/>
              </a:lnSpc>
              <a:buFontTx/>
              <a:buNone/>
            </a:pPr>
            <a:r>
              <a:rPr lang="en-US" dirty="0"/>
              <a:t>Step 1: Reverse the input string</a:t>
            </a:r>
          </a:p>
          <a:p>
            <a:pPr eaLnBrk="1" hangingPunct="1">
              <a:lnSpc>
                <a:spcPct val="90000"/>
              </a:lnSpc>
              <a:buFontTx/>
              <a:buNone/>
            </a:pPr>
            <a:r>
              <a:rPr lang="en-US" dirty="0"/>
              <a:t>Step 2: Examine the next element in the input</a:t>
            </a:r>
          </a:p>
          <a:p>
            <a:pPr eaLnBrk="1" hangingPunct="1">
              <a:lnSpc>
                <a:spcPct val="90000"/>
              </a:lnSpc>
              <a:buFontTx/>
              <a:buNone/>
            </a:pPr>
            <a:r>
              <a:rPr lang="en-US" dirty="0"/>
              <a:t>Step 3: If it is operand, add it to output string</a:t>
            </a:r>
          </a:p>
          <a:p>
            <a:pPr eaLnBrk="1" hangingPunct="1">
              <a:lnSpc>
                <a:spcPct val="90000"/>
              </a:lnSpc>
              <a:buFontTx/>
              <a:buNone/>
            </a:pPr>
            <a:r>
              <a:rPr lang="en-US" dirty="0"/>
              <a:t>Step 4: If it is closing parentheses, push it on stack</a:t>
            </a:r>
          </a:p>
          <a:p>
            <a:pPr eaLnBrk="1" hangingPunct="1">
              <a:lnSpc>
                <a:spcPct val="90000"/>
              </a:lnSpc>
              <a:buFontTx/>
              <a:buNone/>
            </a:pPr>
            <a:r>
              <a:rPr lang="en-US" dirty="0"/>
              <a:t>Step 5: If it is operator, then:</a:t>
            </a:r>
          </a:p>
          <a:p>
            <a:pPr eaLnBrk="1" hangingPunct="1">
              <a:lnSpc>
                <a:spcPct val="90000"/>
              </a:lnSpc>
              <a:buFontTx/>
              <a:buNone/>
            </a:pPr>
            <a:r>
              <a:rPr lang="en-US" dirty="0"/>
              <a:t>           (</a:t>
            </a:r>
            <a:r>
              <a:rPr lang="en-US" dirty="0" err="1"/>
              <a:t>i</a:t>
            </a:r>
            <a:r>
              <a:rPr lang="en-US" dirty="0"/>
              <a:t>) if stack is empty, push operator on stack</a:t>
            </a:r>
          </a:p>
          <a:p>
            <a:pPr eaLnBrk="1" hangingPunct="1">
              <a:lnSpc>
                <a:spcPct val="90000"/>
              </a:lnSpc>
              <a:buFontTx/>
              <a:buNone/>
            </a:pPr>
            <a:r>
              <a:rPr lang="en-US" dirty="0"/>
              <a:t>           (ii) if top of stack is closing parentheses, push operator on the</a:t>
            </a:r>
          </a:p>
          <a:p>
            <a:pPr eaLnBrk="1" hangingPunct="1">
              <a:lnSpc>
                <a:spcPct val="90000"/>
              </a:lnSpc>
              <a:buFontTx/>
              <a:buNone/>
            </a:pPr>
            <a:r>
              <a:rPr lang="en-US" dirty="0"/>
              <a:t>                stack</a:t>
            </a:r>
          </a:p>
          <a:p>
            <a:pPr eaLnBrk="1" hangingPunct="1">
              <a:lnSpc>
                <a:spcPct val="90000"/>
              </a:lnSpc>
              <a:buFontTx/>
              <a:buNone/>
            </a:pPr>
            <a:r>
              <a:rPr lang="en-US" dirty="0"/>
              <a:t>          (iii) If it has same or higher priority than top of stack, push</a:t>
            </a:r>
          </a:p>
          <a:p>
            <a:pPr eaLnBrk="1" hangingPunct="1">
              <a:lnSpc>
                <a:spcPct val="90000"/>
              </a:lnSpc>
              <a:buFontTx/>
              <a:buNone/>
            </a:pPr>
            <a:r>
              <a:rPr lang="en-US" dirty="0"/>
              <a:t>                 operator on stack</a:t>
            </a:r>
          </a:p>
          <a:p>
            <a:pPr eaLnBrk="1" hangingPunct="1">
              <a:lnSpc>
                <a:spcPct val="90000"/>
              </a:lnSpc>
              <a:buFontTx/>
              <a:buNone/>
            </a:pPr>
            <a:r>
              <a:rPr lang="en-US" dirty="0"/>
              <a:t>                Else  pop the operator from the stack and add it to output</a:t>
            </a:r>
          </a:p>
          <a:p>
            <a:pPr eaLnBrk="1" hangingPunct="1">
              <a:lnSpc>
                <a:spcPct val="90000"/>
              </a:lnSpc>
              <a:buFontTx/>
              <a:buNone/>
            </a:pPr>
            <a:r>
              <a:rPr lang="en-US" dirty="0"/>
              <a:t>                string, repeat step 5     </a:t>
            </a:r>
          </a:p>
        </p:txBody>
      </p:sp>
    </p:spTree>
    <p:extLst>
      <p:ext uri="{BB962C8B-B14F-4D97-AF65-F5344CB8AC3E}">
        <p14:creationId xmlns:p14="http://schemas.microsoft.com/office/powerpoint/2010/main" val="427369849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3714" name="Rectangle 3"/>
          <p:cNvSpPr>
            <a:spLocks noGrp="1" noChangeArrowheads="1"/>
          </p:cNvSpPr>
          <p:nvPr>
            <p:ph type="body" idx="1"/>
          </p:nvPr>
        </p:nvSpPr>
        <p:spPr>
          <a:xfrm>
            <a:off x="1524000" y="0"/>
            <a:ext cx="9144000" cy="6858000"/>
          </a:xfrm>
        </p:spPr>
        <p:txBody>
          <a:bodyPr/>
          <a:lstStyle/>
          <a:p>
            <a:pPr eaLnBrk="1" hangingPunct="1"/>
            <a:r>
              <a:rPr lang="en-US"/>
              <a:t>Step 6: If it is an opening parentheses, pop operators from stack and add them to output string until a closing parentheses is encountered, pop and discard the closing parentheses.</a:t>
            </a:r>
          </a:p>
          <a:p>
            <a:pPr eaLnBrk="1" hangingPunct="1"/>
            <a:r>
              <a:rPr lang="en-US"/>
              <a:t>Step 7: If there is more input go to step 2</a:t>
            </a:r>
          </a:p>
          <a:p>
            <a:pPr eaLnBrk="1" hangingPunct="1"/>
            <a:r>
              <a:rPr lang="en-US"/>
              <a:t>Step 8: If there is no more input, unstack the remaining operators and add them to output string</a:t>
            </a:r>
          </a:p>
          <a:p>
            <a:pPr eaLnBrk="1" hangingPunct="1"/>
            <a:r>
              <a:rPr lang="en-US"/>
              <a:t>Step 9: Reverse the output string</a:t>
            </a:r>
          </a:p>
        </p:txBody>
      </p:sp>
    </p:spTree>
    <p:extLst>
      <p:ext uri="{BB962C8B-B14F-4D97-AF65-F5344CB8AC3E}">
        <p14:creationId xmlns:p14="http://schemas.microsoft.com/office/powerpoint/2010/main" val="343263839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3"/>
          <p:cNvSpPr>
            <a:spLocks noGrp="1" noChangeArrowheads="1"/>
          </p:cNvSpPr>
          <p:nvPr>
            <p:ph type="body" idx="1"/>
          </p:nvPr>
        </p:nvSpPr>
        <p:spPr>
          <a:xfrm>
            <a:off x="1524000" y="0"/>
            <a:ext cx="9144000" cy="6858000"/>
          </a:xfrm>
        </p:spPr>
        <p:txBody>
          <a:bodyPr/>
          <a:lstStyle/>
          <a:p>
            <a:pPr eaLnBrk="1" hangingPunct="1"/>
            <a:r>
              <a:rPr lang="en-US"/>
              <a:t>Consider the following arithmetic expression P written in postfix notation</a:t>
            </a:r>
          </a:p>
          <a:p>
            <a:pPr eaLnBrk="1" hangingPunct="1">
              <a:buFontTx/>
              <a:buNone/>
            </a:pPr>
            <a:r>
              <a:rPr lang="en-US"/>
              <a:t>       P: 12, 7, 3 -, /, 2, 1, 5, +, *, +</a:t>
            </a:r>
          </a:p>
          <a:p>
            <a:pPr eaLnBrk="1" hangingPunct="1">
              <a:buFontTx/>
              <a:buNone/>
            </a:pPr>
            <a:r>
              <a:rPr lang="en-US"/>
              <a:t>(a) Translate P, by inspection and hand, into its equivalent infix expression</a:t>
            </a:r>
          </a:p>
          <a:p>
            <a:pPr eaLnBrk="1" hangingPunct="1">
              <a:buFontTx/>
              <a:buNone/>
            </a:pPr>
            <a:r>
              <a:rPr lang="en-US"/>
              <a:t>(b) Evaluate the infix expression</a:t>
            </a:r>
          </a:p>
          <a:p>
            <a:pPr eaLnBrk="1" hangingPunct="1">
              <a:buFontTx/>
              <a:buNone/>
            </a:pPr>
            <a:r>
              <a:rPr lang="en-US"/>
              <a:t>Sol: (a) Scanning from left to right, translate each operator from postfix to infix notation</a:t>
            </a:r>
          </a:p>
          <a:p>
            <a:pPr eaLnBrk="1" hangingPunct="1">
              <a:buFontTx/>
              <a:buNone/>
            </a:pPr>
            <a:r>
              <a:rPr lang="en-US"/>
              <a:t>     P  =   12, [7-3], /, 2, 1, 5, +, *, +</a:t>
            </a:r>
          </a:p>
          <a:p>
            <a:pPr eaLnBrk="1" hangingPunct="1">
              <a:buFontTx/>
              <a:buNone/>
            </a:pPr>
            <a:r>
              <a:rPr lang="en-US"/>
              <a:t>         =    [12/[7-3]],2, [1+5],*,+ </a:t>
            </a:r>
          </a:p>
          <a:p>
            <a:pPr eaLnBrk="1" hangingPunct="1">
              <a:buFontTx/>
              <a:buNone/>
            </a:pPr>
            <a:r>
              <a:rPr lang="en-US"/>
              <a:t>         = 12/(7-3)+2*(1+5)</a:t>
            </a:r>
          </a:p>
          <a:p>
            <a:pPr eaLnBrk="1" hangingPunct="1">
              <a:buFontTx/>
              <a:buNone/>
            </a:pPr>
            <a:r>
              <a:rPr lang="en-US"/>
              <a:t>      (b) 12/(7-3)+2*(1+5)</a:t>
            </a:r>
          </a:p>
          <a:p>
            <a:pPr eaLnBrk="1" hangingPunct="1">
              <a:buFontTx/>
              <a:buNone/>
            </a:pPr>
            <a:r>
              <a:rPr lang="en-US"/>
              <a:t>          =  [3],[2*6],+</a:t>
            </a:r>
          </a:p>
          <a:p>
            <a:pPr eaLnBrk="1" hangingPunct="1">
              <a:buFontTx/>
              <a:buNone/>
            </a:pPr>
            <a:r>
              <a:rPr lang="en-US"/>
              <a:t>          =  3+12</a:t>
            </a:r>
          </a:p>
          <a:p>
            <a:pPr eaLnBrk="1" hangingPunct="1">
              <a:buFontTx/>
              <a:buNone/>
            </a:pPr>
            <a:r>
              <a:rPr lang="en-US"/>
              <a:t>          =  15</a:t>
            </a:r>
          </a:p>
        </p:txBody>
      </p:sp>
    </p:spTree>
    <p:extLst>
      <p:ext uri="{BB962C8B-B14F-4D97-AF65-F5344CB8AC3E}">
        <p14:creationId xmlns:p14="http://schemas.microsoft.com/office/powerpoint/2010/main" val="292345221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AD6EA-5654-D14B-B692-C7F7FE58E146}"/>
              </a:ext>
            </a:extLst>
          </p:cNvPr>
          <p:cNvSpPr>
            <a:spLocks noGrp="1"/>
          </p:cNvSpPr>
          <p:nvPr>
            <p:ph type="title"/>
          </p:nvPr>
        </p:nvSpPr>
        <p:spPr/>
        <p:txBody>
          <a:bodyPr/>
          <a:lstStyle/>
          <a:p>
            <a:pPr algn="l"/>
            <a:r>
              <a:rPr lang="en-US" dirty="0"/>
              <a:t>Problem: Consider the stack as shown in figure below:</a:t>
            </a:r>
          </a:p>
        </p:txBody>
      </p:sp>
      <p:graphicFrame>
        <p:nvGraphicFramePr>
          <p:cNvPr id="4" name="Content Placeholder 3">
            <a:extLst>
              <a:ext uri="{FF2B5EF4-FFF2-40B4-BE49-F238E27FC236}">
                <a16:creationId xmlns:a16="http://schemas.microsoft.com/office/drawing/2014/main" id="{EC058496-0D5B-9144-B05F-E91916B3A246}"/>
              </a:ext>
            </a:extLst>
          </p:cNvPr>
          <p:cNvGraphicFramePr>
            <a:graphicFrameLocks noGrp="1"/>
          </p:cNvGraphicFramePr>
          <p:nvPr>
            <p:ph idx="1"/>
          </p:nvPr>
        </p:nvGraphicFramePr>
        <p:xfrm>
          <a:off x="1981200" y="1600200"/>
          <a:ext cx="6705600" cy="370840"/>
        </p:xfrm>
        <a:graphic>
          <a:graphicData uri="http://schemas.openxmlformats.org/drawingml/2006/table">
            <a:tbl>
              <a:tblPr firstRow="1" bandRow="1">
                <a:tableStyleId>{5C22544A-7EE6-4342-B048-85BDC9FD1C3A}</a:tableStyleId>
              </a:tblPr>
              <a:tblGrid>
                <a:gridCol w="745066">
                  <a:extLst>
                    <a:ext uri="{9D8B030D-6E8A-4147-A177-3AD203B41FA5}">
                      <a16:colId xmlns:a16="http://schemas.microsoft.com/office/drawing/2014/main" val="2866698737"/>
                    </a:ext>
                  </a:extLst>
                </a:gridCol>
                <a:gridCol w="682978">
                  <a:extLst>
                    <a:ext uri="{9D8B030D-6E8A-4147-A177-3AD203B41FA5}">
                      <a16:colId xmlns:a16="http://schemas.microsoft.com/office/drawing/2014/main" val="1697820326"/>
                    </a:ext>
                  </a:extLst>
                </a:gridCol>
                <a:gridCol w="496710">
                  <a:extLst>
                    <a:ext uri="{9D8B030D-6E8A-4147-A177-3AD203B41FA5}">
                      <a16:colId xmlns:a16="http://schemas.microsoft.com/office/drawing/2014/main" val="3445149032"/>
                    </a:ext>
                  </a:extLst>
                </a:gridCol>
                <a:gridCol w="818446">
                  <a:extLst>
                    <a:ext uri="{9D8B030D-6E8A-4147-A177-3AD203B41FA5}">
                      <a16:colId xmlns:a16="http://schemas.microsoft.com/office/drawing/2014/main" val="2133033913"/>
                    </a:ext>
                  </a:extLst>
                </a:gridCol>
                <a:gridCol w="888999">
                  <a:extLst>
                    <a:ext uri="{9D8B030D-6E8A-4147-A177-3AD203B41FA5}">
                      <a16:colId xmlns:a16="http://schemas.microsoft.com/office/drawing/2014/main" val="3285298228"/>
                    </a:ext>
                  </a:extLst>
                </a:gridCol>
                <a:gridCol w="1024467">
                  <a:extLst>
                    <a:ext uri="{9D8B030D-6E8A-4147-A177-3AD203B41FA5}">
                      <a16:colId xmlns:a16="http://schemas.microsoft.com/office/drawing/2014/main" val="930322667"/>
                    </a:ext>
                  </a:extLst>
                </a:gridCol>
                <a:gridCol w="1024467">
                  <a:extLst>
                    <a:ext uri="{9D8B030D-6E8A-4147-A177-3AD203B41FA5}">
                      <a16:colId xmlns:a16="http://schemas.microsoft.com/office/drawing/2014/main" val="945129781"/>
                    </a:ext>
                  </a:extLst>
                </a:gridCol>
                <a:gridCol w="1024467">
                  <a:extLst>
                    <a:ext uri="{9D8B030D-6E8A-4147-A177-3AD203B41FA5}">
                      <a16:colId xmlns:a16="http://schemas.microsoft.com/office/drawing/2014/main" val="1802658998"/>
                    </a:ext>
                  </a:extLst>
                </a:gridCol>
              </a:tblGrid>
              <a:tr h="370840">
                <a:tc>
                  <a:txBody>
                    <a:bodyPr/>
                    <a:lstStyle/>
                    <a:p>
                      <a:pPr algn="ctr"/>
                      <a:r>
                        <a:rPr lang="en-US" dirty="0">
                          <a:solidFill>
                            <a:schemeClr val="tx1"/>
                          </a:solidFill>
                        </a:rPr>
                        <a:t>12</a:t>
                      </a:r>
                    </a:p>
                  </a:txBody>
                  <a:tcPr/>
                </a:tc>
                <a:tc>
                  <a:txBody>
                    <a:bodyPr/>
                    <a:lstStyle/>
                    <a:p>
                      <a:pPr algn="ctr"/>
                      <a:r>
                        <a:rPr lang="en-US" b="1" dirty="0">
                          <a:solidFill>
                            <a:schemeClr val="tx1"/>
                          </a:solidFill>
                        </a:rPr>
                        <a:t>14</a:t>
                      </a:r>
                    </a:p>
                  </a:txBody>
                  <a:tcPr/>
                </a:tc>
                <a:tc>
                  <a:txBody>
                    <a:bodyPr/>
                    <a:lstStyle/>
                    <a:p>
                      <a:pPr algn="ctr"/>
                      <a:r>
                        <a:rPr lang="en-US" dirty="0">
                          <a:solidFill>
                            <a:schemeClr val="tx1"/>
                          </a:solidFill>
                        </a:rPr>
                        <a:t>16</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781525271"/>
                  </a:ext>
                </a:extLst>
              </a:tr>
            </a:tbl>
          </a:graphicData>
        </a:graphic>
      </p:graphicFrame>
      <p:sp>
        <p:nvSpPr>
          <p:cNvPr id="5" name="TextBox 4">
            <a:extLst>
              <a:ext uri="{FF2B5EF4-FFF2-40B4-BE49-F238E27FC236}">
                <a16:creationId xmlns:a16="http://schemas.microsoft.com/office/drawing/2014/main" id="{922C1C05-C260-0041-8D4D-6339829AAA4F}"/>
              </a:ext>
            </a:extLst>
          </p:cNvPr>
          <p:cNvSpPr txBox="1"/>
          <p:nvPr/>
        </p:nvSpPr>
        <p:spPr>
          <a:xfrm>
            <a:off x="1600200" y="2286001"/>
            <a:ext cx="9067800"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Solve the following questions:</a:t>
            </a:r>
          </a:p>
          <a:p>
            <a:pPr marL="342900" marR="0" lvl="0" indent="-342900" algn="l" defTabSz="914400" rtl="0" eaLnBrk="1" fontAlgn="auto" latinLnBrk="0" hangingPunct="1">
              <a:lnSpc>
                <a:spcPct val="100000"/>
              </a:lnSpc>
              <a:spcBef>
                <a:spcPts val="0"/>
              </a:spcBef>
              <a:spcAft>
                <a:spcPts val="0"/>
              </a:spcAft>
              <a:buClrTx/>
              <a:buSzTx/>
              <a:buFontTx/>
              <a:buAutoNum type="alphaLcParenR"/>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What is the maximum size of stack?</a:t>
            </a:r>
          </a:p>
          <a:p>
            <a:pPr marL="342900" marR="0" lvl="0" indent="-342900" algn="l" defTabSz="914400" rtl="0" eaLnBrk="1" fontAlgn="auto" latinLnBrk="0" hangingPunct="1">
              <a:lnSpc>
                <a:spcPct val="100000"/>
              </a:lnSpc>
              <a:spcBef>
                <a:spcPts val="0"/>
              </a:spcBef>
              <a:spcAft>
                <a:spcPts val="0"/>
              </a:spcAft>
              <a:buClrTx/>
              <a:buSzTx/>
              <a:buFontTx/>
              <a:buAutoNum type="alphaLcParenR"/>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Following operations are applied on stack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push(67)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push(34)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push(75)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Repeat for I =1 to 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pop()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[end of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Repeat for I =1 to 3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push(I)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[end of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Show diagrammatically the condition of stack after each operation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a:t>
            </a:r>
          </a:p>
        </p:txBody>
      </p:sp>
    </p:spTree>
    <p:extLst>
      <p:ext uri="{BB962C8B-B14F-4D97-AF65-F5344CB8AC3E}">
        <p14:creationId xmlns:p14="http://schemas.microsoft.com/office/powerpoint/2010/main" val="66218054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3">
            <a:extLst>
              <a:ext uri="{FF2B5EF4-FFF2-40B4-BE49-F238E27FC236}">
                <a16:creationId xmlns:a16="http://schemas.microsoft.com/office/drawing/2014/main" id="{A55695BE-0897-644F-9F4D-222E4BB731D1}"/>
              </a:ext>
            </a:extLst>
          </p:cNvPr>
          <p:cNvSpPr>
            <a:spLocks noGrp="1" noChangeArrowheads="1"/>
          </p:cNvSpPr>
          <p:nvPr>
            <p:ph type="body" idx="4294967295"/>
          </p:nvPr>
        </p:nvSpPr>
        <p:spPr>
          <a:xfrm>
            <a:off x="1557454" y="914400"/>
            <a:ext cx="9110546" cy="6019800"/>
          </a:xfrm>
        </p:spPr>
        <p:txBody>
          <a:bodyPr/>
          <a:lstStyle/>
          <a:p>
            <a:pPr algn="just" eaLnBrk="1" hangingPunct="1"/>
            <a:r>
              <a:rPr lang="en-US" altLang="en-US" dirty="0"/>
              <a:t>Recursion- Recursion is a process by which a function calls itself repeatedly, until some specified condition has been satisfied. The process is used for repetitive computations in which each action  is stated in terms of the previous result. Many iterative (or repetitive) problems can be written in this form. </a:t>
            </a:r>
          </a:p>
          <a:p>
            <a:pPr algn="just" eaLnBrk="1" hangingPunct="1"/>
            <a:endParaRPr lang="en-US" altLang="en-US" dirty="0"/>
          </a:p>
          <a:p>
            <a:pPr algn="just" eaLnBrk="1" hangingPunct="1"/>
            <a:r>
              <a:rPr lang="en-US" altLang="en-US" dirty="0"/>
              <a:t>In order to solve a problem recursively, two conditions must be satisfied</a:t>
            </a:r>
          </a:p>
          <a:p>
            <a:pPr lvl="1" eaLnBrk="1" hangingPunct="1"/>
            <a:r>
              <a:rPr lang="en-US" altLang="en-US" dirty="0"/>
              <a:t>Problem must be written in a recursive form</a:t>
            </a:r>
          </a:p>
          <a:p>
            <a:pPr lvl="1" eaLnBrk="1" hangingPunct="1"/>
            <a:r>
              <a:rPr lang="en-US" altLang="en-US" dirty="0"/>
              <a:t>Problem statement must include a stopping condition.</a:t>
            </a:r>
          </a:p>
        </p:txBody>
      </p:sp>
      <p:sp>
        <p:nvSpPr>
          <p:cNvPr id="2" name="TextBox 1">
            <a:extLst>
              <a:ext uri="{FF2B5EF4-FFF2-40B4-BE49-F238E27FC236}">
                <a16:creationId xmlns:a16="http://schemas.microsoft.com/office/drawing/2014/main" id="{3446DA97-8378-F649-8E7B-04C98C8F2E40}"/>
              </a:ext>
            </a:extLst>
          </p:cNvPr>
          <p:cNvSpPr txBox="1"/>
          <p:nvPr/>
        </p:nvSpPr>
        <p:spPr>
          <a:xfrm>
            <a:off x="1524000" y="0"/>
            <a:ext cx="914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000000"/>
                </a:solidFill>
                <a:effectLst/>
                <a:uLnTx/>
                <a:uFillTx/>
                <a:latin typeface="Times New Roman"/>
                <a:ea typeface="+mn-ea"/>
                <a:cs typeface="+mn-cs"/>
              </a:rPr>
              <a:t>   Recursion</a:t>
            </a:r>
          </a:p>
        </p:txBody>
      </p:sp>
    </p:spTree>
    <p:extLst>
      <p:ext uri="{BB962C8B-B14F-4D97-AF65-F5344CB8AC3E}">
        <p14:creationId xmlns:p14="http://schemas.microsoft.com/office/powerpoint/2010/main" val="389870502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3">
            <a:extLst>
              <a:ext uri="{FF2B5EF4-FFF2-40B4-BE49-F238E27FC236}">
                <a16:creationId xmlns:a16="http://schemas.microsoft.com/office/drawing/2014/main" id="{1BBA7C58-FA8B-7542-9477-F6E7869D20D0}"/>
              </a:ext>
            </a:extLst>
          </p:cNvPr>
          <p:cNvSpPr>
            <a:spLocks noGrp="1" noChangeArrowheads="1"/>
          </p:cNvSpPr>
          <p:nvPr>
            <p:ph type="body" idx="4294967295"/>
          </p:nvPr>
        </p:nvSpPr>
        <p:spPr>
          <a:xfrm>
            <a:off x="1524000" y="0"/>
            <a:ext cx="9144000" cy="6858000"/>
          </a:xfrm>
        </p:spPr>
        <p:txBody>
          <a:bodyPr/>
          <a:lstStyle/>
          <a:p>
            <a:pPr eaLnBrk="1" hangingPunct="1">
              <a:lnSpc>
                <a:spcPct val="80000"/>
              </a:lnSpc>
            </a:pPr>
            <a:r>
              <a:rPr lang="en-US" altLang="en-US" dirty="0"/>
              <a:t>Program to calculate the factorial of a number using recursion</a:t>
            </a:r>
          </a:p>
          <a:p>
            <a:pPr lvl="1" eaLnBrk="1" hangingPunct="1">
              <a:lnSpc>
                <a:spcPct val="80000"/>
              </a:lnSpc>
              <a:buFontTx/>
              <a:buNone/>
            </a:pPr>
            <a:endParaRPr lang="en-US" altLang="en-US" sz="1800" dirty="0"/>
          </a:p>
          <a:p>
            <a:pPr lvl="1" eaLnBrk="1" hangingPunct="1">
              <a:lnSpc>
                <a:spcPct val="80000"/>
              </a:lnSpc>
              <a:buFontTx/>
              <a:buNone/>
            </a:pPr>
            <a:r>
              <a:rPr lang="en-US" altLang="en-US" dirty="0"/>
              <a:t>#include&lt;</a:t>
            </a:r>
            <a:r>
              <a:rPr lang="en-US" altLang="en-US" dirty="0" err="1"/>
              <a:t>stdio.h</a:t>
            </a:r>
            <a:r>
              <a:rPr lang="en-US" altLang="en-US" dirty="0"/>
              <a:t>&gt;</a:t>
            </a:r>
          </a:p>
          <a:p>
            <a:pPr lvl="1" eaLnBrk="1" hangingPunct="1">
              <a:lnSpc>
                <a:spcPct val="80000"/>
              </a:lnSpc>
              <a:buFontTx/>
              <a:buNone/>
            </a:pPr>
            <a:r>
              <a:rPr lang="en-US" altLang="en-US" dirty="0" err="1"/>
              <a:t>int</a:t>
            </a:r>
            <a:r>
              <a:rPr lang="en-US" altLang="en-US" dirty="0"/>
              <a:t> main()</a:t>
            </a:r>
          </a:p>
          <a:p>
            <a:pPr lvl="1" eaLnBrk="1" hangingPunct="1">
              <a:lnSpc>
                <a:spcPct val="80000"/>
              </a:lnSpc>
              <a:buFontTx/>
              <a:buNone/>
            </a:pPr>
            <a:r>
              <a:rPr lang="en-US" altLang="en-US" dirty="0"/>
              <a:t>{</a:t>
            </a:r>
          </a:p>
          <a:p>
            <a:pPr lvl="1" eaLnBrk="1" hangingPunct="1">
              <a:lnSpc>
                <a:spcPct val="80000"/>
              </a:lnSpc>
              <a:buFontTx/>
              <a:buNone/>
            </a:pPr>
            <a:r>
              <a:rPr lang="en-US" altLang="en-US" dirty="0" err="1"/>
              <a:t>int</a:t>
            </a:r>
            <a:r>
              <a:rPr lang="en-US" altLang="en-US" dirty="0"/>
              <a:t> </a:t>
            </a:r>
            <a:r>
              <a:rPr lang="en-US" altLang="en-US" dirty="0" err="1"/>
              <a:t>n,f</a:t>
            </a:r>
            <a:r>
              <a:rPr lang="en-US" altLang="en-US" dirty="0"/>
              <a:t>;</a:t>
            </a:r>
          </a:p>
          <a:p>
            <a:pPr lvl="1" eaLnBrk="1" hangingPunct="1">
              <a:lnSpc>
                <a:spcPct val="80000"/>
              </a:lnSpc>
              <a:buFontTx/>
              <a:buNone/>
            </a:pPr>
            <a:r>
              <a:rPr lang="en-US" altLang="en-US" dirty="0"/>
              <a:t> </a:t>
            </a:r>
            <a:r>
              <a:rPr lang="en-US" altLang="en-US" dirty="0" err="1"/>
              <a:t>printf</a:t>
            </a:r>
            <a:r>
              <a:rPr lang="en-US" altLang="en-US" dirty="0"/>
              <a:t>(“enter the number”);</a:t>
            </a:r>
          </a:p>
          <a:p>
            <a:pPr lvl="1" eaLnBrk="1" hangingPunct="1">
              <a:lnSpc>
                <a:spcPct val="80000"/>
              </a:lnSpc>
              <a:buFontTx/>
              <a:buNone/>
            </a:pPr>
            <a:r>
              <a:rPr lang="en-US" altLang="en-US" dirty="0"/>
              <a:t>   </a:t>
            </a:r>
            <a:r>
              <a:rPr lang="en-US" altLang="en-US" dirty="0" err="1"/>
              <a:t>scanf</a:t>
            </a:r>
            <a:r>
              <a:rPr lang="en-US" altLang="en-US" dirty="0"/>
              <a:t>(“%</a:t>
            </a:r>
            <a:r>
              <a:rPr lang="en-US" altLang="en-US" dirty="0" err="1"/>
              <a:t>d”,&amp;n</a:t>
            </a:r>
            <a:r>
              <a:rPr lang="en-US" altLang="en-US" dirty="0"/>
              <a:t>);</a:t>
            </a:r>
          </a:p>
          <a:p>
            <a:pPr lvl="1" eaLnBrk="1" hangingPunct="1">
              <a:lnSpc>
                <a:spcPct val="80000"/>
              </a:lnSpc>
              <a:buFontTx/>
              <a:buNone/>
            </a:pPr>
            <a:r>
              <a:rPr lang="en-US" altLang="en-US" dirty="0"/>
              <a:t>f=fact(n);   </a:t>
            </a:r>
          </a:p>
          <a:p>
            <a:pPr lvl="1" eaLnBrk="1" hangingPunct="1">
              <a:lnSpc>
                <a:spcPct val="80000"/>
              </a:lnSpc>
              <a:buFontTx/>
              <a:buNone/>
            </a:pPr>
            <a:r>
              <a:rPr lang="en-US" altLang="en-US" dirty="0"/>
              <a:t> </a:t>
            </a:r>
            <a:r>
              <a:rPr lang="en-US" altLang="en-US" dirty="0" err="1"/>
              <a:t>printf</a:t>
            </a:r>
            <a:r>
              <a:rPr lang="en-US" altLang="en-US" dirty="0"/>
              <a:t>(“factorial of the number is %</a:t>
            </a:r>
            <a:r>
              <a:rPr lang="en-US" altLang="en-US" dirty="0" err="1"/>
              <a:t>d”,f</a:t>
            </a:r>
            <a:r>
              <a:rPr lang="en-US" altLang="en-US" dirty="0"/>
              <a:t>);   </a:t>
            </a:r>
          </a:p>
          <a:p>
            <a:pPr lvl="1" eaLnBrk="1" hangingPunct="1">
              <a:lnSpc>
                <a:spcPct val="80000"/>
              </a:lnSpc>
              <a:buFontTx/>
              <a:buNone/>
            </a:pPr>
            <a:r>
              <a:rPr lang="en-US" altLang="en-US" dirty="0"/>
              <a:t>}                                                                </a:t>
            </a:r>
          </a:p>
          <a:p>
            <a:pPr lvl="1" eaLnBrk="1" hangingPunct="1">
              <a:lnSpc>
                <a:spcPct val="80000"/>
              </a:lnSpc>
              <a:buFontTx/>
              <a:buNone/>
            </a:pPr>
            <a:endParaRPr lang="en-US" altLang="en-US" b="1" dirty="0">
              <a:solidFill>
                <a:srgbClr val="FF0000"/>
              </a:solidFill>
            </a:endParaRPr>
          </a:p>
          <a:p>
            <a:pPr lvl="1" eaLnBrk="1" hangingPunct="1">
              <a:lnSpc>
                <a:spcPct val="80000"/>
              </a:lnSpc>
              <a:buFontTx/>
              <a:buNone/>
            </a:pPr>
            <a:r>
              <a:rPr lang="en-US" altLang="en-US" sz="3200" b="1" dirty="0" err="1">
                <a:solidFill>
                  <a:srgbClr val="FF0000"/>
                </a:solidFill>
              </a:rPr>
              <a:t>int</a:t>
            </a:r>
            <a:r>
              <a:rPr lang="en-US" altLang="en-US" sz="3200" b="1" dirty="0">
                <a:solidFill>
                  <a:srgbClr val="FF0000"/>
                </a:solidFill>
              </a:rPr>
              <a:t> fact(</a:t>
            </a:r>
            <a:r>
              <a:rPr lang="en-US" altLang="en-US" sz="3200" b="1" dirty="0" err="1">
                <a:solidFill>
                  <a:srgbClr val="FF0000"/>
                </a:solidFill>
              </a:rPr>
              <a:t>int</a:t>
            </a:r>
            <a:r>
              <a:rPr lang="en-US" altLang="en-US" sz="3200" b="1" dirty="0">
                <a:solidFill>
                  <a:srgbClr val="FF0000"/>
                </a:solidFill>
              </a:rPr>
              <a:t> n)                               </a:t>
            </a:r>
          </a:p>
          <a:p>
            <a:pPr lvl="1" eaLnBrk="1" hangingPunct="1">
              <a:lnSpc>
                <a:spcPct val="80000"/>
              </a:lnSpc>
              <a:buFontTx/>
              <a:buNone/>
            </a:pPr>
            <a:r>
              <a:rPr lang="en-US" altLang="en-US" dirty="0"/>
              <a:t>{</a:t>
            </a:r>
          </a:p>
          <a:p>
            <a:pPr lvl="1" eaLnBrk="1" hangingPunct="1">
              <a:lnSpc>
                <a:spcPct val="80000"/>
              </a:lnSpc>
              <a:buFontTx/>
              <a:buNone/>
            </a:pPr>
            <a:r>
              <a:rPr lang="en-US" altLang="en-US" dirty="0"/>
              <a:t>if(n==1)</a:t>
            </a:r>
          </a:p>
          <a:p>
            <a:pPr lvl="1" eaLnBrk="1" hangingPunct="1">
              <a:lnSpc>
                <a:spcPct val="80000"/>
              </a:lnSpc>
              <a:buFontTx/>
              <a:buNone/>
            </a:pPr>
            <a:r>
              <a:rPr lang="en-US" altLang="en-US" dirty="0"/>
              <a:t>return n;</a:t>
            </a:r>
          </a:p>
          <a:p>
            <a:pPr lvl="1" eaLnBrk="1" hangingPunct="1">
              <a:lnSpc>
                <a:spcPct val="80000"/>
              </a:lnSpc>
              <a:buFontTx/>
              <a:buNone/>
            </a:pPr>
            <a:r>
              <a:rPr lang="en-US" altLang="en-US" dirty="0"/>
              <a:t>return n* </a:t>
            </a:r>
            <a:r>
              <a:rPr lang="en-US" altLang="en-US" sz="3200" b="1" dirty="0">
                <a:solidFill>
                  <a:srgbClr val="FF0000"/>
                </a:solidFill>
              </a:rPr>
              <a:t>fact(n-1);</a:t>
            </a:r>
          </a:p>
          <a:p>
            <a:pPr lvl="1" eaLnBrk="1" hangingPunct="1">
              <a:lnSpc>
                <a:spcPct val="80000"/>
              </a:lnSpc>
              <a:buFontTx/>
              <a:buNone/>
            </a:pPr>
            <a:r>
              <a:rPr lang="en-US" altLang="en-US" dirty="0"/>
              <a:t>}    </a:t>
            </a:r>
          </a:p>
          <a:p>
            <a:pPr eaLnBrk="1" hangingPunct="1">
              <a:lnSpc>
                <a:spcPct val="80000"/>
              </a:lnSpc>
            </a:pPr>
            <a:endParaRPr lang="en-US" altLang="en-US" sz="1800" dirty="0"/>
          </a:p>
        </p:txBody>
      </p:sp>
    </p:spTree>
    <p:extLst>
      <p:ext uri="{BB962C8B-B14F-4D97-AF65-F5344CB8AC3E}">
        <p14:creationId xmlns:p14="http://schemas.microsoft.com/office/powerpoint/2010/main" val="18700879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3">
            <a:extLst>
              <a:ext uri="{FF2B5EF4-FFF2-40B4-BE49-F238E27FC236}">
                <a16:creationId xmlns:a16="http://schemas.microsoft.com/office/drawing/2014/main" id="{B11C0B76-1D94-6149-B1FD-B36AA2321FC5}"/>
              </a:ext>
            </a:extLst>
          </p:cNvPr>
          <p:cNvSpPr>
            <a:spLocks noGrp="1" noChangeArrowheads="1"/>
          </p:cNvSpPr>
          <p:nvPr>
            <p:ph type="body" idx="4294967295"/>
          </p:nvPr>
        </p:nvSpPr>
        <p:spPr>
          <a:xfrm>
            <a:off x="1524000" y="0"/>
            <a:ext cx="9144000" cy="6858000"/>
          </a:xfrm>
        </p:spPr>
        <p:txBody>
          <a:bodyPr numCol="2"/>
          <a:lstStyle/>
          <a:p>
            <a:pPr algn="just" eaLnBrk="1" hangingPunct="1"/>
            <a:r>
              <a:rPr lang="en-US" altLang="en-US" sz="2200" dirty="0"/>
              <a:t>When a recursive program is executed, the recursive function calls are not executed immediately. Rather they are placed on a stack until the condition that terminates the recursion is encountered. The stack is a last-in first out data structure in which the successive data items are pushed down upon the preceding items. The data are later removed from the stack in reverse order.</a:t>
            </a:r>
          </a:p>
          <a:p>
            <a:pPr algn="just" eaLnBrk="1" hangingPunct="1"/>
            <a:r>
              <a:rPr lang="en-US" altLang="en-US" sz="2200" dirty="0"/>
              <a:t>The function calls are then executed in reverse order as they are popped off the stack. Thus when evaluating the factorial recursively, the function calls will proceed in the following order.</a:t>
            </a:r>
          </a:p>
          <a:p>
            <a:pPr eaLnBrk="1" hangingPunct="1">
              <a:buFontTx/>
              <a:buNone/>
            </a:pPr>
            <a:r>
              <a:rPr lang="en-US" altLang="en-US" sz="1800" dirty="0"/>
              <a:t>        </a:t>
            </a:r>
          </a:p>
          <a:p>
            <a:pPr eaLnBrk="1" hangingPunct="1">
              <a:buFontTx/>
              <a:buNone/>
            </a:pPr>
            <a:endParaRPr lang="en-US" altLang="en-US" sz="1800" dirty="0"/>
          </a:p>
          <a:p>
            <a:pPr eaLnBrk="1" hangingPunct="1">
              <a:buFontTx/>
              <a:buNone/>
            </a:pPr>
            <a:r>
              <a:rPr lang="en-US" altLang="en-US" sz="1800" dirty="0"/>
              <a:t>           n!= n * (n-1)!</a:t>
            </a:r>
          </a:p>
          <a:p>
            <a:pPr eaLnBrk="1" hangingPunct="1">
              <a:buFontTx/>
              <a:buNone/>
            </a:pPr>
            <a:r>
              <a:rPr lang="en-US" altLang="en-US" sz="1800" dirty="0"/>
              <a:t>          (n-1)!=n-1 * (n-2)!</a:t>
            </a:r>
          </a:p>
          <a:p>
            <a:pPr eaLnBrk="1" hangingPunct="1">
              <a:buFontTx/>
              <a:buNone/>
            </a:pPr>
            <a:r>
              <a:rPr lang="en-US" altLang="en-US" sz="1800" dirty="0"/>
              <a:t>          (n-2)!=n-2  * (n-3)!</a:t>
            </a:r>
          </a:p>
          <a:p>
            <a:pPr eaLnBrk="1" hangingPunct="1">
              <a:buFontTx/>
              <a:buNone/>
            </a:pPr>
            <a:r>
              <a:rPr lang="en-US" altLang="en-US" sz="1800" dirty="0"/>
              <a:t>           ………………</a:t>
            </a:r>
          </a:p>
          <a:p>
            <a:pPr eaLnBrk="1" hangingPunct="1">
              <a:buFontTx/>
              <a:buNone/>
            </a:pPr>
            <a:r>
              <a:rPr lang="en-US" altLang="en-US" sz="1800" dirty="0"/>
              <a:t>         ………………………</a:t>
            </a:r>
          </a:p>
          <a:p>
            <a:pPr eaLnBrk="1" hangingPunct="1">
              <a:buFontTx/>
              <a:buNone/>
            </a:pPr>
            <a:r>
              <a:rPr lang="en-US" altLang="en-US" sz="1800" dirty="0"/>
              <a:t>           2!=2 * 1!</a:t>
            </a:r>
          </a:p>
          <a:p>
            <a:pPr eaLnBrk="1" hangingPunct="1">
              <a:buFontTx/>
              <a:buNone/>
            </a:pPr>
            <a:r>
              <a:rPr lang="en-US" altLang="en-US" sz="1800" dirty="0"/>
              <a:t>      The actual values returned will be in the reverse order</a:t>
            </a:r>
          </a:p>
          <a:p>
            <a:pPr eaLnBrk="1" hangingPunct="1">
              <a:buFontTx/>
              <a:buNone/>
            </a:pPr>
            <a:r>
              <a:rPr lang="en-US" altLang="en-US" sz="1800" dirty="0"/>
              <a:t>          1!=1</a:t>
            </a:r>
          </a:p>
          <a:p>
            <a:pPr eaLnBrk="1" hangingPunct="1">
              <a:buFontTx/>
              <a:buNone/>
            </a:pPr>
            <a:r>
              <a:rPr lang="en-US" altLang="en-US" sz="1800" dirty="0"/>
              <a:t>          2!= 2 * 1!= 2*1=2</a:t>
            </a:r>
          </a:p>
          <a:p>
            <a:pPr eaLnBrk="1" hangingPunct="1">
              <a:buFontTx/>
              <a:buNone/>
            </a:pPr>
            <a:r>
              <a:rPr lang="en-US" altLang="en-US" sz="1800" dirty="0"/>
              <a:t>          3!= 3 * 2!= 3*2=6</a:t>
            </a:r>
          </a:p>
          <a:p>
            <a:pPr eaLnBrk="1" hangingPunct="1">
              <a:buFontTx/>
              <a:buNone/>
            </a:pPr>
            <a:r>
              <a:rPr lang="en-US" altLang="en-US" sz="1800" dirty="0"/>
              <a:t>          4!= 4 * 3!=4*6=24</a:t>
            </a:r>
          </a:p>
          <a:p>
            <a:pPr eaLnBrk="1" hangingPunct="1">
              <a:buFontTx/>
              <a:buNone/>
            </a:pPr>
            <a:r>
              <a:rPr lang="en-US" altLang="en-US" sz="1800" dirty="0"/>
              <a:t>         -----------------</a:t>
            </a:r>
          </a:p>
          <a:p>
            <a:pPr eaLnBrk="1" hangingPunct="1">
              <a:buFontTx/>
              <a:buNone/>
            </a:pPr>
            <a:r>
              <a:rPr lang="en-US" altLang="en-US" sz="1800" dirty="0"/>
              <a:t>          n!=n* (n-1)!=………</a:t>
            </a:r>
          </a:p>
          <a:p>
            <a:pPr eaLnBrk="1" hangingPunct="1">
              <a:buFontTx/>
              <a:buNone/>
            </a:pPr>
            <a:r>
              <a:rPr lang="en-US" altLang="en-US" sz="1800" dirty="0"/>
              <a:t>       This reversal in the order of execution is a characteristic of all functions that are executed recursively.     </a:t>
            </a:r>
          </a:p>
          <a:p>
            <a:pPr algn="just" eaLnBrk="1" hangingPunct="1"/>
            <a:endParaRPr lang="en-US" altLang="en-US" dirty="0"/>
          </a:p>
        </p:txBody>
      </p:sp>
    </p:spTree>
    <p:extLst>
      <p:ext uri="{BB962C8B-B14F-4D97-AF65-F5344CB8AC3E}">
        <p14:creationId xmlns:p14="http://schemas.microsoft.com/office/powerpoint/2010/main" val="8819087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065" name="Picture 4">
            <a:extLst>
              <a:ext uri="{FF2B5EF4-FFF2-40B4-BE49-F238E27FC236}">
                <a16:creationId xmlns:a16="http://schemas.microsoft.com/office/drawing/2014/main" id="{A9D77097-184B-6248-BCB5-1B0BF6FCD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1"/>
            <a:ext cx="8153400" cy="427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87A3496A-9CEA-D547-849D-C75C81E5D359}"/>
              </a:ext>
            </a:extLst>
          </p:cNvPr>
          <p:cNvSpPr txBox="1">
            <a:spLocks noChangeArrowheads="1"/>
          </p:cNvSpPr>
          <p:nvPr/>
        </p:nvSpPr>
        <p:spPr bwMode="auto">
          <a:xfrm>
            <a:off x="1524000" y="4648200"/>
            <a:ext cx="8915400" cy="20347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a:lstStyle>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a:ea typeface="+mn-ea"/>
                <a:cs typeface="+mn-cs"/>
              </a:rPr>
              <a:t>The use of recursion is not necessarily the best way to approach a problem, even though the problem definition may be recursive in nature. A non recursive implementation may be more efficient in terms of memory utilization and execution speed. Thus use of recursion may involve a tradeoff between the simplicity and performance. </a:t>
            </a:r>
            <a:endParaRPr kumimoji="0" lang="en-US" altLang="en-US" sz="2400" b="0" i="0" u="none" strike="noStrike" kern="0" cap="none" spc="0" normalizeH="0" baseline="0" noProof="0" dirty="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38528689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3">
            <a:extLst>
              <a:ext uri="{FF2B5EF4-FFF2-40B4-BE49-F238E27FC236}">
                <a16:creationId xmlns:a16="http://schemas.microsoft.com/office/drawing/2014/main" id="{C6D49CBF-3BEA-3142-8598-9A0AF4896586}"/>
              </a:ext>
            </a:extLst>
          </p:cNvPr>
          <p:cNvSpPr>
            <a:spLocks noGrp="1" noChangeArrowheads="1"/>
          </p:cNvSpPr>
          <p:nvPr>
            <p:ph type="body" idx="4294967295"/>
          </p:nvPr>
        </p:nvSpPr>
        <p:spPr>
          <a:xfrm>
            <a:off x="1828800" y="76200"/>
            <a:ext cx="8610600" cy="6781800"/>
          </a:xfrm>
        </p:spPr>
        <p:txBody>
          <a:bodyPr/>
          <a:lstStyle/>
          <a:p>
            <a:pPr eaLnBrk="1" hangingPunct="1">
              <a:lnSpc>
                <a:spcPct val="90000"/>
              </a:lnSpc>
              <a:defRPr/>
            </a:pPr>
            <a:r>
              <a:rPr lang="en-US" altLang="en-US" sz="2000" b="1" dirty="0"/>
              <a:t>Program to find the  x to the power of y using recursion</a:t>
            </a:r>
          </a:p>
          <a:p>
            <a:pPr eaLnBrk="1" hangingPunct="1">
              <a:lnSpc>
                <a:spcPct val="90000"/>
              </a:lnSpc>
              <a:buFontTx/>
              <a:buNone/>
              <a:defRPr/>
            </a:pPr>
            <a:r>
              <a:rPr lang="en-US" altLang="en-US" sz="2000" dirty="0"/>
              <a:t>      #include&lt;</a:t>
            </a:r>
            <a:r>
              <a:rPr lang="en-US" altLang="en-US" sz="2000" dirty="0" err="1"/>
              <a:t>stdio.h</a:t>
            </a:r>
            <a:r>
              <a:rPr lang="en-US" altLang="en-US" sz="2000" dirty="0"/>
              <a:t>&gt;</a:t>
            </a:r>
          </a:p>
          <a:p>
            <a:pPr indent="16669" eaLnBrk="1" hangingPunct="1">
              <a:lnSpc>
                <a:spcPct val="90000"/>
              </a:lnSpc>
              <a:buNone/>
              <a:defRPr/>
            </a:pPr>
            <a:r>
              <a:rPr lang="en-US" altLang="en-US" sz="2000" dirty="0" err="1"/>
              <a:t>int</a:t>
            </a:r>
            <a:r>
              <a:rPr lang="en-US" altLang="en-US" sz="2000" dirty="0"/>
              <a:t> Power(</a:t>
            </a:r>
            <a:r>
              <a:rPr lang="en-US" altLang="en-US" sz="2000" dirty="0" err="1"/>
              <a:t>int</a:t>
            </a:r>
            <a:r>
              <a:rPr lang="en-US" altLang="en-US" sz="2000" dirty="0"/>
              <a:t> x, </a:t>
            </a:r>
            <a:r>
              <a:rPr lang="en-US" altLang="en-US" sz="2000" dirty="0" err="1"/>
              <a:t>int</a:t>
            </a:r>
            <a:r>
              <a:rPr lang="en-US" altLang="en-US" sz="2000" dirty="0"/>
              <a:t> y );</a:t>
            </a:r>
          </a:p>
          <a:p>
            <a:pPr indent="16669" eaLnBrk="1" hangingPunct="1">
              <a:lnSpc>
                <a:spcPct val="90000"/>
              </a:lnSpc>
              <a:buNone/>
              <a:defRPr/>
            </a:pPr>
            <a:r>
              <a:rPr lang="en-US" altLang="en-US" sz="2000" dirty="0" err="1"/>
              <a:t>int</a:t>
            </a:r>
            <a:r>
              <a:rPr lang="en-US" altLang="en-US" sz="2000" dirty="0"/>
              <a:t>  main()</a:t>
            </a:r>
          </a:p>
          <a:p>
            <a:pPr eaLnBrk="1" hangingPunct="1">
              <a:lnSpc>
                <a:spcPct val="90000"/>
              </a:lnSpc>
              <a:buFontTx/>
              <a:buNone/>
              <a:defRPr/>
            </a:pPr>
            <a:r>
              <a:rPr lang="en-US" altLang="en-US" sz="2000" dirty="0"/>
              <a:t>       {</a:t>
            </a:r>
          </a:p>
          <a:p>
            <a:pPr eaLnBrk="1" hangingPunct="1">
              <a:lnSpc>
                <a:spcPct val="90000"/>
              </a:lnSpc>
              <a:buFontTx/>
              <a:buNone/>
              <a:defRPr/>
            </a:pPr>
            <a:r>
              <a:rPr lang="en-US" altLang="en-US" sz="2000" dirty="0"/>
              <a:t>         </a:t>
            </a:r>
            <a:r>
              <a:rPr lang="en-US" altLang="en-US" sz="2000" dirty="0" err="1"/>
              <a:t>int</a:t>
            </a:r>
            <a:r>
              <a:rPr lang="en-US" altLang="en-US" sz="2000" dirty="0"/>
              <a:t>  </a:t>
            </a:r>
            <a:r>
              <a:rPr lang="en-US" altLang="en-US" sz="2000" dirty="0" err="1"/>
              <a:t>i</a:t>
            </a:r>
            <a:r>
              <a:rPr lang="en-US" altLang="en-US" sz="2000" dirty="0"/>
              <a:t>, j, res;</a:t>
            </a:r>
          </a:p>
          <a:p>
            <a:pPr eaLnBrk="1" hangingPunct="1">
              <a:lnSpc>
                <a:spcPct val="90000"/>
              </a:lnSpc>
              <a:buFontTx/>
              <a:buNone/>
              <a:defRPr/>
            </a:pPr>
            <a:r>
              <a:rPr lang="en-US" altLang="en-US" sz="2000" dirty="0"/>
              <a:t>         </a:t>
            </a:r>
            <a:r>
              <a:rPr lang="en-US" altLang="en-US" sz="2000" dirty="0" err="1"/>
              <a:t>printf</a:t>
            </a:r>
            <a:r>
              <a:rPr lang="en-US" altLang="en-US" sz="2000" dirty="0"/>
              <a:t>(“enter the two numbers as x to the power y”);</a:t>
            </a:r>
          </a:p>
          <a:p>
            <a:pPr eaLnBrk="1" hangingPunct="1">
              <a:lnSpc>
                <a:spcPct val="90000"/>
              </a:lnSpc>
              <a:buFontTx/>
              <a:buNone/>
              <a:defRPr/>
            </a:pPr>
            <a:r>
              <a:rPr lang="en-US" altLang="en-US" sz="2000" dirty="0"/>
              <a:t>        </a:t>
            </a:r>
            <a:r>
              <a:rPr lang="en-US" altLang="en-US" sz="2000" dirty="0" err="1"/>
              <a:t>scanf</a:t>
            </a:r>
            <a:r>
              <a:rPr lang="en-US" altLang="en-US" sz="2000" dirty="0"/>
              <a:t>(“%</a:t>
            </a:r>
            <a:r>
              <a:rPr lang="en-US" altLang="en-US" sz="2000" dirty="0" err="1"/>
              <a:t>d%d</a:t>
            </a:r>
            <a:r>
              <a:rPr lang="en-US" altLang="en-US" sz="2000" dirty="0"/>
              <a:t>”,&amp;</a:t>
            </a:r>
            <a:r>
              <a:rPr lang="en-US" altLang="en-US" sz="2000" dirty="0" err="1"/>
              <a:t>i</a:t>
            </a:r>
            <a:r>
              <a:rPr lang="en-US" altLang="en-US" sz="2000" dirty="0"/>
              <a:t>,&amp;j);</a:t>
            </a:r>
          </a:p>
          <a:p>
            <a:pPr eaLnBrk="1" hangingPunct="1">
              <a:lnSpc>
                <a:spcPct val="90000"/>
              </a:lnSpc>
              <a:buFontTx/>
              <a:buNone/>
              <a:defRPr/>
            </a:pPr>
            <a:r>
              <a:rPr lang="en-US" altLang="en-US" sz="2000" dirty="0"/>
              <a:t>        res=Power(</a:t>
            </a:r>
            <a:r>
              <a:rPr lang="en-US" altLang="en-US" sz="2000" dirty="0" err="1"/>
              <a:t>i,j</a:t>
            </a:r>
            <a:r>
              <a:rPr lang="en-US" altLang="en-US" sz="2000" dirty="0"/>
              <a:t>);</a:t>
            </a:r>
          </a:p>
          <a:p>
            <a:pPr eaLnBrk="1" hangingPunct="1">
              <a:lnSpc>
                <a:spcPct val="90000"/>
              </a:lnSpc>
              <a:buFontTx/>
              <a:buNone/>
              <a:defRPr/>
            </a:pPr>
            <a:r>
              <a:rPr lang="en-US" altLang="en-US" sz="2000" dirty="0"/>
              <a:t>        </a:t>
            </a:r>
            <a:r>
              <a:rPr lang="en-US" altLang="en-US" sz="2000" dirty="0" err="1"/>
              <a:t>cout</a:t>
            </a:r>
            <a:r>
              <a:rPr lang="en-US" altLang="en-US" sz="2000" dirty="0"/>
              <a:t>&lt;&lt;"x to the power of y is "&lt;&lt;res;</a:t>
            </a:r>
          </a:p>
          <a:p>
            <a:pPr eaLnBrk="1" hangingPunct="1">
              <a:lnSpc>
                <a:spcPct val="90000"/>
              </a:lnSpc>
              <a:buFontTx/>
              <a:buNone/>
              <a:defRPr/>
            </a:pPr>
            <a:r>
              <a:rPr lang="en-US" altLang="en-US" sz="2000" dirty="0"/>
              <a:t>       }</a:t>
            </a:r>
          </a:p>
          <a:p>
            <a:pPr indent="-19050" eaLnBrk="1" hangingPunct="1">
              <a:lnSpc>
                <a:spcPct val="90000"/>
              </a:lnSpc>
              <a:buNone/>
              <a:defRPr/>
            </a:pPr>
            <a:endParaRPr lang="en-US" altLang="en-US" sz="2000" dirty="0"/>
          </a:p>
          <a:p>
            <a:pPr indent="-19050" eaLnBrk="1" hangingPunct="1">
              <a:lnSpc>
                <a:spcPct val="90000"/>
              </a:lnSpc>
              <a:buNone/>
              <a:defRPr/>
            </a:pPr>
            <a:r>
              <a:rPr lang="en-US" altLang="en-US" sz="2000" dirty="0" err="1"/>
              <a:t>int</a:t>
            </a:r>
            <a:r>
              <a:rPr lang="en-US" altLang="en-US" sz="2000" dirty="0"/>
              <a:t> Power(</a:t>
            </a:r>
            <a:r>
              <a:rPr lang="en-US" altLang="en-US" sz="2000" dirty="0" err="1"/>
              <a:t>int</a:t>
            </a:r>
            <a:r>
              <a:rPr lang="en-US" altLang="en-US" sz="2000" dirty="0"/>
              <a:t> x, </a:t>
            </a:r>
            <a:r>
              <a:rPr lang="en-US" altLang="en-US" sz="2000" dirty="0" err="1"/>
              <a:t>int</a:t>
            </a:r>
            <a:r>
              <a:rPr lang="en-US" altLang="en-US" sz="2000" dirty="0"/>
              <a:t> y ) </a:t>
            </a:r>
          </a:p>
          <a:p>
            <a:pPr indent="-19050" eaLnBrk="1" hangingPunct="1">
              <a:lnSpc>
                <a:spcPct val="90000"/>
              </a:lnSpc>
              <a:buNone/>
              <a:defRPr/>
            </a:pPr>
            <a:r>
              <a:rPr lang="en-US" altLang="en-US" sz="2000" dirty="0"/>
              <a:t>{</a:t>
            </a:r>
          </a:p>
          <a:p>
            <a:pPr indent="-19050" eaLnBrk="1" hangingPunct="1">
              <a:lnSpc>
                <a:spcPct val="90000"/>
              </a:lnSpc>
              <a:buNone/>
              <a:defRPr/>
            </a:pPr>
            <a:r>
              <a:rPr lang="en-US" altLang="en-US" sz="2000" dirty="0"/>
              <a:t>if(y == 1) return x;</a:t>
            </a:r>
          </a:p>
          <a:p>
            <a:pPr indent="-19050" eaLnBrk="1" hangingPunct="1">
              <a:lnSpc>
                <a:spcPct val="90000"/>
              </a:lnSpc>
              <a:buNone/>
              <a:defRPr/>
            </a:pPr>
            <a:r>
              <a:rPr lang="en-US" altLang="en-US" sz="2000" dirty="0"/>
              <a:t>     </a:t>
            </a:r>
          </a:p>
          <a:p>
            <a:pPr indent="-19050" eaLnBrk="1" hangingPunct="1">
              <a:lnSpc>
                <a:spcPct val="90000"/>
              </a:lnSpc>
              <a:buNone/>
              <a:defRPr/>
            </a:pPr>
            <a:r>
              <a:rPr lang="en-US" altLang="en-US" sz="2000" dirty="0"/>
              <a:t>return x* Power(x,y-1);       </a:t>
            </a:r>
          </a:p>
          <a:p>
            <a:pPr indent="-19050" eaLnBrk="1" hangingPunct="1">
              <a:lnSpc>
                <a:spcPct val="90000"/>
              </a:lnSpc>
              <a:buNone/>
              <a:defRPr/>
            </a:pPr>
            <a:endParaRPr lang="en-US" altLang="en-US" sz="2000" dirty="0"/>
          </a:p>
          <a:p>
            <a:pPr indent="-19050" eaLnBrk="1" hangingPunct="1">
              <a:lnSpc>
                <a:spcPct val="90000"/>
              </a:lnSpc>
              <a:buNone/>
              <a:defRPr/>
            </a:pPr>
            <a:r>
              <a:rPr lang="en-US" altLang="en-US" sz="2000" dirty="0"/>
              <a:t> } </a:t>
            </a:r>
            <a:endParaRPr lang="en-US" altLang="en-US" sz="2800" dirty="0"/>
          </a:p>
        </p:txBody>
      </p:sp>
    </p:spTree>
    <p:extLst>
      <p:ext uri="{BB962C8B-B14F-4D97-AF65-F5344CB8AC3E}">
        <p14:creationId xmlns:p14="http://schemas.microsoft.com/office/powerpoint/2010/main" val="58662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53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353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353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353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353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353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353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353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3537">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3537">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3537">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3537">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3537">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3537">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3537">
                                            <p:txEl>
                                              <p:pRg st="16" end="1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3537">
                                            <p:txEl>
                                              <p:pRg st="18" end="1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3537">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3537">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3537">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3537">
                                            <p:txEl>
                                              <p:pRg st="4" end="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3537">
                                            <p:txEl>
                                              <p:pRg st="5" end="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93537">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3537">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3537">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3537">
                                            <p:txEl>
                                              <p:pRg st="9" end="9"/>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3537">
                                            <p:txEl>
                                              <p:pRg st="10" end="10"/>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93537">
                                            <p:txEl>
                                              <p:pRg st="12" end="12"/>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93537">
                                            <p:txEl>
                                              <p:pRg st="13" end="13"/>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93537">
                                            <p:txEl>
                                              <p:pRg st="14" end="14"/>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93537">
                                            <p:txEl>
                                              <p:pRg st="15" end="15"/>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93537">
                                            <p:txEl>
                                              <p:pRg st="16" end="16"/>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93537">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3">
            <a:extLst>
              <a:ext uri="{FF2B5EF4-FFF2-40B4-BE49-F238E27FC236}">
                <a16:creationId xmlns:a16="http://schemas.microsoft.com/office/drawing/2014/main" id="{B9FBD769-D1FA-FC4E-95CE-2A7D776DFD54}"/>
              </a:ext>
            </a:extLst>
          </p:cNvPr>
          <p:cNvSpPr>
            <a:spLocks noGrp="1" noChangeArrowheads="1"/>
          </p:cNvSpPr>
          <p:nvPr>
            <p:ph type="body" idx="4294967295"/>
          </p:nvPr>
        </p:nvSpPr>
        <p:spPr>
          <a:xfrm>
            <a:off x="1524000" y="0"/>
            <a:ext cx="8991600" cy="6858000"/>
          </a:xfrm>
        </p:spPr>
        <p:txBody>
          <a:bodyPr/>
          <a:lstStyle/>
          <a:p>
            <a:pPr marL="0" indent="0" eaLnBrk="1" hangingPunct="1">
              <a:lnSpc>
                <a:spcPct val="90000"/>
              </a:lnSpc>
              <a:buNone/>
              <a:defRPr/>
            </a:pPr>
            <a:r>
              <a:rPr lang="en-US" altLang="en-US" sz="2000" b="1" dirty="0">
                <a:solidFill>
                  <a:srgbClr val="000000"/>
                </a:solidFill>
              </a:rPr>
              <a:t>Program to sum the digits of a number using recursion</a:t>
            </a:r>
          </a:p>
          <a:p>
            <a:pPr marL="274638" indent="0" eaLnBrk="1" hangingPunct="1">
              <a:lnSpc>
                <a:spcPct val="90000"/>
              </a:lnSpc>
              <a:buNone/>
              <a:defRPr/>
            </a:pPr>
            <a:r>
              <a:rPr lang="en-US" altLang="en-US" sz="1500" dirty="0">
                <a:solidFill>
                  <a:srgbClr val="000000"/>
                </a:solidFill>
              </a:rPr>
              <a:t>  </a:t>
            </a:r>
          </a:p>
          <a:p>
            <a:pPr marL="274638" indent="0" eaLnBrk="1" hangingPunct="1">
              <a:lnSpc>
                <a:spcPct val="90000"/>
              </a:lnSpc>
              <a:buNone/>
              <a:defRPr/>
            </a:pPr>
            <a:r>
              <a:rPr lang="en-US" altLang="en-US" sz="1500" dirty="0">
                <a:solidFill>
                  <a:srgbClr val="000000"/>
                </a:solidFill>
              </a:rPr>
              <a:t>    </a:t>
            </a:r>
            <a:r>
              <a:rPr lang="en-US" altLang="en-US" sz="2000" dirty="0">
                <a:solidFill>
                  <a:srgbClr val="000000"/>
                </a:solidFill>
              </a:rPr>
              <a:t>#include &lt;</a:t>
            </a:r>
            <a:r>
              <a:rPr lang="en-US" altLang="en-US" sz="2000" dirty="0" err="1">
                <a:solidFill>
                  <a:srgbClr val="000000"/>
                </a:solidFill>
              </a:rPr>
              <a:t>stdio.h</a:t>
            </a:r>
            <a:r>
              <a:rPr lang="en-US" altLang="en-US" sz="2000" dirty="0">
                <a:solidFill>
                  <a:srgbClr val="000000"/>
                </a:solidFill>
              </a:rPr>
              <a:t>&gt;</a:t>
            </a:r>
          </a:p>
          <a:p>
            <a:pPr marL="274638" indent="0" eaLnBrk="1" hangingPunct="1">
              <a:lnSpc>
                <a:spcPct val="90000"/>
              </a:lnSpc>
              <a:buNone/>
              <a:defRPr/>
            </a:pPr>
            <a:r>
              <a:rPr lang="en-US" altLang="en-US" sz="2000" dirty="0">
                <a:solidFill>
                  <a:srgbClr val="000000"/>
                </a:solidFill>
              </a:rPr>
              <a:t>    </a:t>
            </a:r>
            <a:r>
              <a:rPr lang="en-US" altLang="en-US" sz="2000" dirty="0" err="1">
                <a:solidFill>
                  <a:srgbClr val="000000"/>
                </a:solidFill>
              </a:rPr>
              <a:t>int</a:t>
            </a:r>
            <a:r>
              <a:rPr lang="en-US" altLang="en-US" sz="2000" dirty="0">
                <a:solidFill>
                  <a:srgbClr val="000000"/>
                </a:solidFill>
              </a:rPr>
              <a:t> </a:t>
            </a:r>
            <a:r>
              <a:rPr lang="en-US" altLang="en-US" sz="2000" dirty="0" err="1">
                <a:solidFill>
                  <a:srgbClr val="000000"/>
                </a:solidFill>
              </a:rPr>
              <a:t>findsum</a:t>
            </a:r>
            <a:r>
              <a:rPr lang="en-US" altLang="en-US" sz="2000" dirty="0">
                <a:solidFill>
                  <a:srgbClr val="000000"/>
                </a:solidFill>
              </a:rPr>
              <a:t> (</a:t>
            </a:r>
            <a:r>
              <a:rPr lang="en-US" altLang="en-US" sz="2000" dirty="0" err="1">
                <a:solidFill>
                  <a:srgbClr val="000000"/>
                </a:solidFill>
              </a:rPr>
              <a:t>int</a:t>
            </a:r>
            <a:r>
              <a:rPr lang="en-US" altLang="en-US" sz="2000" dirty="0">
                <a:solidFill>
                  <a:srgbClr val="000000"/>
                </a:solidFill>
              </a:rPr>
              <a:t> n);</a:t>
            </a:r>
          </a:p>
          <a:p>
            <a:pPr marL="274638" indent="0" eaLnBrk="1" hangingPunct="1">
              <a:lnSpc>
                <a:spcPct val="90000"/>
              </a:lnSpc>
              <a:buNone/>
              <a:defRPr/>
            </a:pPr>
            <a:r>
              <a:rPr lang="en-US" altLang="en-US" sz="2000" dirty="0">
                <a:solidFill>
                  <a:srgbClr val="000000"/>
                </a:solidFill>
              </a:rPr>
              <a:t>    </a:t>
            </a:r>
            <a:r>
              <a:rPr lang="en-US" altLang="en-US" sz="2000" dirty="0" err="1">
                <a:solidFill>
                  <a:srgbClr val="000000"/>
                </a:solidFill>
              </a:rPr>
              <a:t>int</a:t>
            </a:r>
            <a:r>
              <a:rPr lang="en-US" altLang="en-US" sz="2000" dirty="0">
                <a:solidFill>
                  <a:srgbClr val="000000"/>
                </a:solidFill>
              </a:rPr>
              <a:t> main(){</a:t>
            </a:r>
          </a:p>
          <a:p>
            <a:pPr marL="274638" indent="0" eaLnBrk="1" hangingPunct="1">
              <a:lnSpc>
                <a:spcPct val="90000"/>
              </a:lnSpc>
              <a:buNone/>
              <a:defRPr/>
            </a:pPr>
            <a:r>
              <a:rPr lang="en-US" altLang="en-US" sz="2000" dirty="0">
                <a:solidFill>
                  <a:srgbClr val="000000"/>
                </a:solidFill>
              </a:rPr>
              <a:t>    </a:t>
            </a:r>
            <a:r>
              <a:rPr lang="en-US" altLang="en-US" sz="2000" dirty="0" err="1">
                <a:solidFill>
                  <a:srgbClr val="000000"/>
                </a:solidFill>
              </a:rPr>
              <a:t>int</a:t>
            </a:r>
            <a:r>
              <a:rPr lang="en-US" altLang="en-US" sz="2000" dirty="0">
                <a:solidFill>
                  <a:srgbClr val="000000"/>
                </a:solidFill>
              </a:rPr>
              <a:t> </a:t>
            </a:r>
            <a:r>
              <a:rPr lang="en-US" altLang="en-US" sz="2000" dirty="0" err="1">
                <a:solidFill>
                  <a:srgbClr val="000000"/>
                </a:solidFill>
              </a:rPr>
              <a:t>num</a:t>
            </a:r>
            <a:r>
              <a:rPr lang="en-US" altLang="en-US" sz="2000" dirty="0">
                <a:solidFill>
                  <a:srgbClr val="000000"/>
                </a:solidFill>
              </a:rPr>
              <a:t>, x;</a:t>
            </a:r>
          </a:p>
          <a:p>
            <a:pPr marL="274638" indent="0" eaLnBrk="1" hangingPunct="1">
              <a:lnSpc>
                <a:spcPct val="90000"/>
              </a:lnSpc>
              <a:buNone/>
              <a:defRPr/>
            </a:pPr>
            <a:r>
              <a:rPr lang="en-US" altLang="en-US" sz="2000" dirty="0">
                <a:solidFill>
                  <a:srgbClr val="000000"/>
                </a:solidFill>
              </a:rPr>
              <a:t>    </a:t>
            </a:r>
            <a:r>
              <a:rPr lang="en-US" altLang="en-US" sz="2000" dirty="0" err="1">
                <a:solidFill>
                  <a:srgbClr val="000000"/>
                </a:solidFill>
              </a:rPr>
              <a:t>printf</a:t>
            </a:r>
            <a:r>
              <a:rPr lang="en-US" altLang="en-US" sz="2000" dirty="0">
                <a:solidFill>
                  <a:srgbClr val="000000"/>
                </a:solidFill>
              </a:rPr>
              <a:t>(“Enter a number: ”);</a:t>
            </a:r>
          </a:p>
          <a:p>
            <a:pPr marL="274638" indent="0" eaLnBrk="1" hangingPunct="1">
              <a:lnSpc>
                <a:spcPct val="90000"/>
              </a:lnSpc>
              <a:buNone/>
              <a:defRPr/>
            </a:pPr>
            <a:r>
              <a:rPr lang="en-US" altLang="en-US" sz="2000" dirty="0">
                <a:solidFill>
                  <a:srgbClr val="000000"/>
                </a:solidFill>
              </a:rPr>
              <a:t>    </a:t>
            </a:r>
            <a:r>
              <a:rPr lang="en-US" altLang="en-US" sz="2000" dirty="0" err="1">
                <a:solidFill>
                  <a:srgbClr val="000000"/>
                </a:solidFill>
              </a:rPr>
              <a:t>scanf</a:t>
            </a:r>
            <a:r>
              <a:rPr lang="en-US" altLang="en-US" sz="2000" dirty="0">
                <a:solidFill>
                  <a:srgbClr val="000000"/>
                </a:solidFill>
              </a:rPr>
              <a:t>(“%d”,&amp;</a:t>
            </a:r>
            <a:r>
              <a:rPr lang="en-US" altLang="en-US" sz="2000" dirty="0" err="1">
                <a:solidFill>
                  <a:srgbClr val="000000"/>
                </a:solidFill>
              </a:rPr>
              <a:t>num</a:t>
            </a:r>
            <a:r>
              <a:rPr lang="en-US" altLang="en-US" sz="2000" dirty="0">
                <a:solidFill>
                  <a:srgbClr val="000000"/>
                </a:solidFill>
              </a:rPr>
              <a:t>);</a:t>
            </a:r>
          </a:p>
          <a:p>
            <a:pPr marL="274638" indent="0" eaLnBrk="1" hangingPunct="1">
              <a:lnSpc>
                <a:spcPct val="90000"/>
              </a:lnSpc>
              <a:buNone/>
              <a:defRPr/>
            </a:pPr>
            <a:r>
              <a:rPr lang="en-US" altLang="en-US" sz="2000" dirty="0">
                <a:solidFill>
                  <a:srgbClr val="000000"/>
                </a:solidFill>
              </a:rPr>
              <a:t>    x=</a:t>
            </a:r>
            <a:r>
              <a:rPr lang="en-US" altLang="en-US" sz="2000" dirty="0" err="1">
                <a:solidFill>
                  <a:srgbClr val="000000"/>
                </a:solidFill>
              </a:rPr>
              <a:t>findsum</a:t>
            </a:r>
            <a:r>
              <a:rPr lang="en-US" altLang="en-US" sz="2000" dirty="0">
                <a:solidFill>
                  <a:srgbClr val="000000"/>
                </a:solidFill>
              </a:rPr>
              <a:t> (</a:t>
            </a:r>
            <a:r>
              <a:rPr lang="en-US" altLang="en-US" sz="2000" dirty="0" err="1">
                <a:solidFill>
                  <a:srgbClr val="000000"/>
                </a:solidFill>
              </a:rPr>
              <a:t>num</a:t>
            </a:r>
            <a:r>
              <a:rPr lang="en-US" altLang="en-US" sz="2000" dirty="0">
                <a:solidFill>
                  <a:srgbClr val="000000"/>
                </a:solidFill>
              </a:rPr>
              <a:t>);</a:t>
            </a:r>
          </a:p>
          <a:p>
            <a:pPr marL="274638" indent="0" eaLnBrk="1" hangingPunct="1">
              <a:lnSpc>
                <a:spcPct val="90000"/>
              </a:lnSpc>
              <a:buNone/>
              <a:defRPr/>
            </a:pPr>
            <a:r>
              <a:rPr lang="en-US" altLang="en-US" sz="2000" dirty="0">
                <a:solidFill>
                  <a:srgbClr val="000000"/>
                </a:solidFill>
              </a:rPr>
              <a:t>    </a:t>
            </a:r>
            <a:r>
              <a:rPr lang="en-US" altLang="en-US" sz="2000" dirty="0" err="1">
                <a:solidFill>
                  <a:srgbClr val="000000"/>
                </a:solidFill>
              </a:rPr>
              <a:t>printf</a:t>
            </a:r>
            <a:r>
              <a:rPr lang="en-US" altLang="en-US" sz="2000" dirty="0">
                <a:solidFill>
                  <a:srgbClr val="000000"/>
                </a:solidFill>
              </a:rPr>
              <a:t>(“Sum of the digits  is %d”, x);</a:t>
            </a:r>
          </a:p>
          <a:p>
            <a:pPr marL="274638" indent="0" eaLnBrk="1" hangingPunct="1">
              <a:lnSpc>
                <a:spcPct val="90000"/>
              </a:lnSpc>
              <a:buNone/>
              <a:defRPr/>
            </a:pPr>
            <a:r>
              <a:rPr lang="en-US" altLang="en-US" sz="2000" dirty="0">
                <a:solidFill>
                  <a:srgbClr val="000000"/>
                </a:solidFill>
              </a:rPr>
              <a:t>    }</a:t>
            </a:r>
          </a:p>
          <a:p>
            <a:pPr marL="274638" indent="0" eaLnBrk="1" hangingPunct="1">
              <a:lnSpc>
                <a:spcPct val="90000"/>
              </a:lnSpc>
              <a:buNone/>
              <a:defRPr/>
            </a:pPr>
            <a:endParaRPr lang="en-US" altLang="en-US" sz="2000" dirty="0">
              <a:solidFill>
                <a:srgbClr val="000000"/>
              </a:solidFill>
            </a:endParaRPr>
          </a:p>
          <a:p>
            <a:pPr marL="274638" indent="0" eaLnBrk="1" hangingPunct="1">
              <a:lnSpc>
                <a:spcPct val="90000"/>
              </a:lnSpc>
              <a:buNone/>
              <a:defRPr/>
            </a:pPr>
            <a:r>
              <a:rPr lang="en-US" altLang="en-US" sz="2000" dirty="0">
                <a:solidFill>
                  <a:srgbClr val="000000"/>
                </a:solidFill>
              </a:rPr>
              <a:t>   </a:t>
            </a:r>
            <a:r>
              <a:rPr lang="en-US" altLang="en-US" sz="2000" dirty="0" err="1">
                <a:solidFill>
                  <a:srgbClr val="000000"/>
                </a:solidFill>
              </a:rPr>
              <a:t>int</a:t>
            </a:r>
            <a:r>
              <a:rPr lang="en-US" altLang="en-US" sz="2000" dirty="0">
                <a:solidFill>
                  <a:srgbClr val="000000"/>
                </a:solidFill>
              </a:rPr>
              <a:t> </a:t>
            </a:r>
            <a:r>
              <a:rPr lang="en-US" altLang="en-US" sz="2000" dirty="0" err="1">
                <a:solidFill>
                  <a:srgbClr val="000000"/>
                </a:solidFill>
              </a:rPr>
              <a:t>findsum</a:t>
            </a:r>
            <a:r>
              <a:rPr lang="en-US" altLang="en-US" sz="2000" dirty="0">
                <a:solidFill>
                  <a:srgbClr val="000000"/>
                </a:solidFill>
              </a:rPr>
              <a:t> (</a:t>
            </a:r>
            <a:r>
              <a:rPr lang="en-US" altLang="en-US" sz="2000" dirty="0" err="1">
                <a:solidFill>
                  <a:srgbClr val="000000"/>
                </a:solidFill>
              </a:rPr>
              <a:t>int</a:t>
            </a:r>
            <a:r>
              <a:rPr lang="en-US" altLang="en-US" sz="2000" dirty="0">
                <a:solidFill>
                  <a:srgbClr val="000000"/>
                </a:solidFill>
              </a:rPr>
              <a:t> n)</a:t>
            </a:r>
          </a:p>
          <a:p>
            <a:pPr marL="274638" indent="0" eaLnBrk="1" hangingPunct="1">
              <a:lnSpc>
                <a:spcPct val="90000"/>
              </a:lnSpc>
              <a:buNone/>
              <a:defRPr/>
            </a:pPr>
            <a:r>
              <a:rPr lang="en-US" altLang="en-US" sz="2000" dirty="0">
                <a:solidFill>
                  <a:srgbClr val="000000"/>
                </a:solidFill>
              </a:rPr>
              <a:t>    {</a:t>
            </a:r>
          </a:p>
          <a:p>
            <a:pPr marL="274638" indent="0" eaLnBrk="1" hangingPunct="1">
              <a:lnSpc>
                <a:spcPct val="90000"/>
              </a:lnSpc>
              <a:buNone/>
              <a:defRPr/>
            </a:pPr>
            <a:r>
              <a:rPr lang="en-US" altLang="en-US" sz="2000" dirty="0">
                <a:solidFill>
                  <a:srgbClr val="000000"/>
                </a:solidFill>
              </a:rPr>
              <a:t>    if(n==0){</a:t>
            </a:r>
          </a:p>
          <a:p>
            <a:pPr marL="274638" indent="0" eaLnBrk="1" hangingPunct="1">
              <a:lnSpc>
                <a:spcPct val="90000"/>
              </a:lnSpc>
              <a:buNone/>
              <a:defRPr/>
            </a:pPr>
            <a:r>
              <a:rPr lang="en-US" altLang="en-US" sz="2000" dirty="0">
                <a:solidFill>
                  <a:srgbClr val="000000"/>
                </a:solidFill>
              </a:rPr>
              <a:t>      return  0;</a:t>
            </a:r>
          </a:p>
          <a:p>
            <a:pPr marL="274638" indent="0" eaLnBrk="1" hangingPunct="1">
              <a:lnSpc>
                <a:spcPct val="90000"/>
              </a:lnSpc>
              <a:buNone/>
              <a:defRPr/>
            </a:pPr>
            <a:r>
              <a:rPr lang="en-US" altLang="en-US" sz="2000" dirty="0">
                <a:solidFill>
                  <a:srgbClr val="000000"/>
                </a:solidFill>
              </a:rPr>
              <a:t>      }</a:t>
            </a:r>
          </a:p>
          <a:p>
            <a:pPr marL="274638" indent="0" eaLnBrk="1" hangingPunct="1">
              <a:lnSpc>
                <a:spcPct val="90000"/>
              </a:lnSpc>
              <a:buNone/>
              <a:defRPr/>
            </a:pPr>
            <a:r>
              <a:rPr lang="en-US" altLang="en-US" sz="2000" dirty="0">
                <a:solidFill>
                  <a:srgbClr val="000000"/>
                </a:solidFill>
              </a:rPr>
              <a:t>    return  n%10+findsum(n/10);</a:t>
            </a:r>
          </a:p>
          <a:p>
            <a:pPr marL="274638" indent="0" eaLnBrk="1" hangingPunct="1">
              <a:lnSpc>
                <a:spcPct val="90000"/>
              </a:lnSpc>
              <a:buNone/>
              <a:defRPr/>
            </a:pPr>
            <a:r>
              <a:rPr lang="en-US" altLang="en-US" sz="2000" dirty="0">
                <a:solidFill>
                  <a:srgbClr val="000000"/>
                </a:solidFill>
              </a:rPr>
              <a:t>      }</a:t>
            </a:r>
          </a:p>
          <a:p>
            <a:pPr eaLnBrk="1" hangingPunct="1">
              <a:lnSpc>
                <a:spcPct val="90000"/>
              </a:lnSpc>
              <a:buFontTx/>
              <a:buNone/>
              <a:defRPr/>
            </a:pPr>
            <a:br>
              <a:rPr lang="en-US" altLang="en-US" sz="1500" b="1" dirty="0">
                <a:solidFill>
                  <a:srgbClr val="000000"/>
                </a:solidFill>
              </a:rPr>
            </a:br>
            <a:r>
              <a:rPr lang="en-US" altLang="en-US" sz="1500" b="1" dirty="0"/>
              <a:t> </a:t>
            </a:r>
          </a:p>
        </p:txBody>
      </p:sp>
    </p:spTree>
    <p:extLst>
      <p:ext uri="{BB962C8B-B14F-4D97-AF65-F5344CB8AC3E}">
        <p14:creationId xmlns:p14="http://schemas.microsoft.com/office/powerpoint/2010/main" val="34775527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6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6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56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6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56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561">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561">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4561">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4561">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4561">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4561">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561">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4561">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4561">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4561">
                                            <p:txEl>
                                              <p:pRg st="17" end="1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4561">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533400"/>
            <a:ext cx="8305800" cy="5257800"/>
          </a:xfrm>
        </p:spPr>
        <p:txBody>
          <a:bodyPr/>
          <a:lstStyle/>
          <a:p>
            <a:r>
              <a:rPr lang="en-US" dirty="0"/>
              <a:t>Problem: what will be the value of L(10):</a:t>
            </a:r>
          </a:p>
          <a:p>
            <a:pPr>
              <a:buNone/>
            </a:pPr>
            <a:r>
              <a:rPr lang="en-US" dirty="0"/>
              <a:t>               1                      n=0</a:t>
            </a:r>
          </a:p>
          <a:p>
            <a:pPr>
              <a:buNone/>
            </a:pPr>
            <a:r>
              <a:rPr lang="en-US" dirty="0"/>
              <a:t>L(n)=</a:t>
            </a:r>
          </a:p>
          <a:p>
            <a:pPr>
              <a:buNone/>
            </a:pPr>
            <a:r>
              <a:rPr lang="en-US" dirty="0"/>
              <a:t>              L(n-5) +1         n&gt;1</a:t>
            </a:r>
          </a:p>
          <a:p>
            <a:pPr>
              <a:buNone/>
            </a:pPr>
            <a:endParaRPr lang="en-US" dirty="0"/>
          </a:p>
          <a:p>
            <a:pPr>
              <a:buNone/>
            </a:pPr>
            <a:r>
              <a:rPr lang="en-US" dirty="0"/>
              <a:t>Sol: L(10)=L(10-5)+1  ………….(1)</a:t>
            </a:r>
          </a:p>
          <a:p>
            <a:pPr>
              <a:buNone/>
            </a:pPr>
            <a:r>
              <a:rPr lang="en-US" dirty="0"/>
              <a:t>        L(5)=L(0) +1        …………….(2)</a:t>
            </a:r>
          </a:p>
          <a:p>
            <a:pPr>
              <a:buNone/>
            </a:pPr>
            <a:r>
              <a:rPr lang="en-US" dirty="0"/>
              <a:t>        L(0)=1                  …………….(3)</a:t>
            </a:r>
          </a:p>
          <a:p>
            <a:pPr>
              <a:buNone/>
            </a:pPr>
            <a:r>
              <a:rPr lang="en-US" dirty="0"/>
              <a:t>Thus putting value of L(0) in  (2), L(5)=2</a:t>
            </a:r>
          </a:p>
          <a:p>
            <a:pPr>
              <a:buNone/>
            </a:pPr>
            <a:r>
              <a:rPr lang="en-US" dirty="0"/>
              <a:t>Putting value of L(5) in  (1), L(10)=3</a:t>
            </a:r>
          </a:p>
          <a:p>
            <a:pPr>
              <a:buNone/>
            </a:pPr>
            <a:r>
              <a:rPr lang="en-US" dirty="0"/>
              <a:t>Thus finally, the value of L(10)=3</a:t>
            </a:r>
          </a:p>
        </p:txBody>
      </p:sp>
      <p:sp>
        <p:nvSpPr>
          <p:cNvPr id="4" name="Right Brace 3"/>
          <p:cNvSpPr/>
          <p:nvPr/>
        </p:nvSpPr>
        <p:spPr>
          <a:xfrm rot="10800000">
            <a:off x="2743200" y="990600"/>
            <a:ext cx="381000" cy="1524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831157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3"/>
          <p:cNvSpPr>
            <a:spLocks noGrp="1" noChangeArrowheads="1"/>
          </p:cNvSpPr>
          <p:nvPr>
            <p:ph type="body" idx="1"/>
          </p:nvPr>
        </p:nvSpPr>
        <p:spPr/>
        <p:txBody>
          <a:bodyPr/>
          <a:lstStyle/>
          <a:p>
            <a:pPr algn="ctr" eaLnBrk="1" hangingPunct="1">
              <a:buFontTx/>
              <a:buNone/>
            </a:pPr>
            <a:r>
              <a:rPr lang="en-US" sz="14200" u="sng"/>
              <a:t>QUEUE</a:t>
            </a:r>
          </a:p>
        </p:txBody>
      </p:sp>
    </p:spTree>
    <p:extLst>
      <p:ext uri="{BB962C8B-B14F-4D97-AF65-F5344CB8AC3E}">
        <p14:creationId xmlns:p14="http://schemas.microsoft.com/office/powerpoint/2010/main" val="133581770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3"/>
          <p:cNvSpPr>
            <a:spLocks noGrp="1" noChangeArrowheads="1"/>
          </p:cNvSpPr>
          <p:nvPr>
            <p:ph type="body" idx="1"/>
          </p:nvPr>
        </p:nvSpPr>
        <p:spPr>
          <a:xfrm>
            <a:off x="1524000" y="0"/>
            <a:ext cx="9144000" cy="6858000"/>
          </a:xfrm>
        </p:spPr>
        <p:txBody>
          <a:bodyPr/>
          <a:lstStyle/>
          <a:p>
            <a:pPr eaLnBrk="1" hangingPunct="1"/>
            <a:endParaRPr lang="en-US" dirty="0"/>
          </a:p>
          <a:p>
            <a:pPr eaLnBrk="1" hangingPunct="1"/>
            <a:r>
              <a:rPr lang="en-US" dirty="0"/>
              <a:t>Queue- A queue is a linear list of elements in which insertions can take place at one end called the rear of the queue, and deletion can take place only at other end, called the font of the queue. Queues are also called the FIFO lists (First In First Out) since first element in queue is the first element out of the queue. An important example of a queue in computer science occurs in time sharing systems in which programs with same priority form a queue while waiting to be executed.</a:t>
            </a:r>
          </a:p>
          <a:p>
            <a:pPr eaLnBrk="1" hangingPunct="1"/>
            <a:endParaRPr lang="en-US" dirty="0"/>
          </a:p>
          <a:p>
            <a:pPr eaLnBrk="1" hangingPunct="1"/>
            <a:r>
              <a:rPr lang="en-US" dirty="0"/>
              <a:t>Queues may be represented in computer in various ways, usually by means of one-way lists or linear arrays</a:t>
            </a:r>
          </a:p>
        </p:txBody>
      </p:sp>
    </p:spTree>
    <p:extLst>
      <p:ext uri="{BB962C8B-B14F-4D97-AF65-F5344CB8AC3E}">
        <p14:creationId xmlns:p14="http://schemas.microsoft.com/office/powerpoint/2010/main" val="47515012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007DF-9385-E34D-9E22-CBF7458AF2DC}"/>
              </a:ext>
            </a:extLst>
          </p:cNvPr>
          <p:cNvSpPr>
            <a:spLocks noGrp="1"/>
          </p:cNvSpPr>
          <p:nvPr>
            <p:ph type="title"/>
          </p:nvPr>
        </p:nvSpPr>
        <p:spPr>
          <a:xfrm>
            <a:off x="1568605" y="0"/>
            <a:ext cx="9023195" cy="838200"/>
          </a:xfrm>
        </p:spPr>
        <p:txBody>
          <a:bodyPr/>
          <a:lstStyle/>
          <a:p>
            <a:r>
              <a:rPr lang="en-US" b="1" dirty="0"/>
              <a:t>Applications of Queue</a:t>
            </a:r>
          </a:p>
        </p:txBody>
      </p:sp>
      <p:sp>
        <p:nvSpPr>
          <p:cNvPr id="3" name="Content Placeholder 2">
            <a:extLst>
              <a:ext uri="{FF2B5EF4-FFF2-40B4-BE49-F238E27FC236}">
                <a16:creationId xmlns:a16="http://schemas.microsoft.com/office/drawing/2014/main" id="{1A7B7CDE-DA63-7648-95BE-CFC8DF9C23AD}"/>
              </a:ext>
            </a:extLst>
          </p:cNvPr>
          <p:cNvSpPr>
            <a:spLocks noGrp="1"/>
          </p:cNvSpPr>
          <p:nvPr>
            <p:ph idx="1"/>
          </p:nvPr>
        </p:nvSpPr>
        <p:spPr>
          <a:xfrm>
            <a:off x="1524000" y="990600"/>
            <a:ext cx="9144000" cy="5867400"/>
          </a:xfrm>
        </p:spPr>
        <p:txBody>
          <a:bodyPr/>
          <a:lstStyle/>
          <a:p>
            <a:pPr marL="0" indent="0">
              <a:buNone/>
            </a:pPr>
            <a:r>
              <a:rPr lang="en-US" dirty="0"/>
              <a:t>Queue is used when things don’t have to be processed immediately, but have to be processed in First In First Out order .This property of Queue makes it also useful in following kind of scenarios.</a:t>
            </a:r>
          </a:p>
          <a:p>
            <a:pPr marL="0" indent="0">
              <a:buNone/>
            </a:pPr>
            <a:endParaRPr lang="en-US" dirty="0"/>
          </a:p>
          <a:p>
            <a:r>
              <a:rPr lang="en-US" dirty="0"/>
              <a:t>When a resource is shared among multiple consumers. Examples include CPU scheduling, Disk Scheduling.</a:t>
            </a:r>
          </a:p>
          <a:p>
            <a:endParaRPr lang="en-US" dirty="0"/>
          </a:p>
          <a:p>
            <a:r>
              <a:rPr lang="en-US" dirty="0"/>
              <a:t>When data is transferred asynchronously (data not necessarily received at same rate as sent) between two processes. Examples include IO Buffers, file IO, etc.</a:t>
            </a:r>
          </a:p>
          <a:p>
            <a:endParaRPr lang="en-US" dirty="0"/>
          </a:p>
          <a:p>
            <a:r>
              <a:rPr lang="en-US" dirty="0"/>
              <a:t>In one of the traversals of graph, Breadth First search</a:t>
            </a:r>
          </a:p>
          <a:p>
            <a:pPr marL="0" indent="0">
              <a:buNone/>
            </a:pPr>
            <a:br>
              <a:rPr lang="en-US" dirty="0"/>
            </a:br>
            <a:endParaRPr lang="en-US" dirty="0"/>
          </a:p>
        </p:txBody>
      </p:sp>
    </p:spTree>
    <p:extLst>
      <p:ext uri="{BB962C8B-B14F-4D97-AF65-F5344CB8AC3E}">
        <p14:creationId xmlns:p14="http://schemas.microsoft.com/office/powerpoint/2010/main" val="36945520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dirty="0"/>
              <a:t>Representing a Queue Using an Array</a:t>
            </a:r>
          </a:p>
          <a:p>
            <a:pPr eaLnBrk="1" hangingPunct="1">
              <a:buFontTx/>
              <a:buNone/>
            </a:pPr>
            <a:r>
              <a:rPr lang="en-US" sz="2000" dirty="0"/>
              <a:t>     A Queue is maintained by a linear array queue and two pointer variables: FRONT, containing the location of front element of the queue and REAR, containing the location of rear element of the queue. The condition FRONT=NULL indicates that queue is empty. Whenever an element is deleted from the queue, the value of FRONT is increased by 1. Similarly, whenever an element is added to queue, the value of REAR is increased by 1.</a:t>
            </a:r>
          </a:p>
        </p:txBody>
      </p:sp>
    </p:spTree>
    <p:extLst>
      <p:ext uri="{BB962C8B-B14F-4D97-AF65-F5344CB8AC3E}">
        <p14:creationId xmlns:p14="http://schemas.microsoft.com/office/powerpoint/2010/main" val="364661861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body" idx="1"/>
          </p:nvPr>
        </p:nvSpPr>
        <p:spPr>
          <a:xfrm>
            <a:off x="1524000" y="0"/>
            <a:ext cx="9144000" cy="6858000"/>
          </a:xfrm>
        </p:spPr>
        <p:txBody>
          <a:bodyPr/>
          <a:lstStyle/>
          <a:p>
            <a:pPr algn="ctr" eaLnBrk="1" hangingPunct="1">
              <a:lnSpc>
                <a:spcPct val="90000"/>
              </a:lnSpc>
              <a:buFontTx/>
              <a:buNone/>
            </a:pPr>
            <a:r>
              <a:rPr lang="en-US" b="1" dirty="0"/>
              <a:t>Algorithm for Inserting in a  QUEUE</a:t>
            </a:r>
          </a:p>
          <a:p>
            <a:pPr eaLnBrk="1" hangingPunct="1">
              <a:lnSpc>
                <a:spcPct val="90000"/>
              </a:lnSpc>
            </a:pPr>
            <a:r>
              <a:rPr lang="en-US" dirty="0"/>
              <a:t>Algorithm: QINSERT(QUEUE, N, FRONT, REAR,ITEM)</a:t>
            </a:r>
          </a:p>
          <a:p>
            <a:pPr eaLnBrk="1" hangingPunct="1">
              <a:lnSpc>
                <a:spcPct val="90000"/>
              </a:lnSpc>
              <a:buFontTx/>
              <a:buNone/>
            </a:pPr>
            <a:r>
              <a:rPr lang="en-US" dirty="0"/>
              <a:t>                      This algorithm inserts an element in a  linear queue</a:t>
            </a:r>
          </a:p>
          <a:p>
            <a:pPr eaLnBrk="1" hangingPunct="1">
              <a:lnSpc>
                <a:spcPct val="90000"/>
              </a:lnSpc>
            </a:pPr>
            <a:r>
              <a:rPr lang="en-US" dirty="0"/>
              <a:t>Step 1:[Queue already filled] </a:t>
            </a:r>
          </a:p>
          <a:p>
            <a:pPr lvl="1" eaLnBrk="1" hangingPunct="1">
              <a:lnSpc>
                <a:spcPct val="90000"/>
              </a:lnSpc>
              <a:buFontTx/>
              <a:buNone/>
            </a:pPr>
            <a:r>
              <a:rPr lang="en-US" dirty="0"/>
              <a:t>          If REAR=N,  then:</a:t>
            </a:r>
          </a:p>
          <a:p>
            <a:pPr eaLnBrk="1" hangingPunct="1">
              <a:lnSpc>
                <a:spcPct val="90000"/>
              </a:lnSpc>
              <a:buFontTx/>
              <a:buNone/>
            </a:pPr>
            <a:r>
              <a:rPr lang="en-US" dirty="0"/>
              <a:t>                Write: ‘OVERFLOW’</a:t>
            </a:r>
          </a:p>
          <a:p>
            <a:pPr eaLnBrk="1" hangingPunct="1">
              <a:lnSpc>
                <a:spcPct val="90000"/>
              </a:lnSpc>
              <a:buFontTx/>
              <a:buNone/>
            </a:pPr>
            <a:r>
              <a:rPr lang="en-US" dirty="0"/>
              <a:t>                 Return</a:t>
            </a:r>
          </a:p>
          <a:p>
            <a:pPr eaLnBrk="1" hangingPunct="1">
              <a:lnSpc>
                <a:spcPct val="90000"/>
              </a:lnSpc>
            </a:pPr>
            <a:r>
              <a:rPr lang="en-US" dirty="0"/>
              <a:t>Step 2: If FRONT=0, then: [Queue initially empty]</a:t>
            </a:r>
          </a:p>
          <a:p>
            <a:pPr eaLnBrk="1" hangingPunct="1">
              <a:lnSpc>
                <a:spcPct val="90000"/>
              </a:lnSpc>
              <a:buFontTx/>
              <a:buNone/>
            </a:pPr>
            <a:r>
              <a:rPr lang="en-US" dirty="0"/>
              <a:t>                Set FRONT:=1 and REAR:=1</a:t>
            </a:r>
          </a:p>
          <a:p>
            <a:pPr eaLnBrk="1" hangingPunct="1">
              <a:lnSpc>
                <a:spcPct val="90000"/>
              </a:lnSpc>
              <a:buFontTx/>
              <a:buNone/>
            </a:pPr>
            <a:r>
              <a:rPr lang="en-US" dirty="0"/>
              <a:t>                 Else:</a:t>
            </a:r>
          </a:p>
          <a:p>
            <a:pPr eaLnBrk="1" hangingPunct="1">
              <a:lnSpc>
                <a:spcPct val="90000"/>
              </a:lnSpc>
              <a:buFontTx/>
              <a:buNone/>
            </a:pPr>
            <a:r>
              <a:rPr lang="en-US" dirty="0"/>
              <a:t>                Set REAR:=REAR+1</a:t>
            </a:r>
          </a:p>
          <a:p>
            <a:pPr eaLnBrk="1" hangingPunct="1">
              <a:lnSpc>
                <a:spcPct val="90000"/>
              </a:lnSpc>
              <a:buFontTx/>
              <a:buNone/>
            </a:pPr>
            <a:r>
              <a:rPr lang="en-US" dirty="0"/>
              <a:t>                [End of If structure]</a:t>
            </a:r>
          </a:p>
          <a:p>
            <a:pPr eaLnBrk="1" hangingPunct="1">
              <a:lnSpc>
                <a:spcPct val="90000"/>
              </a:lnSpc>
            </a:pPr>
            <a:r>
              <a:rPr lang="en-US" dirty="0"/>
              <a:t>Step 3: Set QUEUE[REAR]:=ITEM</a:t>
            </a:r>
          </a:p>
          <a:p>
            <a:pPr eaLnBrk="1" hangingPunct="1">
              <a:lnSpc>
                <a:spcPct val="90000"/>
              </a:lnSpc>
            </a:pPr>
            <a:r>
              <a:rPr lang="en-US" dirty="0"/>
              <a:t>Step 4: Return</a:t>
            </a:r>
          </a:p>
          <a:p>
            <a:pPr eaLnBrk="1" hangingPunct="1">
              <a:lnSpc>
                <a:spcPct val="90000"/>
              </a:lnSpc>
              <a:buFontTx/>
              <a:buNone/>
            </a:pPr>
            <a:endParaRPr lang="en-US" dirty="0"/>
          </a:p>
          <a:p>
            <a:pPr eaLnBrk="1" hangingPunct="1">
              <a:lnSpc>
                <a:spcPct val="90000"/>
              </a:lnSpc>
              <a:buFontTx/>
              <a:buNone/>
            </a:pPr>
            <a:r>
              <a:rPr lang="en-US" dirty="0"/>
              <a:t> </a:t>
            </a:r>
          </a:p>
        </p:txBody>
      </p:sp>
    </p:spTree>
    <p:extLst>
      <p:ext uri="{BB962C8B-B14F-4D97-AF65-F5344CB8AC3E}">
        <p14:creationId xmlns:p14="http://schemas.microsoft.com/office/powerpoint/2010/main" val="236942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985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985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9858">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9858">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985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985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9858">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9858">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9858">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9858">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985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body" idx="1"/>
          </p:nvPr>
        </p:nvSpPr>
        <p:spPr>
          <a:xfrm>
            <a:off x="1524000" y="0"/>
            <a:ext cx="9144000" cy="6858000"/>
          </a:xfrm>
        </p:spPr>
        <p:txBody>
          <a:bodyPr/>
          <a:lstStyle/>
          <a:p>
            <a:pPr eaLnBrk="1" hangingPunct="1"/>
            <a:r>
              <a:rPr lang="en-US" dirty="0"/>
              <a:t>Algorithm: QDELETE(QUEUE,N,FRONT,REAR,ITEM)</a:t>
            </a:r>
          </a:p>
          <a:p>
            <a:pPr eaLnBrk="1" hangingPunct="1"/>
            <a:r>
              <a:rPr lang="en-US" dirty="0"/>
              <a:t>                  This algorithm deletes an element from a queue</a:t>
            </a:r>
          </a:p>
          <a:p>
            <a:pPr eaLnBrk="1" hangingPunct="1"/>
            <a:r>
              <a:rPr lang="en-US" dirty="0"/>
              <a:t>Step 1: If FRONT=0, then:</a:t>
            </a:r>
          </a:p>
          <a:p>
            <a:pPr eaLnBrk="1" hangingPunct="1">
              <a:buFontTx/>
              <a:buNone/>
            </a:pPr>
            <a:r>
              <a:rPr lang="en-US" dirty="0"/>
              <a:t>                Write: ‘UNDERFLOW’</a:t>
            </a:r>
          </a:p>
          <a:p>
            <a:pPr eaLnBrk="1" hangingPunct="1">
              <a:buFontTx/>
              <a:buNone/>
            </a:pPr>
            <a:r>
              <a:rPr lang="en-US" dirty="0"/>
              <a:t>                Return</a:t>
            </a:r>
          </a:p>
          <a:p>
            <a:pPr eaLnBrk="1" hangingPunct="1"/>
            <a:r>
              <a:rPr lang="en-US" dirty="0"/>
              <a:t>Step 2: Set ITEM:=QUEUE[FRONT]</a:t>
            </a:r>
          </a:p>
          <a:p>
            <a:pPr eaLnBrk="1" hangingPunct="1"/>
            <a:r>
              <a:rPr lang="en-US" dirty="0"/>
              <a:t>Step 3: If FRONT=REAR, then: [Empty Queue]</a:t>
            </a:r>
          </a:p>
          <a:p>
            <a:pPr eaLnBrk="1" hangingPunct="1">
              <a:buFontTx/>
              <a:buNone/>
            </a:pPr>
            <a:r>
              <a:rPr lang="en-US" dirty="0"/>
              <a:t>                Set FRONT:=0 and REAR:=0</a:t>
            </a:r>
          </a:p>
          <a:p>
            <a:pPr eaLnBrk="1" hangingPunct="1">
              <a:buFontTx/>
              <a:buNone/>
            </a:pPr>
            <a:r>
              <a:rPr lang="en-US" dirty="0"/>
              <a:t>                Else:</a:t>
            </a:r>
          </a:p>
          <a:p>
            <a:pPr eaLnBrk="1" hangingPunct="1">
              <a:buFontTx/>
              <a:buNone/>
            </a:pPr>
            <a:r>
              <a:rPr lang="en-US" dirty="0"/>
              <a:t>                Set FRONT:=FRONT+1</a:t>
            </a:r>
          </a:p>
          <a:p>
            <a:pPr eaLnBrk="1" hangingPunct="1">
              <a:buFontTx/>
              <a:buNone/>
            </a:pPr>
            <a:r>
              <a:rPr lang="en-US" dirty="0"/>
              <a:t>                [End of If structure]</a:t>
            </a:r>
          </a:p>
          <a:p>
            <a:pPr eaLnBrk="1" hangingPunct="1"/>
            <a:r>
              <a:rPr lang="en-US" dirty="0"/>
              <a:t>Step 4: Return</a:t>
            </a:r>
          </a:p>
        </p:txBody>
      </p:sp>
    </p:spTree>
    <p:extLst>
      <p:ext uri="{BB962C8B-B14F-4D97-AF65-F5344CB8AC3E}">
        <p14:creationId xmlns:p14="http://schemas.microsoft.com/office/powerpoint/2010/main" val="3650578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088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088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088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088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088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088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088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088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0882">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088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dirty="0"/>
              <a:t>Representing a Queue as a circular queue</a:t>
            </a:r>
          </a:p>
          <a:p>
            <a:pPr eaLnBrk="1" hangingPunct="1">
              <a:buFontTx/>
              <a:buNone/>
            </a:pPr>
            <a:r>
              <a:rPr lang="en-US" sz="2000" dirty="0"/>
              <a:t>      It can be seen that  after N insertions in a Queue represented by an array of N elements, the rear element of Queue will occupy last part of array. This occurs even though the queue itself may not contain many elements. Now, if we want to insert an element ITEM into a queue, we have to move or rearrange the elements of entire queue to the beginning of the queue. This procedure may be very expensive. Another method to do so is to represent a queue as a circular queue </a:t>
            </a:r>
            <a:r>
              <a:rPr lang="en-US" sz="2000" dirty="0" err="1"/>
              <a:t>i,e</a:t>
            </a:r>
            <a:r>
              <a:rPr lang="en-US" sz="2000" dirty="0"/>
              <a:t> QUEUE[1] comes after QUEUE[N] in array. With this assumption, we insert ITEM into queue by assigning ITEM to QUEUE[1]. Thus instead of increasing REAR to N+1, we reset REAR=1 and then assign</a:t>
            </a:r>
          </a:p>
          <a:p>
            <a:pPr eaLnBrk="1" hangingPunct="1">
              <a:buFontTx/>
              <a:buNone/>
            </a:pPr>
            <a:r>
              <a:rPr lang="en-US" sz="2000" dirty="0"/>
              <a:t>                                     QUEUE[REAR]=ITEM</a:t>
            </a:r>
          </a:p>
          <a:p>
            <a:pPr eaLnBrk="1" hangingPunct="1">
              <a:buFontTx/>
              <a:buNone/>
            </a:pPr>
            <a:r>
              <a:rPr lang="en-US" sz="2000" dirty="0"/>
              <a:t>    Similarly, If FRONT=N and an element of QUEUE is deleted, we reset FRONT=1 instead of increasing FRONT to N+1 </a:t>
            </a:r>
          </a:p>
        </p:txBody>
      </p:sp>
    </p:spTree>
    <p:extLst>
      <p:ext uri="{BB962C8B-B14F-4D97-AF65-F5344CB8AC3E}">
        <p14:creationId xmlns:p14="http://schemas.microsoft.com/office/powerpoint/2010/main" val="349470485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Suppose a circular queue of capacity (n – 1) elements is implemented with an array of n elements. Assume that the insertion and deletion operation are carried out using REAR and FRONT as array index variables, respectively. Initially, REAR = FRONT = 0. The conditions to detect queue full and queue empty are:</a:t>
            </a:r>
          </a:p>
          <a:p>
            <a:r>
              <a:rPr lang="en-US" dirty="0"/>
              <a:t>Full:  (REAR+1) mod n== FRONT</a:t>
            </a:r>
          </a:p>
          <a:p>
            <a:r>
              <a:rPr lang="en-US" dirty="0"/>
              <a:t>Empty:  REAR== FRONT=0</a:t>
            </a:r>
          </a:p>
        </p:txBody>
      </p:sp>
    </p:spTree>
    <p:extLst>
      <p:ext uri="{BB962C8B-B14F-4D97-AF65-F5344CB8AC3E}">
        <p14:creationId xmlns:p14="http://schemas.microsoft.com/office/powerpoint/2010/main" val="300612790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3"/>
          <p:cNvSpPr>
            <a:spLocks noGrp="1" noChangeArrowheads="1"/>
          </p:cNvSpPr>
          <p:nvPr>
            <p:ph type="body" idx="1"/>
          </p:nvPr>
        </p:nvSpPr>
        <p:spPr>
          <a:xfrm>
            <a:off x="1524000" y="0"/>
            <a:ext cx="9144000" cy="6858000"/>
          </a:xfrm>
        </p:spPr>
        <p:txBody>
          <a:bodyPr/>
          <a:lstStyle/>
          <a:p>
            <a:pPr eaLnBrk="1" hangingPunct="1">
              <a:lnSpc>
                <a:spcPct val="90000"/>
              </a:lnSpc>
              <a:buFontTx/>
              <a:buNone/>
            </a:pPr>
            <a:r>
              <a:rPr lang="en-US" dirty="0"/>
              <a:t>Algorithm: QINSERT(QUEUE, N, FRONT, REAR,ITEM)</a:t>
            </a:r>
          </a:p>
          <a:p>
            <a:pPr eaLnBrk="1" hangingPunct="1">
              <a:lnSpc>
                <a:spcPct val="90000"/>
              </a:lnSpc>
              <a:buFontTx/>
              <a:buNone/>
            </a:pPr>
            <a:r>
              <a:rPr lang="en-US" dirty="0"/>
              <a:t>                   This algorithm inserts an element in a circular queue   </a:t>
            </a:r>
          </a:p>
          <a:p>
            <a:pPr eaLnBrk="1" hangingPunct="1">
              <a:lnSpc>
                <a:spcPct val="90000"/>
              </a:lnSpc>
            </a:pPr>
            <a:r>
              <a:rPr lang="en-US" dirty="0"/>
              <a:t>Step 1:[Queue already filled] </a:t>
            </a:r>
          </a:p>
          <a:p>
            <a:pPr lvl="1" eaLnBrk="1" hangingPunct="1">
              <a:lnSpc>
                <a:spcPct val="90000"/>
              </a:lnSpc>
              <a:buFontTx/>
              <a:buNone/>
            </a:pPr>
            <a:r>
              <a:rPr lang="en-US" dirty="0"/>
              <a:t>          If FRONT=1 and REAR=N or FRONT=REAR+1, then:</a:t>
            </a:r>
          </a:p>
          <a:p>
            <a:pPr eaLnBrk="1" hangingPunct="1">
              <a:lnSpc>
                <a:spcPct val="90000"/>
              </a:lnSpc>
              <a:buFontTx/>
              <a:buNone/>
            </a:pPr>
            <a:r>
              <a:rPr lang="en-US" dirty="0"/>
              <a:t>                Write: ‘OVERFLOW’</a:t>
            </a:r>
          </a:p>
          <a:p>
            <a:pPr eaLnBrk="1" hangingPunct="1">
              <a:lnSpc>
                <a:spcPct val="90000"/>
              </a:lnSpc>
              <a:buFontTx/>
              <a:buNone/>
            </a:pPr>
            <a:r>
              <a:rPr lang="en-US" dirty="0"/>
              <a:t>                 Return</a:t>
            </a:r>
          </a:p>
          <a:p>
            <a:pPr eaLnBrk="1" hangingPunct="1">
              <a:lnSpc>
                <a:spcPct val="90000"/>
              </a:lnSpc>
            </a:pPr>
            <a:r>
              <a:rPr lang="en-US" dirty="0"/>
              <a:t>Step 2: If FRONT=0, then: [Queue initially empty]</a:t>
            </a:r>
          </a:p>
          <a:p>
            <a:pPr eaLnBrk="1" hangingPunct="1">
              <a:lnSpc>
                <a:spcPct val="90000"/>
              </a:lnSpc>
              <a:buFontTx/>
              <a:buNone/>
            </a:pPr>
            <a:r>
              <a:rPr lang="en-US" dirty="0"/>
              <a:t>                Set FRONT:=1 and REAR:=1</a:t>
            </a:r>
          </a:p>
          <a:p>
            <a:pPr eaLnBrk="1" hangingPunct="1">
              <a:lnSpc>
                <a:spcPct val="90000"/>
              </a:lnSpc>
              <a:buFontTx/>
              <a:buNone/>
            </a:pPr>
            <a:r>
              <a:rPr lang="en-US" dirty="0"/>
              <a:t>                Else If REAR=N, then:</a:t>
            </a:r>
          </a:p>
          <a:p>
            <a:pPr eaLnBrk="1" hangingPunct="1">
              <a:lnSpc>
                <a:spcPct val="90000"/>
              </a:lnSpc>
              <a:buFontTx/>
              <a:buNone/>
            </a:pPr>
            <a:r>
              <a:rPr lang="en-US" dirty="0"/>
              <a:t>                Set REAR:=1</a:t>
            </a:r>
          </a:p>
          <a:p>
            <a:pPr eaLnBrk="1" hangingPunct="1">
              <a:lnSpc>
                <a:spcPct val="90000"/>
              </a:lnSpc>
              <a:buFontTx/>
              <a:buNone/>
            </a:pPr>
            <a:r>
              <a:rPr lang="en-US" dirty="0"/>
              <a:t>                Else:</a:t>
            </a:r>
          </a:p>
          <a:p>
            <a:pPr eaLnBrk="1" hangingPunct="1">
              <a:lnSpc>
                <a:spcPct val="90000"/>
              </a:lnSpc>
              <a:buFontTx/>
              <a:buNone/>
            </a:pPr>
            <a:r>
              <a:rPr lang="en-US" dirty="0"/>
              <a:t>                Set REAR:=REAR+1</a:t>
            </a:r>
          </a:p>
          <a:p>
            <a:pPr eaLnBrk="1" hangingPunct="1">
              <a:lnSpc>
                <a:spcPct val="90000"/>
              </a:lnSpc>
              <a:buFontTx/>
              <a:buNone/>
            </a:pPr>
            <a:r>
              <a:rPr lang="en-US" dirty="0"/>
              <a:t>                [End of If structure]</a:t>
            </a:r>
          </a:p>
          <a:p>
            <a:pPr eaLnBrk="1" hangingPunct="1">
              <a:lnSpc>
                <a:spcPct val="90000"/>
              </a:lnSpc>
            </a:pPr>
            <a:r>
              <a:rPr lang="en-US" dirty="0"/>
              <a:t>Step 3: Set QUEUE[REAR]:=ITEM</a:t>
            </a:r>
          </a:p>
          <a:p>
            <a:pPr eaLnBrk="1" hangingPunct="1">
              <a:lnSpc>
                <a:spcPct val="90000"/>
              </a:lnSpc>
            </a:pPr>
            <a:r>
              <a:rPr lang="en-US" dirty="0"/>
              <a:t>Step 4: Return</a:t>
            </a:r>
          </a:p>
          <a:p>
            <a:pPr eaLnBrk="1" hangingPunct="1">
              <a:lnSpc>
                <a:spcPct val="90000"/>
              </a:lnSpc>
              <a:buFontTx/>
              <a:buNone/>
            </a:pPr>
            <a:endParaRPr lang="en-US" dirty="0"/>
          </a:p>
          <a:p>
            <a:pPr eaLnBrk="1" hangingPunct="1">
              <a:lnSpc>
                <a:spcPct val="90000"/>
              </a:lnSpc>
              <a:buFontTx/>
              <a:buNone/>
            </a:pPr>
            <a:r>
              <a:rPr lang="en-US" dirty="0"/>
              <a:t> </a:t>
            </a:r>
          </a:p>
        </p:txBody>
      </p:sp>
    </p:spTree>
    <p:extLst>
      <p:ext uri="{BB962C8B-B14F-4D97-AF65-F5344CB8AC3E}">
        <p14:creationId xmlns:p14="http://schemas.microsoft.com/office/powerpoint/2010/main" val="9538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190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190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190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1906">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190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190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190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190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1906">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1906">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1906">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1906">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5190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3"/>
          <p:cNvSpPr>
            <a:spLocks noGrp="1" noChangeArrowheads="1"/>
          </p:cNvSpPr>
          <p:nvPr>
            <p:ph type="body" idx="1"/>
          </p:nvPr>
        </p:nvSpPr>
        <p:spPr>
          <a:xfrm>
            <a:off x="1524000" y="0"/>
            <a:ext cx="9144000" cy="6858000"/>
          </a:xfrm>
        </p:spPr>
        <p:txBody>
          <a:bodyPr/>
          <a:lstStyle/>
          <a:p>
            <a:pPr eaLnBrk="1" hangingPunct="1"/>
            <a:r>
              <a:rPr lang="en-US" dirty="0"/>
              <a:t>Algorithm: QDELETE(QUEUE,N,FRONT,REAR,ITEM)</a:t>
            </a:r>
          </a:p>
          <a:p>
            <a:pPr eaLnBrk="1" hangingPunct="1"/>
            <a:r>
              <a:rPr lang="en-US" dirty="0"/>
              <a:t>                  This algorithm deletes an element from a circular queue</a:t>
            </a:r>
          </a:p>
          <a:p>
            <a:pPr eaLnBrk="1" hangingPunct="1"/>
            <a:r>
              <a:rPr lang="en-US" dirty="0"/>
              <a:t>Step 1: If FRONT=0, then:</a:t>
            </a:r>
          </a:p>
          <a:p>
            <a:pPr eaLnBrk="1" hangingPunct="1">
              <a:buFontTx/>
              <a:buNone/>
            </a:pPr>
            <a:r>
              <a:rPr lang="en-US" dirty="0"/>
              <a:t>                Write: ‘UNDERFLOW’</a:t>
            </a:r>
          </a:p>
          <a:p>
            <a:pPr eaLnBrk="1" hangingPunct="1">
              <a:buFontTx/>
              <a:buNone/>
            </a:pPr>
            <a:r>
              <a:rPr lang="en-US" dirty="0"/>
              <a:t>                Return</a:t>
            </a:r>
          </a:p>
          <a:p>
            <a:pPr eaLnBrk="1" hangingPunct="1"/>
            <a:r>
              <a:rPr lang="en-US" dirty="0"/>
              <a:t>Step 2: Set ITEM:=QUEUE[FRONT]</a:t>
            </a:r>
          </a:p>
          <a:p>
            <a:pPr eaLnBrk="1" hangingPunct="1"/>
            <a:r>
              <a:rPr lang="en-US" dirty="0"/>
              <a:t>Step 3: If FRONT=REAR, then: [Empty Queue]</a:t>
            </a:r>
          </a:p>
          <a:p>
            <a:pPr eaLnBrk="1" hangingPunct="1">
              <a:buFontTx/>
              <a:buNone/>
            </a:pPr>
            <a:r>
              <a:rPr lang="en-US" dirty="0"/>
              <a:t>                Set FRONT:=0 and REAR:=0</a:t>
            </a:r>
          </a:p>
          <a:p>
            <a:pPr eaLnBrk="1" hangingPunct="1">
              <a:buFontTx/>
              <a:buNone/>
            </a:pPr>
            <a:r>
              <a:rPr lang="en-US" dirty="0"/>
              <a:t>                Else If FRONT=N, then:</a:t>
            </a:r>
          </a:p>
          <a:p>
            <a:pPr eaLnBrk="1" hangingPunct="1">
              <a:buFontTx/>
              <a:buNone/>
            </a:pPr>
            <a:r>
              <a:rPr lang="en-US" dirty="0"/>
              <a:t>                Set FRONT:=1</a:t>
            </a:r>
          </a:p>
          <a:p>
            <a:pPr eaLnBrk="1" hangingPunct="1">
              <a:buFontTx/>
              <a:buNone/>
            </a:pPr>
            <a:r>
              <a:rPr lang="en-US" dirty="0"/>
              <a:t>                Else:</a:t>
            </a:r>
          </a:p>
          <a:p>
            <a:pPr eaLnBrk="1" hangingPunct="1">
              <a:buFontTx/>
              <a:buNone/>
            </a:pPr>
            <a:r>
              <a:rPr lang="en-US" dirty="0"/>
              <a:t>                Set FRONT:=FRONT+1</a:t>
            </a:r>
          </a:p>
          <a:p>
            <a:pPr eaLnBrk="1" hangingPunct="1">
              <a:buFontTx/>
              <a:buNone/>
            </a:pPr>
            <a:r>
              <a:rPr lang="en-US" dirty="0"/>
              <a:t>                [End of If structure]</a:t>
            </a:r>
          </a:p>
          <a:p>
            <a:pPr eaLnBrk="1" hangingPunct="1"/>
            <a:r>
              <a:rPr lang="en-US" dirty="0"/>
              <a:t>Step 4: Return</a:t>
            </a:r>
          </a:p>
        </p:txBody>
      </p:sp>
    </p:spTree>
    <p:extLst>
      <p:ext uri="{BB962C8B-B14F-4D97-AF65-F5344CB8AC3E}">
        <p14:creationId xmlns:p14="http://schemas.microsoft.com/office/powerpoint/2010/main" val="367754300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3"/>
          <p:cNvSpPr>
            <a:spLocks noGrp="1" noChangeArrowheads="1"/>
          </p:cNvSpPr>
          <p:nvPr>
            <p:ph type="body" idx="1"/>
          </p:nvPr>
        </p:nvSpPr>
        <p:spPr>
          <a:xfrm>
            <a:off x="1524000" y="0"/>
            <a:ext cx="9144000" cy="6858000"/>
          </a:xfrm>
        </p:spPr>
        <p:txBody>
          <a:bodyPr/>
          <a:lstStyle/>
          <a:p>
            <a:pPr marL="457200" indent="-457200" eaLnBrk="1" hangingPunct="1"/>
            <a:r>
              <a:rPr lang="en-US"/>
              <a:t>Consider the following queue of characters where QUEUE is a circular array which is allocated six memory cells</a:t>
            </a:r>
          </a:p>
          <a:p>
            <a:pPr marL="457200" indent="-457200" eaLnBrk="1" hangingPunct="1">
              <a:buNone/>
            </a:pPr>
            <a:r>
              <a:rPr lang="en-US"/>
              <a:t>           FRONT=2, REAR=4   QUEUE: _ A C D _  _</a:t>
            </a:r>
          </a:p>
          <a:p>
            <a:pPr marL="457200" indent="-457200" eaLnBrk="1" hangingPunct="1">
              <a:buNone/>
            </a:pPr>
            <a:r>
              <a:rPr lang="en-US"/>
              <a:t>     Describe the queue as following operations take place:</a:t>
            </a:r>
          </a:p>
          <a:p>
            <a:pPr marL="457200" indent="-457200" eaLnBrk="1" hangingPunct="1">
              <a:buFontTx/>
              <a:buAutoNum type="alphaLcParenBoth"/>
            </a:pPr>
            <a:r>
              <a:rPr lang="en-US"/>
              <a:t>F is added to queue</a:t>
            </a:r>
          </a:p>
          <a:p>
            <a:pPr marL="457200" indent="-457200" eaLnBrk="1" hangingPunct="1">
              <a:buFontTx/>
              <a:buAutoNum type="alphaLcParenBoth"/>
            </a:pPr>
            <a:r>
              <a:rPr lang="en-US"/>
              <a:t>Two letters are deleted</a:t>
            </a:r>
          </a:p>
          <a:p>
            <a:pPr marL="457200" indent="-457200" eaLnBrk="1" hangingPunct="1">
              <a:buFontTx/>
              <a:buAutoNum type="alphaLcParenBoth"/>
            </a:pPr>
            <a:r>
              <a:rPr lang="en-US"/>
              <a:t>K , L and M are added</a:t>
            </a:r>
          </a:p>
          <a:p>
            <a:pPr marL="457200" indent="-457200" eaLnBrk="1" hangingPunct="1">
              <a:buFontTx/>
              <a:buAutoNum type="alphaLcParenBoth"/>
            </a:pPr>
            <a:r>
              <a:rPr lang="en-US"/>
              <a:t>Two letters are deleted</a:t>
            </a:r>
          </a:p>
          <a:p>
            <a:pPr marL="457200" indent="-457200" eaLnBrk="1" hangingPunct="1">
              <a:buFontTx/>
              <a:buAutoNum type="alphaLcParenBoth"/>
            </a:pPr>
            <a:r>
              <a:rPr lang="en-US"/>
              <a:t>R is added to queue</a:t>
            </a:r>
          </a:p>
          <a:p>
            <a:pPr marL="457200" indent="-457200" eaLnBrk="1" hangingPunct="1">
              <a:buFontTx/>
              <a:buAutoNum type="alphaLcParenBoth"/>
            </a:pPr>
            <a:r>
              <a:rPr lang="en-US"/>
              <a:t>Two letters are deleted</a:t>
            </a:r>
          </a:p>
          <a:p>
            <a:pPr marL="457200" indent="-457200" eaLnBrk="1" hangingPunct="1">
              <a:buFontTx/>
              <a:buAutoNum type="alphaLcParenBoth"/>
            </a:pPr>
            <a:r>
              <a:rPr lang="en-US"/>
              <a:t>S is added to queue</a:t>
            </a:r>
          </a:p>
          <a:p>
            <a:pPr marL="457200" indent="-457200" eaLnBrk="1" hangingPunct="1">
              <a:buFontTx/>
              <a:buAutoNum type="alphaLcParenBoth"/>
            </a:pPr>
            <a:r>
              <a:rPr lang="en-US"/>
              <a:t>Two letters are deleted</a:t>
            </a:r>
          </a:p>
          <a:p>
            <a:pPr marL="457200" indent="-457200" eaLnBrk="1" hangingPunct="1">
              <a:buFontTx/>
              <a:buAutoNum type="alphaLcParenBoth"/>
            </a:pPr>
            <a:r>
              <a:rPr lang="en-US"/>
              <a:t>One letter is deleted</a:t>
            </a:r>
          </a:p>
          <a:p>
            <a:pPr marL="457200" indent="-457200" eaLnBrk="1" hangingPunct="1">
              <a:buFontTx/>
              <a:buAutoNum type="alphaLcParenBoth"/>
            </a:pPr>
            <a:r>
              <a:rPr lang="en-US"/>
              <a:t>One letter is deleted</a:t>
            </a:r>
          </a:p>
          <a:p>
            <a:pPr marL="457200" indent="-457200" eaLnBrk="1" hangingPunct="1"/>
            <a:endParaRPr lang="en-US"/>
          </a:p>
        </p:txBody>
      </p:sp>
    </p:spTree>
    <p:extLst>
      <p:ext uri="{BB962C8B-B14F-4D97-AF65-F5344CB8AC3E}">
        <p14:creationId xmlns:p14="http://schemas.microsoft.com/office/powerpoint/2010/main" val="167057681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3"/>
          <p:cNvSpPr>
            <a:spLocks noGrp="1" noChangeArrowheads="1"/>
          </p:cNvSpPr>
          <p:nvPr>
            <p:ph type="body" idx="1"/>
          </p:nvPr>
        </p:nvSpPr>
        <p:spPr>
          <a:xfrm>
            <a:off x="1524000" y="0"/>
            <a:ext cx="9144000" cy="6858000"/>
          </a:xfrm>
        </p:spPr>
        <p:txBody>
          <a:bodyPr/>
          <a:lstStyle/>
          <a:p>
            <a:pPr marL="457200" indent="-457200" eaLnBrk="1" hangingPunct="1"/>
            <a:r>
              <a:rPr lang="en-US"/>
              <a:t>Solution: </a:t>
            </a:r>
          </a:p>
          <a:p>
            <a:pPr marL="457200" indent="-457200" eaLnBrk="1" hangingPunct="1">
              <a:buFontTx/>
              <a:buAutoNum type="alphaLcParenBoth"/>
            </a:pPr>
            <a:r>
              <a:rPr lang="en-US"/>
              <a:t>FRONT=2,  REAR=5       QUEUE:  _ A C D F_</a:t>
            </a:r>
          </a:p>
          <a:p>
            <a:pPr marL="457200" indent="-457200" eaLnBrk="1" hangingPunct="1">
              <a:buFontTx/>
              <a:buAutoNum type="alphaLcParenBoth"/>
            </a:pPr>
            <a:r>
              <a:rPr lang="en-US"/>
              <a:t>FRONT=4,  REAR=5       QUEUE:  _ _ _ D F _</a:t>
            </a:r>
          </a:p>
          <a:p>
            <a:pPr marL="457200" indent="-457200" eaLnBrk="1" hangingPunct="1">
              <a:buFontTx/>
              <a:buAutoNum type="alphaLcParenBoth"/>
            </a:pPr>
            <a:r>
              <a:rPr lang="en-US"/>
              <a:t>REAR=2, FRONT=4         QUEUE: L M _ D F K</a:t>
            </a:r>
          </a:p>
          <a:p>
            <a:pPr marL="457200" indent="-457200" eaLnBrk="1" hangingPunct="1">
              <a:buFontTx/>
              <a:buAutoNum type="alphaLcParenBoth"/>
            </a:pPr>
            <a:r>
              <a:rPr lang="en-US"/>
              <a:t>FRONT=6, REAR=2         QUEUE: L M _ _ _ K</a:t>
            </a:r>
          </a:p>
          <a:p>
            <a:pPr marL="457200" indent="-457200" eaLnBrk="1" hangingPunct="1">
              <a:buFontTx/>
              <a:buAutoNum type="alphaLcParenBoth"/>
            </a:pPr>
            <a:r>
              <a:rPr lang="en-US"/>
              <a:t>FRONT=6, REAR=3         QUEUE:  L M R_ _ K</a:t>
            </a:r>
          </a:p>
          <a:p>
            <a:pPr marL="457200" indent="-457200" eaLnBrk="1" hangingPunct="1">
              <a:buFontTx/>
              <a:buAutoNum type="alphaLcParenBoth"/>
            </a:pPr>
            <a:r>
              <a:rPr lang="en-US"/>
              <a:t>FRONT=2, REAR=3         QUEUE:  _M R _ _ _</a:t>
            </a:r>
          </a:p>
          <a:p>
            <a:pPr marL="457200" indent="-457200" eaLnBrk="1" hangingPunct="1">
              <a:buFontTx/>
              <a:buAutoNum type="alphaLcParenBoth"/>
            </a:pPr>
            <a:r>
              <a:rPr lang="en-US"/>
              <a:t>REAR=4, FRONT=2         QUEUE: _ M R S _ _</a:t>
            </a:r>
          </a:p>
          <a:p>
            <a:pPr marL="457200" indent="-457200" eaLnBrk="1" hangingPunct="1">
              <a:buFontTx/>
              <a:buAutoNum type="alphaLcParenBoth"/>
            </a:pPr>
            <a:r>
              <a:rPr lang="en-US"/>
              <a:t>FRONT=4, REAR=4         QUEUE: _ _ _ S _ _ </a:t>
            </a:r>
          </a:p>
          <a:p>
            <a:pPr marL="457200" indent="-457200" eaLnBrk="1" hangingPunct="1">
              <a:buFontTx/>
              <a:buAutoNum type="alphaLcParenBoth"/>
            </a:pPr>
            <a:r>
              <a:rPr lang="en-US"/>
              <a:t>FRONT=REAR=0 [ As FRONT=REAR, queue is empty]</a:t>
            </a:r>
          </a:p>
          <a:p>
            <a:pPr marL="457200" indent="-457200" eaLnBrk="1" hangingPunct="1">
              <a:buFontTx/>
              <a:buAutoNum type="alphaLcParenBoth"/>
            </a:pPr>
            <a:r>
              <a:rPr lang="en-US"/>
              <a:t>Since FRONT=NULL, no deletion can take place. Underflow occurred</a:t>
            </a:r>
          </a:p>
          <a:p>
            <a:pPr marL="457200" indent="-457200" eaLnBrk="1" hangingPunct="1"/>
            <a:endParaRPr lang="en-US"/>
          </a:p>
        </p:txBody>
      </p:sp>
    </p:spTree>
    <p:extLst>
      <p:ext uri="{BB962C8B-B14F-4D97-AF65-F5344CB8AC3E}">
        <p14:creationId xmlns:p14="http://schemas.microsoft.com/office/powerpoint/2010/main" val="408136121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u="sng"/>
              <a:t>Linked representation of the Queue</a:t>
            </a:r>
          </a:p>
          <a:p>
            <a:pPr eaLnBrk="1" hangingPunct="1"/>
            <a:r>
              <a:rPr lang="en-US"/>
              <a:t>A linked queue is a queue implemented as a linked list with two pointer variables  FRONT and REAR pointing to the nodes  in the front and rear of the queue. The INFO field of list hold the elements of the queue and LINK field holds pointer to neighboring element of queue.</a:t>
            </a:r>
          </a:p>
          <a:p>
            <a:pPr eaLnBrk="1" hangingPunct="1"/>
            <a:r>
              <a:rPr lang="en-US"/>
              <a:t>In case of insertion in linked  queue, a node borrowed from AVAIL list and carrying  the item to be inserted is added as the last node of linked list representing the queue. Rear pointer is updated to point to last node just added to the list</a:t>
            </a:r>
          </a:p>
          <a:p>
            <a:pPr eaLnBrk="1" hangingPunct="1"/>
            <a:r>
              <a:rPr lang="en-US"/>
              <a:t> In case of deletion, first node of list pointed to by FRONT is deleted and FRONT pointer is updated to point to next node in the list. </a:t>
            </a:r>
          </a:p>
          <a:p>
            <a:pPr eaLnBrk="1" hangingPunct="1"/>
            <a:r>
              <a:rPr lang="en-US"/>
              <a:t>Unlike the array representation, linked queue functions as a linear queue and there is no need to view it as circular for efficient management of space.</a:t>
            </a:r>
          </a:p>
        </p:txBody>
      </p:sp>
    </p:spTree>
    <p:extLst>
      <p:ext uri="{BB962C8B-B14F-4D97-AF65-F5344CB8AC3E}">
        <p14:creationId xmlns:p14="http://schemas.microsoft.com/office/powerpoint/2010/main" val="165457623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3"/>
          <p:cNvSpPr>
            <a:spLocks noGrp="1" noChangeArrowheads="1"/>
          </p:cNvSpPr>
          <p:nvPr>
            <p:ph type="body" idx="1"/>
          </p:nvPr>
        </p:nvSpPr>
        <p:spPr>
          <a:xfrm>
            <a:off x="1524000" y="0"/>
            <a:ext cx="9144000" cy="6858000"/>
          </a:xfrm>
        </p:spPr>
        <p:txBody>
          <a:bodyPr/>
          <a:lstStyle/>
          <a:p>
            <a:pPr eaLnBrk="1" hangingPunct="1">
              <a:buFontTx/>
              <a:buNone/>
            </a:pPr>
            <a:r>
              <a:rPr lang="en-US" b="1"/>
              <a:t>Algorithm:LINKQINSRT(</a:t>
            </a:r>
            <a:r>
              <a:rPr lang="en-US"/>
              <a:t>INFO,LINK,FRONT,REAR,AVAIL,ITEM)</a:t>
            </a:r>
            <a:endParaRPr lang="en-US" b="1"/>
          </a:p>
          <a:p>
            <a:pPr eaLnBrk="1" hangingPunct="1">
              <a:buFontTx/>
              <a:buNone/>
            </a:pPr>
            <a:r>
              <a:rPr lang="en-US"/>
              <a:t>                  This algorithm inserts an item in linked list implementation of</a:t>
            </a:r>
          </a:p>
          <a:p>
            <a:pPr eaLnBrk="1" hangingPunct="1">
              <a:buFontTx/>
              <a:buNone/>
            </a:pPr>
            <a:r>
              <a:rPr lang="en-US"/>
              <a:t>                   the queue</a:t>
            </a:r>
          </a:p>
          <a:p>
            <a:pPr eaLnBrk="1" hangingPunct="1">
              <a:buFontTx/>
              <a:buNone/>
            </a:pPr>
            <a:r>
              <a:rPr lang="en-US"/>
              <a:t>Step 1: If AVAIL=NULL,then:</a:t>
            </a:r>
          </a:p>
          <a:p>
            <a:pPr eaLnBrk="1" hangingPunct="1">
              <a:buFontTx/>
              <a:buNone/>
            </a:pPr>
            <a:r>
              <a:rPr lang="en-US"/>
              <a:t>            Write: ‘OVERFLOW’</a:t>
            </a:r>
          </a:p>
          <a:p>
            <a:pPr eaLnBrk="1" hangingPunct="1">
              <a:buFontTx/>
              <a:buNone/>
            </a:pPr>
            <a:r>
              <a:rPr lang="en-US"/>
              <a:t>             Return</a:t>
            </a:r>
          </a:p>
          <a:p>
            <a:pPr eaLnBrk="1" hangingPunct="1">
              <a:buFontTx/>
              <a:buNone/>
            </a:pPr>
            <a:r>
              <a:rPr lang="en-US"/>
              <a:t>Step 2: Set NEW:=AVAIL and AVAIL:=LINK[AVAIL]</a:t>
            </a:r>
          </a:p>
          <a:p>
            <a:pPr eaLnBrk="1" hangingPunct="1">
              <a:buFontTx/>
              <a:buNone/>
            </a:pPr>
            <a:r>
              <a:rPr lang="en-US"/>
              <a:t>Step 3: Set INFO[NEW]:=ITEM  and LINK[NEW]:=NULL</a:t>
            </a:r>
          </a:p>
          <a:p>
            <a:pPr eaLnBrk="1" hangingPunct="1">
              <a:buFontTx/>
              <a:buNone/>
            </a:pPr>
            <a:r>
              <a:rPr lang="en-US"/>
              <a:t>Step 4: If FRONT=NULL, then:</a:t>
            </a:r>
          </a:p>
          <a:p>
            <a:pPr eaLnBrk="1" hangingPunct="1">
              <a:buFontTx/>
              <a:buNone/>
            </a:pPr>
            <a:r>
              <a:rPr lang="en-US"/>
              <a:t>            Set FRONT=REAR=NEW</a:t>
            </a:r>
          </a:p>
          <a:p>
            <a:pPr eaLnBrk="1" hangingPunct="1">
              <a:buFontTx/>
              <a:buNone/>
            </a:pPr>
            <a:r>
              <a:rPr lang="en-US"/>
              <a:t>            Else:</a:t>
            </a:r>
          </a:p>
          <a:p>
            <a:pPr eaLnBrk="1" hangingPunct="1">
              <a:buFontTx/>
              <a:buNone/>
            </a:pPr>
            <a:r>
              <a:rPr lang="en-US"/>
              <a:t>            Set LINK[REAR]:=NEW and REAR:=NEW</a:t>
            </a:r>
          </a:p>
          <a:p>
            <a:pPr eaLnBrk="1" hangingPunct="1">
              <a:buFontTx/>
              <a:buNone/>
            </a:pPr>
            <a:r>
              <a:rPr lang="en-US"/>
              <a:t>Step 5: Return      </a:t>
            </a:r>
          </a:p>
        </p:txBody>
      </p:sp>
    </p:spTree>
    <p:extLst>
      <p:ext uri="{BB962C8B-B14F-4D97-AF65-F5344CB8AC3E}">
        <p14:creationId xmlns:p14="http://schemas.microsoft.com/office/powerpoint/2010/main" val="289113844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3"/>
          <p:cNvSpPr>
            <a:spLocks noGrp="1" noChangeArrowheads="1"/>
          </p:cNvSpPr>
          <p:nvPr>
            <p:ph type="body" idx="1"/>
          </p:nvPr>
        </p:nvSpPr>
        <p:spPr>
          <a:xfrm>
            <a:off x="1524000" y="0"/>
            <a:ext cx="9144000" cy="6858000"/>
          </a:xfrm>
        </p:spPr>
        <p:txBody>
          <a:bodyPr/>
          <a:lstStyle/>
          <a:p>
            <a:pPr eaLnBrk="1" hangingPunct="1">
              <a:buFontTx/>
              <a:buNone/>
            </a:pPr>
            <a:r>
              <a:rPr lang="en-US" b="1"/>
              <a:t>Algorithm: LINKQDEL(INFO,LINK,FRONT,AVAIL,ITEM)</a:t>
            </a:r>
            <a:r>
              <a:rPr lang="en-US"/>
              <a:t> </a:t>
            </a:r>
          </a:p>
          <a:p>
            <a:pPr eaLnBrk="1" hangingPunct="1">
              <a:buFontTx/>
              <a:buNone/>
            </a:pPr>
            <a:r>
              <a:rPr lang="en-US"/>
              <a:t>                      This algorithm deletes an element from the front of the</a:t>
            </a:r>
          </a:p>
          <a:p>
            <a:pPr eaLnBrk="1" hangingPunct="1">
              <a:buFontTx/>
              <a:buNone/>
            </a:pPr>
            <a:r>
              <a:rPr lang="en-US"/>
              <a:t>                      queue</a:t>
            </a:r>
          </a:p>
          <a:p>
            <a:pPr eaLnBrk="1" hangingPunct="1"/>
            <a:r>
              <a:rPr lang="en-US"/>
              <a:t>Step 1: If FRONT=NULL,then:</a:t>
            </a:r>
          </a:p>
          <a:p>
            <a:pPr eaLnBrk="1" hangingPunct="1">
              <a:buFontTx/>
              <a:buNone/>
            </a:pPr>
            <a:r>
              <a:rPr lang="en-US"/>
              <a:t>                Write:’UNDERFLOW’</a:t>
            </a:r>
          </a:p>
          <a:p>
            <a:pPr eaLnBrk="1" hangingPunct="1">
              <a:buFontTx/>
              <a:buNone/>
            </a:pPr>
            <a:r>
              <a:rPr lang="en-US"/>
              <a:t>                Return</a:t>
            </a:r>
          </a:p>
          <a:p>
            <a:pPr eaLnBrk="1" hangingPunct="1"/>
            <a:r>
              <a:rPr lang="en-US"/>
              <a:t>Step 2: Set TEMP:=FRONT</a:t>
            </a:r>
          </a:p>
          <a:p>
            <a:pPr eaLnBrk="1" hangingPunct="1"/>
            <a:r>
              <a:rPr lang="en-US"/>
              <a:t>Step 3: Set ITEM:=INFO[FRONT]</a:t>
            </a:r>
          </a:p>
          <a:p>
            <a:pPr eaLnBrk="1" hangingPunct="1"/>
            <a:r>
              <a:rPr lang="en-US"/>
              <a:t>Step 4: Set FRONT:=LINK[FRONT]</a:t>
            </a:r>
          </a:p>
          <a:p>
            <a:pPr eaLnBrk="1" hangingPunct="1"/>
            <a:r>
              <a:rPr lang="en-US"/>
              <a:t>Step 5: Set LINK[TEMP]:=AVAIL and AVAIL:=TEMP</a:t>
            </a:r>
          </a:p>
          <a:p>
            <a:pPr eaLnBrk="1" hangingPunct="1"/>
            <a:r>
              <a:rPr lang="en-US"/>
              <a:t>Step 6: Return </a:t>
            </a:r>
          </a:p>
        </p:txBody>
      </p:sp>
    </p:spTree>
    <p:extLst>
      <p:ext uri="{BB962C8B-B14F-4D97-AF65-F5344CB8AC3E}">
        <p14:creationId xmlns:p14="http://schemas.microsoft.com/office/powerpoint/2010/main" val="117814638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3"/>
          <p:cNvSpPr>
            <a:spLocks noGrp="1" noChangeArrowheads="1"/>
          </p:cNvSpPr>
          <p:nvPr>
            <p:ph type="body" idx="1"/>
          </p:nvPr>
        </p:nvSpPr>
        <p:spPr>
          <a:xfrm>
            <a:off x="1524000" y="0"/>
            <a:ext cx="9144000" cy="6858000"/>
          </a:xfrm>
        </p:spPr>
        <p:txBody>
          <a:bodyPr/>
          <a:lstStyle/>
          <a:p>
            <a:pPr eaLnBrk="1" hangingPunct="1"/>
            <a:r>
              <a:rPr lang="en-US" b="1"/>
              <a:t>DEQUE(Double ended Queue)</a:t>
            </a:r>
            <a:r>
              <a:rPr lang="en-US"/>
              <a:t>- A deque is a queue in which elements can be added or removed at either end but not in the middle. A deque is usually maintained by a circular array DEQUE with pointers LEFT and RIGHT, which point to two ends of deque. The elements extend from LEFT end to RIGHT end of deque. The term circular comes from the fact that DEQUE[1] comes after DEQUE [N]. The condition LEFT=NULL will be used to indicate that a deque is empty.</a:t>
            </a:r>
          </a:p>
          <a:p>
            <a:pPr eaLnBrk="1" hangingPunct="1"/>
            <a:r>
              <a:rPr lang="en-US"/>
              <a:t>There are two variations of a deque</a:t>
            </a:r>
          </a:p>
          <a:p>
            <a:pPr eaLnBrk="1" hangingPunct="1"/>
            <a:r>
              <a:rPr lang="en-US" b="1"/>
              <a:t>Input-restricted deque</a:t>
            </a:r>
            <a:r>
              <a:rPr lang="en-US"/>
              <a:t>- It is a deque which allows insertions at only one end of list but allows deletions at both ends of the list</a:t>
            </a:r>
          </a:p>
          <a:p>
            <a:pPr eaLnBrk="1" hangingPunct="1"/>
            <a:r>
              <a:rPr lang="en-US" b="1"/>
              <a:t>Output-restricted deque</a:t>
            </a:r>
            <a:r>
              <a:rPr lang="en-US"/>
              <a:t>- It is a deque which allows deletions at only one end of list but allows insertions at both ends of list</a:t>
            </a:r>
          </a:p>
        </p:txBody>
      </p:sp>
    </p:spTree>
    <p:extLst>
      <p:ext uri="{BB962C8B-B14F-4D97-AF65-F5344CB8AC3E}">
        <p14:creationId xmlns:p14="http://schemas.microsoft.com/office/powerpoint/2010/main" val="179751377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3"/>
          <p:cNvSpPr>
            <a:spLocks noGrp="1" noChangeArrowheads="1"/>
          </p:cNvSpPr>
          <p:nvPr>
            <p:ph type="body" idx="1"/>
          </p:nvPr>
        </p:nvSpPr>
        <p:spPr>
          <a:xfrm>
            <a:off x="1524000" y="0"/>
            <a:ext cx="9144000" cy="6858000"/>
          </a:xfrm>
        </p:spPr>
        <p:txBody>
          <a:bodyPr/>
          <a:lstStyle/>
          <a:p>
            <a:pPr marL="457200" indent="-457200" eaLnBrk="1" hangingPunct="1"/>
            <a:r>
              <a:rPr lang="en-US" sz="1800" dirty="0"/>
              <a:t>Consider the following </a:t>
            </a:r>
            <a:r>
              <a:rPr lang="en-US" sz="1800" dirty="0" err="1"/>
              <a:t>deque</a:t>
            </a:r>
            <a:r>
              <a:rPr lang="en-US" sz="1800" dirty="0"/>
              <a:t> of characters where DEQUE is a circular array which is allocated six memory cells.</a:t>
            </a:r>
          </a:p>
          <a:p>
            <a:pPr marL="457200" indent="-457200" eaLnBrk="1" hangingPunct="1">
              <a:buNone/>
            </a:pPr>
            <a:r>
              <a:rPr lang="en-US" sz="1800" dirty="0"/>
              <a:t>             LEFT=2, RIGHT=4 DEQUE: _ A,C,D, _ , _</a:t>
            </a:r>
          </a:p>
          <a:p>
            <a:pPr marL="457200" indent="-457200" eaLnBrk="1" hangingPunct="1"/>
            <a:r>
              <a:rPr lang="en-US" sz="1800" dirty="0"/>
              <a:t>Describe </a:t>
            </a:r>
            <a:r>
              <a:rPr lang="en-US" sz="1800" dirty="0" err="1"/>
              <a:t>deque</a:t>
            </a:r>
            <a:r>
              <a:rPr lang="en-US" sz="1800" dirty="0"/>
              <a:t> while the following operation take place </a:t>
            </a:r>
          </a:p>
          <a:p>
            <a:pPr marL="457200" indent="-457200" eaLnBrk="1" hangingPunct="1">
              <a:buFontTx/>
              <a:buAutoNum type="alphaLcParenBoth"/>
            </a:pPr>
            <a:r>
              <a:rPr lang="en-US" sz="1800" dirty="0"/>
              <a:t>F is added to right of </a:t>
            </a:r>
            <a:r>
              <a:rPr lang="en-US" sz="1800" dirty="0" err="1"/>
              <a:t>deque</a:t>
            </a:r>
            <a:r>
              <a:rPr lang="en-US" sz="1800" dirty="0"/>
              <a:t> </a:t>
            </a:r>
          </a:p>
          <a:p>
            <a:pPr marL="457200" indent="-457200" eaLnBrk="1" hangingPunct="1">
              <a:buNone/>
            </a:pPr>
            <a:r>
              <a:rPr lang="en-US" sz="1800" dirty="0"/>
              <a:t>      LFET=2, RIGHT=5          _A C D F _ _</a:t>
            </a:r>
          </a:p>
          <a:p>
            <a:pPr marL="457200" indent="-457200" eaLnBrk="1" hangingPunct="1">
              <a:buNone/>
            </a:pPr>
            <a:r>
              <a:rPr lang="en-US" sz="1800" dirty="0"/>
              <a:t>(b) Two letters on right are deleted</a:t>
            </a:r>
          </a:p>
          <a:p>
            <a:pPr marL="457200" indent="-457200" eaLnBrk="1" hangingPunct="1">
              <a:buNone/>
            </a:pPr>
            <a:r>
              <a:rPr lang="en-US" sz="1800" dirty="0"/>
              <a:t>      LEFT=2   RIGHT=3            _A C _ _ _ _</a:t>
            </a:r>
          </a:p>
          <a:p>
            <a:pPr marL="457200" indent="-457200" eaLnBrk="1" hangingPunct="1">
              <a:buNone/>
            </a:pPr>
            <a:r>
              <a:rPr lang="en-US" sz="1800" dirty="0"/>
              <a:t>(c) K,L and M are added to the left of the </a:t>
            </a:r>
            <a:r>
              <a:rPr lang="en-US" sz="1800" dirty="0" err="1"/>
              <a:t>deque</a:t>
            </a:r>
            <a:endParaRPr lang="en-US" sz="1800" dirty="0"/>
          </a:p>
          <a:p>
            <a:pPr marL="457200" indent="-457200" eaLnBrk="1" hangingPunct="1">
              <a:buNone/>
            </a:pPr>
            <a:r>
              <a:rPr lang="en-US" sz="1800" dirty="0"/>
              <a:t>      LEFT=5    RIGHT=3         K A C _ M L</a:t>
            </a:r>
          </a:p>
          <a:p>
            <a:pPr marL="457200" indent="-457200" eaLnBrk="1" hangingPunct="1">
              <a:buNone/>
            </a:pPr>
            <a:r>
              <a:rPr lang="en-US" sz="1800" dirty="0"/>
              <a:t>(d) One letter on left is deleted.</a:t>
            </a:r>
          </a:p>
          <a:p>
            <a:pPr marL="457200" indent="-457200" eaLnBrk="1" hangingPunct="1">
              <a:buNone/>
            </a:pPr>
            <a:r>
              <a:rPr lang="en-US" sz="1800" dirty="0"/>
              <a:t>      LEFT=6    RIGHT=3         K A C _ _ L</a:t>
            </a:r>
          </a:p>
          <a:p>
            <a:pPr marL="457200" indent="-457200" eaLnBrk="1" hangingPunct="1">
              <a:buNone/>
            </a:pPr>
            <a:r>
              <a:rPr lang="en-US" sz="1800" dirty="0"/>
              <a:t>(e) R is added to the left of </a:t>
            </a:r>
            <a:r>
              <a:rPr lang="en-US" sz="1800" dirty="0" err="1"/>
              <a:t>deque</a:t>
            </a:r>
            <a:r>
              <a:rPr lang="en-US" sz="1800" dirty="0"/>
              <a:t>.</a:t>
            </a:r>
          </a:p>
          <a:p>
            <a:pPr marL="457200" indent="-457200" eaLnBrk="1" hangingPunct="1">
              <a:buNone/>
            </a:pPr>
            <a:r>
              <a:rPr lang="en-US" sz="1800" dirty="0"/>
              <a:t>        LEFT=5   RIGHT= 3         K A C _ R L </a:t>
            </a:r>
          </a:p>
          <a:p>
            <a:pPr marL="457200" indent="-457200" eaLnBrk="1" hangingPunct="1">
              <a:buNone/>
            </a:pPr>
            <a:r>
              <a:rPr lang="en-US" sz="1800" dirty="0"/>
              <a:t>(f) S is added to right of </a:t>
            </a:r>
            <a:r>
              <a:rPr lang="en-US" sz="1800" dirty="0" err="1"/>
              <a:t>deque</a:t>
            </a:r>
            <a:endParaRPr lang="en-US" sz="1800" dirty="0"/>
          </a:p>
          <a:p>
            <a:pPr marL="457200" indent="-457200" eaLnBrk="1" hangingPunct="1">
              <a:buNone/>
            </a:pPr>
            <a:r>
              <a:rPr lang="en-US" sz="1800" dirty="0"/>
              <a:t>       LEFT=5    RIGHT= 4        K A C S R L</a:t>
            </a:r>
          </a:p>
          <a:p>
            <a:pPr marL="457200" indent="-457200" eaLnBrk="1" hangingPunct="1">
              <a:buNone/>
            </a:pPr>
            <a:r>
              <a:rPr lang="en-US" sz="1800" dirty="0"/>
              <a:t>(g) T is added to the right of </a:t>
            </a:r>
            <a:r>
              <a:rPr lang="en-US" sz="1800" dirty="0" err="1"/>
              <a:t>deque</a:t>
            </a:r>
            <a:endParaRPr lang="en-US" sz="1800" dirty="0"/>
          </a:p>
          <a:p>
            <a:pPr marL="457200" indent="-457200" eaLnBrk="1" hangingPunct="1">
              <a:buNone/>
            </a:pPr>
            <a:r>
              <a:rPr lang="en-US" sz="1800" dirty="0"/>
              <a:t>       Since LEFT= RIGHT+1, the array is full and hence T cannot be added to the </a:t>
            </a:r>
            <a:r>
              <a:rPr lang="en-US" sz="1800" dirty="0" err="1"/>
              <a:t>deque</a:t>
            </a:r>
            <a:r>
              <a:rPr lang="en-US" sz="1800" dirty="0"/>
              <a:t>    </a:t>
            </a:r>
          </a:p>
          <a:p>
            <a:pPr marL="457200" indent="-457200" eaLnBrk="1" hangingPunct="1">
              <a:buNone/>
            </a:pPr>
            <a:endParaRPr lang="en-US" sz="1800" dirty="0"/>
          </a:p>
          <a:p>
            <a:pPr marL="457200" indent="-457200" eaLnBrk="1" hangingPunct="1"/>
            <a:endParaRPr lang="en-US" sz="1800" dirty="0"/>
          </a:p>
        </p:txBody>
      </p:sp>
    </p:spTree>
    <p:extLst>
      <p:ext uri="{BB962C8B-B14F-4D97-AF65-F5344CB8AC3E}">
        <p14:creationId xmlns:p14="http://schemas.microsoft.com/office/powerpoint/2010/main" val="384377638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3"/>
          <p:cNvSpPr>
            <a:spLocks noGrp="1" noChangeArrowheads="1"/>
          </p:cNvSpPr>
          <p:nvPr>
            <p:ph type="body" idx="1"/>
          </p:nvPr>
        </p:nvSpPr>
        <p:spPr>
          <a:xfrm>
            <a:off x="1524000" y="0"/>
            <a:ext cx="9144000" cy="6858000"/>
          </a:xfrm>
        </p:spPr>
        <p:txBody>
          <a:bodyPr/>
          <a:lstStyle/>
          <a:p>
            <a:pPr eaLnBrk="1" hangingPunct="1"/>
            <a:r>
              <a:rPr lang="en-US" b="1"/>
              <a:t>Priority Queue-</a:t>
            </a:r>
            <a:r>
              <a:rPr lang="en-US"/>
              <a:t> A priority queue is a collection of elements such that each element has been assigned a priority and such that the order in which elements are deleted and processed comes from following rules:</a:t>
            </a:r>
          </a:p>
          <a:p>
            <a:pPr eaLnBrk="1" hangingPunct="1"/>
            <a:r>
              <a:rPr lang="en-US"/>
              <a:t>An element of higher priority is processed before any element of lower priority</a:t>
            </a:r>
          </a:p>
          <a:p>
            <a:pPr eaLnBrk="1" hangingPunct="1"/>
            <a:r>
              <a:rPr lang="en-US"/>
              <a:t>Two elements of same priority are processed according to the order in which they were added to queue</a:t>
            </a:r>
          </a:p>
          <a:p>
            <a:pPr eaLnBrk="1" hangingPunct="1"/>
            <a:r>
              <a:rPr lang="en-US"/>
              <a:t>An example of a priority queue is a time sharing system. Programs of higher priority are processed first and programs with same priority form a standard queue</a:t>
            </a:r>
          </a:p>
        </p:txBody>
      </p:sp>
    </p:spTree>
    <p:extLst>
      <p:ext uri="{BB962C8B-B14F-4D97-AF65-F5344CB8AC3E}">
        <p14:creationId xmlns:p14="http://schemas.microsoft.com/office/powerpoint/2010/main" val="219660939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sz="3200" b="1" u="sng"/>
              <a:t>One-way list representation of a priority queue</a:t>
            </a:r>
          </a:p>
          <a:p>
            <a:pPr eaLnBrk="1" hangingPunct="1">
              <a:buFontTx/>
              <a:buNone/>
            </a:pPr>
            <a:r>
              <a:rPr lang="en-US"/>
              <a:t>     </a:t>
            </a:r>
          </a:p>
          <a:p>
            <a:pPr eaLnBrk="1" hangingPunct="1"/>
            <a:r>
              <a:rPr lang="en-US"/>
              <a:t> One way to maintain a priority queue in memory is by means of a one-way list </a:t>
            </a:r>
          </a:p>
          <a:p>
            <a:pPr eaLnBrk="1" hangingPunct="1">
              <a:buFontTx/>
              <a:buNone/>
            </a:pPr>
            <a:endParaRPr lang="en-US"/>
          </a:p>
          <a:p>
            <a:pPr eaLnBrk="1" hangingPunct="1"/>
            <a:r>
              <a:rPr lang="en-US"/>
              <a:t>Each node in list will </a:t>
            </a:r>
            <a:r>
              <a:rPr lang="en-US" b="1">
                <a:solidFill>
                  <a:srgbClr val="FF33CC"/>
                </a:solidFill>
              </a:rPr>
              <a:t>contain three items of information</a:t>
            </a:r>
            <a:r>
              <a:rPr lang="en-US"/>
              <a:t>: an information field INFO, a priority number PRN and a link field LINK</a:t>
            </a:r>
          </a:p>
          <a:p>
            <a:pPr eaLnBrk="1" hangingPunct="1">
              <a:buFontTx/>
              <a:buNone/>
            </a:pPr>
            <a:endParaRPr lang="en-US"/>
          </a:p>
          <a:p>
            <a:pPr eaLnBrk="1" hangingPunct="1"/>
            <a:r>
              <a:rPr lang="en-US"/>
              <a:t>A node X precedes a node Y in list</a:t>
            </a:r>
          </a:p>
          <a:p>
            <a:pPr eaLnBrk="1" hangingPunct="1">
              <a:buFontTx/>
              <a:buNone/>
            </a:pPr>
            <a:r>
              <a:rPr lang="en-US"/>
              <a:t> </a:t>
            </a:r>
          </a:p>
          <a:p>
            <a:pPr lvl="1" eaLnBrk="1" hangingPunct="1"/>
            <a:r>
              <a:rPr lang="en-US"/>
              <a:t>If  X has higher priority than Y</a:t>
            </a:r>
          </a:p>
          <a:p>
            <a:pPr lvl="1" eaLnBrk="1" hangingPunct="1">
              <a:buFontTx/>
              <a:buNone/>
            </a:pPr>
            <a:endParaRPr lang="en-US"/>
          </a:p>
          <a:p>
            <a:pPr lvl="1" eaLnBrk="1" hangingPunct="1"/>
            <a:r>
              <a:rPr lang="en-US"/>
              <a:t>Or when both have same priority but X was added to list before Y</a:t>
            </a:r>
          </a:p>
          <a:p>
            <a:pPr eaLnBrk="1" hangingPunct="1"/>
            <a:endParaRPr lang="en-US"/>
          </a:p>
        </p:txBody>
      </p:sp>
    </p:spTree>
    <p:extLst>
      <p:ext uri="{BB962C8B-B14F-4D97-AF65-F5344CB8AC3E}">
        <p14:creationId xmlns:p14="http://schemas.microsoft.com/office/powerpoint/2010/main" val="14475865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3"/>
          <p:cNvSpPr>
            <a:spLocks noGrp="1" noChangeArrowheads="1"/>
          </p:cNvSpPr>
          <p:nvPr>
            <p:ph type="body" idx="1"/>
          </p:nvPr>
        </p:nvSpPr>
        <p:spPr>
          <a:xfrm>
            <a:off x="1524000" y="0"/>
            <a:ext cx="9144000" cy="6858000"/>
          </a:xfrm>
        </p:spPr>
        <p:txBody>
          <a:bodyPr/>
          <a:lstStyle/>
          <a:p>
            <a:pPr eaLnBrk="1" hangingPunct="1"/>
            <a:r>
              <a:rPr lang="en-US"/>
              <a:t>Another way to maintain a priority queue in memory is to use a separate queue for each level of priority . Each such queue will appear in its own circular array and must have its own pair of pointers, FRONT and REAR.</a:t>
            </a:r>
          </a:p>
          <a:p>
            <a:pPr eaLnBrk="1" hangingPunct="1"/>
            <a:r>
              <a:rPr lang="en-US"/>
              <a:t>If each queue is allocated the same amount of space, a two dimensional array QUEUE can be used instead of the linear arrays for representing a priority queue. If K represents the row K of the queue, FRONT[K] and REAR[K]  are the front and rear indexes of the K</a:t>
            </a:r>
            <a:r>
              <a:rPr lang="en-US" baseline="30000"/>
              <a:t>th</a:t>
            </a:r>
            <a:r>
              <a:rPr lang="en-US"/>
              <a:t> row.</a:t>
            </a:r>
          </a:p>
          <a:p>
            <a:pPr eaLnBrk="1" hangingPunct="1">
              <a:buFontTx/>
              <a:buNone/>
            </a:pPr>
            <a:r>
              <a:rPr lang="en-US"/>
              <a:t>          1            2           3        4           5          6</a:t>
            </a:r>
          </a:p>
          <a:p>
            <a:pPr eaLnBrk="1" hangingPunct="1">
              <a:buFontTx/>
              <a:buNone/>
            </a:pPr>
            <a:r>
              <a:rPr lang="en-US"/>
              <a:t>    1               AAA       </a:t>
            </a:r>
          </a:p>
          <a:p>
            <a:pPr eaLnBrk="1" hangingPunct="1">
              <a:buFontTx/>
              <a:buNone/>
            </a:pPr>
            <a:r>
              <a:rPr lang="en-US"/>
              <a:t>    2   BBB    CCC      XXX</a:t>
            </a:r>
          </a:p>
          <a:p>
            <a:pPr eaLnBrk="1" hangingPunct="1">
              <a:buFontTx/>
              <a:buNone/>
            </a:pPr>
            <a:r>
              <a:rPr lang="en-US"/>
              <a:t>    3   </a:t>
            </a:r>
          </a:p>
          <a:p>
            <a:pPr eaLnBrk="1" hangingPunct="1">
              <a:buFontTx/>
              <a:buNone/>
            </a:pPr>
            <a:r>
              <a:rPr lang="en-US"/>
              <a:t>    4   FFF                                           DDD    EEE</a:t>
            </a:r>
          </a:p>
          <a:p>
            <a:pPr eaLnBrk="1" hangingPunct="1">
              <a:buFontTx/>
              <a:buNone/>
            </a:pPr>
            <a:r>
              <a:rPr lang="en-US"/>
              <a:t>    5                                         GGG</a:t>
            </a:r>
          </a:p>
        </p:txBody>
      </p:sp>
      <p:sp>
        <p:nvSpPr>
          <p:cNvPr id="264195" name="AutoShape 4"/>
          <p:cNvSpPr>
            <a:spLocks noChangeArrowheads="1"/>
          </p:cNvSpPr>
          <p:nvPr/>
        </p:nvSpPr>
        <p:spPr bwMode="auto">
          <a:xfrm>
            <a:off x="2209800" y="3733800"/>
            <a:ext cx="5715000" cy="2819400"/>
          </a:xfrm>
          <a:prstGeom prst="bracketPair">
            <a:avLst>
              <a:gd name="adj" fmla="val 9458"/>
            </a:avLst>
          </a:prstGeom>
          <a:no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64196" name="AutoShape 5"/>
          <p:cNvSpPr>
            <a:spLocks/>
          </p:cNvSpPr>
          <p:nvPr/>
        </p:nvSpPr>
        <p:spPr bwMode="auto">
          <a:xfrm>
            <a:off x="1828800" y="3886200"/>
            <a:ext cx="152400" cy="2514600"/>
          </a:xfrm>
          <a:prstGeom prst="leftBrace">
            <a:avLst>
              <a:gd name="adj1" fmla="val 137500"/>
              <a:gd name="adj2" fmla="val 50000"/>
            </a:avLst>
          </a:prstGeom>
          <a:no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64197" name="Text Box 6"/>
          <p:cNvSpPr txBox="1">
            <a:spLocks noChangeArrowheads="1"/>
          </p:cNvSpPr>
          <p:nvPr/>
        </p:nvSpPr>
        <p:spPr bwMode="auto">
          <a:xfrm rot="-5400000">
            <a:off x="1188244" y="4922044"/>
            <a:ext cx="9144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Priority</a:t>
            </a:r>
          </a:p>
        </p:txBody>
      </p:sp>
    </p:spTree>
    <p:extLst>
      <p:ext uri="{BB962C8B-B14F-4D97-AF65-F5344CB8AC3E}">
        <p14:creationId xmlns:p14="http://schemas.microsoft.com/office/powerpoint/2010/main" val="291857262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12381-06AC-EF48-96BF-C6EAD114C44A}"/>
              </a:ext>
            </a:extLst>
          </p:cNvPr>
          <p:cNvSpPr>
            <a:spLocks noGrp="1"/>
          </p:cNvSpPr>
          <p:nvPr>
            <p:ph type="title"/>
          </p:nvPr>
        </p:nvSpPr>
        <p:spPr/>
        <p:txBody>
          <a:bodyPr/>
          <a:lstStyle/>
          <a:p>
            <a:r>
              <a:rPr lang="en-US" b="1" dirty="0"/>
              <a:t>Complexity </a:t>
            </a:r>
            <a:r>
              <a:rPr lang="en-US" b="1"/>
              <a:t>of Stack </a:t>
            </a:r>
            <a:r>
              <a:rPr lang="en-US" b="1" dirty="0"/>
              <a:t>and Queue operations</a:t>
            </a:r>
          </a:p>
        </p:txBody>
      </p:sp>
      <p:sp>
        <p:nvSpPr>
          <p:cNvPr id="3" name="Content Placeholder 2">
            <a:extLst>
              <a:ext uri="{FF2B5EF4-FFF2-40B4-BE49-F238E27FC236}">
                <a16:creationId xmlns:a16="http://schemas.microsoft.com/office/drawing/2014/main" id="{C756792F-0A54-B44A-A33D-3DBB15FE6F5A}"/>
              </a:ext>
            </a:extLst>
          </p:cNvPr>
          <p:cNvSpPr>
            <a:spLocks noGrp="1"/>
          </p:cNvSpPr>
          <p:nvPr>
            <p:ph idx="1"/>
          </p:nvPr>
        </p:nvSpPr>
        <p:spPr>
          <a:xfrm>
            <a:off x="1529576" y="1417638"/>
            <a:ext cx="9138424" cy="5287962"/>
          </a:xfrm>
        </p:spPr>
        <p:txBody>
          <a:bodyPr/>
          <a:lstStyle/>
          <a:p>
            <a:endParaRPr lang="en-US" dirty="0"/>
          </a:p>
          <a:p>
            <a:r>
              <a:rPr lang="en-US" dirty="0"/>
              <a:t>Stack push and pop operations are performed at only one end of stack, </a:t>
            </a:r>
            <a:r>
              <a:rPr lang="en-US" dirty="0" err="1"/>
              <a:t>i.e</a:t>
            </a:r>
            <a:r>
              <a:rPr lang="en-US" dirty="0"/>
              <a:t> top of stack. Thus, both the operations are O(1) as the size of stack has no effect on the time of execution</a:t>
            </a:r>
          </a:p>
          <a:p>
            <a:endParaRPr lang="en-US" dirty="0"/>
          </a:p>
          <a:p>
            <a:r>
              <a:rPr lang="en-US" dirty="0"/>
              <a:t>Queue insert and delete operations are done at rear and front of queue respectively. Thus, they also are O(1) </a:t>
            </a:r>
          </a:p>
        </p:txBody>
      </p:sp>
    </p:spTree>
    <p:extLst>
      <p:ext uri="{BB962C8B-B14F-4D97-AF65-F5344CB8AC3E}">
        <p14:creationId xmlns:p14="http://schemas.microsoft.com/office/powerpoint/2010/main" val="54463868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p:cNvSpPr>
            <a:spLocks noGrp="1" noChangeArrowheads="1"/>
          </p:cNvSpPr>
          <p:nvPr>
            <p:ph type="body" idx="1"/>
          </p:nvPr>
        </p:nvSpPr>
        <p:spPr>
          <a:xfrm>
            <a:off x="1524000" y="0"/>
            <a:ext cx="9144000" cy="6858000"/>
          </a:xfrm>
        </p:spPr>
        <p:txBody>
          <a:bodyPr/>
          <a:lstStyle/>
          <a:p>
            <a:pPr eaLnBrk="1" hangingPunct="1">
              <a:lnSpc>
                <a:spcPct val="155000"/>
              </a:lnSpc>
            </a:pPr>
            <a:r>
              <a:rPr lang="en-US"/>
              <a:t>Quick Sort- Quick sort is a sorting technique that uses the idea of divide and conquer. This algorithm finds the element, </a:t>
            </a:r>
            <a:r>
              <a:rPr lang="en-US" b="1"/>
              <a:t>called pivot</a:t>
            </a:r>
            <a:r>
              <a:rPr lang="en-US"/>
              <a:t>, that partitions the array into two halves in such a way that the elements in left sub array are less than and elements in right sub array are greater than the partitioning element (Pivot). Then, these two sub arrays are sorted separately in the same way by dividing them further. The main task in quick sort is to find the element that partitions the array into two halves and to place it at its proper location in array.</a:t>
            </a:r>
          </a:p>
        </p:txBody>
      </p:sp>
    </p:spTree>
    <p:extLst>
      <p:ext uri="{BB962C8B-B14F-4D97-AF65-F5344CB8AC3E}">
        <p14:creationId xmlns:p14="http://schemas.microsoft.com/office/powerpoint/2010/main" val="313533711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sz="2000"/>
              <a:t>Algorithm: </a:t>
            </a:r>
            <a:r>
              <a:rPr lang="en-US" sz="2000" b="1"/>
              <a:t>Quicksort (DATA, FIRST, LAST)</a:t>
            </a:r>
          </a:p>
          <a:p>
            <a:pPr eaLnBrk="1" hangingPunct="1">
              <a:lnSpc>
                <a:spcPct val="90000"/>
              </a:lnSpc>
              <a:buFontTx/>
              <a:buNone/>
            </a:pPr>
            <a:r>
              <a:rPr lang="en-US" sz="2000"/>
              <a:t>                       This algorithm sorts the array DATA with N elements.</a:t>
            </a:r>
          </a:p>
          <a:p>
            <a:pPr eaLnBrk="1" hangingPunct="1">
              <a:lnSpc>
                <a:spcPct val="90000"/>
              </a:lnSpc>
            </a:pPr>
            <a:r>
              <a:rPr lang="en-US" sz="2000"/>
              <a:t>Step 1: [Initialization] Set low:=FIRST and high :=LAST and</a:t>
            </a:r>
          </a:p>
          <a:p>
            <a:pPr eaLnBrk="1" hangingPunct="1">
              <a:lnSpc>
                <a:spcPct val="90000"/>
              </a:lnSpc>
              <a:buFontTx/>
              <a:buNone/>
            </a:pPr>
            <a:r>
              <a:rPr lang="en-US" sz="2000"/>
              <a:t>                  pivot:= DATA[ (low+high)/2 ][Middle element of array]</a:t>
            </a:r>
          </a:p>
          <a:p>
            <a:pPr eaLnBrk="1" hangingPunct="1">
              <a:lnSpc>
                <a:spcPct val="90000"/>
              </a:lnSpc>
            </a:pPr>
            <a:r>
              <a:rPr lang="en-US" sz="2000"/>
              <a:t>Step 2: Repeat while low </a:t>
            </a:r>
            <a:r>
              <a:rPr lang="en-US" sz="2000">
                <a:cs typeface="Times New Roman" pitchFamily="18" charset="0"/>
              </a:rPr>
              <a:t>≤ high:</a:t>
            </a:r>
          </a:p>
          <a:p>
            <a:pPr eaLnBrk="1" hangingPunct="1">
              <a:lnSpc>
                <a:spcPct val="90000"/>
              </a:lnSpc>
            </a:pPr>
            <a:r>
              <a:rPr lang="en-US" sz="2000">
                <a:cs typeface="Times New Roman" pitchFamily="18" charset="0"/>
              </a:rPr>
              <a:t>Step 3: Repeat while DATA [low] &lt; pivot:</a:t>
            </a:r>
          </a:p>
          <a:p>
            <a:pPr eaLnBrk="1" hangingPunct="1">
              <a:lnSpc>
                <a:spcPct val="90000"/>
              </a:lnSpc>
              <a:buFontTx/>
              <a:buNone/>
            </a:pPr>
            <a:r>
              <a:rPr lang="en-US" sz="2000">
                <a:cs typeface="Times New Roman" pitchFamily="18" charset="0"/>
              </a:rPr>
              <a:t>                 Set low:= low +1</a:t>
            </a:r>
          </a:p>
          <a:p>
            <a:pPr eaLnBrk="1" hangingPunct="1">
              <a:lnSpc>
                <a:spcPct val="90000"/>
              </a:lnSpc>
              <a:buFontTx/>
              <a:buNone/>
            </a:pPr>
            <a:r>
              <a:rPr lang="en-US" sz="2000">
                <a:cs typeface="Times New Roman" pitchFamily="18" charset="0"/>
              </a:rPr>
              <a:t>                 [End of step 3 loop] </a:t>
            </a:r>
          </a:p>
          <a:p>
            <a:pPr eaLnBrk="1" hangingPunct="1">
              <a:lnSpc>
                <a:spcPct val="90000"/>
              </a:lnSpc>
            </a:pPr>
            <a:r>
              <a:rPr lang="en-US" sz="2000">
                <a:cs typeface="Times New Roman" pitchFamily="18" charset="0"/>
              </a:rPr>
              <a:t>Step 4: Repeat while DATA [high] &gt; pivot:</a:t>
            </a:r>
          </a:p>
          <a:p>
            <a:pPr eaLnBrk="1" hangingPunct="1">
              <a:lnSpc>
                <a:spcPct val="90000"/>
              </a:lnSpc>
              <a:buFontTx/>
              <a:buNone/>
            </a:pPr>
            <a:r>
              <a:rPr lang="en-US" sz="2000">
                <a:cs typeface="Times New Roman" pitchFamily="18" charset="0"/>
              </a:rPr>
              <a:t>                 Set high:= high -1 </a:t>
            </a:r>
          </a:p>
          <a:p>
            <a:pPr eaLnBrk="1" hangingPunct="1">
              <a:lnSpc>
                <a:spcPct val="90000"/>
              </a:lnSpc>
              <a:buFontTx/>
              <a:buNone/>
            </a:pPr>
            <a:r>
              <a:rPr lang="en-US" sz="2000">
                <a:cs typeface="Times New Roman" pitchFamily="18" charset="0"/>
              </a:rPr>
              <a:t>                 [End of step 4 loop] </a:t>
            </a:r>
          </a:p>
          <a:p>
            <a:pPr eaLnBrk="1" hangingPunct="1">
              <a:lnSpc>
                <a:spcPct val="90000"/>
              </a:lnSpc>
            </a:pPr>
            <a:r>
              <a:rPr lang="en-US" sz="2000">
                <a:cs typeface="Times New Roman" pitchFamily="18" charset="0"/>
              </a:rPr>
              <a:t>Step 5: If low ≤ high, then:</a:t>
            </a:r>
          </a:p>
          <a:p>
            <a:pPr eaLnBrk="1" hangingPunct="1">
              <a:lnSpc>
                <a:spcPct val="90000"/>
              </a:lnSpc>
              <a:buFontTx/>
              <a:buNone/>
            </a:pPr>
            <a:r>
              <a:rPr lang="en-US" sz="2000">
                <a:cs typeface="Times New Roman" pitchFamily="18" charset="0"/>
              </a:rPr>
              <a:t>                Set temp:= DATA [low]</a:t>
            </a:r>
          </a:p>
          <a:p>
            <a:pPr eaLnBrk="1" hangingPunct="1">
              <a:lnSpc>
                <a:spcPct val="90000"/>
              </a:lnSpc>
              <a:buFontTx/>
              <a:buNone/>
            </a:pPr>
            <a:r>
              <a:rPr lang="en-US" sz="2000">
                <a:cs typeface="Times New Roman" pitchFamily="18" charset="0"/>
              </a:rPr>
              <a:t>                Set DATA [low]:=DATA [high]</a:t>
            </a:r>
          </a:p>
          <a:p>
            <a:pPr eaLnBrk="1" hangingPunct="1">
              <a:lnSpc>
                <a:spcPct val="90000"/>
              </a:lnSpc>
              <a:buFontTx/>
              <a:buNone/>
            </a:pPr>
            <a:r>
              <a:rPr lang="en-US" sz="2000">
                <a:cs typeface="Times New Roman" pitchFamily="18" charset="0"/>
              </a:rPr>
              <a:t>                Set DATA [high]:= temp</a:t>
            </a:r>
          </a:p>
          <a:p>
            <a:pPr eaLnBrk="1" hangingPunct="1">
              <a:lnSpc>
                <a:spcPct val="90000"/>
              </a:lnSpc>
              <a:buFontTx/>
              <a:buNone/>
            </a:pPr>
            <a:r>
              <a:rPr lang="en-US" sz="2000">
                <a:cs typeface="Times New Roman" pitchFamily="18" charset="0"/>
              </a:rPr>
              <a:t>                Set low:= low +1</a:t>
            </a:r>
          </a:p>
          <a:p>
            <a:pPr eaLnBrk="1" hangingPunct="1">
              <a:lnSpc>
                <a:spcPct val="90000"/>
              </a:lnSpc>
              <a:buFontTx/>
              <a:buNone/>
            </a:pPr>
            <a:r>
              <a:rPr lang="en-US" sz="2000">
                <a:cs typeface="Times New Roman" pitchFamily="18" charset="0"/>
              </a:rPr>
              <a:t>                Set high:= high -1</a:t>
            </a:r>
          </a:p>
          <a:p>
            <a:pPr eaLnBrk="1" hangingPunct="1">
              <a:lnSpc>
                <a:spcPct val="90000"/>
              </a:lnSpc>
              <a:buFontTx/>
              <a:buNone/>
            </a:pPr>
            <a:r>
              <a:rPr lang="en-US" sz="2000">
                <a:cs typeface="Times New Roman" pitchFamily="18" charset="0"/>
              </a:rPr>
              <a:t>                [End of if structure]     </a:t>
            </a:r>
          </a:p>
          <a:p>
            <a:pPr eaLnBrk="1" hangingPunct="1">
              <a:lnSpc>
                <a:spcPct val="90000"/>
              </a:lnSpc>
              <a:buFontTx/>
              <a:buNone/>
            </a:pPr>
            <a:r>
              <a:rPr lang="en-US" sz="2000"/>
              <a:t>                [End of step 2 Loop]</a:t>
            </a:r>
          </a:p>
        </p:txBody>
      </p:sp>
    </p:spTree>
    <p:extLst>
      <p:ext uri="{BB962C8B-B14F-4D97-AF65-F5344CB8AC3E}">
        <p14:creationId xmlns:p14="http://schemas.microsoft.com/office/powerpoint/2010/main" val="317665350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type="body" idx="1"/>
          </p:nvPr>
        </p:nvSpPr>
        <p:spPr>
          <a:xfrm>
            <a:off x="1524000" y="0"/>
            <a:ext cx="9144000" cy="6858000"/>
          </a:xfrm>
        </p:spPr>
        <p:txBody>
          <a:bodyPr/>
          <a:lstStyle/>
          <a:p>
            <a:pPr eaLnBrk="1" hangingPunct="1"/>
            <a:r>
              <a:rPr lang="en-US" dirty="0"/>
              <a:t>Step 6: If FIRST &lt; high, then:</a:t>
            </a:r>
          </a:p>
          <a:p>
            <a:pPr eaLnBrk="1" hangingPunct="1">
              <a:buFontTx/>
              <a:buNone/>
            </a:pPr>
            <a:r>
              <a:rPr lang="en-US" dirty="0"/>
              <a:t>                Quicksort (DATA, first, high)</a:t>
            </a:r>
          </a:p>
          <a:p>
            <a:pPr eaLnBrk="1" hangingPunct="1">
              <a:buFontTx/>
              <a:buNone/>
            </a:pPr>
            <a:r>
              <a:rPr lang="en-US" dirty="0"/>
              <a:t>                [End of if structure]</a:t>
            </a:r>
          </a:p>
          <a:p>
            <a:pPr eaLnBrk="1" hangingPunct="1"/>
            <a:r>
              <a:rPr lang="en-US" dirty="0"/>
              <a:t>Step 7: If low &lt; LAST, then:</a:t>
            </a:r>
          </a:p>
          <a:p>
            <a:pPr eaLnBrk="1" hangingPunct="1">
              <a:buFontTx/>
              <a:buNone/>
            </a:pPr>
            <a:r>
              <a:rPr lang="en-US" dirty="0"/>
              <a:t>                Quicksort (DATA, low, last)</a:t>
            </a:r>
          </a:p>
          <a:p>
            <a:pPr eaLnBrk="1" hangingPunct="1">
              <a:buFontTx/>
              <a:buNone/>
            </a:pPr>
            <a:r>
              <a:rPr lang="en-US" dirty="0"/>
              <a:t>                [End of if structure]</a:t>
            </a:r>
          </a:p>
          <a:p>
            <a:pPr eaLnBrk="1" hangingPunct="1"/>
            <a:r>
              <a:rPr lang="en-US" dirty="0"/>
              <a:t>Step 8: Return</a:t>
            </a:r>
          </a:p>
          <a:p>
            <a:pPr eaLnBrk="1" hangingPunct="1"/>
            <a:endParaRPr lang="en-US" dirty="0"/>
          </a:p>
        </p:txBody>
      </p:sp>
    </p:spTree>
    <p:extLst>
      <p:ext uri="{BB962C8B-B14F-4D97-AF65-F5344CB8AC3E}">
        <p14:creationId xmlns:p14="http://schemas.microsoft.com/office/powerpoint/2010/main" val="405095158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746C5-B1FA-AAE3-BA39-4E29E035D7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4D7375-622C-C254-710F-30C42D312C44}"/>
              </a:ext>
            </a:extLst>
          </p:cNvPr>
          <p:cNvSpPr>
            <a:spLocks noGrp="1"/>
          </p:cNvSpPr>
          <p:nvPr>
            <p:ph idx="1"/>
          </p:nvPr>
        </p:nvSpPr>
        <p:spPr/>
        <p:txBody>
          <a:bodyPr/>
          <a:lstStyle/>
          <a:p>
            <a:pPr marL="0" indent="0">
              <a:buNone/>
            </a:pPr>
            <a:endParaRPr lang="en-US" dirty="0"/>
          </a:p>
          <a:p>
            <a:pPr marL="0" indent="0">
              <a:buNone/>
            </a:pPr>
            <a:endParaRPr lang="en-US" dirty="0"/>
          </a:p>
          <a:p>
            <a:pPr marL="0" indent="0" algn="ctr">
              <a:buNone/>
            </a:pPr>
            <a:r>
              <a:rPr lang="en-US" sz="3600" b="1" u="sng" dirty="0"/>
              <a:t>NON RECURSIVE ALGORITHM</a:t>
            </a:r>
          </a:p>
        </p:txBody>
      </p:sp>
    </p:spTree>
    <p:extLst>
      <p:ext uri="{BB962C8B-B14F-4D97-AF65-F5344CB8AC3E}">
        <p14:creationId xmlns:p14="http://schemas.microsoft.com/office/powerpoint/2010/main" val="184178252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type="body" idx="1"/>
          </p:nvPr>
        </p:nvSpPr>
        <p:spPr>
          <a:xfrm>
            <a:off x="1524000" y="0"/>
            <a:ext cx="9144000" cy="6858000"/>
          </a:xfrm>
        </p:spPr>
        <p:txBody>
          <a:bodyPr/>
          <a:lstStyle/>
          <a:p>
            <a:pPr eaLnBrk="1" hangingPunct="1">
              <a:buFontTx/>
              <a:buNone/>
            </a:pPr>
            <a:r>
              <a:rPr lang="en-US" sz="2000"/>
              <a:t>  Algorithm: </a:t>
            </a:r>
            <a:r>
              <a:rPr lang="en-US" sz="2000" b="1"/>
              <a:t>QUICKSORT( A, N)</a:t>
            </a:r>
          </a:p>
          <a:p>
            <a:pPr eaLnBrk="1" hangingPunct="1">
              <a:buFontTx/>
              <a:buNone/>
            </a:pPr>
            <a:r>
              <a:rPr lang="en-US" sz="2000"/>
              <a:t>                     This algorithm sorts an array A with N elements. LOWER and UPPER are the two stacks maintained for storing the lower and upper indexes of list or sublist</a:t>
            </a:r>
          </a:p>
          <a:p>
            <a:pPr eaLnBrk="1" hangingPunct="1"/>
            <a:r>
              <a:rPr lang="en-US" sz="2000"/>
              <a:t>Step 1:[Initialize] Set TOP:=0</a:t>
            </a:r>
          </a:p>
          <a:p>
            <a:pPr eaLnBrk="1" hangingPunct="1"/>
            <a:r>
              <a:rPr lang="en-US" sz="2000"/>
              <a:t>Step 2:[Push boundary values of A onto stacks when A has 2 or more elements]</a:t>
            </a:r>
          </a:p>
          <a:p>
            <a:pPr eaLnBrk="1" hangingPunct="1">
              <a:buFontTx/>
              <a:buNone/>
            </a:pPr>
            <a:r>
              <a:rPr lang="en-US" sz="2000"/>
              <a:t>                If N &gt; 1, then:</a:t>
            </a:r>
          </a:p>
          <a:p>
            <a:pPr eaLnBrk="1" hangingPunct="1">
              <a:buFontTx/>
              <a:buNone/>
            </a:pPr>
            <a:r>
              <a:rPr lang="en-US" sz="2000"/>
              <a:t>                Set TOP:= TOP + 1, LOWER[1]:=1 and UPPER[1]:=N</a:t>
            </a:r>
          </a:p>
          <a:p>
            <a:pPr eaLnBrk="1" hangingPunct="1"/>
            <a:r>
              <a:rPr lang="en-US" sz="2000"/>
              <a:t>Step 3: Repeat while TOP</a:t>
            </a:r>
            <a:r>
              <a:rPr lang="en-US" sz="2000">
                <a:cs typeface="Times New Roman" pitchFamily="18" charset="0"/>
              </a:rPr>
              <a:t>≠ NULL</a:t>
            </a:r>
          </a:p>
          <a:p>
            <a:pPr eaLnBrk="1" hangingPunct="1">
              <a:buFontTx/>
              <a:buNone/>
            </a:pPr>
            <a:r>
              <a:rPr lang="en-US" sz="2000">
                <a:cs typeface="Times New Roman" pitchFamily="18" charset="0"/>
              </a:rPr>
              <a:t>                 [Pop sub list from stacks]</a:t>
            </a:r>
          </a:p>
          <a:p>
            <a:pPr eaLnBrk="1" hangingPunct="1">
              <a:buFontTx/>
              <a:buNone/>
            </a:pPr>
            <a:r>
              <a:rPr lang="en-US" sz="2000">
                <a:cs typeface="Times New Roman" pitchFamily="18" charset="0"/>
              </a:rPr>
              <a:t>                 Set BEG:=LOWER[TOP], END:=UPPER[TOP] and </a:t>
            </a:r>
          </a:p>
          <a:p>
            <a:pPr eaLnBrk="1" hangingPunct="1">
              <a:buFontTx/>
              <a:buNone/>
            </a:pPr>
            <a:r>
              <a:rPr lang="en-US" sz="2000">
                <a:cs typeface="Times New Roman" pitchFamily="18" charset="0"/>
              </a:rPr>
              <a:t>                 TOP:=TOP-1</a:t>
            </a:r>
          </a:p>
          <a:p>
            <a:pPr eaLnBrk="1" hangingPunct="1"/>
            <a:r>
              <a:rPr lang="en-US" sz="2000">
                <a:cs typeface="Times New Roman" pitchFamily="18" charset="0"/>
              </a:rPr>
              <a:t>Step 4: Call QUICK(A, N, BEG, END, LOC)</a:t>
            </a:r>
          </a:p>
          <a:p>
            <a:pPr eaLnBrk="1" hangingPunct="1"/>
            <a:r>
              <a:rPr lang="en-US" sz="2000">
                <a:cs typeface="Times New Roman" pitchFamily="18" charset="0"/>
              </a:rPr>
              <a:t>Step 5: [Push left sub list onto stacks when it has 2 or more elements]</a:t>
            </a:r>
          </a:p>
          <a:p>
            <a:pPr eaLnBrk="1" hangingPunct="1">
              <a:buFontTx/>
              <a:buNone/>
            </a:pPr>
            <a:r>
              <a:rPr lang="en-US" sz="2000">
                <a:cs typeface="Times New Roman" pitchFamily="18" charset="0"/>
              </a:rPr>
              <a:t>                  If BEG &lt; LOC-1, then :</a:t>
            </a:r>
          </a:p>
          <a:p>
            <a:pPr eaLnBrk="1" hangingPunct="1">
              <a:buFontTx/>
              <a:buNone/>
            </a:pPr>
            <a:r>
              <a:rPr lang="en-US" sz="2000">
                <a:cs typeface="Times New Roman" pitchFamily="18" charset="0"/>
              </a:rPr>
              <a:t>                  Set TOP:=TOP+1, LOWER[TOP]:=BEG,</a:t>
            </a:r>
          </a:p>
          <a:p>
            <a:pPr eaLnBrk="1" hangingPunct="1">
              <a:buFontTx/>
              <a:buNone/>
            </a:pPr>
            <a:r>
              <a:rPr lang="en-US" sz="2000">
                <a:cs typeface="Times New Roman" pitchFamily="18" charset="0"/>
              </a:rPr>
              <a:t>                  UPPER[TOP]:=LOC-1</a:t>
            </a:r>
          </a:p>
          <a:p>
            <a:pPr eaLnBrk="1" hangingPunct="1">
              <a:buFontTx/>
              <a:buNone/>
            </a:pPr>
            <a:r>
              <a:rPr lang="en-US" sz="2000">
                <a:cs typeface="Times New Roman" pitchFamily="18" charset="0"/>
              </a:rPr>
              <a:t>                [End of If structure]   </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p:cNvSpPr>
            <a:spLocks noGrp="1" noChangeArrowheads="1"/>
          </p:cNvSpPr>
          <p:nvPr>
            <p:ph type="body" idx="1"/>
          </p:nvPr>
        </p:nvSpPr>
        <p:spPr>
          <a:xfrm>
            <a:off x="1524000" y="0"/>
            <a:ext cx="9144000" cy="6858000"/>
          </a:xfrm>
        </p:spPr>
        <p:txBody>
          <a:bodyPr/>
          <a:lstStyle/>
          <a:p>
            <a:pPr eaLnBrk="1" hangingPunct="1">
              <a:buFontTx/>
              <a:buNone/>
            </a:pPr>
            <a:r>
              <a:rPr lang="en-US"/>
              <a:t>Step 6: [Push right sub list onto stacks when it has 2 or more elements]</a:t>
            </a:r>
          </a:p>
          <a:p>
            <a:pPr eaLnBrk="1" hangingPunct="1">
              <a:buFontTx/>
              <a:buNone/>
            </a:pPr>
            <a:r>
              <a:rPr lang="en-US"/>
              <a:t>            </a:t>
            </a:r>
            <a:r>
              <a:rPr lang="en-US">
                <a:cs typeface="Times New Roman" pitchFamily="18" charset="0"/>
              </a:rPr>
              <a:t>If LOC+1 &lt; END, then :</a:t>
            </a:r>
          </a:p>
          <a:p>
            <a:pPr eaLnBrk="1" hangingPunct="1">
              <a:buFontTx/>
              <a:buNone/>
            </a:pPr>
            <a:r>
              <a:rPr lang="en-US">
                <a:cs typeface="Times New Roman" pitchFamily="18" charset="0"/>
              </a:rPr>
              <a:t>                  Set TOP:=TOP+1, LOWER[TOP]:=LOC+1,</a:t>
            </a:r>
          </a:p>
          <a:p>
            <a:pPr eaLnBrk="1" hangingPunct="1">
              <a:buFontTx/>
              <a:buNone/>
            </a:pPr>
            <a:r>
              <a:rPr lang="en-US">
                <a:cs typeface="Times New Roman" pitchFamily="18" charset="0"/>
              </a:rPr>
              <a:t>                  UPPER[TOP]:=END</a:t>
            </a:r>
          </a:p>
          <a:p>
            <a:pPr eaLnBrk="1" hangingPunct="1">
              <a:buFontTx/>
              <a:buNone/>
            </a:pPr>
            <a:r>
              <a:rPr lang="en-US">
                <a:cs typeface="Times New Roman" pitchFamily="18" charset="0"/>
              </a:rPr>
              <a:t>                [End of If structure]   </a:t>
            </a:r>
          </a:p>
          <a:p>
            <a:pPr eaLnBrk="1" hangingPunct="1">
              <a:buFontTx/>
              <a:buNone/>
            </a:pPr>
            <a:r>
              <a:rPr lang="en-US">
                <a:cs typeface="Times New Roman" pitchFamily="18" charset="0"/>
              </a:rPr>
              <a:t>            [End of Step 3 loop]</a:t>
            </a:r>
          </a:p>
          <a:p>
            <a:pPr eaLnBrk="1" hangingPunct="1">
              <a:buFontTx/>
              <a:buNone/>
            </a:pPr>
            <a:r>
              <a:rPr lang="en-US">
                <a:cs typeface="Times New Roman" pitchFamily="18" charset="0"/>
              </a:rPr>
              <a:t>Step 7: Return</a:t>
            </a:r>
          </a:p>
          <a:p>
            <a:pPr eaLnBrk="1" hangingPunct="1">
              <a:buFontTx/>
              <a:buNone/>
            </a:pPr>
            <a:endParaRPr lang="en-US">
              <a:cs typeface="Times New Roman" pitchFamily="18" charset="0"/>
            </a:endParaRPr>
          </a:p>
          <a:p>
            <a:pPr eaLnBrk="1" hangingPunct="1">
              <a:buFontTx/>
              <a:buNone/>
            </a:pPr>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noChangeArrowheads="1"/>
          </p:cNvSpPr>
          <p:nvPr>
            <p:ph type="body" idx="1"/>
          </p:nvPr>
        </p:nvSpPr>
        <p:spPr>
          <a:xfrm>
            <a:off x="1524000" y="0"/>
            <a:ext cx="9144000" cy="6858000"/>
          </a:xfrm>
        </p:spPr>
        <p:txBody>
          <a:bodyPr/>
          <a:lstStyle/>
          <a:p>
            <a:pPr eaLnBrk="1" hangingPunct="1"/>
            <a:r>
              <a:rPr lang="en-US"/>
              <a:t>Algorithm: QUICK(A, N, BEG, END, LOC)</a:t>
            </a:r>
          </a:p>
          <a:p>
            <a:pPr eaLnBrk="1" hangingPunct="1">
              <a:buFontTx/>
              <a:buNone/>
            </a:pPr>
            <a:r>
              <a:rPr lang="en-US"/>
              <a:t>                       Here A is an array with N elements. Parameters BEG and     END contain the boundary values of the sublist of A to which this procedure applies. LOC keeps track of the position of the first element A[BEG] of the sublist during the procedure. The local variables LEFT and RIGHT will contain the boundary values of the list of elements that have not been scanned.</a:t>
            </a:r>
          </a:p>
          <a:p>
            <a:pPr eaLnBrk="1" hangingPunct="1">
              <a:buFontTx/>
              <a:buNone/>
            </a:pPr>
            <a:r>
              <a:rPr lang="en-US"/>
              <a:t>Step 1: [Initialize]. Set LEFT:=BEG, RIGHT:=END and LOC:=BEG</a:t>
            </a:r>
          </a:p>
          <a:p>
            <a:pPr eaLnBrk="1" hangingPunct="1">
              <a:buFontTx/>
              <a:buNone/>
            </a:pPr>
            <a:r>
              <a:rPr lang="en-US"/>
              <a:t>Step 2:  [Scan from right to left]</a:t>
            </a:r>
          </a:p>
          <a:p>
            <a:pPr eaLnBrk="1" hangingPunct="1">
              <a:buFontTx/>
              <a:buNone/>
            </a:pPr>
            <a:r>
              <a:rPr lang="en-US"/>
              <a:t>           (a) Repeat while A[LOC] </a:t>
            </a:r>
            <a:r>
              <a:rPr lang="en-US">
                <a:cs typeface="Times New Roman" pitchFamily="18" charset="0"/>
              </a:rPr>
              <a:t>≤ A[RIGHT] and LOC≠RIGHT:	</a:t>
            </a:r>
          </a:p>
          <a:p>
            <a:pPr eaLnBrk="1" hangingPunct="1">
              <a:buFontTx/>
              <a:buNone/>
            </a:pPr>
            <a:r>
              <a:rPr lang="en-US">
                <a:cs typeface="Times New Roman" pitchFamily="18" charset="0"/>
              </a:rPr>
              <a:t>                RIGHT:=RIGHT-1</a:t>
            </a:r>
          </a:p>
          <a:p>
            <a:pPr eaLnBrk="1" hangingPunct="1">
              <a:buFontTx/>
              <a:buNone/>
            </a:pPr>
            <a:r>
              <a:rPr lang="en-US">
                <a:cs typeface="Times New Roman" pitchFamily="18" charset="0"/>
              </a:rPr>
              <a:t>              [End of Loop]</a:t>
            </a:r>
          </a:p>
          <a:p>
            <a:pPr eaLnBrk="1" hangingPunct="1">
              <a:buFontTx/>
              <a:buNone/>
            </a:pPr>
            <a:r>
              <a:rPr lang="en-US">
                <a:cs typeface="Times New Roman" pitchFamily="18" charset="0"/>
              </a:rPr>
              <a:t>           (b) If LOC=RIGHT, then: Return</a:t>
            </a:r>
          </a:p>
          <a:p>
            <a:pPr eaLnBrk="1" hangingPunct="1">
              <a:buFontTx/>
              <a:buNone/>
            </a:pPr>
            <a:r>
              <a:rPr lang="en-US">
                <a:cs typeface="Times New Roman" pitchFamily="18" charset="0"/>
              </a:rPr>
              <a:t>            (c ) If A[LOC]&gt;A[RIGHT], then:</a:t>
            </a:r>
          </a:p>
          <a:p>
            <a:pPr eaLnBrk="1" hangingPunct="1">
              <a:buFontTx/>
              <a:buNone/>
            </a:pPr>
            <a:r>
              <a:rPr lang="en-US">
                <a:cs typeface="Times New Roman" pitchFamily="18" charset="0"/>
              </a:rPr>
              <a:t>                  (i) [Interchange A[LOC] and A[RIGHT] ]</a:t>
            </a:r>
          </a:p>
          <a:p>
            <a:pPr eaLnBrk="1" hangingPunct="1">
              <a:buFontTx/>
              <a:buNone/>
            </a:pPr>
            <a:r>
              <a:rPr lang="en-US">
                <a:cs typeface="Times New Roman" pitchFamily="18" charset="0"/>
              </a:rPr>
              <a:t>                        </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noChangeArrowheads="1"/>
          </p:cNvSpPr>
          <p:nvPr>
            <p:ph type="body" idx="1"/>
          </p:nvPr>
        </p:nvSpPr>
        <p:spPr>
          <a:xfrm>
            <a:off x="1524000" y="0"/>
            <a:ext cx="8991600" cy="6858000"/>
          </a:xfrm>
        </p:spPr>
        <p:txBody>
          <a:bodyPr/>
          <a:lstStyle/>
          <a:p>
            <a:pPr eaLnBrk="1" hangingPunct="1">
              <a:lnSpc>
                <a:spcPct val="80000"/>
              </a:lnSpc>
              <a:buFontTx/>
              <a:buNone/>
            </a:pPr>
            <a:r>
              <a:rPr lang="en-US" sz="1800"/>
              <a:t>                 </a:t>
            </a:r>
            <a:r>
              <a:rPr lang="en-US"/>
              <a:t>Set TEMP:=A[LOC]</a:t>
            </a:r>
          </a:p>
          <a:p>
            <a:pPr eaLnBrk="1" hangingPunct="1">
              <a:lnSpc>
                <a:spcPct val="80000"/>
              </a:lnSpc>
              <a:buFontTx/>
              <a:buNone/>
            </a:pPr>
            <a:r>
              <a:rPr lang="en-US"/>
              <a:t>             Set A[LOC]:=A[RIGHT]</a:t>
            </a:r>
          </a:p>
          <a:p>
            <a:pPr eaLnBrk="1" hangingPunct="1">
              <a:lnSpc>
                <a:spcPct val="80000"/>
              </a:lnSpc>
              <a:buFontTx/>
              <a:buNone/>
            </a:pPr>
            <a:r>
              <a:rPr lang="en-US"/>
              <a:t>             Set A[RIGHT]:=TEMP</a:t>
            </a:r>
          </a:p>
          <a:p>
            <a:pPr eaLnBrk="1" hangingPunct="1">
              <a:lnSpc>
                <a:spcPct val="80000"/>
              </a:lnSpc>
              <a:buFontTx/>
              <a:buNone/>
            </a:pPr>
            <a:r>
              <a:rPr lang="en-US"/>
              <a:t>      (ii) Set LOC:=RIGHT</a:t>
            </a:r>
          </a:p>
          <a:p>
            <a:pPr eaLnBrk="1" hangingPunct="1">
              <a:lnSpc>
                <a:spcPct val="80000"/>
              </a:lnSpc>
              <a:buFontTx/>
              <a:buNone/>
            </a:pPr>
            <a:r>
              <a:rPr lang="en-US"/>
              <a:t>      (iii) Go To Step 3</a:t>
            </a:r>
          </a:p>
          <a:p>
            <a:pPr eaLnBrk="1" hangingPunct="1">
              <a:lnSpc>
                <a:spcPct val="80000"/>
              </a:lnSpc>
              <a:buFontTx/>
              <a:buNone/>
            </a:pPr>
            <a:r>
              <a:rPr lang="en-US"/>
              <a:t>            [End of If Structure]</a:t>
            </a:r>
          </a:p>
          <a:p>
            <a:pPr eaLnBrk="1" hangingPunct="1">
              <a:lnSpc>
                <a:spcPct val="80000"/>
              </a:lnSpc>
              <a:buFontTx/>
              <a:buNone/>
            </a:pPr>
            <a:endParaRPr lang="en-US"/>
          </a:p>
          <a:p>
            <a:pPr eaLnBrk="1" hangingPunct="1">
              <a:lnSpc>
                <a:spcPct val="80000"/>
              </a:lnSpc>
              <a:buFontTx/>
              <a:buNone/>
            </a:pPr>
            <a:r>
              <a:rPr lang="en-US"/>
              <a:t>Step 3: [Scan from left to right]</a:t>
            </a:r>
          </a:p>
          <a:p>
            <a:pPr eaLnBrk="1" hangingPunct="1">
              <a:lnSpc>
                <a:spcPct val="80000"/>
              </a:lnSpc>
              <a:buFontTx/>
              <a:buNone/>
            </a:pPr>
            <a:r>
              <a:rPr lang="en-US"/>
              <a:t>           (a) Repeat while A[LEFT]</a:t>
            </a:r>
            <a:r>
              <a:rPr lang="en-US">
                <a:cs typeface="Times New Roman" pitchFamily="18" charset="0"/>
              </a:rPr>
              <a:t>≤ A[LOC] and LEFT≠ LOC:</a:t>
            </a:r>
          </a:p>
          <a:p>
            <a:pPr eaLnBrk="1" hangingPunct="1">
              <a:lnSpc>
                <a:spcPct val="80000"/>
              </a:lnSpc>
              <a:buFontTx/>
              <a:buNone/>
            </a:pPr>
            <a:r>
              <a:rPr lang="en-US">
                <a:cs typeface="Times New Roman" pitchFamily="18" charset="0"/>
              </a:rPr>
              <a:t>                 Set LEFT:=LEFT+1</a:t>
            </a:r>
          </a:p>
          <a:p>
            <a:pPr eaLnBrk="1" hangingPunct="1">
              <a:lnSpc>
                <a:spcPct val="80000"/>
              </a:lnSpc>
              <a:buFontTx/>
              <a:buNone/>
            </a:pPr>
            <a:r>
              <a:rPr lang="en-US">
                <a:cs typeface="Times New Roman" pitchFamily="18" charset="0"/>
              </a:rPr>
              <a:t>              [End of Loop]</a:t>
            </a:r>
          </a:p>
          <a:p>
            <a:pPr eaLnBrk="1" hangingPunct="1">
              <a:lnSpc>
                <a:spcPct val="80000"/>
              </a:lnSpc>
              <a:buFontTx/>
              <a:buNone/>
            </a:pPr>
            <a:r>
              <a:rPr lang="en-US">
                <a:cs typeface="Times New Roman" pitchFamily="18" charset="0"/>
              </a:rPr>
              <a:t>           (b) If LOC=LEFT, then: Return</a:t>
            </a:r>
          </a:p>
          <a:p>
            <a:pPr eaLnBrk="1" hangingPunct="1">
              <a:lnSpc>
                <a:spcPct val="80000"/>
              </a:lnSpc>
              <a:buFontTx/>
              <a:buNone/>
            </a:pPr>
            <a:r>
              <a:rPr lang="en-US">
                <a:cs typeface="Times New Roman" pitchFamily="18" charset="0"/>
              </a:rPr>
              <a:t>            (c) If A[LEFT]&gt;A[LOC], then</a:t>
            </a:r>
          </a:p>
          <a:p>
            <a:pPr eaLnBrk="1" hangingPunct="1">
              <a:lnSpc>
                <a:spcPct val="80000"/>
              </a:lnSpc>
              <a:buFontTx/>
              <a:buNone/>
            </a:pPr>
            <a:r>
              <a:rPr lang="en-US">
                <a:cs typeface="Times New Roman" pitchFamily="18" charset="0"/>
              </a:rPr>
              <a:t>                (i) [Interchange A[LEFT] and A[LOC] ]</a:t>
            </a:r>
          </a:p>
          <a:p>
            <a:pPr eaLnBrk="1" hangingPunct="1">
              <a:lnSpc>
                <a:spcPct val="80000"/>
              </a:lnSpc>
              <a:buFontTx/>
              <a:buNone/>
            </a:pPr>
            <a:endParaRPr lang="en-US">
              <a:cs typeface="Times New Roman" pitchFamily="18" charset="0"/>
            </a:endParaRPr>
          </a:p>
          <a:p>
            <a:pPr eaLnBrk="1" hangingPunct="1">
              <a:lnSpc>
                <a:spcPct val="80000"/>
              </a:lnSpc>
              <a:buFontTx/>
              <a:buNone/>
            </a:pPr>
            <a:r>
              <a:rPr lang="en-US" sz="1800">
                <a:cs typeface="Times New Roman" pitchFamily="18" charset="0"/>
              </a:rPr>
              <a:t>                       </a:t>
            </a:r>
          </a:p>
          <a:p>
            <a:pPr eaLnBrk="1" hangingPunct="1">
              <a:lnSpc>
                <a:spcPct val="80000"/>
              </a:lnSpc>
              <a:buFontTx/>
              <a:buNone/>
            </a:pPr>
            <a:endParaRPr lang="en-US" sz="1800">
              <a:cs typeface="Times New Roman" pitchFamily="18" charset="0"/>
            </a:endParaRPr>
          </a:p>
          <a:p>
            <a:pPr eaLnBrk="1" hangingPunct="1">
              <a:lnSpc>
                <a:spcPct val="80000"/>
              </a:lnSpc>
              <a:buFontTx/>
              <a:buNone/>
            </a:pPr>
            <a:endParaRPr lang="en-US" sz="1800"/>
          </a:p>
          <a:p>
            <a:pPr eaLnBrk="1" hangingPunct="1">
              <a:lnSpc>
                <a:spcPct val="80000"/>
              </a:lnSpc>
              <a:buFontTx/>
              <a:buNone/>
            </a:pPr>
            <a:r>
              <a:rPr lang="en-US" sz="1800"/>
              <a:t> </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type="body" idx="1"/>
          </p:nvPr>
        </p:nvSpPr>
        <p:spPr>
          <a:xfrm>
            <a:off x="1524000" y="0"/>
            <a:ext cx="8991600" cy="6858000"/>
          </a:xfrm>
        </p:spPr>
        <p:txBody>
          <a:bodyPr/>
          <a:lstStyle/>
          <a:p>
            <a:pPr eaLnBrk="1" hangingPunct="1">
              <a:buFontTx/>
              <a:buNone/>
            </a:pPr>
            <a:r>
              <a:rPr lang="en-US"/>
              <a:t>               Set TEMP:=A[LOC]</a:t>
            </a:r>
          </a:p>
          <a:p>
            <a:pPr eaLnBrk="1" hangingPunct="1">
              <a:buFontTx/>
              <a:buNone/>
            </a:pPr>
            <a:r>
              <a:rPr lang="en-US"/>
              <a:t>              Set A[LOC]:=A[LEFT]</a:t>
            </a:r>
          </a:p>
          <a:p>
            <a:pPr eaLnBrk="1" hangingPunct="1">
              <a:buFontTx/>
              <a:buNone/>
            </a:pPr>
            <a:r>
              <a:rPr lang="en-US"/>
              <a:t>              Set A[LEFT]:=TEMP</a:t>
            </a:r>
          </a:p>
          <a:p>
            <a:pPr eaLnBrk="1" hangingPunct="1">
              <a:buFontTx/>
              <a:buNone/>
            </a:pPr>
            <a:r>
              <a:rPr lang="en-US"/>
              <a:t>       (ii) Set LOC:=LEFT</a:t>
            </a:r>
          </a:p>
          <a:p>
            <a:pPr eaLnBrk="1" hangingPunct="1">
              <a:buFontTx/>
              <a:buNone/>
            </a:pPr>
            <a:r>
              <a:rPr lang="en-US"/>
              <a:t>       (iii) Go To Step 2</a:t>
            </a:r>
          </a:p>
          <a:p>
            <a:pPr eaLnBrk="1" hangingPunct="1">
              <a:buFontTx/>
              <a:buNone/>
            </a:pPr>
            <a:r>
              <a:rPr lang="en-US"/>
              <a:t>             [End of If Structure]</a:t>
            </a:r>
          </a:p>
          <a:p>
            <a:pPr eaLnBrk="1" hangingPunct="1"/>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type="body" idx="1"/>
          </p:nvPr>
        </p:nvSpPr>
        <p:spPr>
          <a:xfrm>
            <a:off x="1524000" y="0"/>
            <a:ext cx="9144000" cy="6858000"/>
          </a:xfrm>
        </p:spPr>
        <p:txBody>
          <a:bodyPr/>
          <a:lstStyle/>
          <a:p>
            <a:pPr eaLnBrk="1" hangingPunct="1"/>
            <a:r>
              <a:rPr lang="en-US" b="1" dirty="0"/>
              <a:t>Complexity of Quick sort algorithm-</a:t>
            </a:r>
            <a:r>
              <a:rPr lang="en-US" dirty="0"/>
              <a:t> </a:t>
            </a:r>
            <a:r>
              <a:rPr lang="en-US" sz="2000" dirty="0"/>
              <a:t>The running time of  a sorting algorithm is determined by number f(n) of comparisons required to sort n elements. </a:t>
            </a:r>
            <a:r>
              <a:rPr lang="en-US" sz="2000" b="1" dirty="0"/>
              <a:t>The quick sort algorithm has a worst case running time of order O(n</a:t>
            </a:r>
            <a:r>
              <a:rPr lang="en-US" sz="2000" b="1" baseline="30000" dirty="0"/>
              <a:t>2</a:t>
            </a:r>
            <a:r>
              <a:rPr lang="en-US" sz="2000" b="1" dirty="0"/>
              <a:t>) but an average case running time of O (n log n).</a:t>
            </a:r>
            <a:endParaRPr lang="en-US" b="1" dirty="0"/>
          </a:p>
          <a:p>
            <a:pPr eaLnBrk="1" hangingPunct="1"/>
            <a:r>
              <a:rPr lang="en-US" dirty="0"/>
              <a:t> </a:t>
            </a:r>
            <a:r>
              <a:rPr lang="en-US" sz="2000" dirty="0"/>
              <a:t>The worst case occurs when the list is already sorted. Then the first element will require n comparisons to recognize that it remains at first position. The first </a:t>
            </a:r>
            <a:r>
              <a:rPr lang="en-US" sz="2000" dirty="0" err="1"/>
              <a:t>sublist</a:t>
            </a:r>
            <a:r>
              <a:rPr lang="en-US" sz="2000" dirty="0"/>
              <a:t> will be empty but the second </a:t>
            </a:r>
            <a:r>
              <a:rPr lang="en-US" sz="2000" dirty="0" err="1"/>
              <a:t>sublist</a:t>
            </a:r>
            <a:r>
              <a:rPr lang="en-US" sz="2000" dirty="0"/>
              <a:t> will have n-1 elements. Accordingly, second </a:t>
            </a:r>
            <a:r>
              <a:rPr lang="en-US" sz="2000" dirty="0" err="1"/>
              <a:t>sublist</a:t>
            </a:r>
            <a:r>
              <a:rPr lang="en-US" sz="2000" dirty="0"/>
              <a:t> will require n-1 comparisons to recognize that it remains at the second position. And so on. Thus,</a:t>
            </a:r>
          </a:p>
          <a:p>
            <a:pPr eaLnBrk="1" hangingPunct="1"/>
            <a:r>
              <a:rPr lang="en-US" sz="2000" dirty="0"/>
              <a:t>F(n)=n+(n-1)+-------+2+1=n(n+1)/2=n</a:t>
            </a:r>
            <a:r>
              <a:rPr lang="en-US" sz="2000" baseline="30000" dirty="0"/>
              <a:t>2</a:t>
            </a:r>
            <a:r>
              <a:rPr lang="en-US" sz="2000" dirty="0"/>
              <a:t>/2+O(n)=O(n</a:t>
            </a:r>
            <a:r>
              <a:rPr lang="en-US" sz="2000" baseline="30000" dirty="0"/>
              <a:t>2</a:t>
            </a:r>
            <a:r>
              <a:rPr lang="en-US" sz="2000" dirty="0"/>
              <a:t>)</a:t>
            </a:r>
          </a:p>
          <a:p>
            <a:pPr eaLnBrk="1" hangingPunct="1"/>
            <a:r>
              <a:rPr lang="en-US" sz="2000" dirty="0"/>
              <a:t>The complexity n log n of average case comes from the fact that each reduction step of algorithm  produces two sub lists. Accordingly,</a:t>
            </a:r>
          </a:p>
          <a:p>
            <a:pPr eaLnBrk="1" hangingPunct="1"/>
            <a:r>
              <a:rPr lang="en-US" sz="2000" dirty="0"/>
              <a:t>Reducing the initial list places 1 element and produces two </a:t>
            </a:r>
            <a:r>
              <a:rPr lang="en-US" sz="2000" dirty="0" err="1"/>
              <a:t>sublists</a:t>
            </a:r>
            <a:endParaRPr lang="en-US" sz="2000" dirty="0"/>
          </a:p>
          <a:p>
            <a:pPr eaLnBrk="1" hangingPunct="1"/>
            <a:r>
              <a:rPr lang="en-US" sz="2000" dirty="0"/>
              <a:t>Reducing two </a:t>
            </a:r>
            <a:r>
              <a:rPr lang="en-US" sz="2000" dirty="0" err="1"/>
              <a:t>sublists</a:t>
            </a:r>
            <a:r>
              <a:rPr lang="en-US" sz="2000" dirty="0"/>
              <a:t> places 3 elements and produces four </a:t>
            </a:r>
            <a:r>
              <a:rPr lang="en-US" sz="2000" dirty="0" err="1"/>
              <a:t>sublists</a:t>
            </a:r>
            <a:endParaRPr lang="en-US" sz="2000" dirty="0"/>
          </a:p>
          <a:p>
            <a:pPr eaLnBrk="1" hangingPunct="1"/>
            <a:r>
              <a:rPr lang="en-US" sz="2000" dirty="0"/>
              <a:t>Reducing four </a:t>
            </a:r>
            <a:r>
              <a:rPr lang="en-US" sz="2000" dirty="0" err="1"/>
              <a:t>sublists</a:t>
            </a:r>
            <a:r>
              <a:rPr lang="en-US" sz="2000" dirty="0"/>
              <a:t> places 7 elements and produces eight </a:t>
            </a:r>
            <a:r>
              <a:rPr lang="en-US" sz="2000" dirty="0" err="1"/>
              <a:t>sublists</a:t>
            </a:r>
            <a:endParaRPr lang="en-US" sz="2000" dirty="0"/>
          </a:p>
          <a:p>
            <a:pPr eaLnBrk="1" hangingPunct="1"/>
            <a:r>
              <a:rPr lang="en-US" sz="2000" dirty="0"/>
              <a:t>Reducing eight </a:t>
            </a:r>
            <a:r>
              <a:rPr lang="en-US" sz="2000" dirty="0" err="1"/>
              <a:t>sublists</a:t>
            </a:r>
            <a:r>
              <a:rPr lang="en-US" sz="2000" dirty="0"/>
              <a:t> places 15 elements and produces sixteen </a:t>
            </a:r>
            <a:r>
              <a:rPr lang="en-US" sz="2000" dirty="0" err="1"/>
              <a:t>sublists</a:t>
            </a:r>
            <a:endParaRPr lang="en-US" sz="2000" dirty="0"/>
          </a:p>
          <a:p>
            <a:pPr eaLnBrk="1" hangingPunct="1">
              <a:buNone/>
            </a:pPr>
            <a:r>
              <a:rPr lang="en-US" sz="2000" dirty="0"/>
              <a:t>      and so on</a:t>
            </a:r>
          </a:p>
        </p:txBody>
      </p:sp>
    </p:spTree>
    <p:extLst>
      <p:ext uri="{BB962C8B-B14F-4D97-AF65-F5344CB8AC3E}">
        <p14:creationId xmlns:p14="http://schemas.microsoft.com/office/powerpoint/2010/main" val="8840242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p:cNvSpPr>
            <a:spLocks noGrp="1" noChangeArrowheads="1"/>
          </p:cNvSpPr>
          <p:nvPr>
            <p:ph type="body" idx="1"/>
          </p:nvPr>
        </p:nvSpPr>
        <p:spPr>
          <a:xfrm>
            <a:off x="1524000" y="0"/>
            <a:ext cx="9144000" cy="6858000"/>
          </a:xfrm>
        </p:spPr>
        <p:txBody>
          <a:bodyPr/>
          <a:lstStyle/>
          <a:p>
            <a:pPr eaLnBrk="1" hangingPunct="1"/>
            <a:r>
              <a:rPr lang="en-US" dirty="0"/>
              <a:t> Thus reduction in </a:t>
            </a:r>
            <a:r>
              <a:rPr lang="en-US" dirty="0" err="1"/>
              <a:t>kth</a:t>
            </a:r>
            <a:r>
              <a:rPr lang="en-US" dirty="0"/>
              <a:t>  level finds the location of 2</a:t>
            </a:r>
            <a:r>
              <a:rPr lang="en-US" baseline="30000" dirty="0"/>
              <a:t>k</a:t>
            </a:r>
            <a:r>
              <a:rPr lang="en-US" dirty="0"/>
              <a:t> -1</a:t>
            </a:r>
            <a:r>
              <a:rPr lang="en-US" baseline="30000" dirty="0"/>
              <a:t>    </a:t>
            </a:r>
            <a:r>
              <a:rPr lang="en-US" dirty="0"/>
              <a:t>elements. </a:t>
            </a:r>
          </a:p>
          <a:p>
            <a:pPr eaLnBrk="1" hangingPunct="1"/>
            <a:r>
              <a:rPr lang="en-US" dirty="0"/>
              <a:t>For an array of n elements, if it is sorted in k iterations,</a:t>
            </a:r>
          </a:p>
          <a:p>
            <a:pPr eaLnBrk="1" hangingPunct="1"/>
            <a:r>
              <a:rPr lang="en-US" dirty="0"/>
              <a:t> 2</a:t>
            </a:r>
            <a:r>
              <a:rPr lang="en-US" baseline="30000" dirty="0"/>
              <a:t>k</a:t>
            </a:r>
            <a:r>
              <a:rPr lang="en-US" dirty="0"/>
              <a:t> -1 =n</a:t>
            </a:r>
          </a:p>
          <a:p>
            <a:pPr eaLnBrk="1" hangingPunct="1"/>
            <a:r>
              <a:rPr lang="en-US" dirty="0"/>
              <a:t>Taking log</a:t>
            </a:r>
            <a:r>
              <a:rPr lang="en-US" baseline="-25000" dirty="0"/>
              <a:t>2</a:t>
            </a:r>
            <a:r>
              <a:rPr lang="en-US" dirty="0"/>
              <a:t> of both the sides,</a:t>
            </a:r>
          </a:p>
          <a:p>
            <a:pPr eaLnBrk="1" hangingPunct="1"/>
            <a:r>
              <a:rPr lang="en-US" dirty="0"/>
              <a:t> klog</a:t>
            </a:r>
            <a:r>
              <a:rPr lang="en-US" baseline="-25000" dirty="0"/>
              <a:t>2</a:t>
            </a:r>
            <a:r>
              <a:rPr lang="en-US" dirty="0"/>
              <a:t>2=log</a:t>
            </a:r>
            <a:r>
              <a:rPr lang="en-US" baseline="-25000" dirty="0"/>
              <a:t>2</a:t>
            </a:r>
            <a:r>
              <a:rPr lang="en-US" dirty="0"/>
              <a:t>n</a:t>
            </a:r>
          </a:p>
          <a:p>
            <a:pPr eaLnBrk="1" hangingPunct="1"/>
            <a:r>
              <a:rPr lang="en-US" dirty="0"/>
              <a:t>Thus k, maximum levels required to completely sort the array is</a:t>
            </a:r>
          </a:p>
          <a:p>
            <a:pPr eaLnBrk="1" hangingPunct="1"/>
            <a:r>
              <a:rPr lang="en-US" dirty="0"/>
              <a:t>   k=log</a:t>
            </a:r>
            <a:r>
              <a:rPr lang="en-US" baseline="-25000" dirty="0"/>
              <a:t>2</a:t>
            </a:r>
            <a:r>
              <a:rPr lang="en-US" dirty="0"/>
              <a:t>n</a:t>
            </a:r>
          </a:p>
          <a:p>
            <a:pPr eaLnBrk="1" hangingPunct="1"/>
            <a:r>
              <a:rPr lang="en-US" dirty="0"/>
              <a:t> Hence there will be approximately log</a:t>
            </a:r>
            <a:r>
              <a:rPr lang="en-US" baseline="-25000" dirty="0"/>
              <a:t>2</a:t>
            </a:r>
            <a:r>
              <a:rPr lang="en-US" dirty="0"/>
              <a:t>n levels of reduction steps. Further, each level uses </a:t>
            </a:r>
            <a:r>
              <a:rPr lang="en-US" dirty="0" err="1"/>
              <a:t>atmost</a:t>
            </a:r>
            <a:r>
              <a:rPr lang="en-US" dirty="0"/>
              <a:t> n comparisons Thus</a:t>
            </a:r>
          </a:p>
          <a:p>
            <a:pPr eaLnBrk="1" hangingPunct="1"/>
            <a:r>
              <a:rPr lang="en-US" dirty="0"/>
              <a:t>          f(n)=nlog</a:t>
            </a:r>
            <a:r>
              <a:rPr lang="en-US" baseline="-25000" dirty="0"/>
              <a:t>2</a:t>
            </a:r>
            <a:r>
              <a:rPr lang="en-US" dirty="0"/>
              <a:t>n </a:t>
            </a:r>
          </a:p>
          <a:p>
            <a:pPr eaLnBrk="1" hangingPunct="1"/>
            <a:r>
              <a:rPr lang="en-US" dirty="0"/>
              <a:t>Best case of quick sort will be when the element which is selected as pivot will divide the series into almost equal halves and is again </a:t>
            </a:r>
            <a:r>
              <a:rPr lang="en-US" b="1" dirty="0"/>
              <a:t>nlog</a:t>
            </a:r>
            <a:r>
              <a:rPr lang="en-US" b="1" baseline="-25000" dirty="0"/>
              <a:t>2</a:t>
            </a:r>
            <a:r>
              <a:rPr lang="en-US" b="1" dirty="0"/>
              <a:t>n</a:t>
            </a:r>
          </a:p>
        </p:txBody>
      </p:sp>
    </p:spTree>
    <p:extLst>
      <p:ext uri="{BB962C8B-B14F-4D97-AF65-F5344CB8AC3E}">
        <p14:creationId xmlns:p14="http://schemas.microsoft.com/office/powerpoint/2010/main" val="97122596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1524000" y="0"/>
            <a:ext cx="9144000" cy="609600"/>
          </a:xfrm>
        </p:spPr>
        <p:txBody>
          <a:bodyPr/>
          <a:lstStyle/>
          <a:p>
            <a:pPr eaLnBrk="1" hangingPunct="1"/>
            <a:r>
              <a:rPr lang="en-US"/>
              <a:t>Merging of Arrays</a:t>
            </a:r>
          </a:p>
        </p:txBody>
      </p:sp>
      <p:sp>
        <p:nvSpPr>
          <p:cNvPr id="118787" name="Rectangle 3"/>
          <p:cNvSpPr>
            <a:spLocks noGrp="1" noChangeArrowheads="1"/>
          </p:cNvSpPr>
          <p:nvPr>
            <p:ph type="body" idx="1"/>
          </p:nvPr>
        </p:nvSpPr>
        <p:spPr>
          <a:xfrm>
            <a:off x="1524000" y="609600"/>
            <a:ext cx="9144000" cy="6248400"/>
          </a:xfrm>
        </p:spPr>
        <p:txBody>
          <a:bodyPr/>
          <a:lstStyle/>
          <a:p>
            <a:pPr eaLnBrk="1" hangingPunct="1"/>
            <a:r>
              <a:rPr lang="en-US"/>
              <a:t>Suppose A is a sorted list with r elements and B is a sorted list with s elements. The operation that combines the element of A and B into a single sorted list C with n=r + s elements is called merging.</a:t>
            </a:r>
          </a:p>
        </p:txBody>
      </p:sp>
    </p:spTree>
    <p:extLst>
      <p:ext uri="{BB962C8B-B14F-4D97-AF65-F5344CB8AC3E}">
        <p14:creationId xmlns:p14="http://schemas.microsoft.com/office/powerpoint/2010/main" val="417480311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body" idx="1"/>
          </p:nvPr>
        </p:nvSpPr>
        <p:spPr>
          <a:xfrm>
            <a:off x="1524000" y="0"/>
            <a:ext cx="9144000" cy="6858000"/>
          </a:xfrm>
        </p:spPr>
        <p:txBody>
          <a:bodyPr/>
          <a:lstStyle/>
          <a:p>
            <a:pPr eaLnBrk="1" hangingPunct="1"/>
            <a:r>
              <a:rPr lang="en-US"/>
              <a:t>Algorithm: Merging (A, R,B,S,C)</a:t>
            </a:r>
          </a:p>
          <a:p>
            <a:pPr eaLnBrk="1" hangingPunct="1">
              <a:buFontTx/>
              <a:buNone/>
            </a:pPr>
            <a:r>
              <a:rPr lang="en-US"/>
              <a:t>                      Here A and B be sorted arrays with R and S elements</a:t>
            </a:r>
          </a:p>
          <a:p>
            <a:pPr eaLnBrk="1" hangingPunct="1">
              <a:buFontTx/>
              <a:buNone/>
            </a:pPr>
            <a:r>
              <a:rPr lang="en-US"/>
              <a:t>                      respectively. This algorithm merges A and B into an array</a:t>
            </a:r>
          </a:p>
          <a:p>
            <a:pPr eaLnBrk="1" hangingPunct="1">
              <a:buFontTx/>
              <a:buNone/>
            </a:pPr>
            <a:r>
              <a:rPr lang="en-US"/>
              <a:t>                      C with N=R+ S elements</a:t>
            </a:r>
          </a:p>
          <a:p>
            <a:pPr eaLnBrk="1" hangingPunct="1"/>
            <a:r>
              <a:rPr lang="en-US"/>
              <a:t>Step 1:     Set NA:=1, NB:=1 and NC:=1</a:t>
            </a:r>
          </a:p>
          <a:p>
            <a:pPr eaLnBrk="1" hangingPunct="1"/>
            <a:r>
              <a:rPr lang="en-US"/>
              <a:t>Step 2: Repeat while NA </a:t>
            </a:r>
            <a:r>
              <a:rPr lang="en-US">
                <a:cs typeface="Times New Roman" pitchFamily="18" charset="0"/>
              </a:rPr>
              <a:t>≤ R and NB ≤ S:</a:t>
            </a:r>
          </a:p>
          <a:p>
            <a:pPr eaLnBrk="1" hangingPunct="1">
              <a:buFontTx/>
              <a:buNone/>
            </a:pPr>
            <a:r>
              <a:rPr lang="en-US">
                <a:cs typeface="Times New Roman" pitchFamily="18" charset="0"/>
              </a:rPr>
              <a:t>                	IF A[NA] ≤ B[NB], then:</a:t>
            </a:r>
          </a:p>
          <a:p>
            <a:pPr eaLnBrk="1" hangingPunct="1">
              <a:buFontTx/>
              <a:buNone/>
            </a:pPr>
            <a:r>
              <a:rPr lang="en-US">
                <a:cs typeface="Times New Roman" pitchFamily="18" charset="0"/>
              </a:rPr>
              <a:t>                	Set C[NC]:= A[NA]</a:t>
            </a:r>
          </a:p>
          <a:p>
            <a:pPr eaLnBrk="1" hangingPunct="1">
              <a:buFontTx/>
              <a:buNone/>
            </a:pPr>
            <a:r>
              <a:rPr lang="en-US">
                <a:cs typeface="Times New Roman" pitchFamily="18" charset="0"/>
              </a:rPr>
              <a:t>                	Set NA:=NA +1</a:t>
            </a:r>
          </a:p>
          <a:p>
            <a:pPr eaLnBrk="1" hangingPunct="1">
              <a:buFontTx/>
              <a:buNone/>
            </a:pPr>
            <a:r>
              <a:rPr lang="en-US">
                <a:cs typeface="Times New Roman" pitchFamily="18" charset="0"/>
              </a:rPr>
              <a:t>                	Else: </a:t>
            </a:r>
            <a:endParaRPr lang="en-US"/>
          </a:p>
          <a:p>
            <a:pPr eaLnBrk="1" hangingPunct="1">
              <a:buFontTx/>
              <a:buNone/>
            </a:pPr>
            <a:r>
              <a:rPr lang="en-US"/>
              <a:t>	                   Set C[NC]:= B[NB]</a:t>
            </a:r>
          </a:p>
          <a:p>
            <a:pPr eaLnBrk="1" hangingPunct="1">
              <a:buFontTx/>
              <a:buNone/>
            </a:pPr>
            <a:r>
              <a:rPr lang="en-US"/>
              <a:t>                       Set NB:= NB +1</a:t>
            </a:r>
          </a:p>
          <a:p>
            <a:pPr eaLnBrk="1" hangingPunct="1">
              <a:buFontTx/>
              <a:buNone/>
            </a:pPr>
            <a:r>
              <a:rPr lang="en-US"/>
              <a:t>                       [End of If structure]</a:t>
            </a:r>
          </a:p>
          <a:p>
            <a:pPr eaLnBrk="1" hangingPunct="1">
              <a:buFontTx/>
              <a:buNone/>
            </a:pPr>
            <a:r>
              <a:rPr lang="en-US"/>
              <a:t>                  Set NC:= NC +1</a:t>
            </a:r>
          </a:p>
          <a:p>
            <a:pPr eaLnBrk="1" hangingPunct="1">
              <a:buFontTx/>
              <a:buNone/>
            </a:pPr>
            <a:r>
              <a:rPr lang="en-US"/>
              <a:t>                  [End of Loop]</a:t>
            </a:r>
          </a:p>
        </p:txBody>
      </p:sp>
    </p:spTree>
    <p:extLst>
      <p:ext uri="{BB962C8B-B14F-4D97-AF65-F5344CB8AC3E}">
        <p14:creationId xmlns:p14="http://schemas.microsoft.com/office/powerpoint/2010/main" val="421108311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body" idx="1"/>
          </p:nvPr>
        </p:nvSpPr>
        <p:spPr>
          <a:xfrm>
            <a:off x="1524000" y="0"/>
            <a:ext cx="9144000" cy="6858000"/>
          </a:xfrm>
        </p:spPr>
        <p:txBody>
          <a:bodyPr/>
          <a:lstStyle/>
          <a:p>
            <a:pPr eaLnBrk="1" hangingPunct="1"/>
            <a:r>
              <a:rPr lang="en-US"/>
              <a:t>Step 3: If NA &gt;R, then:</a:t>
            </a:r>
          </a:p>
          <a:p>
            <a:pPr eaLnBrk="1" hangingPunct="1">
              <a:buFontTx/>
              <a:buNone/>
            </a:pPr>
            <a:r>
              <a:rPr lang="en-US"/>
              <a:t>                 	Repeat while NB </a:t>
            </a:r>
            <a:r>
              <a:rPr lang="en-US">
                <a:cs typeface="Times New Roman" pitchFamily="18" charset="0"/>
              </a:rPr>
              <a:t>≤ S:</a:t>
            </a:r>
          </a:p>
          <a:p>
            <a:pPr eaLnBrk="1" hangingPunct="1">
              <a:buFontTx/>
              <a:buNone/>
            </a:pPr>
            <a:r>
              <a:rPr lang="en-US">
                <a:cs typeface="Times New Roman" pitchFamily="18" charset="0"/>
              </a:rPr>
              <a:t>                	 Set C[NC]:= B[NB]</a:t>
            </a:r>
          </a:p>
          <a:p>
            <a:pPr eaLnBrk="1" hangingPunct="1">
              <a:buFontTx/>
              <a:buNone/>
            </a:pPr>
            <a:r>
              <a:rPr lang="en-US">
                <a:cs typeface="Times New Roman" pitchFamily="18" charset="0"/>
              </a:rPr>
              <a:t>               	 Set NB:= NB+1</a:t>
            </a:r>
          </a:p>
          <a:p>
            <a:pPr eaLnBrk="1" hangingPunct="1">
              <a:buFontTx/>
              <a:buNone/>
            </a:pPr>
            <a:r>
              <a:rPr lang="en-US">
                <a:cs typeface="Times New Roman" pitchFamily="18" charset="0"/>
              </a:rPr>
              <a:t>               	 Set NC := NC +1</a:t>
            </a:r>
          </a:p>
          <a:p>
            <a:pPr eaLnBrk="1" hangingPunct="1">
              <a:buFontTx/>
              <a:buNone/>
            </a:pPr>
            <a:r>
              <a:rPr lang="en-US">
                <a:cs typeface="Times New Roman" pitchFamily="18" charset="0"/>
              </a:rPr>
              <a:t>               	 [End of Loop]</a:t>
            </a:r>
          </a:p>
          <a:p>
            <a:pPr eaLnBrk="1" hangingPunct="1">
              <a:buFontTx/>
              <a:buNone/>
            </a:pPr>
            <a:r>
              <a:rPr lang="en-US">
                <a:cs typeface="Times New Roman" pitchFamily="18" charset="0"/>
              </a:rPr>
              <a:t>                 Else:</a:t>
            </a:r>
          </a:p>
          <a:p>
            <a:pPr eaLnBrk="1" hangingPunct="1">
              <a:buFontTx/>
              <a:buNone/>
            </a:pPr>
            <a:r>
              <a:rPr lang="en-US">
                <a:cs typeface="Times New Roman" pitchFamily="18" charset="0"/>
              </a:rPr>
              <a:t>                	Repeat while NA</a:t>
            </a:r>
            <a:r>
              <a:rPr lang="en-US"/>
              <a:t>  </a:t>
            </a:r>
            <a:r>
              <a:rPr lang="en-US">
                <a:cs typeface="Times New Roman" pitchFamily="18" charset="0"/>
              </a:rPr>
              <a:t>≤ R:</a:t>
            </a:r>
          </a:p>
          <a:p>
            <a:pPr eaLnBrk="1" hangingPunct="1">
              <a:buFontTx/>
              <a:buNone/>
            </a:pPr>
            <a:r>
              <a:rPr lang="en-US">
                <a:cs typeface="Times New Roman" pitchFamily="18" charset="0"/>
              </a:rPr>
              <a:t>                	Set C[NC]:= A[NA]</a:t>
            </a:r>
          </a:p>
          <a:p>
            <a:pPr eaLnBrk="1" hangingPunct="1">
              <a:buFontTx/>
              <a:buNone/>
            </a:pPr>
            <a:r>
              <a:rPr lang="en-US">
                <a:cs typeface="Times New Roman" pitchFamily="18" charset="0"/>
              </a:rPr>
              <a:t>                	Set NC:= NC + 1</a:t>
            </a:r>
          </a:p>
          <a:p>
            <a:pPr eaLnBrk="1" hangingPunct="1">
              <a:buFontTx/>
              <a:buNone/>
            </a:pPr>
            <a:r>
              <a:rPr lang="en-US">
                <a:cs typeface="Times New Roman" pitchFamily="18" charset="0"/>
              </a:rPr>
              <a:t>                	Set NA := NA +1</a:t>
            </a:r>
          </a:p>
          <a:p>
            <a:pPr eaLnBrk="1" hangingPunct="1">
              <a:buFontTx/>
              <a:buNone/>
            </a:pPr>
            <a:r>
              <a:rPr lang="en-US">
                <a:cs typeface="Times New Roman" pitchFamily="18" charset="0"/>
              </a:rPr>
              <a:t>                	[End of loop]</a:t>
            </a:r>
          </a:p>
          <a:p>
            <a:pPr eaLnBrk="1" hangingPunct="1">
              <a:buFontTx/>
              <a:buNone/>
            </a:pPr>
            <a:r>
              <a:rPr lang="en-US">
                <a:cs typeface="Times New Roman" pitchFamily="18" charset="0"/>
              </a:rPr>
              <a:t>                 [End of If structure]   </a:t>
            </a:r>
          </a:p>
          <a:p>
            <a:pPr eaLnBrk="1" hangingPunct="1"/>
            <a:r>
              <a:rPr lang="en-US">
                <a:cs typeface="Times New Roman" pitchFamily="18" charset="0"/>
              </a:rPr>
              <a:t>Step 4: Return    </a:t>
            </a:r>
          </a:p>
          <a:p>
            <a:pPr eaLnBrk="1" hangingPunct="1"/>
            <a:endParaRPr lang="en-US"/>
          </a:p>
        </p:txBody>
      </p:sp>
    </p:spTree>
    <p:extLst>
      <p:ext uri="{BB962C8B-B14F-4D97-AF65-F5344CB8AC3E}">
        <p14:creationId xmlns:p14="http://schemas.microsoft.com/office/powerpoint/2010/main" val="185441680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a:spLocks noGrp="1" noChangeArrowheads="1"/>
          </p:cNvSpPr>
          <p:nvPr>
            <p:ph type="body" idx="1"/>
          </p:nvPr>
        </p:nvSpPr>
        <p:spPr>
          <a:xfrm>
            <a:off x="1524000" y="0"/>
            <a:ext cx="9144000" cy="6858000"/>
          </a:xfrm>
        </p:spPr>
        <p:txBody>
          <a:bodyPr/>
          <a:lstStyle/>
          <a:p>
            <a:pPr eaLnBrk="1" hangingPunct="1"/>
            <a:r>
              <a:rPr lang="en-US"/>
              <a:t>Complexity of merging: The input consists of the total number n=r+s elements in A and B. Each comparison assigns an element to the array C, which eventually has n elements. Accordingly, the number f(n) of comparisons cannot exceed n:</a:t>
            </a:r>
          </a:p>
          <a:p>
            <a:pPr eaLnBrk="1" hangingPunct="1">
              <a:buFontTx/>
              <a:buNone/>
            </a:pPr>
            <a:r>
              <a:rPr lang="en-US"/>
              <a:t>                                f(n) </a:t>
            </a:r>
            <a:r>
              <a:rPr lang="en-US">
                <a:cs typeface="Times New Roman" pitchFamily="18" charset="0"/>
              </a:rPr>
              <a:t>≤ n = O(n)</a:t>
            </a:r>
          </a:p>
          <a:p>
            <a:pPr eaLnBrk="1" hangingPunct="1"/>
            <a:endParaRPr lang="en-US">
              <a:cs typeface="Times New Roman" pitchFamily="18" charset="0"/>
            </a:endParaRPr>
          </a:p>
        </p:txBody>
      </p:sp>
    </p:spTree>
    <p:extLst>
      <p:ext uri="{BB962C8B-B14F-4D97-AF65-F5344CB8AC3E}">
        <p14:creationId xmlns:p14="http://schemas.microsoft.com/office/powerpoint/2010/main" val="101370890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Grp="1" noChangeArrowheads="1"/>
          </p:cNvSpPr>
          <p:nvPr>
            <p:ph type="body" idx="1"/>
          </p:nvPr>
        </p:nvSpPr>
        <p:spPr>
          <a:xfrm>
            <a:off x="1524000" y="0"/>
            <a:ext cx="9144000" cy="6858000"/>
          </a:xfrm>
        </p:spPr>
        <p:txBody>
          <a:bodyPr/>
          <a:lstStyle/>
          <a:p>
            <a:pPr eaLnBrk="1" hangingPunct="1"/>
            <a:r>
              <a:rPr lang="en-US"/>
              <a:t>MergeSort- Merge sort is a sorting technique in which the series is sub divided into smaller  arrays till the array is reduced to only two elements. The smaller arrays are sorted and are recursively combined to form the complete sorted array list. This is one of the most efficient sorting algorithm. </a:t>
            </a:r>
          </a:p>
        </p:txBody>
      </p:sp>
    </p:spTree>
    <p:extLst>
      <p:ext uri="{BB962C8B-B14F-4D97-AF65-F5344CB8AC3E}">
        <p14:creationId xmlns:p14="http://schemas.microsoft.com/office/powerpoint/2010/main" val="98112787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3"/>
          <p:cNvSpPr>
            <a:spLocks noGrp="1" noChangeArrowheads="1"/>
          </p:cNvSpPr>
          <p:nvPr>
            <p:ph type="body" idx="1"/>
          </p:nvPr>
        </p:nvSpPr>
        <p:spPr>
          <a:xfrm>
            <a:off x="1524000" y="0"/>
            <a:ext cx="9144000" cy="6858000"/>
          </a:xfrm>
        </p:spPr>
        <p:txBody>
          <a:bodyPr/>
          <a:lstStyle/>
          <a:p>
            <a:pPr eaLnBrk="1" hangingPunct="1"/>
            <a:r>
              <a:rPr lang="en-US"/>
              <a:t>Algorithm: Mergesort (A, BEG,END)</a:t>
            </a:r>
          </a:p>
          <a:p>
            <a:pPr eaLnBrk="1" hangingPunct="1"/>
            <a:r>
              <a:rPr lang="en-US"/>
              <a:t>Step 1: If BEG &lt; END, then: </a:t>
            </a:r>
          </a:p>
          <a:p>
            <a:pPr eaLnBrk="1" hangingPunct="1">
              <a:buFontTx/>
              <a:buNone/>
            </a:pPr>
            <a:r>
              <a:rPr lang="en-US"/>
              <a:t>	                Set MID:= (BEG +END)/2</a:t>
            </a:r>
          </a:p>
          <a:p>
            <a:pPr eaLnBrk="1" hangingPunct="1">
              <a:buFontTx/>
              <a:buNone/>
            </a:pPr>
            <a:r>
              <a:rPr lang="en-US"/>
              <a:t>     	         Call Mergesort (A, BEG,MID)</a:t>
            </a:r>
          </a:p>
          <a:p>
            <a:pPr eaLnBrk="1" hangingPunct="1">
              <a:buFontTx/>
              <a:buNone/>
            </a:pPr>
            <a:r>
              <a:rPr lang="en-US"/>
              <a:t>                     Call Mergesort (A, MID+1, END)</a:t>
            </a:r>
          </a:p>
          <a:p>
            <a:pPr eaLnBrk="1" hangingPunct="1">
              <a:buFontTx/>
              <a:buNone/>
            </a:pPr>
            <a:r>
              <a:rPr lang="en-US"/>
              <a:t>                     Call Merging( A, BEG, MID, MID+1, END)</a:t>
            </a:r>
          </a:p>
          <a:p>
            <a:pPr eaLnBrk="1" hangingPunct="1">
              <a:buFontTx/>
              <a:buNone/>
            </a:pPr>
            <a:r>
              <a:rPr lang="en-US"/>
              <a:t>                 [End of If structure]</a:t>
            </a:r>
          </a:p>
          <a:p>
            <a:pPr eaLnBrk="1" hangingPunct="1"/>
            <a:r>
              <a:rPr lang="en-US"/>
              <a:t>Step 2: Return</a:t>
            </a:r>
          </a:p>
          <a:p>
            <a:pPr eaLnBrk="1" hangingPunct="1"/>
            <a:endParaRPr lang="en-US">
              <a:cs typeface="Times New Roman" pitchFamily="18" charset="0"/>
            </a:endParaRPr>
          </a:p>
        </p:txBody>
      </p:sp>
    </p:spTree>
    <p:extLst>
      <p:ext uri="{BB962C8B-B14F-4D97-AF65-F5344CB8AC3E}">
        <p14:creationId xmlns:p14="http://schemas.microsoft.com/office/powerpoint/2010/main" val="354252075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a:t>Algorithm: Merging (A, LB,LR,RB,RR)</a:t>
            </a:r>
          </a:p>
          <a:p>
            <a:pPr eaLnBrk="1" hangingPunct="1">
              <a:lnSpc>
                <a:spcPct val="90000"/>
              </a:lnSpc>
              <a:buFontTx/>
              <a:buNone/>
            </a:pPr>
            <a:r>
              <a:rPr lang="en-US"/>
              <a:t>                      This algorithm merges the elements of sub arrays in sorted</a:t>
            </a:r>
          </a:p>
          <a:p>
            <a:pPr eaLnBrk="1" hangingPunct="1">
              <a:lnSpc>
                <a:spcPct val="90000"/>
              </a:lnSpc>
              <a:buFontTx/>
              <a:buNone/>
            </a:pPr>
            <a:r>
              <a:rPr lang="en-US"/>
              <a:t>                      form.LB and RB are the lower bounds of sub array to be</a:t>
            </a:r>
          </a:p>
          <a:p>
            <a:pPr eaLnBrk="1" hangingPunct="1">
              <a:lnSpc>
                <a:spcPct val="90000"/>
              </a:lnSpc>
              <a:buFontTx/>
              <a:buNone/>
            </a:pPr>
            <a:r>
              <a:rPr lang="en-US"/>
              <a:t>                       sorted and LR and RR are the upper bounds of the</a:t>
            </a:r>
          </a:p>
          <a:p>
            <a:pPr eaLnBrk="1" hangingPunct="1">
              <a:lnSpc>
                <a:spcPct val="90000"/>
              </a:lnSpc>
              <a:buFontTx/>
              <a:buNone/>
            </a:pPr>
            <a:r>
              <a:rPr lang="en-US"/>
              <a:t>                       subarrays respectively</a:t>
            </a:r>
          </a:p>
          <a:p>
            <a:pPr eaLnBrk="1" hangingPunct="1">
              <a:lnSpc>
                <a:spcPct val="90000"/>
              </a:lnSpc>
            </a:pPr>
            <a:r>
              <a:rPr lang="en-US"/>
              <a:t>Step 1:     Set NA:=LB, NB:=RB and NC:=LB</a:t>
            </a:r>
          </a:p>
          <a:p>
            <a:pPr eaLnBrk="1" hangingPunct="1">
              <a:lnSpc>
                <a:spcPct val="90000"/>
              </a:lnSpc>
            </a:pPr>
            <a:r>
              <a:rPr lang="en-US"/>
              <a:t>Step 2: Repeat while NA </a:t>
            </a:r>
            <a:r>
              <a:rPr lang="en-US">
                <a:cs typeface="Times New Roman" pitchFamily="18" charset="0"/>
              </a:rPr>
              <a:t>≤ LR and NB ≤ RR:</a:t>
            </a:r>
          </a:p>
          <a:p>
            <a:pPr eaLnBrk="1" hangingPunct="1">
              <a:lnSpc>
                <a:spcPct val="90000"/>
              </a:lnSpc>
              <a:buFontTx/>
              <a:buNone/>
            </a:pPr>
            <a:r>
              <a:rPr lang="en-US">
                <a:cs typeface="Times New Roman" pitchFamily="18" charset="0"/>
              </a:rPr>
              <a:t>                	IF A[NA] &lt; A[NB], then:</a:t>
            </a:r>
          </a:p>
          <a:p>
            <a:pPr eaLnBrk="1" hangingPunct="1">
              <a:lnSpc>
                <a:spcPct val="90000"/>
              </a:lnSpc>
              <a:buFontTx/>
              <a:buNone/>
            </a:pPr>
            <a:r>
              <a:rPr lang="en-US">
                <a:cs typeface="Times New Roman" pitchFamily="18" charset="0"/>
              </a:rPr>
              <a:t>                	Set C[NC]:= A[NA]</a:t>
            </a:r>
          </a:p>
          <a:p>
            <a:pPr eaLnBrk="1" hangingPunct="1">
              <a:lnSpc>
                <a:spcPct val="90000"/>
              </a:lnSpc>
              <a:buFontTx/>
              <a:buNone/>
            </a:pPr>
            <a:r>
              <a:rPr lang="en-US">
                <a:cs typeface="Times New Roman" pitchFamily="18" charset="0"/>
              </a:rPr>
              <a:t>                	Set NA:=NA +1</a:t>
            </a:r>
          </a:p>
          <a:p>
            <a:pPr eaLnBrk="1" hangingPunct="1">
              <a:lnSpc>
                <a:spcPct val="90000"/>
              </a:lnSpc>
              <a:buFontTx/>
              <a:buNone/>
            </a:pPr>
            <a:r>
              <a:rPr lang="en-US">
                <a:cs typeface="Times New Roman" pitchFamily="18" charset="0"/>
              </a:rPr>
              <a:t>                	Else: </a:t>
            </a:r>
            <a:endParaRPr lang="en-US"/>
          </a:p>
          <a:p>
            <a:pPr eaLnBrk="1" hangingPunct="1">
              <a:lnSpc>
                <a:spcPct val="90000"/>
              </a:lnSpc>
              <a:buFontTx/>
              <a:buNone/>
            </a:pPr>
            <a:r>
              <a:rPr lang="en-US"/>
              <a:t>	                   Set C[NC]:= A[NB]</a:t>
            </a:r>
          </a:p>
          <a:p>
            <a:pPr eaLnBrk="1" hangingPunct="1">
              <a:lnSpc>
                <a:spcPct val="90000"/>
              </a:lnSpc>
              <a:buFontTx/>
              <a:buNone/>
            </a:pPr>
            <a:r>
              <a:rPr lang="en-US"/>
              <a:t>                       Set NB:= NB +1</a:t>
            </a:r>
          </a:p>
          <a:p>
            <a:pPr eaLnBrk="1" hangingPunct="1">
              <a:lnSpc>
                <a:spcPct val="90000"/>
              </a:lnSpc>
              <a:buFontTx/>
              <a:buNone/>
            </a:pPr>
            <a:r>
              <a:rPr lang="en-US"/>
              <a:t>                       [End of If structure]</a:t>
            </a:r>
          </a:p>
          <a:p>
            <a:pPr eaLnBrk="1" hangingPunct="1">
              <a:lnSpc>
                <a:spcPct val="90000"/>
              </a:lnSpc>
              <a:buFontTx/>
              <a:buNone/>
            </a:pPr>
            <a:r>
              <a:rPr lang="en-US"/>
              <a:t>                  Set NC:= NC +1</a:t>
            </a:r>
          </a:p>
          <a:p>
            <a:pPr eaLnBrk="1" hangingPunct="1">
              <a:lnSpc>
                <a:spcPct val="90000"/>
              </a:lnSpc>
              <a:buFontTx/>
              <a:buNone/>
            </a:pPr>
            <a:r>
              <a:rPr lang="en-US"/>
              <a:t>                  [End of Loop]</a:t>
            </a:r>
          </a:p>
        </p:txBody>
      </p:sp>
    </p:spTree>
    <p:extLst>
      <p:ext uri="{BB962C8B-B14F-4D97-AF65-F5344CB8AC3E}">
        <p14:creationId xmlns:p14="http://schemas.microsoft.com/office/powerpoint/2010/main" val="344156910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sz="2000"/>
              <a:t>Step 3: If NA &gt;LR, then:</a:t>
            </a:r>
          </a:p>
          <a:p>
            <a:pPr eaLnBrk="1" hangingPunct="1">
              <a:lnSpc>
                <a:spcPct val="90000"/>
              </a:lnSpc>
              <a:buFontTx/>
              <a:buNone/>
            </a:pPr>
            <a:r>
              <a:rPr lang="en-US" sz="2000"/>
              <a:t>                 	Repeat while NB </a:t>
            </a:r>
            <a:r>
              <a:rPr lang="en-US" sz="2000">
                <a:cs typeface="Times New Roman" pitchFamily="18" charset="0"/>
              </a:rPr>
              <a:t>≤ RR:</a:t>
            </a:r>
          </a:p>
          <a:p>
            <a:pPr eaLnBrk="1" hangingPunct="1">
              <a:lnSpc>
                <a:spcPct val="90000"/>
              </a:lnSpc>
              <a:buFontTx/>
              <a:buNone/>
            </a:pPr>
            <a:r>
              <a:rPr lang="en-US" sz="2000">
                <a:cs typeface="Times New Roman" pitchFamily="18" charset="0"/>
              </a:rPr>
              <a:t>                	 Set C[NC]:= A[NB]</a:t>
            </a:r>
          </a:p>
          <a:p>
            <a:pPr eaLnBrk="1" hangingPunct="1">
              <a:lnSpc>
                <a:spcPct val="90000"/>
              </a:lnSpc>
              <a:buFontTx/>
              <a:buNone/>
            </a:pPr>
            <a:r>
              <a:rPr lang="en-US" sz="2000">
                <a:cs typeface="Times New Roman" pitchFamily="18" charset="0"/>
              </a:rPr>
              <a:t>               	 Set NB:= NB+1</a:t>
            </a:r>
          </a:p>
          <a:p>
            <a:pPr eaLnBrk="1" hangingPunct="1">
              <a:lnSpc>
                <a:spcPct val="90000"/>
              </a:lnSpc>
              <a:buFontTx/>
              <a:buNone/>
            </a:pPr>
            <a:r>
              <a:rPr lang="en-US" sz="2000">
                <a:cs typeface="Times New Roman" pitchFamily="18" charset="0"/>
              </a:rPr>
              <a:t>               	 Set NC := NC +1</a:t>
            </a:r>
          </a:p>
          <a:p>
            <a:pPr eaLnBrk="1" hangingPunct="1">
              <a:lnSpc>
                <a:spcPct val="90000"/>
              </a:lnSpc>
              <a:buFontTx/>
              <a:buNone/>
            </a:pPr>
            <a:r>
              <a:rPr lang="en-US" sz="2000">
                <a:cs typeface="Times New Roman" pitchFamily="18" charset="0"/>
              </a:rPr>
              <a:t>               	 [End of Loop]</a:t>
            </a:r>
          </a:p>
          <a:p>
            <a:pPr eaLnBrk="1" hangingPunct="1">
              <a:lnSpc>
                <a:spcPct val="90000"/>
              </a:lnSpc>
              <a:buFontTx/>
              <a:buNone/>
            </a:pPr>
            <a:r>
              <a:rPr lang="en-US" sz="2000">
                <a:cs typeface="Times New Roman" pitchFamily="18" charset="0"/>
              </a:rPr>
              <a:t>                 Else:</a:t>
            </a:r>
          </a:p>
          <a:p>
            <a:pPr eaLnBrk="1" hangingPunct="1">
              <a:lnSpc>
                <a:spcPct val="90000"/>
              </a:lnSpc>
              <a:buFontTx/>
              <a:buNone/>
            </a:pPr>
            <a:r>
              <a:rPr lang="en-US" sz="2000">
                <a:cs typeface="Times New Roman" pitchFamily="18" charset="0"/>
              </a:rPr>
              <a:t>                	Repeat while NA</a:t>
            </a:r>
            <a:r>
              <a:rPr lang="en-US" sz="2000"/>
              <a:t>  </a:t>
            </a:r>
            <a:r>
              <a:rPr lang="en-US" sz="2000">
                <a:cs typeface="Times New Roman" pitchFamily="18" charset="0"/>
              </a:rPr>
              <a:t>≤ LR:</a:t>
            </a:r>
          </a:p>
          <a:p>
            <a:pPr eaLnBrk="1" hangingPunct="1">
              <a:lnSpc>
                <a:spcPct val="90000"/>
              </a:lnSpc>
              <a:buFontTx/>
              <a:buNone/>
            </a:pPr>
            <a:r>
              <a:rPr lang="en-US" sz="2000">
                <a:cs typeface="Times New Roman" pitchFamily="18" charset="0"/>
              </a:rPr>
              <a:t>                	Set C[NC]:= A[NA]</a:t>
            </a:r>
          </a:p>
          <a:p>
            <a:pPr eaLnBrk="1" hangingPunct="1">
              <a:lnSpc>
                <a:spcPct val="90000"/>
              </a:lnSpc>
              <a:buFontTx/>
              <a:buNone/>
            </a:pPr>
            <a:r>
              <a:rPr lang="en-US" sz="2000">
                <a:cs typeface="Times New Roman" pitchFamily="18" charset="0"/>
              </a:rPr>
              <a:t>                	Set NC:= NC + 1</a:t>
            </a:r>
          </a:p>
          <a:p>
            <a:pPr eaLnBrk="1" hangingPunct="1">
              <a:lnSpc>
                <a:spcPct val="90000"/>
              </a:lnSpc>
              <a:buFontTx/>
              <a:buNone/>
            </a:pPr>
            <a:r>
              <a:rPr lang="en-US" sz="2000">
                <a:cs typeface="Times New Roman" pitchFamily="18" charset="0"/>
              </a:rPr>
              <a:t>                	Set NA := NA +1</a:t>
            </a:r>
          </a:p>
          <a:p>
            <a:pPr eaLnBrk="1" hangingPunct="1">
              <a:lnSpc>
                <a:spcPct val="90000"/>
              </a:lnSpc>
              <a:buFontTx/>
              <a:buNone/>
            </a:pPr>
            <a:r>
              <a:rPr lang="en-US" sz="2000">
                <a:cs typeface="Times New Roman" pitchFamily="18" charset="0"/>
              </a:rPr>
              <a:t>                	[End of loop]</a:t>
            </a:r>
          </a:p>
          <a:p>
            <a:pPr eaLnBrk="1" hangingPunct="1">
              <a:lnSpc>
                <a:spcPct val="90000"/>
              </a:lnSpc>
              <a:buFontTx/>
              <a:buNone/>
            </a:pPr>
            <a:r>
              <a:rPr lang="en-US" sz="2000">
                <a:cs typeface="Times New Roman" pitchFamily="18" charset="0"/>
              </a:rPr>
              <a:t>                 [End of If structure]     </a:t>
            </a:r>
          </a:p>
          <a:p>
            <a:pPr eaLnBrk="1" hangingPunct="1">
              <a:lnSpc>
                <a:spcPct val="90000"/>
              </a:lnSpc>
            </a:pPr>
            <a:r>
              <a:rPr lang="en-US" sz="2000"/>
              <a:t>Step 4:[Updating the original array with temporary array C]</a:t>
            </a:r>
          </a:p>
          <a:p>
            <a:pPr eaLnBrk="1" hangingPunct="1">
              <a:lnSpc>
                <a:spcPct val="90000"/>
              </a:lnSpc>
              <a:buFontTx/>
              <a:buNone/>
            </a:pPr>
            <a:r>
              <a:rPr lang="en-US" sz="2000"/>
              <a:t>                 Repeat for K:= LB to RR:</a:t>
            </a:r>
          </a:p>
          <a:p>
            <a:pPr eaLnBrk="1" hangingPunct="1">
              <a:lnSpc>
                <a:spcPct val="90000"/>
              </a:lnSpc>
              <a:buFontTx/>
              <a:buNone/>
            </a:pPr>
            <a:r>
              <a:rPr lang="en-US" sz="2000"/>
              <a:t>                  Set A[K]:=C[K]</a:t>
            </a:r>
          </a:p>
          <a:p>
            <a:pPr eaLnBrk="1" hangingPunct="1">
              <a:lnSpc>
                <a:spcPct val="90000"/>
              </a:lnSpc>
              <a:buFontTx/>
              <a:buNone/>
            </a:pPr>
            <a:r>
              <a:rPr lang="en-US" sz="2000"/>
              <a:t>                  [End of Loop]</a:t>
            </a:r>
          </a:p>
          <a:p>
            <a:pPr eaLnBrk="1" hangingPunct="1">
              <a:lnSpc>
                <a:spcPct val="90000"/>
              </a:lnSpc>
            </a:pPr>
            <a:r>
              <a:rPr lang="en-US" sz="2000"/>
              <a:t>Step 5: Return</a:t>
            </a:r>
          </a:p>
          <a:p>
            <a:pPr eaLnBrk="1" hangingPunct="1">
              <a:lnSpc>
                <a:spcPct val="90000"/>
              </a:lnSpc>
              <a:buFontTx/>
              <a:buNone/>
            </a:pPr>
            <a:r>
              <a:rPr lang="en-US" sz="2000">
                <a:cs typeface="Times New Roman" pitchFamily="18" charset="0"/>
              </a:rPr>
              <a:t>  </a:t>
            </a:r>
          </a:p>
          <a:p>
            <a:pPr eaLnBrk="1" hangingPunct="1">
              <a:lnSpc>
                <a:spcPct val="90000"/>
              </a:lnSpc>
            </a:pPr>
            <a:endParaRPr lang="en-US" sz="2000"/>
          </a:p>
        </p:txBody>
      </p:sp>
    </p:spTree>
    <p:extLst>
      <p:ext uri="{BB962C8B-B14F-4D97-AF65-F5344CB8AC3E}">
        <p14:creationId xmlns:p14="http://schemas.microsoft.com/office/powerpoint/2010/main" val="134138283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Grp="1" noChangeArrowheads="1"/>
          </p:cNvSpPr>
          <p:nvPr>
            <p:ph type="body" idx="1"/>
          </p:nvPr>
        </p:nvSpPr>
        <p:spPr>
          <a:xfrm>
            <a:off x="1524000" y="0"/>
            <a:ext cx="9144000" cy="6858000"/>
          </a:xfrm>
        </p:spPr>
        <p:txBody>
          <a:bodyPr/>
          <a:lstStyle/>
          <a:p>
            <a:pPr eaLnBrk="1" hangingPunct="1"/>
            <a:r>
              <a:rPr lang="en-US"/>
              <a:t>Complexity of Merge-sort Algorithm- In merge sort algorithm, major work is done in the merge procedure, which is an O(n) operation. The merge procedure is called from merge sort procedure after the array is divided into two halves and each half has been sorted. In each of recursive calls, one for left half and one for right half, the array is divided into halves, thus dividing the array into four segments. At each level, the number of segments double. Therefore, total divisions are log</a:t>
            </a:r>
            <a:r>
              <a:rPr lang="en-US" baseline="-25000"/>
              <a:t>2</a:t>
            </a:r>
            <a:r>
              <a:rPr lang="en-US"/>
              <a:t>n. Moreover each pass merges a total of n elements and thus each pass will require at most n comparisons. Hence, for both worst case and average case</a:t>
            </a:r>
          </a:p>
          <a:p>
            <a:pPr eaLnBrk="1" hangingPunct="1">
              <a:buFontTx/>
              <a:buNone/>
            </a:pPr>
            <a:endParaRPr lang="en-US"/>
          </a:p>
          <a:p>
            <a:pPr eaLnBrk="1" hangingPunct="1">
              <a:buFontTx/>
              <a:buNone/>
            </a:pPr>
            <a:r>
              <a:rPr lang="en-US"/>
              <a:t>                  f(n)= nlog</a:t>
            </a:r>
            <a:r>
              <a:rPr lang="en-US" baseline="-25000"/>
              <a:t>2</a:t>
            </a:r>
            <a:r>
              <a:rPr lang="en-US"/>
              <a:t>n= O(nlog</a:t>
            </a:r>
            <a:r>
              <a:rPr lang="en-US" baseline="-25000"/>
              <a:t>2</a:t>
            </a:r>
            <a:r>
              <a:rPr lang="en-US"/>
              <a:t>n)</a:t>
            </a:r>
          </a:p>
          <a:p>
            <a:pPr eaLnBrk="1" hangingPunct="1">
              <a:buFontTx/>
              <a:buNone/>
            </a:pPr>
            <a:r>
              <a:rPr lang="en-US"/>
              <a:t>    </a:t>
            </a:r>
          </a:p>
          <a:p>
            <a:pPr eaLnBrk="1" hangingPunct="1"/>
            <a:r>
              <a:rPr lang="en-US"/>
              <a:t>The only disadvantage of merge sort is that it uses an extra temporary array, of the same size as that of input array, to merge the two halves. The elements of temporary array are copied back to original array before next merging.</a:t>
            </a:r>
          </a:p>
        </p:txBody>
      </p:sp>
    </p:spTree>
    <p:extLst>
      <p:ext uri="{BB962C8B-B14F-4D97-AF65-F5344CB8AC3E}">
        <p14:creationId xmlns:p14="http://schemas.microsoft.com/office/powerpoint/2010/main" val="274079796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4"/>
          <p:cNvSpPr>
            <a:spLocks noGrp="1" noChangeArrowheads="1"/>
          </p:cNvSpPr>
          <p:nvPr>
            <p:ph type="ctrTitle"/>
          </p:nvPr>
        </p:nvSpPr>
        <p:spPr/>
        <p:txBody>
          <a:bodyPr/>
          <a:lstStyle/>
          <a:p>
            <a:pPr eaLnBrk="1" hangingPunct="1"/>
            <a:r>
              <a:rPr lang="en-US" sz="15600" b="1"/>
              <a:t>TREE</a:t>
            </a:r>
          </a:p>
        </p:txBody>
      </p:sp>
      <p:sp>
        <p:nvSpPr>
          <p:cNvPr id="267267" name="Rectangle 5"/>
          <p:cNvSpPr>
            <a:spLocks noGrp="1" noChangeArrowheads="1"/>
          </p:cNvSpPr>
          <p:nvPr>
            <p:ph type="subTitle" idx="1"/>
          </p:nvPr>
        </p:nvSpPr>
        <p:spPr/>
        <p:txBody>
          <a:bodyPr/>
          <a:lstStyle/>
          <a:p>
            <a:pPr eaLnBrk="1" hangingPunct="1"/>
            <a:endParaRPr lang="en-US"/>
          </a:p>
        </p:txBody>
      </p:sp>
    </p:spTree>
    <p:extLst>
      <p:ext uri="{BB962C8B-B14F-4D97-AF65-F5344CB8AC3E}">
        <p14:creationId xmlns:p14="http://schemas.microsoft.com/office/powerpoint/2010/main" val="77538198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3"/>
          <p:cNvSpPr>
            <a:spLocks noGrp="1" noChangeArrowheads="1"/>
          </p:cNvSpPr>
          <p:nvPr>
            <p:ph type="body" idx="1"/>
          </p:nvPr>
        </p:nvSpPr>
        <p:spPr>
          <a:xfrm>
            <a:off x="1524000" y="0"/>
            <a:ext cx="9144000" cy="6858000"/>
          </a:xfrm>
        </p:spPr>
        <p:txBody>
          <a:bodyPr/>
          <a:lstStyle/>
          <a:p>
            <a:pPr eaLnBrk="1" hangingPunct="1"/>
            <a:r>
              <a:rPr lang="en-US"/>
              <a:t>A tree is a non-linear data structure mainly used to represent data containing  hierarchical relationship between elements. In hierarchical data we have ancestor-descendent, superior-subordinate, whole-part, or similar relationship among data elements. </a:t>
            </a:r>
          </a:p>
          <a:p>
            <a:pPr eaLnBrk="1" hangingPunct="1"/>
            <a:r>
              <a:rPr lang="en-US"/>
              <a:t>A (general) tree T is defined as a finite </a:t>
            </a:r>
            <a:r>
              <a:rPr lang="en-US" b="1" i="1">
                <a:solidFill>
                  <a:srgbClr val="660033"/>
                </a:solidFill>
              </a:rPr>
              <a:t>nonempty</a:t>
            </a:r>
            <a:r>
              <a:rPr lang="en-US"/>
              <a:t> set of elements such that</a:t>
            </a:r>
          </a:p>
          <a:p>
            <a:pPr eaLnBrk="1" hangingPunct="1"/>
            <a:r>
              <a:rPr lang="en-US"/>
              <a:t>There is a special node at the highest level  of hierarchy called the root, </a:t>
            </a:r>
          </a:p>
          <a:p>
            <a:pPr eaLnBrk="1" hangingPunct="1"/>
            <a:r>
              <a:rPr lang="en-US"/>
              <a:t>and the remaining elements , if any, are partitioned into disjoint sets T</a:t>
            </a:r>
            <a:r>
              <a:rPr lang="en-US" baseline="-25000"/>
              <a:t>1</a:t>
            </a:r>
            <a:r>
              <a:rPr lang="en-US"/>
              <a:t>,T</a:t>
            </a:r>
            <a:r>
              <a:rPr lang="en-US" baseline="-25000"/>
              <a:t>2</a:t>
            </a:r>
            <a:r>
              <a:rPr lang="en-US"/>
              <a:t>,T</a:t>
            </a:r>
            <a:r>
              <a:rPr lang="en-US" baseline="-25000"/>
              <a:t>3</a:t>
            </a:r>
            <a:r>
              <a:rPr lang="en-US"/>
              <a:t>---T</a:t>
            </a:r>
            <a:r>
              <a:rPr lang="en-US" baseline="-25000"/>
              <a:t>n</a:t>
            </a:r>
            <a:r>
              <a:rPr lang="en-US"/>
              <a:t> where each of these sets is a tree, called the sub tree of T. </a:t>
            </a:r>
          </a:p>
          <a:p>
            <a:pPr eaLnBrk="1" hangingPunct="1"/>
            <a:r>
              <a:rPr lang="en-US"/>
              <a:t>In other words, one may define a tree as a collection of nodes and each node is connected to another node through a branch. The nodes are connected in such a way that there are no loops in the tree and there is a distinguished node called the root of the tree.</a:t>
            </a:r>
          </a:p>
        </p:txBody>
      </p:sp>
    </p:spTree>
    <p:extLst>
      <p:ext uri="{BB962C8B-B14F-4D97-AF65-F5344CB8AC3E}">
        <p14:creationId xmlns:p14="http://schemas.microsoft.com/office/powerpoint/2010/main" val="375810508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9314" name="Picture 4" descr="SCAN002"/>
          <p:cNvPicPr>
            <a:picLocks noGrp="1" noChangeAspect="1" noChangeArrowheads="1"/>
          </p:cNvPicPr>
          <p:nvPr>
            <p:ph type="body" idx="1"/>
          </p:nvPr>
        </p:nvPicPr>
        <p:blipFill>
          <a:blip r:embed="rId2">
            <a:grayscl/>
            <a:biLevel thresh="50000"/>
          </a:blip>
          <a:srcRect t="50000"/>
          <a:stretch>
            <a:fillRect/>
          </a:stretch>
        </p:blipFill>
        <p:spPr>
          <a:xfrm>
            <a:off x="1524000" y="0"/>
            <a:ext cx="9144000" cy="6858000"/>
          </a:xfrm>
          <a:noFill/>
        </p:spPr>
      </p:pic>
      <p:sp>
        <p:nvSpPr>
          <p:cNvPr id="269315" name="Rectangle 5"/>
          <p:cNvSpPr>
            <a:spLocks noChangeArrowheads="1"/>
          </p:cNvSpPr>
          <p:nvPr/>
        </p:nvSpPr>
        <p:spPr bwMode="auto">
          <a:xfrm>
            <a:off x="4572000" y="6324600"/>
            <a:ext cx="762000" cy="381000"/>
          </a:xfrm>
          <a:prstGeom prst="rect">
            <a:avLst/>
          </a:prstGeom>
          <a:solidFill>
            <a:schemeClr val="bg1"/>
          </a:solidFill>
          <a:ln w="9525">
            <a:solidFill>
              <a:schemeClr val="bg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33991296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sz="2000" b="1" dirty="0"/>
              <a:t>Tree Terminology</a:t>
            </a:r>
          </a:p>
          <a:p>
            <a:pPr eaLnBrk="1" hangingPunct="1">
              <a:lnSpc>
                <a:spcPct val="90000"/>
              </a:lnSpc>
            </a:pPr>
            <a:r>
              <a:rPr lang="en-US" sz="2000" b="1" dirty="0"/>
              <a:t>Parent node-</a:t>
            </a:r>
            <a:r>
              <a:rPr lang="en-US" sz="2000" dirty="0"/>
              <a:t> If N is a node in T with left successor S</a:t>
            </a:r>
            <a:r>
              <a:rPr lang="en-US" sz="2000" baseline="-25000" dirty="0"/>
              <a:t>1 </a:t>
            </a:r>
            <a:r>
              <a:rPr lang="en-US" sz="2000" dirty="0"/>
              <a:t>and right successor S</a:t>
            </a:r>
            <a:r>
              <a:rPr lang="en-US" sz="2000" baseline="-25000" dirty="0"/>
              <a:t>2</a:t>
            </a:r>
            <a:r>
              <a:rPr lang="en-US" sz="2000" dirty="0"/>
              <a:t>, then N is called father or parent of S</a:t>
            </a:r>
            <a:r>
              <a:rPr lang="en-US" sz="2000" baseline="-25000" dirty="0"/>
              <a:t>1</a:t>
            </a:r>
            <a:r>
              <a:rPr lang="en-US" sz="2000" dirty="0"/>
              <a:t> and S</a:t>
            </a:r>
            <a:r>
              <a:rPr lang="en-US" sz="2000" baseline="-25000" dirty="0"/>
              <a:t>2</a:t>
            </a:r>
            <a:r>
              <a:rPr lang="en-US" sz="2000" dirty="0"/>
              <a:t>. Similarly, S</a:t>
            </a:r>
            <a:r>
              <a:rPr lang="en-US" sz="2000" baseline="-25000" dirty="0"/>
              <a:t>1</a:t>
            </a:r>
            <a:r>
              <a:rPr lang="en-US" sz="2000" dirty="0"/>
              <a:t> is called left child of N and S</a:t>
            </a:r>
            <a:r>
              <a:rPr lang="en-US" sz="2000" baseline="-25000" dirty="0"/>
              <a:t>2</a:t>
            </a:r>
            <a:r>
              <a:rPr lang="en-US" sz="2000" dirty="0"/>
              <a:t> is called the right child of N. The child node is also called the descendant of a node N</a:t>
            </a:r>
          </a:p>
          <a:p>
            <a:pPr eaLnBrk="1" hangingPunct="1">
              <a:lnSpc>
                <a:spcPct val="90000"/>
              </a:lnSpc>
            </a:pPr>
            <a:r>
              <a:rPr lang="en-US" sz="2000" b="1" dirty="0"/>
              <a:t>Siblings-</a:t>
            </a:r>
            <a:r>
              <a:rPr lang="en-US" sz="2000" dirty="0"/>
              <a:t> The child nodes with same parent are called siblings</a:t>
            </a:r>
          </a:p>
          <a:p>
            <a:pPr eaLnBrk="1" hangingPunct="1">
              <a:lnSpc>
                <a:spcPct val="90000"/>
              </a:lnSpc>
            </a:pPr>
            <a:r>
              <a:rPr lang="en-US" sz="2000" b="1" dirty="0"/>
              <a:t>Level of element-</a:t>
            </a:r>
            <a:r>
              <a:rPr lang="en-US" sz="2000" dirty="0"/>
              <a:t> Each node in tree is assigned a level number. By definition, root of the tree is at level 0;its children, if any, are at level 1; their children, if any, are at level 2; and so on. Thus a node is assigned a level number one more than the level number of its parent </a:t>
            </a:r>
          </a:p>
          <a:p>
            <a:pPr eaLnBrk="1" hangingPunct="1">
              <a:lnSpc>
                <a:spcPct val="90000"/>
              </a:lnSpc>
            </a:pPr>
            <a:r>
              <a:rPr lang="en-US" sz="2000" b="1" dirty="0"/>
              <a:t>Depth/Height of Tree-</a:t>
            </a:r>
            <a:r>
              <a:rPr lang="en-US" sz="2000" dirty="0"/>
              <a:t> The height or depth of tree is </a:t>
            </a:r>
            <a:r>
              <a:rPr lang="en-US" b="1" i="1" dirty="0">
                <a:solidFill>
                  <a:srgbClr val="FF33CC"/>
                </a:solidFill>
              </a:rPr>
              <a:t>maximum number of nodes  in a branch</a:t>
            </a:r>
            <a:r>
              <a:rPr lang="en-US" sz="2000" dirty="0"/>
              <a:t> . It is </a:t>
            </a:r>
            <a:r>
              <a:rPr lang="en-US" b="1" dirty="0">
                <a:solidFill>
                  <a:srgbClr val="FF33CC"/>
                </a:solidFill>
              </a:rPr>
              <a:t>one more than the maximum level number</a:t>
            </a:r>
            <a:r>
              <a:rPr lang="en-US" sz="2000" dirty="0"/>
              <a:t> of the tree if the level number of root node is 0.</a:t>
            </a:r>
          </a:p>
          <a:p>
            <a:pPr eaLnBrk="1" hangingPunct="1">
              <a:lnSpc>
                <a:spcPct val="90000"/>
              </a:lnSpc>
            </a:pPr>
            <a:r>
              <a:rPr lang="en-US" sz="2000" b="1" dirty="0"/>
              <a:t>Degree of an element-</a:t>
            </a:r>
            <a:r>
              <a:rPr lang="en-US" sz="2000" dirty="0"/>
              <a:t> The degree of a node in a tree is number of children it has. The degree of leaf node is zero.</a:t>
            </a:r>
          </a:p>
          <a:p>
            <a:pPr eaLnBrk="1" hangingPunct="1">
              <a:lnSpc>
                <a:spcPct val="90000"/>
              </a:lnSpc>
            </a:pPr>
            <a:r>
              <a:rPr lang="en-US" sz="2000" b="1" dirty="0"/>
              <a:t>Degree of Tree-</a:t>
            </a:r>
            <a:r>
              <a:rPr lang="en-US" sz="2000" dirty="0"/>
              <a:t> The degree of a tree is the maximum  degree of its nodes.</a:t>
            </a:r>
          </a:p>
          <a:p>
            <a:pPr eaLnBrk="1" hangingPunct="1">
              <a:lnSpc>
                <a:spcPct val="90000"/>
              </a:lnSpc>
            </a:pPr>
            <a:r>
              <a:rPr lang="en-US" sz="2000" b="1" dirty="0"/>
              <a:t>Edge-</a:t>
            </a:r>
            <a:r>
              <a:rPr lang="en-US" sz="2000" dirty="0"/>
              <a:t> Line drawn from a node N of  T to a successor is called an edge.</a:t>
            </a:r>
          </a:p>
          <a:p>
            <a:pPr eaLnBrk="1" hangingPunct="1">
              <a:lnSpc>
                <a:spcPct val="90000"/>
              </a:lnSpc>
            </a:pPr>
            <a:r>
              <a:rPr lang="en-US" sz="2000" b="1" dirty="0"/>
              <a:t>Path-</a:t>
            </a:r>
            <a:r>
              <a:rPr lang="en-US" sz="2000" dirty="0"/>
              <a:t> A sequence of edges is called a path</a:t>
            </a:r>
          </a:p>
          <a:p>
            <a:pPr eaLnBrk="1" hangingPunct="1">
              <a:lnSpc>
                <a:spcPct val="90000"/>
              </a:lnSpc>
            </a:pPr>
            <a:r>
              <a:rPr lang="en-US" sz="2000" b="1" dirty="0"/>
              <a:t>Leaf- </a:t>
            </a:r>
            <a:r>
              <a:rPr lang="en-US" sz="2000" dirty="0"/>
              <a:t>A terminal node of a tree is called leaf node</a:t>
            </a:r>
          </a:p>
          <a:p>
            <a:pPr eaLnBrk="1" hangingPunct="1">
              <a:lnSpc>
                <a:spcPct val="90000"/>
              </a:lnSpc>
            </a:pPr>
            <a:r>
              <a:rPr lang="en-US" sz="2000" b="1" dirty="0"/>
              <a:t>Branch-</a:t>
            </a:r>
            <a:r>
              <a:rPr lang="en-US" sz="2000" dirty="0"/>
              <a:t> Path ending in a leaf is called branch of the tree</a:t>
            </a:r>
          </a:p>
        </p:txBody>
      </p:sp>
    </p:spTree>
    <p:extLst>
      <p:ext uri="{BB962C8B-B14F-4D97-AF65-F5344CB8AC3E}">
        <p14:creationId xmlns:p14="http://schemas.microsoft.com/office/powerpoint/2010/main" val="381316277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3"/>
          <p:cNvSpPr>
            <a:spLocks noGrp="1" noChangeArrowheads="1"/>
          </p:cNvSpPr>
          <p:nvPr>
            <p:ph type="body" idx="1"/>
          </p:nvPr>
        </p:nvSpPr>
        <p:spPr>
          <a:xfrm>
            <a:off x="1524000" y="0"/>
            <a:ext cx="9144000" cy="6858000"/>
          </a:xfrm>
        </p:spPr>
        <p:txBody>
          <a:bodyPr/>
          <a:lstStyle/>
          <a:p>
            <a:pPr eaLnBrk="1" hangingPunct="1"/>
            <a:r>
              <a:rPr lang="en-US"/>
              <a:t>The most common form of tree maintained in computer is binary tree.</a:t>
            </a:r>
          </a:p>
          <a:p>
            <a:pPr eaLnBrk="1" hangingPunct="1"/>
            <a:r>
              <a:rPr lang="en-US" b="1"/>
              <a:t>Binary Tree-</a:t>
            </a:r>
            <a:r>
              <a:rPr lang="en-US"/>
              <a:t> A binary tree T is defined as  a finite set of elements, called nodes, such that either:</a:t>
            </a:r>
          </a:p>
          <a:p>
            <a:pPr lvl="1" eaLnBrk="1" hangingPunct="1"/>
            <a:r>
              <a:rPr lang="en-US"/>
              <a:t>T is empty (called null tree or empty tree) or,</a:t>
            </a:r>
          </a:p>
          <a:p>
            <a:pPr lvl="1" eaLnBrk="1" hangingPunct="1"/>
            <a:r>
              <a:rPr lang="en-US"/>
              <a:t>T contains a distinguished node, R, called root of T and remaining nodes of T form an ordered pair of disjoint binary trees T1 and T2</a:t>
            </a:r>
          </a:p>
          <a:p>
            <a:pPr eaLnBrk="1" hangingPunct="1"/>
            <a:r>
              <a:rPr lang="en-US"/>
              <a:t>Two trees T1 and T2 are called respectively left and right subtree of R (root node of T). If T1 is nonempty, then its root is called left successor of R. Similarly, If T2 is nonempty, then its root is called right successor of R</a:t>
            </a:r>
          </a:p>
          <a:p>
            <a:pPr eaLnBrk="1" hangingPunct="1">
              <a:buFontTx/>
              <a:buNone/>
            </a:pPr>
            <a:r>
              <a:rPr lang="en-US"/>
              <a:t>                                               A</a:t>
            </a:r>
          </a:p>
          <a:p>
            <a:pPr eaLnBrk="1" hangingPunct="1">
              <a:buFontTx/>
              <a:buNone/>
            </a:pPr>
            <a:r>
              <a:rPr lang="en-US"/>
              <a:t>                             B                                       C</a:t>
            </a:r>
          </a:p>
          <a:p>
            <a:pPr eaLnBrk="1" hangingPunct="1">
              <a:buFontTx/>
              <a:buNone/>
            </a:pPr>
            <a:r>
              <a:rPr lang="en-US"/>
              <a:t>                D                 E                      G              H</a:t>
            </a:r>
          </a:p>
          <a:p>
            <a:pPr eaLnBrk="1" hangingPunct="1">
              <a:buFontTx/>
              <a:buNone/>
            </a:pPr>
            <a:r>
              <a:rPr lang="en-US"/>
              <a:t>                                F                                     J               K</a:t>
            </a:r>
          </a:p>
          <a:p>
            <a:pPr eaLnBrk="1" hangingPunct="1">
              <a:buFontTx/>
              <a:buNone/>
            </a:pPr>
            <a:r>
              <a:rPr lang="en-US"/>
              <a:t>                                                                  L         </a:t>
            </a:r>
          </a:p>
          <a:p>
            <a:pPr eaLnBrk="1" hangingPunct="1"/>
            <a:r>
              <a:rPr lang="en-US"/>
              <a:t>The nodes D,F,G,L,K  are the terminal or leaf nodes</a:t>
            </a:r>
          </a:p>
        </p:txBody>
      </p:sp>
      <p:sp>
        <p:nvSpPr>
          <p:cNvPr id="271363" name="Line 4"/>
          <p:cNvSpPr>
            <a:spLocks noChangeShapeType="1"/>
          </p:cNvSpPr>
          <p:nvPr/>
        </p:nvSpPr>
        <p:spPr bwMode="auto">
          <a:xfrm flipH="1">
            <a:off x="3962400" y="4419600"/>
            <a:ext cx="1219200" cy="304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64" name="Line 5"/>
          <p:cNvSpPr>
            <a:spLocks noChangeShapeType="1"/>
          </p:cNvSpPr>
          <p:nvPr/>
        </p:nvSpPr>
        <p:spPr bwMode="auto">
          <a:xfrm>
            <a:off x="5257800" y="4419600"/>
            <a:ext cx="1676400" cy="304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65" name="Line 6"/>
          <p:cNvSpPr>
            <a:spLocks noChangeShapeType="1"/>
          </p:cNvSpPr>
          <p:nvPr/>
        </p:nvSpPr>
        <p:spPr bwMode="auto">
          <a:xfrm flipH="1">
            <a:off x="3200400" y="4800600"/>
            <a:ext cx="533400" cy="304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66" name="Line 7"/>
          <p:cNvSpPr>
            <a:spLocks noChangeShapeType="1"/>
          </p:cNvSpPr>
          <p:nvPr/>
        </p:nvSpPr>
        <p:spPr bwMode="auto">
          <a:xfrm>
            <a:off x="4038600" y="4800600"/>
            <a:ext cx="304800" cy="228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67" name="Line 8"/>
          <p:cNvSpPr>
            <a:spLocks noChangeShapeType="1"/>
          </p:cNvSpPr>
          <p:nvPr/>
        </p:nvSpPr>
        <p:spPr bwMode="auto">
          <a:xfrm flipH="1">
            <a:off x="4191000" y="5257800"/>
            <a:ext cx="152400" cy="228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68" name="Line 9"/>
          <p:cNvSpPr>
            <a:spLocks noChangeShapeType="1"/>
          </p:cNvSpPr>
          <p:nvPr/>
        </p:nvSpPr>
        <p:spPr bwMode="auto">
          <a:xfrm flipH="1">
            <a:off x="6477000" y="4800600"/>
            <a:ext cx="457200" cy="304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69" name="Line 10"/>
          <p:cNvSpPr>
            <a:spLocks noChangeShapeType="1"/>
          </p:cNvSpPr>
          <p:nvPr/>
        </p:nvSpPr>
        <p:spPr bwMode="auto">
          <a:xfrm>
            <a:off x="7086600" y="4800600"/>
            <a:ext cx="381000" cy="228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70" name="Line 11"/>
          <p:cNvSpPr>
            <a:spLocks noChangeShapeType="1"/>
          </p:cNvSpPr>
          <p:nvPr/>
        </p:nvSpPr>
        <p:spPr bwMode="auto">
          <a:xfrm flipH="1">
            <a:off x="7162800" y="5257800"/>
            <a:ext cx="381000" cy="304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71" name="Line 12"/>
          <p:cNvSpPr>
            <a:spLocks noChangeShapeType="1"/>
          </p:cNvSpPr>
          <p:nvPr/>
        </p:nvSpPr>
        <p:spPr bwMode="auto">
          <a:xfrm flipH="1">
            <a:off x="6781800" y="5715000"/>
            <a:ext cx="228600" cy="228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72" name="Line 13"/>
          <p:cNvSpPr>
            <a:spLocks noChangeShapeType="1"/>
          </p:cNvSpPr>
          <p:nvPr/>
        </p:nvSpPr>
        <p:spPr bwMode="auto">
          <a:xfrm>
            <a:off x="7696200" y="5257800"/>
            <a:ext cx="533400" cy="304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1373" name="Text Box 14"/>
          <p:cNvSpPr txBox="1">
            <a:spLocks noChangeArrowheads="1"/>
          </p:cNvSpPr>
          <p:nvPr/>
        </p:nvSpPr>
        <p:spPr bwMode="auto">
          <a:xfrm>
            <a:off x="5257800" y="3886201"/>
            <a:ext cx="1524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Times New Roman"/>
                <a:ea typeface="+mn-ea"/>
                <a:cs typeface="+mn-cs"/>
              </a:rPr>
              <a:t>Root Node</a:t>
            </a:r>
          </a:p>
        </p:txBody>
      </p:sp>
      <p:sp>
        <p:nvSpPr>
          <p:cNvPr id="271374" name="Text Box 15"/>
          <p:cNvSpPr txBox="1">
            <a:spLocks noChangeArrowheads="1"/>
          </p:cNvSpPr>
          <p:nvPr/>
        </p:nvSpPr>
        <p:spPr bwMode="auto">
          <a:xfrm>
            <a:off x="7315200" y="4419601"/>
            <a:ext cx="26670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(Right Successor of A)</a:t>
            </a:r>
          </a:p>
        </p:txBody>
      </p:sp>
      <p:sp>
        <p:nvSpPr>
          <p:cNvPr id="271375" name="Text Box 16"/>
          <p:cNvSpPr txBox="1">
            <a:spLocks noChangeArrowheads="1"/>
          </p:cNvSpPr>
          <p:nvPr/>
        </p:nvSpPr>
        <p:spPr bwMode="auto">
          <a:xfrm>
            <a:off x="1524000" y="4419601"/>
            <a:ext cx="24384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(Left Successor of A)  </a:t>
            </a:r>
          </a:p>
        </p:txBody>
      </p:sp>
    </p:spTree>
    <p:extLst>
      <p:ext uri="{BB962C8B-B14F-4D97-AF65-F5344CB8AC3E}">
        <p14:creationId xmlns:p14="http://schemas.microsoft.com/office/powerpoint/2010/main" val="268336643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3"/>
          <p:cNvSpPr>
            <a:spLocks noGrp="1" noChangeArrowheads="1"/>
          </p:cNvSpPr>
          <p:nvPr>
            <p:ph type="body" idx="1"/>
          </p:nvPr>
        </p:nvSpPr>
        <p:spPr>
          <a:xfrm>
            <a:off x="1524000" y="0"/>
            <a:ext cx="9144000" cy="6858000"/>
          </a:xfrm>
        </p:spPr>
        <p:txBody>
          <a:bodyPr/>
          <a:lstStyle/>
          <a:p>
            <a:pPr eaLnBrk="1" hangingPunct="1"/>
            <a:r>
              <a:rPr lang="en-US" dirty="0"/>
              <a:t>Binary trees are used to represent algebraic expressions involving only binary operations, such as</a:t>
            </a:r>
          </a:p>
          <a:p>
            <a:pPr eaLnBrk="1" hangingPunct="1"/>
            <a:r>
              <a:rPr lang="en-US" dirty="0"/>
              <a:t>   E= (a-b)/((c*d)+e)</a:t>
            </a:r>
          </a:p>
          <a:p>
            <a:pPr eaLnBrk="1" hangingPunct="1">
              <a:buFontTx/>
              <a:buNone/>
            </a:pPr>
            <a:endParaRPr lang="en-US" dirty="0"/>
          </a:p>
          <a:p>
            <a:pPr eaLnBrk="1" hangingPunct="1">
              <a:buFontTx/>
              <a:buNone/>
            </a:pPr>
            <a:r>
              <a:rPr lang="en-US" dirty="0"/>
              <a:t>                                              /</a:t>
            </a:r>
          </a:p>
          <a:p>
            <a:pPr eaLnBrk="1" hangingPunct="1">
              <a:buFontTx/>
              <a:buNone/>
            </a:pPr>
            <a:r>
              <a:rPr lang="en-US" dirty="0"/>
              <a:t>                    </a:t>
            </a:r>
          </a:p>
          <a:p>
            <a:pPr eaLnBrk="1" hangingPunct="1">
              <a:buFontTx/>
              <a:buNone/>
            </a:pPr>
            <a:r>
              <a:rPr lang="en-US" dirty="0"/>
              <a:t>                       -                                       +</a:t>
            </a:r>
          </a:p>
          <a:p>
            <a:pPr eaLnBrk="1" hangingPunct="1">
              <a:buFontTx/>
              <a:buNone/>
            </a:pPr>
            <a:endParaRPr lang="en-US" dirty="0"/>
          </a:p>
          <a:p>
            <a:pPr eaLnBrk="1" hangingPunct="1">
              <a:buFontTx/>
              <a:buNone/>
            </a:pPr>
            <a:r>
              <a:rPr lang="en-US" dirty="0"/>
              <a:t>       a                         b                *                      e</a:t>
            </a:r>
          </a:p>
          <a:p>
            <a:pPr eaLnBrk="1" hangingPunct="1">
              <a:buFontTx/>
              <a:buNone/>
            </a:pPr>
            <a:r>
              <a:rPr lang="en-US" dirty="0"/>
              <a:t>                                         </a:t>
            </a:r>
          </a:p>
          <a:p>
            <a:pPr eaLnBrk="1" hangingPunct="1">
              <a:buFontTx/>
              <a:buNone/>
            </a:pPr>
            <a:endParaRPr lang="en-US" dirty="0"/>
          </a:p>
          <a:p>
            <a:pPr eaLnBrk="1" hangingPunct="1">
              <a:buFontTx/>
              <a:buNone/>
            </a:pPr>
            <a:r>
              <a:rPr lang="en-US" dirty="0"/>
              <a:t>                                       c                   d</a:t>
            </a:r>
          </a:p>
        </p:txBody>
      </p:sp>
      <p:sp>
        <p:nvSpPr>
          <p:cNvPr id="272387" name="Line 4"/>
          <p:cNvSpPr>
            <a:spLocks noChangeShapeType="1"/>
          </p:cNvSpPr>
          <p:nvPr/>
        </p:nvSpPr>
        <p:spPr bwMode="auto">
          <a:xfrm flipH="1">
            <a:off x="3581400" y="2362200"/>
            <a:ext cx="1371600" cy="762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2388" name="Line 5"/>
          <p:cNvSpPr>
            <a:spLocks noChangeShapeType="1"/>
          </p:cNvSpPr>
          <p:nvPr/>
        </p:nvSpPr>
        <p:spPr bwMode="auto">
          <a:xfrm>
            <a:off x="5257800" y="2362200"/>
            <a:ext cx="11430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2389" name="Line 6"/>
          <p:cNvSpPr>
            <a:spLocks noChangeShapeType="1"/>
          </p:cNvSpPr>
          <p:nvPr/>
        </p:nvSpPr>
        <p:spPr bwMode="auto">
          <a:xfrm flipH="1">
            <a:off x="2286000" y="3276600"/>
            <a:ext cx="9906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2390" name="Line 7"/>
          <p:cNvSpPr>
            <a:spLocks noChangeShapeType="1"/>
          </p:cNvSpPr>
          <p:nvPr/>
        </p:nvSpPr>
        <p:spPr bwMode="auto">
          <a:xfrm>
            <a:off x="3429000" y="3276600"/>
            <a:ext cx="6858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2391" name="Line 8"/>
          <p:cNvSpPr>
            <a:spLocks noChangeShapeType="1"/>
          </p:cNvSpPr>
          <p:nvPr/>
        </p:nvSpPr>
        <p:spPr bwMode="auto">
          <a:xfrm flipH="1">
            <a:off x="5638800" y="3200400"/>
            <a:ext cx="762000" cy="762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2392" name="Line 9"/>
          <p:cNvSpPr>
            <a:spLocks noChangeShapeType="1"/>
          </p:cNvSpPr>
          <p:nvPr/>
        </p:nvSpPr>
        <p:spPr bwMode="auto">
          <a:xfrm>
            <a:off x="6553200" y="3200400"/>
            <a:ext cx="838200" cy="838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2393" name="Line 10"/>
          <p:cNvSpPr>
            <a:spLocks noChangeShapeType="1"/>
          </p:cNvSpPr>
          <p:nvPr/>
        </p:nvSpPr>
        <p:spPr bwMode="auto">
          <a:xfrm flipH="1">
            <a:off x="4724400" y="4038600"/>
            <a:ext cx="838200" cy="1143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2394" name="Line 11"/>
          <p:cNvSpPr>
            <a:spLocks noChangeShapeType="1"/>
          </p:cNvSpPr>
          <p:nvPr/>
        </p:nvSpPr>
        <p:spPr bwMode="auto">
          <a:xfrm>
            <a:off x="5638800" y="4038600"/>
            <a:ext cx="533400" cy="1219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71064765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3"/>
          <p:cNvSpPr>
            <a:spLocks noGrp="1" noChangeArrowheads="1"/>
          </p:cNvSpPr>
          <p:nvPr>
            <p:ph type="body" idx="1"/>
          </p:nvPr>
        </p:nvSpPr>
        <p:spPr>
          <a:xfrm>
            <a:off x="1524000" y="0"/>
            <a:ext cx="9144000" cy="6858000"/>
          </a:xfrm>
        </p:spPr>
        <p:txBody>
          <a:bodyPr/>
          <a:lstStyle/>
          <a:p>
            <a:pPr eaLnBrk="1" hangingPunct="1"/>
            <a:r>
              <a:rPr lang="en-US"/>
              <a:t>Before constructing a tree for an algebraic expression, we have to see the precedence of the operators involved in the expression.</a:t>
            </a:r>
          </a:p>
          <a:p>
            <a:pPr eaLnBrk="1" hangingPunct="1"/>
            <a:endParaRPr lang="en-US"/>
          </a:p>
          <a:p>
            <a:pPr eaLnBrk="1" hangingPunct="1">
              <a:buFontTx/>
              <a:buNone/>
            </a:pPr>
            <a:r>
              <a:rPr lang="en-US"/>
              <a:t>       </a:t>
            </a:r>
          </a:p>
        </p:txBody>
      </p:sp>
      <p:pic>
        <p:nvPicPr>
          <p:cNvPr id="273411" name="Picture 4" descr="SCAN002"/>
          <p:cNvPicPr>
            <a:picLocks noChangeAspect="1" noChangeArrowheads="1"/>
          </p:cNvPicPr>
          <p:nvPr/>
        </p:nvPicPr>
        <p:blipFill>
          <a:blip r:embed="rId2"/>
          <a:srcRect l="14166" t="21286" r="14999" b="25499"/>
          <a:stretch>
            <a:fillRect/>
          </a:stretch>
        </p:blipFill>
        <p:spPr bwMode="auto">
          <a:xfrm>
            <a:off x="2209800" y="1165225"/>
            <a:ext cx="7696200" cy="4527550"/>
          </a:xfrm>
          <a:prstGeom prst="rect">
            <a:avLst/>
          </a:prstGeom>
          <a:noFill/>
          <a:ln w="9525">
            <a:noFill/>
            <a:miter lim="800000"/>
            <a:headEnd/>
            <a:tailEnd/>
          </a:ln>
        </p:spPr>
      </p:pic>
    </p:spTree>
    <p:extLst>
      <p:ext uri="{BB962C8B-B14F-4D97-AF65-F5344CB8AC3E}">
        <p14:creationId xmlns:p14="http://schemas.microsoft.com/office/powerpoint/2010/main" val="417941801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u="sng"/>
              <a:t>Difference between binary tree and a general tree</a:t>
            </a:r>
          </a:p>
          <a:p>
            <a:pPr algn="ctr" eaLnBrk="1" hangingPunct="1">
              <a:buFontTx/>
              <a:buNone/>
            </a:pPr>
            <a:endParaRPr lang="en-US" b="1" u="sng"/>
          </a:p>
          <a:p>
            <a:pPr eaLnBrk="1" hangingPunct="1"/>
            <a:r>
              <a:rPr lang="en-US"/>
              <a:t>A binary tree can be empty whereas a general tree cannot be empty</a:t>
            </a:r>
          </a:p>
          <a:p>
            <a:pPr eaLnBrk="1" hangingPunct="1">
              <a:buFontTx/>
              <a:buNone/>
            </a:pPr>
            <a:endParaRPr lang="en-US"/>
          </a:p>
          <a:p>
            <a:pPr eaLnBrk="1" hangingPunct="1"/>
            <a:r>
              <a:rPr lang="en-US"/>
              <a:t>Each element in binary tree has at most two sub trees whereas each element in a general tree can have any number of sub trees</a:t>
            </a:r>
          </a:p>
          <a:p>
            <a:pPr eaLnBrk="1" hangingPunct="1">
              <a:buFontTx/>
              <a:buNone/>
            </a:pPr>
            <a:endParaRPr lang="en-US"/>
          </a:p>
          <a:p>
            <a:pPr eaLnBrk="1" hangingPunct="1"/>
            <a:r>
              <a:rPr lang="en-US"/>
              <a:t>The sub trees of each element in a binary tree are ordered. That is we can distinguish between left and right sub trees. The sub trees in a general  tree are unordered.</a:t>
            </a:r>
          </a:p>
        </p:txBody>
      </p:sp>
    </p:spTree>
    <p:extLst>
      <p:ext uri="{BB962C8B-B14F-4D97-AF65-F5344CB8AC3E}">
        <p14:creationId xmlns:p14="http://schemas.microsoft.com/office/powerpoint/2010/main" val="177627340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547A2-3924-1C4F-A7EF-2ADC7CE9BE58}"/>
              </a:ext>
            </a:extLst>
          </p:cNvPr>
          <p:cNvSpPr>
            <a:spLocks noGrp="1"/>
          </p:cNvSpPr>
          <p:nvPr>
            <p:ph type="title"/>
          </p:nvPr>
        </p:nvSpPr>
        <p:spPr/>
        <p:txBody>
          <a:bodyPr/>
          <a:lstStyle/>
          <a:p>
            <a:r>
              <a:rPr lang="en-US" dirty="0"/>
              <a:t>Procedure to convert General Tree into Binary Tree</a:t>
            </a:r>
          </a:p>
        </p:txBody>
      </p:sp>
      <p:sp>
        <p:nvSpPr>
          <p:cNvPr id="3" name="Content Placeholder 2">
            <a:extLst>
              <a:ext uri="{FF2B5EF4-FFF2-40B4-BE49-F238E27FC236}">
                <a16:creationId xmlns:a16="http://schemas.microsoft.com/office/drawing/2014/main" id="{CCF6A9DC-1B23-DA4D-96BF-C2D4BC2048BE}"/>
              </a:ext>
            </a:extLst>
          </p:cNvPr>
          <p:cNvSpPr>
            <a:spLocks noGrp="1"/>
          </p:cNvSpPr>
          <p:nvPr>
            <p:ph idx="1"/>
          </p:nvPr>
        </p:nvSpPr>
        <p:spPr/>
        <p:txBody>
          <a:bodyPr/>
          <a:lstStyle/>
          <a:p>
            <a:endParaRPr lang="en-US" dirty="0"/>
          </a:p>
          <a:p>
            <a:r>
              <a:rPr lang="en-US" dirty="0"/>
              <a:t>Rule 1: Root of Binary= Root of General Tree</a:t>
            </a:r>
          </a:p>
          <a:p>
            <a:endParaRPr lang="en-US" dirty="0"/>
          </a:p>
          <a:p>
            <a:r>
              <a:rPr lang="en-US" dirty="0"/>
              <a:t>Rule 2: Left Child of a node in binary tree= Left Child of node in General Tree</a:t>
            </a:r>
          </a:p>
          <a:p>
            <a:pPr marL="0" indent="0">
              <a:buNone/>
            </a:pPr>
            <a:endParaRPr lang="en-US" dirty="0"/>
          </a:p>
          <a:p>
            <a:r>
              <a:rPr lang="en-US" dirty="0"/>
              <a:t>Rule 3: Right Child of binary tree= Right sibling of node in General Tree</a:t>
            </a:r>
          </a:p>
          <a:p>
            <a:endParaRPr lang="en-US" dirty="0"/>
          </a:p>
        </p:txBody>
      </p:sp>
    </p:spTree>
    <p:extLst>
      <p:ext uri="{BB962C8B-B14F-4D97-AF65-F5344CB8AC3E}">
        <p14:creationId xmlns:p14="http://schemas.microsoft.com/office/powerpoint/2010/main" val="105184993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EE7D-4DE9-7542-B1BB-2C92B383B8CE}"/>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888DA51-05CD-C149-94A8-74CCC4C56769}"/>
              </a:ext>
            </a:extLst>
          </p:cNvPr>
          <p:cNvSpPr>
            <a:spLocks noGrp="1"/>
          </p:cNvSpPr>
          <p:nvPr>
            <p:ph idx="1"/>
          </p:nvPr>
        </p:nvSpPr>
        <p:spPr/>
        <p:txBody>
          <a:bodyPr/>
          <a:lstStyle/>
          <a:p>
            <a:r>
              <a:rPr lang="en-US" dirty="0"/>
              <a:t>Convert given general tree into binary tree</a:t>
            </a:r>
          </a:p>
          <a:p>
            <a:pPr marL="0" indent="0">
              <a:buNone/>
            </a:pPr>
            <a:r>
              <a:rPr lang="en-US" dirty="0"/>
              <a:t>                        </a:t>
            </a:r>
          </a:p>
        </p:txBody>
      </p:sp>
      <p:sp>
        <p:nvSpPr>
          <p:cNvPr id="4" name="Oval 3">
            <a:extLst>
              <a:ext uri="{FF2B5EF4-FFF2-40B4-BE49-F238E27FC236}">
                <a16:creationId xmlns:a16="http://schemas.microsoft.com/office/drawing/2014/main" id="{78DFE53B-67EF-254A-95F0-C1F1A8DC1AEE}"/>
              </a:ext>
            </a:extLst>
          </p:cNvPr>
          <p:cNvSpPr/>
          <p:nvPr/>
        </p:nvSpPr>
        <p:spPr>
          <a:xfrm>
            <a:off x="2517169" y="2291137"/>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A</a:t>
            </a:r>
          </a:p>
        </p:txBody>
      </p:sp>
      <p:sp>
        <p:nvSpPr>
          <p:cNvPr id="5" name="Oval 4">
            <a:extLst>
              <a:ext uri="{FF2B5EF4-FFF2-40B4-BE49-F238E27FC236}">
                <a16:creationId xmlns:a16="http://schemas.microsoft.com/office/drawing/2014/main" id="{5BDADE64-2186-3048-AB3A-D8833F471FCA}"/>
              </a:ext>
            </a:extLst>
          </p:cNvPr>
          <p:cNvSpPr/>
          <p:nvPr/>
        </p:nvSpPr>
        <p:spPr>
          <a:xfrm>
            <a:off x="1276564" y="3308376"/>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B</a:t>
            </a:r>
          </a:p>
        </p:txBody>
      </p:sp>
      <p:sp>
        <p:nvSpPr>
          <p:cNvPr id="6" name="Oval 5">
            <a:extLst>
              <a:ext uri="{FF2B5EF4-FFF2-40B4-BE49-F238E27FC236}">
                <a16:creationId xmlns:a16="http://schemas.microsoft.com/office/drawing/2014/main" id="{27A21E14-6D2B-FA44-88C2-E6FA88FE8C46}"/>
              </a:ext>
            </a:extLst>
          </p:cNvPr>
          <p:cNvSpPr/>
          <p:nvPr/>
        </p:nvSpPr>
        <p:spPr>
          <a:xfrm>
            <a:off x="2719227" y="3308377"/>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C</a:t>
            </a:r>
          </a:p>
        </p:txBody>
      </p:sp>
      <p:sp>
        <p:nvSpPr>
          <p:cNvPr id="7" name="Oval 6">
            <a:extLst>
              <a:ext uri="{FF2B5EF4-FFF2-40B4-BE49-F238E27FC236}">
                <a16:creationId xmlns:a16="http://schemas.microsoft.com/office/drawing/2014/main" id="{5B04C5AD-F4C4-0F4B-B108-224A12E15347}"/>
              </a:ext>
            </a:extLst>
          </p:cNvPr>
          <p:cNvSpPr/>
          <p:nvPr/>
        </p:nvSpPr>
        <p:spPr>
          <a:xfrm>
            <a:off x="4828854" y="3308473"/>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D</a:t>
            </a:r>
          </a:p>
        </p:txBody>
      </p:sp>
      <p:sp>
        <p:nvSpPr>
          <p:cNvPr id="8" name="Oval 7">
            <a:extLst>
              <a:ext uri="{FF2B5EF4-FFF2-40B4-BE49-F238E27FC236}">
                <a16:creationId xmlns:a16="http://schemas.microsoft.com/office/drawing/2014/main" id="{8A9438F1-10BF-8C47-9E7F-A0F3DA275D69}"/>
              </a:ext>
            </a:extLst>
          </p:cNvPr>
          <p:cNvSpPr/>
          <p:nvPr/>
        </p:nvSpPr>
        <p:spPr>
          <a:xfrm>
            <a:off x="833064" y="4436819"/>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E</a:t>
            </a:r>
          </a:p>
        </p:txBody>
      </p:sp>
      <p:sp>
        <p:nvSpPr>
          <p:cNvPr id="9" name="Oval 8">
            <a:extLst>
              <a:ext uri="{FF2B5EF4-FFF2-40B4-BE49-F238E27FC236}">
                <a16:creationId xmlns:a16="http://schemas.microsoft.com/office/drawing/2014/main" id="{AA0F300B-22D0-7F42-8E7C-4E4B9B6F867C}"/>
              </a:ext>
            </a:extLst>
          </p:cNvPr>
          <p:cNvSpPr/>
          <p:nvPr/>
        </p:nvSpPr>
        <p:spPr>
          <a:xfrm>
            <a:off x="2732926" y="4476299"/>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G</a:t>
            </a:r>
          </a:p>
        </p:txBody>
      </p:sp>
      <p:sp>
        <p:nvSpPr>
          <p:cNvPr id="10" name="Oval 9">
            <a:extLst>
              <a:ext uri="{FF2B5EF4-FFF2-40B4-BE49-F238E27FC236}">
                <a16:creationId xmlns:a16="http://schemas.microsoft.com/office/drawing/2014/main" id="{34C41CEA-B00C-9B4B-8DEB-278E5702D530}"/>
              </a:ext>
            </a:extLst>
          </p:cNvPr>
          <p:cNvSpPr/>
          <p:nvPr/>
        </p:nvSpPr>
        <p:spPr>
          <a:xfrm>
            <a:off x="1893013" y="4476299"/>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F</a:t>
            </a:r>
          </a:p>
        </p:txBody>
      </p:sp>
      <p:sp>
        <p:nvSpPr>
          <p:cNvPr id="11" name="Oval 10">
            <a:extLst>
              <a:ext uri="{FF2B5EF4-FFF2-40B4-BE49-F238E27FC236}">
                <a16:creationId xmlns:a16="http://schemas.microsoft.com/office/drawing/2014/main" id="{AFD810BC-1175-9C4F-A85C-8209B0D72FF5}"/>
              </a:ext>
            </a:extLst>
          </p:cNvPr>
          <p:cNvSpPr/>
          <p:nvPr/>
        </p:nvSpPr>
        <p:spPr>
          <a:xfrm>
            <a:off x="3600236" y="4476299"/>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H</a:t>
            </a:r>
          </a:p>
        </p:txBody>
      </p:sp>
      <p:sp>
        <p:nvSpPr>
          <p:cNvPr id="12" name="Oval 11">
            <a:extLst>
              <a:ext uri="{FF2B5EF4-FFF2-40B4-BE49-F238E27FC236}">
                <a16:creationId xmlns:a16="http://schemas.microsoft.com/office/drawing/2014/main" id="{D4395C65-B9D1-8A49-9EE3-1B69D6A7AAFE}"/>
              </a:ext>
            </a:extLst>
          </p:cNvPr>
          <p:cNvSpPr/>
          <p:nvPr/>
        </p:nvSpPr>
        <p:spPr>
          <a:xfrm>
            <a:off x="4520629" y="4476298"/>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I</a:t>
            </a:r>
          </a:p>
        </p:txBody>
      </p:sp>
      <p:sp>
        <p:nvSpPr>
          <p:cNvPr id="13" name="Oval 12">
            <a:extLst>
              <a:ext uri="{FF2B5EF4-FFF2-40B4-BE49-F238E27FC236}">
                <a16:creationId xmlns:a16="http://schemas.microsoft.com/office/drawing/2014/main" id="{0D840975-5E30-D946-AEE6-BB20C4A7EA8D}"/>
              </a:ext>
            </a:extLst>
          </p:cNvPr>
          <p:cNvSpPr/>
          <p:nvPr/>
        </p:nvSpPr>
        <p:spPr>
          <a:xfrm>
            <a:off x="5804042" y="4476297"/>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J</a:t>
            </a:r>
          </a:p>
        </p:txBody>
      </p:sp>
      <p:sp>
        <p:nvSpPr>
          <p:cNvPr id="14" name="Oval 13">
            <a:extLst>
              <a:ext uri="{FF2B5EF4-FFF2-40B4-BE49-F238E27FC236}">
                <a16:creationId xmlns:a16="http://schemas.microsoft.com/office/drawing/2014/main" id="{85B8C7A2-8FC7-F34C-AA17-7CC976E736B6}"/>
              </a:ext>
            </a:extLst>
          </p:cNvPr>
          <p:cNvSpPr/>
          <p:nvPr/>
        </p:nvSpPr>
        <p:spPr>
          <a:xfrm>
            <a:off x="5404206" y="5491726"/>
            <a:ext cx="616449" cy="554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K</a:t>
            </a:r>
          </a:p>
        </p:txBody>
      </p:sp>
      <p:cxnSp>
        <p:nvCxnSpPr>
          <p:cNvPr id="16" name="Straight Connector 15">
            <a:extLst>
              <a:ext uri="{FF2B5EF4-FFF2-40B4-BE49-F238E27FC236}">
                <a16:creationId xmlns:a16="http://schemas.microsoft.com/office/drawing/2014/main" id="{5F3EB757-3C42-4042-9C32-50F3F4560EA8}"/>
              </a:ext>
            </a:extLst>
          </p:cNvPr>
          <p:cNvCxnSpPr>
            <a:cxnSpLocks/>
            <a:stCxn id="4" idx="3"/>
            <a:endCxn id="5" idx="7"/>
          </p:cNvCxnSpPr>
          <p:nvPr/>
        </p:nvCxnSpPr>
        <p:spPr>
          <a:xfrm flipH="1">
            <a:off x="1802736" y="2764693"/>
            <a:ext cx="804710" cy="624932"/>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2F07A0E8-02D3-844B-8642-20F9A9EEE60E}"/>
              </a:ext>
            </a:extLst>
          </p:cNvPr>
          <p:cNvCxnSpPr>
            <a:cxnSpLocks/>
            <a:stCxn id="7" idx="1"/>
            <a:endCxn id="4" idx="6"/>
          </p:cNvCxnSpPr>
          <p:nvPr/>
        </p:nvCxnSpPr>
        <p:spPr>
          <a:xfrm flipH="1" flipV="1">
            <a:off x="3133618" y="2568540"/>
            <a:ext cx="1785513" cy="821182"/>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E7ACD0A-8DFE-4F4F-9E4E-F5564D0E3B34}"/>
              </a:ext>
            </a:extLst>
          </p:cNvPr>
          <p:cNvCxnSpPr>
            <a:cxnSpLocks/>
            <a:endCxn id="6" idx="0"/>
          </p:cNvCxnSpPr>
          <p:nvPr/>
        </p:nvCxnSpPr>
        <p:spPr>
          <a:xfrm>
            <a:off x="2947837" y="2844230"/>
            <a:ext cx="79615" cy="464147"/>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65AAC3B-6C45-B64C-A548-046DB4A37F8E}"/>
              </a:ext>
            </a:extLst>
          </p:cNvPr>
          <p:cNvCxnSpPr>
            <a:cxnSpLocks/>
            <a:stCxn id="5" idx="4"/>
          </p:cNvCxnSpPr>
          <p:nvPr/>
        </p:nvCxnSpPr>
        <p:spPr>
          <a:xfrm flipH="1">
            <a:off x="1060953" y="3863181"/>
            <a:ext cx="523836" cy="59509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12A54B63-D09E-6740-98CB-3510452FBCCC}"/>
              </a:ext>
            </a:extLst>
          </p:cNvPr>
          <p:cNvCxnSpPr>
            <a:cxnSpLocks/>
            <a:stCxn id="6" idx="4"/>
            <a:endCxn id="9" idx="0"/>
          </p:cNvCxnSpPr>
          <p:nvPr/>
        </p:nvCxnSpPr>
        <p:spPr>
          <a:xfrm>
            <a:off x="3027452" y="3863182"/>
            <a:ext cx="13699" cy="613117"/>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006BD893-EDDC-7A45-8BCE-4D6D3B56CD52}"/>
              </a:ext>
            </a:extLst>
          </p:cNvPr>
          <p:cNvCxnSpPr>
            <a:cxnSpLocks/>
            <a:endCxn id="11" idx="0"/>
          </p:cNvCxnSpPr>
          <p:nvPr/>
        </p:nvCxnSpPr>
        <p:spPr>
          <a:xfrm>
            <a:off x="3286635" y="3720196"/>
            <a:ext cx="621826" cy="756103"/>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9310C066-81A3-0047-A01B-632BBC1F4D6A}"/>
              </a:ext>
            </a:extLst>
          </p:cNvPr>
          <p:cNvCxnSpPr>
            <a:cxnSpLocks/>
            <a:stCxn id="6" idx="3"/>
          </p:cNvCxnSpPr>
          <p:nvPr/>
        </p:nvCxnSpPr>
        <p:spPr>
          <a:xfrm flipH="1">
            <a:off x="2149372" y="3781933"/>
            <a:ext cx="660132" cy="705503"/>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4BEED0E4-250B-FA44-AF45-388580EF8752}"/>
              </a:ext>
            </a:extLst>
          </p:cNvPr>
          <p:cNvCxnSpPr>
            <a:cxnSpLocks/>
            <a:endCxn id="12" idx="0"/>
          </p:cNvCxnSpPr>
          <p:nvPr/>
        </p:nvCxnSpPr>
        <p:spPr>
          <a:xfrm flipH="1">
            <a:off x="4828854" y="3863181"/>
            <a:ext cx="301256" cy="613117"/>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2B8229E9-9533-B246-BF94-A71484DA64E3}"/>
              </a:ext>
            </a:extLst>
          </p:cNvPr>
          <p:cNvCxnSpPr>
            <a:cxnSpLocks/>
            <a:endCxn id="13" idx="0"/>
          </p:cNvCxnSpPr>
          <p:nvPr/>
        </p:nvCxnSpPr>
        <p:spPr>
          <a:xfrm>
            <a:off x="5320399" y="3759911"/>
            <a:ext cx="791868" cy="716386"/>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96AD7DD7-458D-9541-9A5A-E6F6BF5F9070}"/>
              </a:ext>
            </a:extLst>
          </p:cNvPr>
          <p:cNvCxnSpPr>
            <a:cxnSpLocks/>
            <a:stCxn id="13" idx="4"/>
            <a:endCxn id="14" idx="0"/>
          </p:cNvCxnSpPr>
          <p:nvPr/>
        </p:nvCxnSpPr>
        <p:spPr>
          <a:xfrm flipH="1">
            <a:off x="5712431" y="5031102"/>
            <a:ext cx="399836" cy="46062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8473015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9649A-EC33-434C-BF91-5268E96585C4}"/>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EAF2A313-E804-5E43-834F-B91F7D12EDB7}"/>
              </a:ext>
            </a:extLst>
          </p:cNvPr>
          <p:cNvSpPr>
            <a:spLocks noGrp="1"/>
          </p:cNvSpPr>
          <p:nvPr>
            <p:ph idx="1"/>
          </p:nvPr>
        </p:nvSpPr>
        <p:spPr/>
        <p:txBody>
          <a:bodyPr/>
          <a:lstStyle/>
          <a:p>
            <a:pPr marL="0" indent="0">
              <a:buNone/>
            </a:pPr>
            <a:endParaRPr lang="en-US" dirty="0"/>
          </a:p>
        </p:txBody>
      </p:sp>
      <p:sp>
        <p:nvSpPr>
          <p:cNvPr id="4" name="Oval 3">
            <a:extLst>
              <a:ext uri="{FF2B5EF4-FFF2-40B4-BE49-F238E27FC236}">
                <a16:creationId xmlns:a16="http://schemas.microsoft.com/office/drawing/2014/main" id="{A06D03F3-581A-7142-8A35-86B8282F2F7D}"/>
              </a:ext>
            </a:extLst>
          </p:cNvPr>
          <p:cNvSpPr/>
          <p:nvPr/>
        </p:nvSpPr>
        <p:spPr>
          <a:xfrm>
            <a:off x="4133589" y="1878904"/>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A</a:t>
            </a:r>
          </a:p>
        </p:txBody>
      </p:sp>
      <p:sp>
        <p:nvSpPr>
          <p:cNvPr id="6" name="Oval 5">
            <a:extLst>
              <a:ext uri="{FF2B5EF4-FFF2-40B4-BE49-F238E27FC236}">
                <a16:creationId xmlns:a16="http://schemas.microsoft.com/office/drawing/2014/main" id="{FC186C29-64FC-3545-9686-BAB9022F2927}"/>
              </a:ext>
            </a:extLst>
          </p:cNvPr>
          <p:cNvSpPr/>
          <p:nvPr/>
        </p:nvSpPr>
        <p:spPr>
          <a:xfrm>
            <a:off x="3455096" y="2492679"/>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B</a:t>
            </a:r>
          </a:p>
        </p:txBody>
      </p:sp>
      <p:sp>
        <p:nvSpPr>
          <p:cNvPr id="7" name="Oval 6">
            <a:extLst>
              <a:ext uri="{FF2B5EF4-FFF2-40B4-BE49-F238E27FC236}">
                <a16:creationId xmlns:a16="http://schemas.microsoft.com/office/drawing/2014/main" id="{43E7B076-B949-174C-A21D-DC462D6AE419}"/>
              </a:ext>
            </a:extLst>
          </p:cNvPr>
          <p:cNvSpPr/>
          <p:nvPr/>
        </p:nvSpPr>
        <p:spPr>
          <a:xfrm>
            <a:off x="2876809" y="3261933"/>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E</a:t>
            </a:r>
          </a:p>
        </p:txBody>
      </p:sp>
      <p:sp>
        <p:nvSpPr>
          <p:cNvPr id="9" name="Oval 8">
            <a:extLst>
              <a:ext uri="{FF2B5EF4-FFF2-40B4-BE49-F238E27FC236}">
                <a16:creationId xmlns:a16="http://schemas.microsoft.com/office/drawing/2014/main" id="{12365373-235D-A044-894E-B725AD6DE2E2}"/>
              </a:ext>
            </a:extLst>
          </p:cNvPr>
          <p:cNvSpPr/>
          <p:nvPr/>
        </p:nvSpPr>
        <p:spPr>
          <a:xfrm>
            <a:off x="4816258" y="2808026"/>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C</a:t>
            </a:r>
          </a:p>
        </p:txBody>
      </p:sp>
      <p:sp>
        <p:nvSpPr>
          <p:cNvPr id="10" name="Oval 9">
            <a:extLst>
              <a:ext uri="{FF2B5EF4-FFF2-40B4-BE49-F238E27FC236}">
                <a16:creationId xmlns:a16="http://schemas.microsoft.com/office/drawing/2014/main" id="{2A1DFEB4-16FA-E541-BC5B-0AAE5A9314F8}"/>
              </a:ext>
            </a:extLst>
          </p:cNvPr>
          <p:cNvSpPr/>
          <p:nvPr/>
        </p:nvSpPr>
        <p:spPr>
          <a:xfrm>
            <a:off x="4373671" y="4467616"/>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G</a:t>
            </a:r>
          </a:p>
        </p:txBody>
      </p:sp>
      <p:sp>
        <p:nvSpPr>
          <p:cNvPr id="11" name="Oval 10">
            <a:extLst>
              <a:ext uri="{FF2B5EF4-FFF2-40B4-BE49-F238E27FC236}">
                <a16:creationId xmlns:a16="http://schemas.microsoft.com/office/drawing/2014/main" id="{6D774E41-C8A2-2C44-A15B-1044A8D52C20}"/>
              </a:ext>
            </a:extLst>
          </p:cNvPr>
          <p:cNvSpPr/>
          <p:nvPr/>
        </p:nvSpPr>
        <p:spPr>
          <a:xfrm>
            <a:off x="4816258" y="5346525"/>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H</a:t>
            </a:r>
          </a:p>
        </p:txBody>
      </p:sp>
      <p:sp>
        <p:nvSpPr>
          <p:cNvPr id="12" name="Oval 11">
            <a:extLst>
              <a:ext uri="{FF2B5EF4-FFF2-40B4-BE49-F238E27FC236}">
                <a16:creationId xmlns:a16="http://schemas.microsoft.com/office/drawing/2014/main" id="{45583027-C820-4D43-9C48-2BA4770B84BB}"/>
              </a:ext>
            </a:extLst>
          </p:cNvPr>
          <p:cNvSpPr/>
          <p:nvPr/>
        </p:nvSpPr>
        <p:spPr>
          <a:xfrm>
            <a:off x="3962399" y="3711302"/>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F</a:t>
            </a:r>
          </a:p>
        </p:txBody>
      </p:sp>
      <p:sp>
        <p:nvSpPr>
          <p:cNvPr id="13" name="Oval 12">
            <a:extLst>
              <a:ext uri="{FF2B5EF4-FFF2-40B4-BE49-F238E27FC236}">
                <a16:creationId xmlns:a16="http://schemas.microsoft.com/office/drawing/2014/main" id="{DE1BD9FC-A4BF-0D47-B1B0-E12703F02E7A}"/>
              </a:ext>
            </a:extLst>
          </p:cNvPr>
          <p:cNvSpPr/>
          <p:nvPr/>
        </p:nvSpPr>
        <p:spPr>
          <a:xfrm>
            <a:off x="6818331" y="3334983"/>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D</a:t>
            </a:r>
          </a:p>
        </p:txBody>
      </p:sp>
      <p:sp>
        <p:nvSpPr>
          <p:cNvPr id="14" name="Oval 13">
            <a:extLst>
              <a:ext uri="{FF2B5EF4-FFF2-40B4-BE49-F238E27FC236}">
                <a16:creationId xmlns:a16="http://schemas.microsoft.com/office/drawing/2014/main" id="{A5BAE777-B6F6-B740-9E27-D35F2C916E48}"/>
              </a:ext>
            </a:extLst>
          </p:cNvPr>
          <p:cNvSpPr/>
          <p:nvPr/>
        </p:nvSpPr>
        <p:spPr>
          <a:xfrm>
            <a:off x="6246112" y="4013777"/>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I</a:t>
            </a:r>
          </a:p>
        </p:txBody>
      </p:sp>
      <p:sp>
        <p:nvSpPr>
          <p:cNvPr id="15" name="Oval 14">
            <a:extLst>
              <a:ext uri="{FF2B5EF4-FFF2-40B4-BE49-F238E27FC236}">
                <a16:creationId xmlns:a16="http://schemas.microsoft.com/office/drawing/2014/main" id="{9DED8EB2-C800-0D4F-A984-494025A4D032}"/>
              </a:ext>
            </a:extLst>
          </p:cNvPr>
          <p:cNvSpPr/>
          <p:nvPr/>
        </p:nvSpPr>
        <p:spPr>
          <a:xfrm>
            <a:off x="6945994" y="4566884"/>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J</a:t>
            </a:r>
          </a:p>
        </p:txBody>
      </p:sp>
      <p:sp>
        <p:nvSpPr>
          <p:cNvPr id="16" name="Oval 15">
            <a:extLst>
              <a:ext uri="{FF2B5EF4-FFF2-40B4-BE49-F238E27FC236}">
                <a16:creationId xmlns:a16="http://schemas.microsoft.com/office/drawing/2014/main" id="{9F294CD7-2C70-D546-A10B-E7001522C212}"/>
              </a:ext>
            </a:extLst>
          </p:cNvPr>
          <p:cNvSpPr/>
          <p:nvPr/>
        </p:nvSpPr>
        <p:spPr>
          <a:xfrm>
            <a:off x="6350696" y="5346524"/>
            <a:ext cx="588723" cy="601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K</a:t>
            </a:r>
          </a:p>
        </p:txBody>
      </p:sp>
      <p:cxnSp>
        <p:nvCxnSpPr>
          <p:cNvPr id="18" name="Straight Connector 17">
            <a:extLst>
              <a:ext uri="{FF2B5EF4-FFF2-40B4-BE49-F238E27FC236}">
                <a16:creationId xmlns:a16="http://schemas.microsoft.com/office/drawing/2014/main" id="{0D9BF0CD-DF9E-6B4E-9A35-6E6323F0D09F}"/>
              </a:ext>
            </a:extLst>
          </p:cNvPr>
          <p:cNvCxnSpPr>
            <a:stCxn id="4" idx="3"/>
            <a:endCxn id="6" idx="7"/>
          </p:cNvCxnSpPr>
          <p:nvPr/>
        </p:nvCxnSpPr>
        <p:spPr>
          <a:xfrm flipH="1">
            <a:off x="3957603" y="2392102"/>
            <a:ext cx="262202" cy="188628"/>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A5421510-F35E-B641-B714-BA656A62BE18}"/>
              </a:ext>
            </a:extLst>
          </p:cNvPr>
          <p:cNvCxnSpPr>
            <a:cxnSpLocks/>
          </p:cNvCxnSpPr>
          <p:nvPr/>
        </p:nvCxnSpPr>
        <p:spPr>
          <a:xfrm flipH="1">
            <a:off x="3302696" y="3001702"/>
            <a:ext cx="247587" cy="260231"/>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BFFE7C25-B72F-D348-AA13-A687B1D7A4BD}"/>
              </a:ext>
            </a:extLst>
          </p:cNvPr>
          <p:cNvCxnSpPr>
            <a:cxnSpLocks/>
            <a:stCxn id="9" idx="2"/>
          </p:cNvCxnSpPr>
          <p:nvPr/>
        </p:nvCxnSpPr>
        <p:spPr>
          <a:xfrm flipH="1" flipV="1">
            <a:off x="3973174" y="2951125"/>
            <a:ext cx="843084" cy="157526"/>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1E3691C9-C5A1-6748-9BCB-58CB94B2568C}"/>
              </a:ext>
            </a:extLst>
          </p:cNvPr>
          <p:cNvCxnSpPr>
            <a:cxnSpLocks/>
          </p:cNvCxnSpPr>
          <p:nvPr/>
        </p:nvCxnSpPr>
        <p:spPr>
          <a:xfrm flipH="1" flipV="1">
            <a:off x="5372537" y="3099184"/>
            <a:ext cx="1483292" cy="323590"/>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0474B046-8619-544C-81D8-5E92AD9FCF73}"/>
              </a:ext>
            </a:extLst>
          </p:cNvPr>
          <p:cNvCxnSpPr>
            <a:cxnSpLocks/>
            <a:stCxn id="9" idx="3"/>
          </p:cNvCxnSpPr>
          <p:nvPr/>
        </p:nvCxnSpPr>
        <p:spPr>
          <a:xfrm flipH="1">
            <a:off x="4350506" y="3321224"/>
            <a:ext cx="551968" cy="390078"/>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0209EEC7-7B67-2645-ABCF-B1979DB96933}"/>
              </a:ext>
            </a:extLst>
          </p:cNvPr>
          <p:cNvCxnSpPr>
            <a:cxnSpLocks/>
            <a:stCxn id="10" idx="1"/>
          </p:cNvCxnSpPr>
          <p:nvPr/>
        </p:nvCxnSpPr>
        <p:spPr>
          <a:xfrm flipH="1" flipV="1">
            <a:off x="4405831" y="4263839"/>
            <a:ext cx="54056" cy="291828"/>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AC3B61B5-A443-B64F-B6DF-BF9DE869FE93}"/>
              </a:ext>
            </a:extLst>
          </p:cNvPr>
          <p:cNvCxnSpPr>
            <a:cxnSpLocks/>
            <a:stCxn id="11" idx="0"/>
          </p:cNvCxnSpPr>
          <p:nvPr/>
        </p:nvCxnSpPr>
        <p:spPr>
          <a:xfrm flipH="1" flipV="1">
            <a:off x="4850704" y="5019131"/>
            <a:ext cx="259916" cy="327394"/>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1A1B2FF2-D9FB-394F-A9F9-23C74745A533}"/>
              </a:ext>
            </a:extLst>
          </p:cNvPr>
          <p:cNvCxnSpPr>
            <a:cxnSpLocks/>
            <a:stCxn id="13" idx="3"/>
          </p:cNvCxnSpPr>
          <p:nvPr/>
        </p:nvCxnSpPr>
        <p:spPr>
          <a:xfrm flipH="1">
            <a:off x="6754352" y="3848181"/>
            <a:ext cx="150195" cy="165596"/>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47B5E632-CB73-CA40-AE2D-6F89DBE4B018}"/>
              </a:ext>
            </a:extLst>
          </p:cNvPr>
          <p:cNvCxnSpPr>
            <a:cxnSpLocks/>
            <a:stCxn id="15" idx="1"/>
          </p:cNvCxnSpPr>
          <p:nvPr/>
        </p:nvCxnSpPr>
        <p:spPr>
          <a:xfrm flipH="1" flipV="1">
            <a:off x="6754352" y="4467415"/>
            <a:ext cx="277858" cy="18752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14127A45-2B78-1141-A74E-C422F42767ED}"/>
              </a:ext>
            </a:extLst>
          </p:cNvPr>
          <p:cNvCxnSpPr>
            <a:cxnSpLocks/>
            <a:endCxn id="16" idx="7"/>
          </p:cNvCxnSpPr>
          <p:nvPr/>
        </p:nvCxnSpPr>
        <p:spPr>
          <a:xfrm flipH="1">
            <a:off x="6853203" y="5062800"/>
            <a:ext cx="213140" cy="37177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4807510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sz="2000" b="1" u="sng" dirty="0"/>
              <a:t>Properties of Binary Trees</a:t>
            </a:r>
          </a:p>
          <a:p>
            <a:pPr eaLnBrk="1" hangingPunct="1"/>
            <a:r>
              <a:rPr lang="en-US" sz="2000" dirty="0"/>
              <a:t>Each node of a binary tree T can have at most two children. Thus at level r of t, there can be </a:t>
            </a:r>
            <a:r>
              <a:rPr lang="en-US" sz="2000" dirty="0" err="1"/>
              <a:t>atmost</a:t>
            </a:r>
            <a:r>
              <a:rPr lang="en-US" sz="2000" dirty="0"/>
              <a:t> 2</a:t>
            </a:r>
            <a:r>
              <a:rPr lang="en-US" sz="2000" baseline="30000" dirty="0"/>
              <a:t>r</a:t>
            </a:r>
            <a:r>
              <a:rPr lang="en-US" sz="2000" dirty="0"/>
              <a:t> nodes. (Counting level from 0)</a:t>
            </a:r>
          </a:p>
          <a:p>
            <a:pPr eaLnBrk="1" hangingPunct="1"/>
            <a:r>
              <a:rPr lang="en-US" sz="2000" dirty="0"/>
              <a:t>The number of maximum nodes in a tree for given number of levels in a tree is: </a:t>
            </a:r>
          </a:p>
          <a:p>
            <a:pPr eaLnBrk="1" hangingPunct="1">
              <a:buFontTx/>
              <a:buNone/>
            </a:pPr>
            <a:r>
              <a:rPr lang="en-US" sz="2000" dirty="0"/>
              <a:t>                                   2</a:t>
            </a:r>
            <a:r>
              <a:rPr lang="en-US" sz="2000" baseline="30000" dirty="0"/>
              <a:t>n</a:t>
            </a:r>
            <a:r>
              <a:rPr lang="en-US" sz="2000" dirty="0"/>
              <a:t>-1</a:t>
            </a:r>
          </a:p>
          <a:p>
            <a:pPr eaLnBrk="1" hangingPunct="1"/>
            <a:r>
              <a:rPr lang="en-US" sz="2000" dirty="0"/>
              <a:t>Depth of a tree T with n nodes is given by</a:t>
            </a:r>
          </a:p>
          <a:p>
            <a:pPr algn="ctr" eaLnBrk="1" hangingPunct="1">
              <a:buFontTx/>
              <a:buNone/>
            </a:pPr>
            <a:r>
              <a:rPr lang="en-US" sz="2000" dirty="0"/>
              <a:t>           </a:t>
            </a:r>
            <a:r>
              <a:rPr lang="en-US" sz="2000" dirty="0" err="1"/>
              <a:t>D</a:t>
            </a:r>
            <a:r>
              <a:rPr lang="en-US" sz="2000" baseline="-25000" dirty="0" err="1"/>
              <a:t>n</a:t>
            </a:r>
            <a:r>
              <a:rPr lang="en-US" sz="2000" dirty="0"/>
              <a:t>= log</a:t>
            </a:r>
            <a:r>
              <a:rPr lang="en-US" sz="2000" baseline="-25000" dirty="0"/>
              <a:t>2</a:t>
            </a:r>
            <a:r>
              <a:rPr lang="en-US" sz="2000" dirty="0"/>
              <a:t>n + 1</a:t>
            </a:r>
          </a:p>
          <a:p>
            <a:pPr algn="ctr" eaLnBrk="1" hangingPunct="1">
              <a:buFontTx/>
              <a:buNone/>
            </a:pPr>
            <a:r>
              <a:rPr lang="en-US" sz="2000" dirty="0"/>
              <a:t>     </a:t>
            </a:r>
            <a:r>
              <a:rPr lang="en-US" sz="2000" dirty="0" err="1"/>
              <a:t>D</a:t>
            </a:r>
            <a:r>
              <a:rPr lang="en-US" sz="2000" baseline="-25000" dirty="0" err="1"/>
              <a:t>n</a:t>
            </a:r>
            <a:r>
              <a:rPr lang="en-US" sz="2000" dirty="0"/>
              <a:t> </a:t>
            </a:r>
            <a:r>
              <a:rPr lang="en-US" sz="2000" dirty="0">
                <a:cs typeface="Times New Roman" pitchFamily="18" charset="0"/>
              </a:rPr>
              <a:t>≈ log</a:t>
            </a:r>
            <a:r>
              <a:rPr lang="en-US" sz="2000" baseline="-25000" dirty="0">
                <a:cs typeface="Times New Roman" pitchFamily="18" charset="0"/>
              </a:rPr>
              <a:t>2</a:t>
            </a:r>
            <a:r>
              <a:rPr lang="en-US" sz="2000" dirty="0">
                <a:cs typeface="Times New Roman" pitchFamily="18" charset="0"/>
              </a:rPr>
              <a:t>n</a:t>
            </a:r>
          </a:p>
          <a:p>
            <a:pPr eaLnBrk="1" hangingPunct="1"/>
            <a:r>
              <a:rPr lang="en-US" sz="2000" b="1" dirty="0"/>
              <a:t>Complete Binary tree-</a:t>
            </a:r>
            <a:r>
              <a:rPr lang="en-US" sz="2000" dirty="0"/>
              <a:t> A binary tree T is said to be complete if all its levels, except possibly the last, have maximum number of possible nodes, and if all the nodes at last level appear as far left as possible. Thus there is a unique complete tree T with exactly n nodes.</a:t>
            </a:r>
          </a:p>
          <a:p>
            <a:pPr eaLnBrk="1" hangingPunct="1"/>
            <a:r>
              <a:rPr lang="en-US" sz="2000" b="1" dirty="0"/>
              <a:t>Extended Binary Trees: 2-Trees-</a:t>
            </a:r>
            <a:r>
              <a:rPr lang="en-US" sz="2000" dirty="0"/>
              <a:t> A binary tree is said to be a 2-tree or an extended binary tree if each node N has either 0 or 2 children. In such a case, nodes with 2 children are called internal nodes, and nodes with 0 child are called external nodes. The external and internal nodes are distinguished diagrammatically by using circles for internal nodes and squares for external nodes</a:t>
            </a:r>
          </a:p>
          <a:p>
            <a:pPr eaLnBrk="1" hangingPunct="1">
              <a:buFontTx/>
              <a:buNone/>
            </a:pPr>
            <a:r>
              <a:rPr lang="en-US" sz="2000" dirty="0"/>
              <a:t> </a:t>
            </a:r>
          </a:p>
          <a:p>
            <a:pPr eaLnBrk="1" hangingPunct="1"/>
            <a:endParaRPr lang="en-US" sz="2000" dirty="0"/>
          </a:p>
        </p:txBody>
      </p:sp>
    </p:spTree>
    <p:extLst>
      <p:ext uri="{BB962C8B-B14F-4D97-AF65-F5344CB8AC3E}">
        <p14:creationId xmlns:p14="http://schemas.microsoft.com/office/powerpoint/2010/main" val="106883390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3"/>
          <p:cNvSpPr>
            <a:spLocks noGrp="1" noChangeArrowheads="1"/>
          </p:cNvSpPr>
          <p:nvPr>
            <p:ph type="body" idx="1"/>
          </p:nvPr>
        </p:nvSpPr>
        <p:spPr>
          <a:xfrm>
            <a:off x="1524000" y="0"/>
            <a:ext cx="9144000" cy="6858000"/>
          </a:xfrm>
        </p:spPr>
        <p:txBody>
          <a:bodyPr/>
          <a:lstStyle/>
          <a:p>
            <a:pPr algn="ctr" eaLnBrk="1" hangingPunct="1">
              <a:lnSpc>
                <a:spcPct val="90000"/>
              </a:lnSpc>
              <a:buFontTx/>
              <a:buNone/>
            </a:pPr>
            <a:r>
              <a:rPr lang="en-US" b="1" u="sng"/>
              <a:t>Representing Binary Trees in memory</a:t>
            </a:r>
          </a:p>
          <a:p>
            <a:pPr eaLnBrk="1" hangingPunct="1">
              <a:lnSpc>
                <a:spcPct val="90000"/>
              </a:lnSpc>
            </a:pPr>
            <a:r>
              <a:rPr lang="en-US"/>
              <a:t>Binary trees can be represented </a:t>
            </a:r>
          </a:p>
          <a:p>
            <a:pPr eaLnBrk="1" hangingPunct="1">
              <a:lnSpc>
                <a:spcPct val="90000"/>
              </a:lnSpc>
            </a:pPr>
            <a:r>
              <a:rPr lang="en-US"/>
              <a:t>using linked list</a:t>
            </a:r>
          </a:p>
          <a:p>
            <a:pPr eaLnBrk="1" hangingPunct="1">
              <a:lnSpc>
                <a:spcPct val="90000"/>
              </a:lnSpc>
            </a:pPr>
            <a:r>
              <a:rPr lang="en-US"/>
              <a:t>using a single array called the sequential representation of tree</a:t>
            </a:r>
          </a:p>
          <a:p>
            <a:pPr eaLnBrk="1" hangingPunct="1">
              <a:lnSpc>
                <a:spcPct val="90000"/>
              </a:lnSpc>
            </a:pPr>
            <a:r>
              <a:rPr lang="en-US" b="1"/>
              <a:t>Sequential representation of Binary Trees-</a:t>
            </a:r>
            <a:r>
              <a:rPr lang="en-US"/>
              <a:t> This representation uses only a single linear array Tree as follows:</a:t>
            </a:r>
          </a:p>
          <a:p>
            <a:pPr eaLnBrk="1" hangingPunct="1">
              <a:lnSpc>
                <a:spcPct val="90000"/>
              </a:lnSpc>
            </a:pPr>
            <a:r>
              <a:rPr lang="en-US"/>
              <a:t>The root R of T is stored in TREE[1]</a:t>
            </a:r>
          </a:p>
          <a:p>
            <a:pPr eaLnBrk="1" hangingPunct="1">
              <a:lnSpc>
                <a:spcPct val="90000"/>
              </a:lnSpc>
            </a:pPr>
            <a:r>
              <a:rPr lang="en-US"/>
              <a:t>If a node N occupies TREE[K], then its left child is stored in TREE[2*K] and its right child is stored in TREE[2*K+1]            </a:t>
            </a:r>
          </a:p>
          <a:p>
            <a:pPr eaLnBrk="1" hangingPunct="1">
              <a:lnSpc>
                <a:spcPct val="90000"/>
              </a:lnSpc>
              <a:buFontTx/>
              <a:buNone/>
            </a:pPr>
            <a:r>
              <a:rPr lang="en-US"/>
              <a:t>                                    45 </a:t>
            </a:r>
          </a:p>
          <a:p>
            <a:pPr eaLnBrk="1" hangingPunct="1">
              <a:lnSpc>
                <a:spcPct val="90000"/>
              </a:lnSpc>
              <a:buFontTx/>
              <a:buNone/>
            </a:pPr>
            <a:endParaRPr lang="en-US"/>
          </a:p>
          <a:p>
            <a:pPr eaLnBrk="1" hangingPunct="1">
              <a:lnSpc>
                <a:spcPct val="90000"/>
              </a:lnSpc>
              <a:buFontTx/>
              <a:buNone/>
            </a:pPr>
            <a:r>
              <a:rPr lang="en-US"/>
              <a:t>                       22                        77</a:t>
            </a:r>
          </a:p>
          <a:p>
            <a:pPr eaLnBrk="1" hangingPunct="1">
              <a:lnSpc>
                <a:spcPct val="90000"/>
              </a:lnSpc>
              <a:buFontTx/>
              <a:buNone/>
            </a:pPr>
            <a:endParaRPr lang="en-US"/>
          </a:p>
          <a:p>
            <a:pPr eaLnBrk="1" hangingPunct="1">
              <a:lnSpc>
                <a:spcPct val="90000"/>
              </a:lnSpc>
              <a:buFontTx/>
              <a:buNone/>
            </a:pPr>
            <a:r>
              <a:rPr lang="en-US"/>
              <a:t>            11                30                          90</a:t>
            </a:r>
          </a:p>
          <a:p>
            <a:pPr eaLnBrk="1" hangingPunct="1">
              <a:lnSpc>
                <a:spcPct val="90000"/>
              </a:lnSpc>
              <a:buFontTx/>
              <a:buNone/>
            </a:pPr>
            <a:endParaRPr lang="en-US"/>
          </a:p>
          <a:p>
            <a:pPr eaLnBrk="1" hangingPunct="1">
              <a:lnSpc>
                <a:spcPct val="90000"/>
              </a:lnSpc>
              <a:buFontTx/>
              <a:buNone/>
            </a:pPr>
            <a:r>
              <a:rPr lang="en-US"/>
              <a:t>                 15       25                        88     </a:t>
            </a:r>
          </a:p>
        </p:txBody>
      </p:sp>
      <p:sp>
        <p:nvSpPr>
          <p:cNvPr id="276483" name="Line 4"/>
          <p:cNvSpPr>
            <a:spLocks noChangeShapeType="1"/>
          </p:cNvSpPr>
          <p:nvPr/>
        </p:nvSpPr>
        <p:spPr bwMode="auto">
          <a:xfrm flipH="1">
            <a:off x="3657600" y="3810000"/>
            <a:ext cx="76200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6484" name="Line 5"/>
          <p:cNvSpPr>
            <a:spLocks noChangeShapeType="1"/>
          </p:cNvSpPr>
          <p:nvPr/>
        </p:nvSpPr>
        <p:spPr bwMode="auto">
          <a:xfrm flipH="1">
            <a:off x="2819400" y="4572000"/>
            <a:ext cx="6096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6485" name="Line 6"/>
          <p:cNvSpPr>
            <a:spLocks noChangeShapeType="1"/>
          </p:cNvSpPr>
          <p:nvPr/>
        </p:nvSpPr>
        <p:spPr bwMode="auto">
          <a:xfrm>
            <a:off x="3429000" y="4572000"/>
            <a:ext cx="6096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6486" name="Line 7"/>
          <p:cNvSpPr>
            <a:spLocks noChangeShapeType="1"/>
          </p:cNvSpPr>
          <p:nvPr/>
        </p:nvSpPr>
        <p:spPr bwMode="auto">
          <a:xfrm>
            <a:off x="4648200" y="3810000"/>
            <a:ext cx="83820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6487" name="Line 8"/>
          <p:cNvSpPr>
            <a:spLocks noChangeShapeType="1"/>
          </p:cNvSpPr>
          <p:nvPr/>
        </p:nvSpPr>
        <p:spPr bwMode="auto">
          <a:xfrm>
            <a:off x="5791200" y="4495800"/>
            <a:ext cx="6096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6488" name="Line 9"/>
          <p:cNvSpPr>
            <a:spLocks noChangeShapeType="1"/>
          </p:cNvSpPr>
          <p:nvPr/>
        </p:nvSpPr>
        <p:spPr bwMode="auto">
          <a:xfrm>
            <a:off x="2743200" y="5410200"/>
            <a:ext cx="3048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6489" name="Line 10"/>
          <p:cNvSpPr>
            <a:spLocks noChangeShapeType="1"/>
          </p:cNvSpPr>
          <p:nvPr/>
        </p:nvSpPr>
        <p:spPr bwMode="auto">
          <a:xfrm flipH="1">
            <a:off x="3886200" y="5410200"/>
            <a:ext cx="2286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6490" name="Line 11"/>
          <p:cNvSpPr>
            <a:spLocks noChangeShapeType="1"/>
          </p:cNvSpPr>
          <p:nvPr/>
        </p:nvSpPr>
        <p:spPr bwMode="auto">
          <a:xfrm flipH="1">
            <a:off x="6096000" y="5410200"/>
            <a:ext cx="3048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674941686"/>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0522" name="Group 58"/>
          <p:cNvGraphicFramePr>
            <a:graphicFrameLocks noGrp="1"/>
          </p:cNvGraphicFramePr>
          <p:nvPr>
            <p:ph sz="half" idx="1"/>
          </p:nvPr>
        </p:nvGraphicFramePr>
        <p:xfrm>
          <a:off x="3733800" y="42863"/>
          <a:ext cx="685800" cy="5151120"/>
        </p:xfrm>
        <a:graphic>
          <a:graphicData uri="http://schemas.openxmlformats.org/drawingml/2006/table">
            <a:tbl>
              <a:tblPr/>
              <a:tblGrid>
                <a:gridCol w="685800">
                  <a:extLst>
                    <a:ext uri="{9D8B030D-6E8A-4147-A177-3AD203B41FA5}">
                      <a16:colId xmlns:a16="http://schemas.microsoft.com/office/drawing/2014/main" val="20000"/>
                    </a:ext>
                  </a:extLst>
                </a:gridCol>
              </a:tblGrid>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45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77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30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90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15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49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476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277536" name="Line 38"/>
          <p:cNvSpPr>
            <a:spLocks noChangeShapeType="1"/>
          </p:cNvSpPr>
          <p:nvPr/>
        </p:nvSpPr>
        <p:spPr bwMode="auto">
          <a:xfrm>
            <a:off x="4343400" y="2209800"/>
            <a:ext cx="4572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7537" name="Line 39"/>
          <p:cNvSpPr>
            <a:spLocks noChangeShapeType="1"/>
          </p:cNvSpPr>
          <p:nvPr/>
        </p:nvSpPr>
        <p:spPr bwMode="auto">
          <a:xfrm>
            <a:off x="4267200" y="4191000"/>
            <a:ext cx="4572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7538" name="Line 40"/>
          <p:cNvSpPr>
            <a:spLocks noChangeShapeType="1"/>
          </p:cNvSpPr>
          <p:nvPr/>
        </p:nvSpPr>
        <p:spPr bwMode="auto">
          <a:xfrm>
            <a:off x="4267200" y="2971800"/>
            <a:ext cx="4572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7539" name="Line 41"/>
          <p:cNvSpPr>
            <a:spLocks noChangeShapeType="1"/>
          </p:cNvSpPr>
          <p:nvPr/>
        </p:nvSpPr>
        <p:spPr bwMode="auto">
          <a:xfrm>
            <a:off x="4343400" y="4953000"/>
            <a:ext cx="4572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7540" name="Text Box 42"/>
          <p:cNvSpPr txBox="1">
            <a:spLocks noChangeArrowheads="1"/>
          </p:cNvSpPr>
          <p:nvPr/>
        </p:nvSpPr>
        <p:spPr bwMode="auto">
          <a:xfrm>
            <a:off x="4876800" y="2057401"/>
            <a:ext cx="8382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NULL</a:t>
            </a:r>
          </a:p>
        </p:txBody>
      </p:sp>
      <p:sp>
        <p:nvSpPr>
          <p:cNvPr id="277541" name="Text Box 44"/>
          <p:cNvSpPr txBox="1">
            <a:spLocks noChangeArrowheads="1"/>
          </p:cNvSpPr>
          <p:nvPr/>
        </p:nvSpPr>
        <p:spPr bwMode="auto">
          <a:xfrm>
            <a:off x="4800600" y="2819401"/>
            <a:ext cx="8382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NULL</a:t>
            </a:r>
          </a:p>
        </p:txBody>
      </p:sp>
      <p:sp>
        <p:nvSpPr>
          <p:cNvPr id="277542" name="Text Box 45"/>
          <p:cNvSpPr txBox="1">
            <a:spLocks noChangeArrowheads="1"/>
          </p:cNvSpPr>
          <p:nvPr/>
        </p:nvSpPr>
        <p:spPr bwMode="auto">
          <a:xfrm>
            <a:off x="4800600" y="40528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NULL</a:t>
            </a:r>
          </a:p>
        </p:txBody>
      </p:sp>
      <p:sp>
        <p:nvSpPr>
          <p:cNvPr id="277543" name="Text Box 46"/>
          <p:cNvSpPr txBox="1">
            <a:spLocks noChangeArrowheads="1"/>
          </p:cNvSpPr>
          <p:nvPr/>
        </p:nvSpPr>
        <p:spPr bwMode="auto">
          <a:xfrm>
            <a:off x="4800600" y="4800601"/>
            <a:ext cx="8382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NULL</a:t>
            </a:r>
          </a:p>
        </p:txBody>
      </p:sp>
      <p:sp>
        <p:nvSpPr>
          <p:cNvPr id="277544" name="Line 47"/>
          <p:cNvSpPr>
            <a:spLocks noChangeShapeType="1"/>
          </p:cNvSpPr>
          <p:nvPr/>
        </p:nvSpPr>
        <p:spPr bwMode="auto">
          <a:xfrm>
            <a:off x="4267200" y="4572000"/>
            <a:ext cx="457200" cy="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7545" name="Text Box 48"/>
          <p:cNvSpPr txBox="1">
            <a:spLocks noChangeArrowheads="1"/>
          </p:cNvSpPr>
          <p:nvPr/>
        </p:nvSpPr>
        <p:spPr bwMode="auto">
          <a:xfrm>
            <a:off x="4800600" y="4419601"/>
            <a:ext cx="8382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NULL</a:t>
            </a:r>
          </a:p>
        </p:txBody>
      </p:sp>
      <p:graphicFrame>
        <p:nvGraphicFramePr>
          <p:cNvPr id="190519" name="Group 55"/>
          <p:cNvGraphicFramePr>
            <a:graphicFrameLocks noGrp="1"/>
          </p:cNvGraphicFramePr>
          <p:nvPr>
            <p:ph sz="half" idx="2"/>
          </p:nvPr>
        </p:nvGraphicFramePr>
        <p:xfrm>
          <a:off x="3733800" y="5194300"/>
          <a:ext cx="685800" cy="444500"/>
        </p:xfrm>
        <a:graphic>
          <a:graphicData uri="http://schemas.openxmlformats.org/drawingml/2006/table">
            <a:tbl>
              <a:tblPr/>
              <a:tblGrid>
                <a:gridCol w="685800">
                  <a:extLst>
                    <a:ext uri="{9D8B030D-6E8A-4147-A177-3AD203B41FA5}">
                      <a16:colId xmlns:a16="http://schemas.microsoft.com/office/drawing/2014/main" val="20000"/>
                    </a:ext>
                  </a:extLst>
                </a:gridCol>
              </a:tblGrid>
              <a:tr h="444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88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4225542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3"/>
          <p:cNvSpPr>
            <a:spLocks noGrp="1" noChangeArrowheads="1"/>
          </p:cNvSpPr>
          <p:nvPr>
            <p:ph type="body" idx="1"/>
          </p:nvPr>
        </p:nvSpPr>
        <p:spPr>
          <a:xfrm>
            <a:off x="1524000" y="0"/>
            <a:ext cx="9144000" cy="6858000"/>
          </a:xfrm>
        </p:spPr>
        <p:txBody>
          <a:bodyPr/>
          <a:lstStyle/>
          <a:p>
            <a:pPr algn="just" eaLnBrk="1" hangingPunct="1"/>
            <a:endParaRPr lang="en-US" dirty="0"/>
          </a:p>
          <a:p>
            <a:pPr algn="just" eaLnBrk="1" hangingPunct="1"/>
            <a:r>
              <a:rPr lang="en-US" dirty="0"/>
              <a:t>It can be seen that a sequential representation of a binary tree requires numbering of nodes; starting with nodes on level 1, then on level 2 and so on. The nodes are numbered from left to right .</a:t>
            </a:r>
          </a:p>
          <a:p>
            <a:pPr marL="0" indent="0" algn="just" eaLnBrk="1" hangingPunct="1">
              <a:buNone/>
            </a:pPr>
            <a:endParaRPr lang="en-US" dirty="0"/>
          </a:p>
          <a:p>
            <a:pPr marL="0" indent="0" algn="just" eaLnBrk="1" hangingPunct="1">
              <a:buNone/>
            </a:pPr>
            <a:endParaRPr lang="en-US" dirty="0"/>
          </a:p>
          <a:p>
            <a:pPr algn="just" eaLnBrk="1" hangingPunct="1"/>
            <a:r>
              <a:rPr lang="en-US" dirty="0"/>
              <a:t>It is an ideal case for representation of a complete binary tree and in this case no space is wasted. However for other binary trees, most of the space remains unutilized. As can be  seen in the figure, we require 14 locations in array even though the tree has only 9 nodes. If null entries for successors of the terminal nodes are included, we would actually require 29 locations instead of 14.Thus sequential representation is usually inefficient unless binary tree is complete or nearly complete</a:t>
            </a:r>
          </a:p>
        </p:txBody>
      </p:sp>
    </p:spTree>
    <p:extLst>
      <p:ext uri="{BB962C8B-B14F-4D97-AF65-F5344CB8AC3E}">
        <p14:creationId xmlns:p14="http://schemas.microsoft.com/office/powerpoint/2010/main" val="412329656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a:t>Linked representation of Binary Tree</a:t>
            </a:r>
          </a:p>
          <a:p>
            <a:pPr eaLnBrk="1" hangingPunct="1"/>
            <a:r>
              <a:rPr lang="en-US"/>
              <a:t>In linked representation, Tree is maintained in memory by means of three parallel arrays, INFO, LEFT and RIGHT and a pointer variable ROOT. Each node N of T will correspond to a location K such that </a:t>
            </a:r>
            <a:r>
              <a:rPr lang="en-US" b="1"/>
              <a:t>INFO[K]</a:t>
            </a:r>
            <a:r>
              <a:rPr lang="en-US"/>
              <a:t> contains data at node N. </a:t>
            </a:r>
            <a:r>
              <a:rPr lang="en-US" b="1"/>
              <a:t>LEFT[K]</a:t>
            </a:r>
            <a:r>
              <a:rPr lang="en-US"/>
              <a:t> contains the location of left child of node N and </a:t>
            </a:r>
            <a:r>
              <a:rPr lang="en-US" b="1"/>
              <a:t>RIGHT[K]</a:t>
            </a:r>
            <a:r>
              <a:rPr lang="en-US"/>
              <a:t> contains the location of right child of node N. </a:t>
            </a:r>
            <a:r>
              <a:rPr lang="en-US" b="1"/>
              <a:t>ROOT</a:t>
            </a:r>
            <a:r>
              <a:rPr lang="en-US"/>
              <a:t> will contain location of root R of Tree. If any subtree is empty, corresponding pointer will contain null value. If the tree T itself  is empty, then ROOT will contain null value</a:t>
            </a:r>
          </a:p>
        </p:txBody>
      </p:sp>
      <p:sp>
        <p:nvSpPr>
          <p:cNvPr id="279555" name="Text Box 4"/>
          <p:cNvSpPr txBox="1">
            <a:spLocks noChangeArrowheads="1"/>
          </p:cNvSpPr>
          <p:nvPr/>
        </p:nvSpPr>
        <p:spPr bwMode="auto">
          <a:xfrm>
            <a:off x="4572000" y="3733801"/>
            <a:ext cx="21336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56" name="Rectangle 7"/>
          <p:cNvSpPr>
            <a:spLocks noChangeArrowheads="1"/>
          </p:cNvSpPr>
          <p:nvPr/>
        </p:nvSpPr>
        <p:spPr bwMode="auto">
          <a:xfrm>
            <a:off x="4343400" y="3657600"/>
            <a:ext cx="2286000" cy="4572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57" name="Line 8"/>
          <p:cNvSpPr>
            <a:spLocks noChangeShapeType="1"/>
          </p:cNvSpPr>
          <p:nvPr/>
        </p:nvSpPr>
        <p:spPr bwMode="auto">
          <a:xfrm>
            <a:off x="5029200" y="3657600"/>
            <a:ext cx="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58" name="Line 9"/>
          <p:cNvSpPr>
            <a:spLocks noChangeShapeType="1"/>
          </p:cNvSpPr>
          <p:nvPr/>
        </p:nvSpPr>
        <p:spPr bwMode="auto">
          <a:xfrm>
            <a:off x="5867400" y="3657600"/>
            <a:ext cx="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59" name="Text Box 10"/>
          <p:cNvSpPr txBox="1">
            <a:spLocks noChangeArrowheads="1"/>
          </p:cNvSpPr>
          <p:nvPr/>
        </p:nvSpPr>
        <p:spPr bwMode="auto">
          <a:xfrm>
            <a:off x="5029200" y="3657601"/>
            <a:ext cx="838200" cy="366713"/>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A</a:t>
            </a:r>
          </a:p>
        </p:txBody>
      </p:sp>
      <p:sp>
        <p:nvSpPr>
          <p:cNvPr id="279560" name="Oval 11"/>
          <p:cNvSpPr>
            <a:spLocks noChangeArrowheads="1"/>
          </p:cNvSpPr>
          <p:nvPr/>
        </p:nvSpPr>
        <p:spPr bwMode="auto">
          <a:xfrm>
            <a:off x="4572000" y="38100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61" name="Oval 12"/>
          <p:cNvSpPr>
            <a:spLocks noChangeArrowheads="1"/>
          </p:cNvSpPr>
          <p:nvPr/>
        </p:nvSpPr>
        <p:spPr bwMode="auto">
          <a:xfrm>
            <a:off x="6248400" y="38100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62" name="Line 13"/>
          <p:cNvSpPr>
            <a:spLocks noChangeShapeType="1"/>
          </p:cNvSpPr>
          <p:nvPr/>
        </p:nvSpPr>
        <p:spPr bwMode="auto">
          <a:xfrm flipH="1">
            <a:off x="3048000" y="3835400"/>
            <a:ext cx="15240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63" name="Line 14"/>
          <p:cNvSpPr>
            <a:spLocks noChangeShapeType="1"/>
          </p:cNvSpPr>
          <p:nvPr/>
        </p:nvSpPr>
        <p:spPr bwMode="auto">
          <a:xfrm>
            <a:off x="3048000" y="3810000"/>
            <a:ext cx="0" cy="5334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64" name="Line 15"/>
          <p:cNvSpPr>
            <a:spLocks noChangeShapeType="1"/>
          </p:cNvSpPr>
          <p:nvPr/>
        </p:nvSpPr>
        <p:spPr bwMode="auto">
          <a:xfrm>
            <a:off x="6248400" y="3835400"/>
            <a:ext cx="19812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65" name="Line 16"/>
          <p:cNvSpPr>
            <a:spLocks noChangeShapeType="1"/>
          </p:cNvSpPr>
          <p:nvPr/>
        </p:nvSpPr>
        <p:spPr bwMode="auto">
          <a:xfrm>
            <a:off x="8229600" y="3810000"/>
            <a:ext cx="0" cy="5334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66" name="Rectangle 17"/>
          <p:cNvSpPr>
            <a:spLocks noChangeArrowheads="1"/>
          </p:cNvSpPr>
          <p:nvPr/>
        </p:nvSpPr>
        <p:spPr bwMode="auto">
          <a:xfrm>
            <a:off x="2133600" y="4343400"/>
            <a:ext cx="19812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67" name="Rectangle 18"/>
          <p:cNvSpPr>
            <a:spLocks noChangeArrowheads="1"/>
          </p:cNvSpPr>
          <p:nvPr/>
        </p:nvSpPr>
        <p:spPr bwMode="auto">
          <a:xfrm>
            <a:off x="7391400" y="4343400"/>
            <a:ext cx="19812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68" name="Line 19"/>
          <p:cNvSpPr>
            <a:spLocks noChangeShapeType="1"/>
          </p:cNvSpPr>
          <p:nvPr/>
        </p:nvSpPr>
        <p:spPr bwMode="auto">
          <a:xfrm>
            <a:off x="2667000" y="4343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69" name="Line 20"/>
          <p:cNvSpPr>
            <a:spLocks noChangeShapeType="1"/>
          </p:cNvSpPr>
          <p:nvPr/>
        </p:nvSpPr>
        <p:spPr bwMode="auto">
          <a:xfrm>
            <a:off x="3505200" y="4343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0" name="Line 21"/>
          <p:cNvSpPr>
            <a:spLocks noChangeShapeType="1"/>
          </p:cNvSpPr>
          <p:nvPr/>
        </p:nvSpPr>
        <p:spPr bwMode="auto">
          <a:xfrm>
            <a:off x="7924800" y="4343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1" name="Line 22"/>
          <p:cNvSpPr>
            <a:spLocks noChangeShapeType="1"/>
          </p:cNvSpPr>
          <p:nvPr/>
        </p:nvSpPr>
        <p:spPr bwMode="auto">
          <a:xfrm>
            <a:off x="8686800" y="4343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2" name="Oval 23"/>
          <p:cNvSpPr>
            <a:spLocks noChangeArrowheads="1"/>
          </p:cNvSpPr>
          <p:nvPr/>
        </p:nvSpPr>
        <p:spPr bwMode="auto">
          <a:xfrm>
            <a:off x="2362200" y="4495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3" name="Oval 24"/>
          <p:cNvSpPr>
            <a:spLocks noChangeArrowheads="1"/>
          </p:cNvSpPr>
          <p:nvPr/>
        </p:nvSpPr>
        <p:spPr bwMode="auto">
          <a:xfrm>
            <a:off x="3733800" y="4495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4" name="Oval 25"/>
          <p:cNvSpPr>
            <a:spLocks noChangeArrowheads="1"/>
          </p:cNvSpPr>
          <p:nvPr/>
        </p:nvSpPr>
        <p:spPr bwMode="auto">
          <a:xfrm>
            <a:off x="7620000" y="4495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5" name="Oval 26"/>
          <p:cNvSpPr>
            <a:spLocks noChangeArrowheads="1"/>
          </p:cNvSpPr>
          <p:nvPr/>
        </p:nvSpPr>
        <p:spPr bwMode="auto">
          <a:xfrm>
            <a:off x="8991600" y="4495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6" name="Line 27"/>
          <p:cNvSpPr>
            <a:spLocks noChangeShapeType="1"/>
          </p:cNvSpPr>
          <p:nvPr/>
        </p:nvSpPr>
        <p:spPr bwMode="auto">
          <a:xfrm flipH="1">
            <a:off x="1828800" y="4521200"/>
            <a:ext cx="6096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7" name="Line 28"/>
          <p:cNvSpPr>
            <a:spLocks noChangeShapeType="1"/>
          </p:cNvSpPr>
          <p:nvPr/>
        </p:nvSpPr>
        <p:spPr bwMode="auto">
          <a:xfrm>
            <a:off x="1828800" y="4495800"/>
            <a:ext cx="0" cy="6858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8" name="Line 29"/>
          <p:cNvSpPr>
            <a:spLocks noChangeShapeType="1"/>
          </p:cNvSpPr>
          <p:nvPr/>
        </p:nvSpPr>
        <p:spPr bwMode="auto">
          <a:xfrm>
            <a:off x="3810000" y="4521200"/>
            <a:ext cx="6858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79" name="Line 30"/>
          <p:cNvSpPr>
            <a:spLocks noChangeShapeType="1"/>
          </p:cNvSpPr>
          <p:nvPr/>
        </p:nvSpPr>
        <p:spPr bwMode="auto">
          <a:xfrm>
            <a:off x="4495800" y="4495800"/>
            <a:ext cx="0" cy="6096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0" name="Rectangle 31"/>
          <p:cNvSpPr>
            <a:spLocks noChangeArrowheads="1"/>
          </p:cNvSpPr>
          <p:nvPr/>
        </p:nvSpPr>
        <p:spPr bwMode="auto">
          <a:xfrm>
            <a:off x="1524000" y="5181600"/>
            <a:ext cx="14478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1" name="Line 32"/>
          <p:cNvSpPr>
            <a:spLocks noChangeShapeType="1"/>
          </p:cNvSpPr>
          <p:nvPr/>
        </p:nvSpPr>
        <p:spPr bwMode="auto">
          <a:xfrm>
            <a:off x="1905000" y="51816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2" name="Line 33"/>
          <p:cNvSpPr>
            <a:spLocks noChangeShapeType="1"/>
          </p:cNvSpPr>
          <p:nvPr/>
        </p:nvSpPr>
        <p:spPr bwMode="auto">
          <a:xfrm>
            <a:off x="2438400" y="51816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3" name="Rectangle 34"/>
          <p:cNvSpPr>
            <a:spLocks noChangeArrowheads="1"/>
          </p:cNvSpPr>
          <p:nvPr/>
        </p:nvSpPr>
        <p:spPr bwMode="auto">
          <a:xfrm>
            <a:off x="3810000" y="5105400"/>
            <a:ext cx="15240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4" name="Line 35"/>
          <p:cNvSpPr>
            <a:spLocks noChangeShapeType="1"/>
          </p:cNvSpPr>
          <p:nvPr/>
        </p:nvSpPr>
        <p:spPr bwMode="auto">
          <a:xfrm>
            <a:off x="4267200" y="5105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5" name="Line 36"/>
          <p:cNvSpPr>
            <a:spLocks noChangeShapeType="1"/>
          </p:cNvSpPr>
          <p:nvPr/>
        </p:nvSpPr>
        <p:spPr bwMode="auto">
          <a:xfrm>
            <a:off x="4876800" y="5105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6" name="Line 37"/>
          <p:cNvSpPr>
            <a:spLocks noChangeShapeType="1"/>
          </p:cNvSpPr>
          <p:nvPr/>
        </p:nvSpPr>
        <p:spPr bwMode="auto">
          <a:xfrm flipH="1">
            <a:off x="6858000" y="4521200"/>
            <a:ext cx="7620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7" name="Line 38"/>
          <p:cNvSpPr>
            <a:spLocks noChangeShapeType="1"/>
          </p:cNvSpPr>
          <p:nvPr/>
        </p:nvSpPr>
        <p:spPr bwMode="auto">
          <a:xfrm>
            <a:off x="6858000" y="4495800"/>
            <a:ext cx="0" cy="5334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8" name="Line 39"/>
          <p:cNvSpPr>
            <a:spLocks noChangeShapeType="1"/>
          </p:cNvSpPr>
          <p:nvPr/>
        </p:nvSpPr>
        <p:spPr bwMode="auto">
          <a:xfrm>
            <a:off x="9067800" y="4495800"/>
            <a:ext cx="6858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89" name="Line 40"/>
          <p:cNvSpPr>
            <a:spLocks noChangeShapeType="1"/>
          </p:cNvSpPr>
          <p:nvPr/>
        </p:nvSpPr>
        <p:spPr bwMode="auto">
          <a:xfrm>
            <a:off x="9753600" y="4495800"/>
            <a:ext cx="0" cy="6096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0" name="Rectangle 41"/>
          <p:cNvSpPr>
            <a:spLocks noChangeArrowheads="1"/>
          </p:cNvSpPr>
          <p:nvPr/>
        </p:nvSpPr>
        <p:spPr bwMode="auto">
          <a:xfrm>
            <a:off x="6019800" y="5105400"/>
            <a:ext cx="16002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1" name="Rectangle 42"/>
          <p:cNvSpPr>
            <a:spLocks noChangeArrowheads="1"/>
          </p:cNvSpPr>
          <p:nvPr/>
        </p:nvSpPr>
        <p:spPr bwMode="auto">
          <a:xfrm>
            <a:off x="8839200" y="5105400"/>
            <a:ext cx="16002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2" name="Line 43"/>
          <p:cNvSpPr>
            <a:spLocks noChangeShapeType="1"/>
          </p:cNvSpPr>
          <p:nvPr/>
        </p:nvSpPr>
        <p:spPr bwMode="auto">
          <a:xfrm>
            <a:off x="6477000" y="5105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3" name="Line 44"/>
          <p:cNvSpPr>
            <a:spLocks noChangeShapeType="1"/>
          </p:cNvSpPr>
          <p:nvPr/>
        </p:nvSpPr>
        <p:spPr bwMode="auto">
          <a:xfrm>
            <a:off x="7162800" y="5105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4" name="Line 45"/>
          <p:cNvSpPr>
            <a:spLocks noChangeShapeType="1"/>
          </p:cNvSpPr>
          <p:nvPr/>
        </p:nvSpPr>
        <p:spPr bwMode="auto">
          <a:xfrm>
            <a:off x="9372600" y="5105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5" name="Line 46"/>
          <p:cNvSpPr>
            <a:spLocks noChangeShapeType="1"/>
          </p:cNvSpPr>
          <p:nvPr/>
        </p:nvSpPr>
        <p:spPr bwMode="auto">
          <a:xfrm>
            <a:off x="9982200" y="5105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6" name="Oval 49"/>
          <p:cNvSpPr>
            <a:spLocks noChangeArrowheads="1"/>
          </p:cNvSpPr>
          <p:nvPr/>
        </p:nvSpPr>
        <p:spPr bwMode="auto">
          <a:xfrm>
            <a:off x="3962400" y="5257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7" name="Oval 53"/>
          <p:cNvSpPr>
            <a:spLocks noChangeArrowheads="1"/>
          </p:cNvSpPr>
          <p:nvPr/>
        </p:nvSpPr>
        <p:spPr bwMode="auto">
          <a:xfrm>
            <a:off x="9067800" y="5257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8" name="Oval 54"/>
          <p:cNvSpPr>
            <a:spLocks noChangeArrowheads="1"/>
          </p:cNvSpPr>
          <p:nvPr/>
        </p:nvSpPr>
        <p:spPr bwMode="auto">
          <a:xfrm>
            <a:off x="10134600" y="52578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599" name="Line 55"/>
          <p:cNvSpPr>
            <a:spLocks noChangeShapeType="1"/>
          </p:cNvSpPr>
          <p:nvPr/>
        </p:nvSpPr>
        <p:spPr bwMode="auto">
          <a:xfrm flipH="1">
            <a:off x="3581400" y="5257800"/>
            <a:ext cx="3810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0" name="Line 56"/>
          <p:cNvSpPr>
            <a:spLocks noChangeShapeType="1"/>
          </p:cNvSpPr>
          <p:nvPr/>
        </p:nvSpPr>
        <p:spPr bwMode="auto">
          <a:xfrm>
            <a:off x="3581400" y="5257800"/>
            <a:ext cx="0" cy="6096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1" name="Rectangle 57"/>
          <p:cNvSpPr>
            <a:spLocks noChangeArrowheads="1"/>
          </p:cNvSpPr>
          <p:nvPr/>
        </p:nvSpPr>
        <p:spPr bwMode="auto">
          <a:xfrm>
            <a:off x="2895600" y="5867400"/>
            <a:ext cx="16764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2" name="Line 58"/>
          <p:cNvSpPr>
            <a:spLocks noChangeShapeType="1"/>
          </p:cNvSpPr>
          <p:nvPr/>
        </p:nvSpPr>
        <p:spPr bwMode="auto">
          <a:xfrm>
            <a:off x="3352800" y="5867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3" name="Line 59"/>
          <p:cNvSpPr>
            <a:spLocks noChangeShapeType="1"/>
          </p:cNvSpPr>
          <p:nvPr/>
        </p:nvSpPr>
        <p:spPr bwMode="auto">
          <a:xfrm>
            <a:off x="4038600" y="58674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4" name="Line 60"/>
          <p:cNvSpPr>
            <a:spLocks noChangeShapeType="1"/>
          </p:cNvSpPr>
          <p:nvPr/>
        </p:nvSpPr>
        <p:spPr bwMode="auto">
          <a:xfrm flipH="1">
            <a:off x="8458200" y="5270500"/>
            <a:ext cx="6096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5" name="Line 61"/>
          <p:cNvSpPr>
            <a:spLocks noChangeShapeType="1"/>
          </p:cNvSpPr>
          <p:nvPr/>
        </p:nvSpPr>
        <p:spPr bwMode="auto">
          <a:xfrm>
            <a:off x="8458200" y="5257800"/>
            <a:ext cx="0" cy="5334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6" name="Rectangle 62"/>
          <p:cNvSpPr>
            <a:spLocks noChangeArrowheads="1"/>
          </p:cNvSpPr>
          <p:nvPr/>
        </p:nvSpPr>
        <p:spPr bwMode="auto">
          <a:xfrm>
            <a:off x="7543800" y="5791200"/>
            <a:ext cx="15240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7" name="Line 63"/>
          <p:cNvSpPr>
            <a:spLocks noChangeShapeType="1"/>
          </p:cNvSpPr>
          <p:nvPr/>
        </p:nvSpPr>
        <p:spPr bwMode="auto">
          <a:xfrm>
            <a:off x="7924800" y="57912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8" name="Line 64"/>
          <p:cNvSpPr>
            <a:spLocks noChangeShapeType="1"/>
          </p:cNvSpPr>
          <p:nvPr/>
        </p:nvSpPr>
        <p:spPr bwMode="auto">
          <a:xfrm>
            <a:off x="8534400" y="57912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09" name="Rectangle 65"/>
          <p:cNvSpPr>
            <a:spLocks noChangeArrowheads="1"/>
          </p:cNvSpPr>
          <p:nvPr/>
        </p:nvSpPr>
        <p:spPr bwMode="auto">
          <a:xfrm>
            <a:off x="9296400" y="5791200"/>
            <a:ext cx="1219200" cy="3810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10" name="Line 66"/>
          <p:cNvSpPr>
            <a:spLocks noChangeShapeType="1"/>
          </p:cNvSpPr>
          <p:nvPr/>
        </p:nvSpPr>
        <p:spPr bwMode="auto">
          <a:xfrm>
            <a:off x="9677400" y="57912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11" name="Line 67"/>
          <p:cNvSpPr>
            <a:spLocks noChangeShapeType="1"/>
          </p:cNvSpPr>
          <p:nvPr/>
        </p:nvSpPr>
        <p:spPr bwMode="auto">
          <a:xfrm>
            <a:off x="10210800" y="5791200"/>
            <a:ext cx="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12" name="Line 68"/>
          <p:cNvSpPr>
            <a:spLocks noChangeShapeType="1"/>
          </p:cNvSpPr>
          <p:nvPr/>
        </p:nvSpPr>
        <p:spPr bwMode="auto">
          <a:xfrm>
            <a:off x="10134600" y="5257800"/>
            <a:ext cx="0" cy="5334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13" name="Text Box 69"/>
          <p:cNvSpPr txBox="1">
            <a:spLocks noChangeArrowheads="1"/>
          </p:cNvSpPr>
          <p:nvPr/>
        </p:nvSpPr>
        <p:spPr bwMode="auto">
          <a:xfrm>
            <a:off x="2667000" y="43576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B</a:t>
            </a:r>
          </a:p>
        </p:txBody>
      </p:sp>
      <p:sp>
        <p:nvSpPr>
          <p:cNvPr id="279614" name="Text Box 70"/>
          <p:cNvSpPr txBox="1">
            <a:spLocks noChangeArrowheads="1"/>
          </p:cNvSpPr>
          <p:nvPr/>
        </p:nvSpPr>
        <p:spPr bwMode="auto">
          <a:xfrm>
            <a:off x="7924800" y="43576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C</a:t>
            </a:r>
          </a:p>
        </p:txBody>
      </p:sp>
      <p:sp>
        <p:nvSpPr>
          <p:cNvPr id="279615" name="Text Box 71"/>
          <p:cNvSpPr txBox="1">
            <a:spLocks noChangeArrowheads="1"/>
          </p:cNvSpPr>
          <p:nvPr/>
        </p:nvSpPr>
        <p:spPr bwMode="auto">
          <a:xfrm>
            <a:off x="1905000" y="5195888"/>
            <a:ext cx="5334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D</a:t>
            </a:r>
          </a:p>
        </p:txBody>
      </p:sp>
      <p:sp>
        <p:nvSpPr>
          <p:cNvPr id="279616" name="Text Box 72"/>
          <p:cNvSpPr txBox="1">
            <a:spLocks noChangeArrowheads="1"/>
          </p:cNvSpPr>
          <p:nvPr/>
        </p:nvSpPr>
        <p:spPr bwMode="auto">
          <a:xfrm>
            <a:off x="4191000" y="5119688"/>
            <a:ext cx="6858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E</a:t>
            </a:r>
          </a:p>
        </p:txBody>
      </p:sp>
      <p:sp>
        <p:nvSpPr>
          <p:cNvPr id="279617" name="Text Box 73"/>
          <p:cNvSpPr txBox="1">
            <a:spLocks noChangeArrowheads="1"/>
          </p:cNvSpPr>
          <p:nvPr/>
        </p:nvSpPr>
        <p:spPr bwMode="auto">
          <a:xfrm>
            <a:off x="6400800" y="51196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F</a:t>
            </a:r>
          </a:p>
        </p:txBody>
      </p:sp>
      <p:sp>
        <p:nvSpPr>
          <p:cNvPr id="279618" name="Text Box 74"/>
          <p:cNvSpPr txBox="1">
            <a:spLocks noChangeArrowheads="1"/>
          </p:cNvSpPr>
          <p:nvPr/>
        </p:nvSpPr>
        <p:spPr bwMode="auto">
          <a:xfrm>
            <a:off x="9220200" y="51196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G</a:t>
            </a:r>
          </a:p>
        </p:txBody>
      </p:sp>
      <p:sp>
        <p:nvSpPr>
          <p:cNvPr id="279619" name="Text Box 75"/>
          <p:cNvSpPr txBox="1">
            <a:spLocks noChangeArrowheads="1"/>
          </p:cNvSpPr>
          <p:nvPr/>
        </p:nvSpPr>
        <p:spPr bwMode="auto">
          <a:xfrm>
            <a:off x="3276600" y="58816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H</a:t>
            </a:r>
          </a:p>
        </p:txBody>
      </p:sp>
      <p:sp>
        <p:nvSpPr>
          <p:cNvPr id="279620" name="Text Box 76"/>
          <p:cNvSpPr txBox="1">
            <a:spLocks noChangeArrowheads="1"/>
          </p:cNvSpPr>
          <p:nvPr/>
        </p:nvSpPr>
        <p:spPr bwMode="auto">
          <a:xfrm>
            <a:off x="7772400" y="58054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I</a:t>
            </a:r>
          </a:p>
        </p:txBody>
      </p:sp>
      <p:sp>
        <p:nvSpPr>
          <p:cNvPr id="279621" name="Text Box 77"/>
          <p:cNvSpPr txBox="1">
            <a:spLocks noChangeArrowheads="1"/>
          </p:cNvSpPr>
          <p:nvPr/>
        </p:nvSpPr>
        <p:spPr bwMode="auto">
          <a:xfrm>
            <a:off x="9525000" y="5805488"/>
            <a:ext cx="8382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    J</a:t>
            </a:r>
          </a:p>
        </p:txBody>
      </p:sp>
      <p:sp>
        <p:nvSpPr>
          <p:cNvPr id="279622" name="Line 78"/>
          <p:cNvSpPr>
            <a:spLocks noChangeShapeType="1"/>
          </p:cNvSpPr>
          <p:nvPr/>
        </p:nvSpPr>
        <p:spPr bwMode="auto">
          <a:xfrm>
            <a:off x="1524000" y="5181600"/>
            <a:ext cx="3810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23" name="Line 79"/>
          <p:cNvSpPr>
            <a:spLocks noChangeShapeType="1"/>
          </p:cNvSpPr>
          <p:nvPr/>
        </p:nvSpPr>
        <p:spPr bwMode="auto">
          <a:xfrm>
            <a:off x="2438400" y="5181600"/>
            <a:ext cx="5334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24" name="Line 80"/>
          <p:cNvSpPr>
            <a:spLocks noChangeShapeType="1"/>
          </p:cNvSpPr>
          <p:nvPr/>
        </p:nvSpPr>
        <p:spPr bwMode="auto">
          <a:xfrm>
            <a:off x="2895600" y="5867400"/>
            <a:ext cx="4572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25" name="Line 81"/>
          <p:cNvSpPr>
            <a:spLocks noChangeShapeType="1"/>
          </p:cNvSpPr>
          <p:nvPr/>
        </p:nvSpPr>
        <p:spPr bwMode="auto">
          <a:xfrm>
            <a:off x="4038600" y="5867400"/>
            <a:ext cx="5334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26" name="Line 82"/>
          <p:cNvSpPr>
            <a:spLocks noChangeShapeType="1"/>
          </p:cNvSpPr>
          <p:nvPr/>
        </p:nvSpPr>
        <p:spPr bwMode="auto">
          <a:xfrm>
            <a:off x="4876800" y="5105400"/>
            <a:ext cx="4572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27" name="Line 84"/>
          <p:cNvSpPr>
            <a:spLocks noChangeShapeType="1"/>
          </p:cNvSpPr>
          <p:nvPr/>
        </p:nvSpPr>
        <p:spPr bwMode="auto">
          <a:xfrm>
            <a:off x="6019800" y="5105400"/>
            <a:ext cx="4572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28" name="Line 85"/>
          <p:cNvSpPr>
            <a:spLocks noChangeShapeType="1"/>
          </p:cNvSpPr>
          <p:nvPr/>
        </p:nvSpPr>
        <p:spPr bwMode="auto">
          <a:xfrm>
            <a:off x="7162800" y="5105400"/>
            <a:ext cx="4572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29" name="Line 86"/>
          <p:cNvSpPr>
            <a:spLocks noChangeShapeType="1"/>
          </p:cNvSpPr>
          <p:nvPr/>
        </p:nvSpPr>
        <p:spPr bwMode="auto">
          <a:xfrm>
            <a:off x="7543800" y="5791200"/>
            <a:ext cx="3810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30" name="Line 87"/>
          <p:cNvSpPr>
            <a:spLocks noChangeShapeType="1"/>
          </p:cNvSpPr>
          <p:nvPr/>
        </p:nvSpPr>
        <p:spPr bwMode="auto">
          <a:xfrm>
            <a:off x="8534400" y="5791200"/>
            <a:ext cx="5334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31" name="Line 88"/>
          <p:cNvSpPr>
            <a:spLocks noChangeShapeType="1"/>
          </p:cNvSpPr>
          <p:nvPr/>
        </p:nvSpPr>
        <p:spPr bwMode="auto">
          <a:xfrm>
            <a:off x="9296400" y="5791200"/>
            <a:ext cx="3810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32" name="Line 89"/>
          <p:cNvSpPr>
            <a:spLocks noChangeShapeType="1"/>
          </p:cNvSpPr>
          <p:nvPr/>
        </p:nvSpPr>
        <p:spPr bwMode="auto">
          <a:xfrm>
            <a:off x="10210800" y="5791200"/>
            <a:ext cx="304800" cy="381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33" name="Text Box 90"/>
          <p:cNvSpPr txBox="1">
            <a:spLocks noChangeArrowheads="1"/>
          </p:cNvSpPr>
          <p:nvPr/>
        </p:nvSpPr>
        <p:spPr bwMode="auto">
          <a:xfrm>
            <a:off x="2819400" y="3367088"/>
            <a:ext cx="1143000" cy="366712"/>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a:ea typeface="+mn-ea"/>
                <a:cs typeface="+mn-cs"/>
              </a:rPr>
              <a:t>ROOT</a:t>
            </a:r>
          </a:p>
        </p:txBody>
      </p:sp>
      <p:sp>
        <p:nvSpPr>
          <p:cNvPr id="279634" name="Rectangle 93"/>
          <p:cNvSpPr>
            <a:spLocks noChangeArrowheads="1"/>
          </p:cNvSpPr>
          <p:nvPr/>
        </p:nvSpPr>
        <p:spPr bwMode="auto">
          <a:xfrm>
            <a:off x="3657600" y="3429000"/>
            <a:ext cx="381000" cy="304800"/>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35" name="Oval 94"/>
          <p:cNvSpPr>
            <a:spLocks noChangeArrowheads="1"/>
          </p:cNvSpPr>
          <p:nvPr/>
        </p:nvSpPr>
        <p:spPr bwMode="auto">
          <a:xfrm>
            <a:off x="3810000" y="3556000"/>
            <a:ext cx="76200" cy="76200"/>
          </a:xfrm>
          <a:prstGeom prst="ellipse">
            <a:avLst/>
          </a:prstGeom>
          <a:solidFill>
            <a:schemeClr val="tx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36" name="Line 95"/>
          <p:cNvSpPr>
            <a:spLocks noChangeShapeType="1"/>
          </p:cNvSpPr>
          <p:nvPr/>
        </p:nvSpPr>
        <p:spPr bwMode="auto">
          <a:xfrm flipV="1">
            <a:off x="3810000" y="3581400"/>
            <a:ext cx="1066800" cy="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79637" name="Line 96"/>
          <p:cNvSpPr>
            <a:spLocks noChangeShapeType="1"/>
          </p:cNvSpPr>
          <p:nvPr/>
        </p:nvSpPr>
        <p:spPr bwMode="auto">
          <a:xfrm>
            <a:off x="4876800" y="3581400"/>
            <a:ext cx="0" cy="7620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50613436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3"/>
          <p:cNvSpPr>
            <a:spLocks noGrp="1" noChangeArrowheads="1"/>
          </p:cNvSpPr>
          <p:nvPr>
            <p:ph type="body" idx="1"/>
          </p:nvPr>
        </p:nvSpPr>
        <p:spPr>
          <a:xfrm>
            <a:off x="1524000" y="0"/>
            <a:ext cx="9144000" cy="6858000"/>
          </a:xfrm>
        </p:spPr>
        <p:txBody>
          <a:bodyPr/>
          <a:lstStyle/>
          <a:p>
            <a:pPr eaLnBrk="1" hangingPunct="1"/>
            <a:r>
              <a:rPr lang="en-US"/>
              <a:t>All the traversal algorithms assume a binary tree T maintained in memory by linked representation</a:t>
            </a:r>
          </a:p>
          <a:p>
            <a:pPr eaLnBrk="1" hangingPunct="1">
              <a:buFontTx/>
              <a:buNone/>
            </a:pPr>
            <a:r>
              <a:rPr lang="en-US"/>
              <a:t>           TREE(INFO,LEFT,RIGHT,ROOT)</a:t>
            </a:r>
          </a:p>
          <a:p>
            <a:pPr eaLnBrk="1" hangingPunct="1"/>
            <a:r>
              <a:rPr lang="en-US"/>
              <a:t>All algorithms use a variable PTR(pointer) which will contain the location of the node N currently being scanned. LEFT[N] denotes the left child of node N and RIGHT[N] denotes the right child of N. All algorithms use an array STACK which will hold the addresses of nodes for further processing.</a:t>
            </a:r>
          </a:p>
        </p:txBody>
      </p:sp>
    </p:spTree>
    <p:extLst>
      <p:ext uri="{BB962C8B-B14F-4D97-AF65-F5344CB8AC3E}">
        <p14:creationId xmlns:p14="http://schemas.microsoft.com/office/powerpoint/2010/main" val="302310477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body" idx="1"/>
          </p:nvPr>
        </p:nvSpPr>
        <p:spPr>
          <a:xfrm>
            <a:off x="1524000" y="0"/>
            <a:ext cx="9144000" cy="6858000"/>
          </a:xfrm>
        </p:spPr>
        <p:txBody>
          <a:bodyPr/>
          <a:lstStyle/>
          <a:p>
            <a:pPr marL="457200" indent="-457200" eaLnBrk="1" hangingPunct="1">
              <a:buNone/>
            </a:pPr>
            <a:r>
              <a:rPr lang="en-US" dirty="0"/>
              <a:t>Problem: Create a tree from the given traversals</a:t>
            </a:r>
          </a:p>
          <a:p>
            <a:pPr marL="457200" indent="-457200" eaLnBrk="1" hangingPunct="1">
              <a:buNone/>
            </a:pPr>
            <a:r>
              <a:rPr lang="en-US" dirty="0"/>
              <a:t>      preorder: F A E K C D H G B </a:t>
            </a:r>
          </a:p>
          <a:p>
            <a:pPr marL="457200" indent="-457200" eaLnBrk="1" hangingPunct="1">
              <a:buNone/>
            </a:pPr>
            <a:r>
              <a:rPr lang="en-US" dirty="0"/>
              <a:t>      </a:t>
            </a:r>
            <a:r>
              <a:rPr lang="en-US" dirty="0" err="1"/>
              <a:t>inorder</a:t>
            </a:r>
            <a:r>
              <a:rPr lang="en-US" dirty="0"/>
              <a:t>:   E A C K F H D B G</a:t>
            </a:r>
          </a:p>
          <a:p>
            <a:pPr marL="457200" indent="-457200" eaLnBrk="1" hangingPunct="1">
              <a:buNone/>
            </a:pPr>
            <a:r>
              <a:rPr lang="en-US" dirty="0"/>
              <a:t>Solution: The tree is drawn from the root as follows:</a:t>
            </a:r>
          </a:p>
          <a:p>
            <a:pPr marL="457200" indent="-457200" eaLnBrk="1" hangingPunct="1">
              <a:buFontTx/>
              <a:buAutoNum type="alphaLcParenBoth"/>
            </a:pPr>
            <a:r>
              <a:rPr lang="en-US" dirty="0"/>
              <a:t>The root of tree is obtained by choosing the first node of preorder. Thus F is the root of the proposed tree</a:t>
            </a:r>
          </a:p>
          <a:p>
            <a:pPr marL="457200" indent="-457200" eaLnBrk="1" hangingPunct="1">
              <a:buFontTx/>
              <a:buAutoNum type="alphaLcParenBoth"/>
            </a:pPr>
            <a:r>
              <a:rPr lang="en-US" dirty="0"/>
              <a:t>The left child of the tree is obtained as follows:</a:t>
            </a:r>
          </a:p>
          <a:p>
            <a:pPr marL="914400" lvl="1" indent="-457200" eaLnBrk="1" hangingPunct="1">
              <a:buFontTx/>
              <a:buAutoNum type="alphaLcParenBoth"/>
            </a:pPr>
            <a:r>
              <a:rPr lang="en-US" dirty="0"/>
              <a:t>Use the </a:t>
            </a:r>
            <a:r>
              <a:rPr lang="en-US" dirty="0" err="1"/>
              <a:t>inorder</a:t>
            </a:r>
            <a:r>
              <a:rPr lang="en-US" dirty="0"/>
              <a:t> traversal to find the nodes to the left and right of the root node selected from preorder. All nodes to the left of root node(in this case F) in </a:t>
            </a:r>
            <a:r>
              <a:rPr lang="en-US" dirty="0" err="1"/>
              <a:t>inorder</a:t>
            </a:r>
            <a:r>
              <a:rPr lang="en-US" dirty="0"/>
              <a:t> form the left subtree of the root(in this case E A C K ) </a:t>
            </a:r>
          </a:p>
          <a:p>
            <a:pPr marL="914400" lvl="1" indent="-457200" eaLnBrk="1" hangingPunct="1">
              <a:buFontTx/>
              <a:buAutoNum type="alphaLcParenBoth"/>
            </a:pPr>
            <a:r>
              <a:rPr lang="en-US" dirty="0"/>
              <a:t>All nodes to the right of root node (in this case F ) in </a:t>
            </a:r>
            <a:r>
              <a:rPr lang="en-US" dirty="0" err="1"/>
              <a:t>inorder</a:t>
            </a:r>
            <a:r>
              <a:rPr lang="en-US" dirty="0"/>
              <a:t> form the right subtree of the root (H D B G)</a:t>
            </a:r>
          </a:p>
          <a:p>
            <a:pPr marL="914400" lvl="1" indent="-457200" eaLnBrk="1" hangingPunct="1">
              <a:buFontTx/>
              <a:buAutoNum type="alphaLcParenBoth"/>
            </a:pPr>
            <a:r>
              <a:rPr lang="en-US" dirty="0"/>
              <a:t>Follow the above procedure again to find the subsequent roots and their subtrees on left and right.</a:t>
            </a:r>
          </a:p>
          <a:p>
            <a:pPr marL="914400" lvl="1" indent="-457200" eaLnBrk="1" hangingPunct="1">
              <a:buFontTx/>
              <a:buAutoNum type="alphaLcParenBoth"/>
            </a:pPr>
            <a:endParaRPr lang="en-US" dirty="0"/>
          </a:p>
        </p:txBody>
      </p:sp>
    </p:spTree>
    <p:extLst>
      <p:ext uri="{BB962C8B-B14F-4D97-AF65-F5344CB8AC3E}">
        <p14:creationId xmlns:p14="http://schemas.microsoft.com/office/powerpoint/2010/main" val="354609228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body" idx="1"/>
          </p:nvPr>
        </p:nvSpPr>
        <p:spPr>
          <a:xfrm>
            <a:off x="1524000" y="0"/>
            <a:ext cx="9144000" cy="6858000"/>
          </a:xfrm>
        </p:spPr>
        <p:txBody>
          <a:bodyPr/>
          <a:lstStyle/>
          <a:p>
            <a:pPr eaLnBrk="1" hangingPunct="1">
              <a:lnSpc>
                <a:spcPct val="90000"/>
              </a:lnSpc>
            </a:pPr>
            <a:r>
              <a:rPr lang="en-US"/>
              <a:t> F is the root   Nodes on left subtree( left of F):E A C K (from inorder)</a:t>
            </a:r>
          </a:p>
          <a:p>
            <a:pPr eaLnBrk="1" hangingPunct="1">
              <a:lnSpc>
                <a:spcPct val="90000"/>
              </a:lnSpc>
              <a:buFontTx/>
              <a:buNone/>
            </a:pPr>
            <a:r>
              <a:rPr lang="en-US"/>
              <a:t>                         Nodes on right subtree(right of F):H D B G(from inorder)</a:t>
            </a:r>
          </a:p>
          <a:p>
            <a:pPr eaLnBrk="1" hangingPunct="1">
              <a:lnSpc>
                <a:spcPct val="90000"/>
              </a:lnSpc>
            </a:pPr>
            <a:r>
              <a:rPr lang="en-US"/>
              <a:t> The root of left subtree:</a:t>
            </a:r>
          </a:p>
          <a:p>
            <a:pPr eaLnBrk="1" hangingPunct="1">
              <a:lnSpc>
                <a:spcPct val="90000"/>
              </a:lnSpc>
            </a:pPr>
            <a:r>
              <a:rPr lang="en-US"/>
              <a:t>From preorder: </a:t>
            </a:r>
            <a:r>
              <a:rPr lang="en-US" b="1">
                <a:solidFill>
                  <a:srgbClr val="FF33CC"/>
                </a:solidFill>
              </a:rPr>
              <a:t>A</a:t>
            </a:r>
            <a:r>
              <a:rPr lang="en-US"/>
              <a:t> E K C , Thus the root of left subtree is A </a:t>
            </a:r>
          </a:p>
          <a:p>
            <a:pPr eaLnBrk="1" hangingPunct="1">
              <a:lnSpc>
                <a:spcPct val="90000"/>
              </a:lnSpc>
            </a:pPr>
            <a:r>
              <a:rPr lang="en-US"/>
              <a:t>                         </a:t>
            </a:r>
            <a:r>
              <a:rPr lang="en-US" b="1">
                <a:solidFill>
                  <a:schemeClr val="hlink"/>
                </a:solidFill>
              </a:rPr>
              <a:t>D</a:t>
            </a:r>
            <a:r>
              <a:rPr lang="en-US"/>
              <a:t> H G B , Thus the root of right subtree is D</a:t>
            </a:r>
          </a:p>
          <a:p>
            <a:pPr eaLnBrk="1" hangingPunct="1">
              <a:lnSpc>
                <a:spcPct val="90000"/>
              </a:lnSpc>
            </a:pPr>
            <a:r>
              <a:rPr lang="en-US"/>
              <a:t>Creating left subtree first: </a:t>
            </a:r>
          </a:p>
          <a:p>
            <a:pPr eaLnBrk="1" hangingPunct="1">
              <a:lnSpc>
                <a:spcPct val="90000"/>
              </a:lnSpc>
              <a:buFontTx/>
              <a:buNone/>
            </a:pPr>
            <a:r>
              <a:rPr lang="en-US"/>
              <a:t>     From inorder: elements of left subtree of A are:  </a:t>
            </a:r>
            <a:r>
              <a:rPr lang="en-US" b="1">
                <a:solidFill>
                  <a:srgbClr val="FF33CC"/>
                </a:solidFill>
              </a:rPr>
              <a:t>E</a:t>
            </a:r>
            <a:r>
              <a:rPr lang="en-US"/>
              <a:t> (root of left)</a:t>
            </a:r>
          </a:p>
          <a:p>
            <a:pPr eaLnBrk="1" hangingPunct="1">
              <a:lnSpc>
                <a:spcPct val="90000"/>
              </a:lnSpc>
              <a:buFontTx/>
              <a:buNone/>
            </a:pPr>
            <a:r>
              <a:rPr lang="en-US"/>
              <a:t>                            elements of right subtree of A are: </a:t>
            </a:r>
            <a:r>
              <a:rPr lang="en-US" b="1"/>
              <a:t>C</a:t>
            </a:r>
            <a:r>
              <a:rPr lang="en-US"/>
              <a:t> </a:t>
            </a:r>
            <a:r>
              <a:rPr lang="en-US">
                <a:solidFill>
                  <a:schemeClr val="hlink"/>
                </a:solidFill>
              </a:rPr>
              <a:t>K</a:t>
            </a:r>
            <a:r>
              <a:rPr lang="en-US"/>
              <a:t> (root of right) </a:t>
            </a:r>
          </a:p>
          <a:p>
            <a:pPr eaLnBrk="1" hangingPunct="1">
              <a:lnSpc>
                <a:spcPct val="90000"/>
              </a:lnSpc>
              <a:buFontTx/>
              <a:buNone/>
            </a:pPr>
            <a:r>
              <a:rPr lang="en-US"/>
              <a:t>    Thus tree till now is:    </a:t>
            </a:r>
          </a:p>
          <a:p>
            <a:pPr eaLnBrk="1" hangingPunct="1">
              <a:lnSpc>
                <a:spcPct val="90000"/>
              </a:lnSpc>
              <a:buFontTx/>
              <a:buNone/>
            </a:pPr>
            <a:r>
              <a:rPr lang="en-US"/>
              <a:t>                                           F</a:t>
            </a:r>
          </a:p>
          <a:p>
            <a:pPr eaLnBrk="1" hangingPunct="1">
              <a:lnSpc>
                <a:spcPct val="90000"/>
              </a:lnSpc>
              <a:buFontTx/>
              <a:buNone/>
            </a:pPr>
            <a:r>
              <a:rPr lang="en-US"/>
              <a:t>                                    A          D     </a:t>
            </a:r>
          </a:p>
          <a:p>
            <a:pPr eaLnBrk="1" hangingPunct="1">
              <a:lnSpc>
                <a:spcPct val="90000"/>
              </a:lnSpc>
              <a:buFontTx/>
              <a:buNone/>
            </a:pPr>
            <a:r>
              <a:rPr lang="en-US"/>
              <a:t>                                </a:t>
            </a:r>
          </a:p>
          <a:p>
            <a:pPr eaLnBrk="1" hangingPunct="1">
              <a:lnSpc>
                <a:spcPct val="90000"/>
              </a:lnSpc>
              <a:buFontTx/>
              <a:buNone/>
            </a:pPr>
            <a:r>
              <a:rPr lang="en-US"/>
              <a:t>                              E        K</a:t>
            </a:r>
          </a:p>
          <a:p>
            <a:pPr eaLnBrk="1" hangingPunct="1">
              <a:lnSpc>
                <a:spcPct val="90000"/>
              </a:lnSpc>
              <a:buFontTx/>
              <a:buNone/>
            </a:pPr>
            <a:endParaRPr lang="en-US"/>
          </a:p>
          <a:p>
            <a:pPr eaLnBrk="1" hangingPunct="1">
              <a:lnSpc>
                <a:spcPct val="90000"/>
              </a:lnSpc>
              <a:buFontTx/>
              <a:buNone/>
            </a:pPr>
            <a:r>
              <a:rPr lang="en-US"/>
              <a:t>                                    C</a:t>
            </a:r>
          </a:p>
          <a:p>
            <a:pPr eaLnBrk="1" hangingPunct="1">
              <a:lnSpc>
                <a:spcPct val="90000"/>
              </a:lnSpc>
              <a:buFontTx/>
              <a:buNone/>
            </a:pPr>
            <a:r>
              <a:rPr lang="en-US"/>
              <a:t>    As K is to the left of C in preorder</a:t>
            </a:r>
          </a:p>
        </p:txBody>
      </p:sp>
      <p:sp>
        <p:nvSpPr>
          <p:cNvPr id="287747" name="Line 3"/>
          <p:cNvSpPr>
            <a:spLocks noChangeShapeType="1"/>
          </p:cNvSpPr>
          <p:nvPr/>
        </p:nvSpPr>
        <p:spPr bwMode="auto">
          <a:xfrm flipH="1">
            <a:off x="4572000" y="3886200"/>
            <a:ext cx="304800" cy="304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7748" name="Line 4"/>
          <p:cNvSpPr>
            <a:spLocks noChangeShapeType="1"/>
          </p:cNvSpPr>
          <p:nvPr/>
        </p:nvSpPr>
        <p:spPr bwMode="auto">
          <a:xfrm>
            <a:off x="5105400" y="3886200"/>
            <a:ext cx="228600" cy="228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7749" name="Line 5"/>
          <p:cNvSpPr>
            <a:spLocks noChangeShapeType="1"/>
          </p:cNvSpPr>
          <p:nvPr/>
        </p:nvSpPr>
        <p:spPr bwMode="auto">
          <a:xfrm flipH="1">
            <a:off x="4038600" y="4419600"/>
            <a:ext cx="30480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7750" name="Line 6"/>
          <p:cNvSpPr>
            <a:spLocks noChangeShapeType="1"/>
          </p:cNvSpPr>
          <p:nvPr/>
        </p:nvSpPr>
        <p:spPr bwMode="auto">
          <a:xfrm>
            <a:off x="4419600" y="4419600"/>
            <a:ext cx="3048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7751" name="Line 7"/>
          <p:cNvSpPr>
            <a:spLocks noChangeShapeType="1"/>
          </p:cNvSpPr>
          <p:nvPr/>
        </p:nvSpPr>
        <p:spPr bwMode="auto">
          <a:xfrm flipH="1">
            <a:off x="4495800" y="5181600"/>
            <a:ext cx="304800" cy="4572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67088046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body" idx="1"/>
          </p:nvPr>
        </p:nvSpPr>
        <p:spPr>
          <a:xfrm>
            <a:off x="1524000" y="0"/>
            <a:ext cx="9144000" cy="6858000"/>
          </a:xfrm>
        </p:spPr>
        <p:txBody>
          <a:bodyPr/>
          <a:lstStyle/>
          <a:p>
            <a:pPr eaLnBrk="1" hangingPunct="1"/>
            <a:r>
              <a:rPr lang="en-US"/>
              <a:t>Creating the right subtree of F</a:t>
            </a:r>
          </a:p>
          <a:p>
            <a:pPr eaLnBrk="1" hangingPunct="1"/>
            <a:r>
              <a:rPr lang="en-US"/>
              <a:t>The root node is D</a:t>
            </a:r>
          </a:p>
          <a:p>
            <a:pPr eaLnBrk="1" hangingPunct="1"/>
            <a:r>
              <a:rPr lang="en-US"/>
              <a:t>From inorder, the nodes on the left of D are: </a:t>
            </a:r>
            <a:r>
              <a:rPr lang="en-US" b="1">
                <a:solidFill>
                  <a:srgbClr val="FF33CC"/>
                </a:solidFill>
              </a:rPr>
              <a:t>H</a:t>
            </a:r>
            <a:r>
              <a:rPr lang="en-US">
                <a:solidFill>
                  <a:srgbClr val="FF33CC"/>
                </a:solidFill>
              </a:rPr>
              <a:t> (left root of D)</a:t>
            </a:r>
          </a:p>
          <a:p>
            <a:pPr eaLnBrk="1" hangingPunct="1">
              <a:buFontTx/>
              <a:buNone/>
            </a:pPr>
            <a:r>
              <a:rPr lang="en-US"/>
              <a:t>                           the nodes on the right of D are: B </a:t>
            </a:r>
            <a:r>
              <a:rPr lang="en-US" b="1">
                <a:solidFill>
                  <a:schemeClr val="hlink"/>
                </a:solidFill>
              </a:rPr>
              <a:t>G (right root of D) </a:t>
            </a:r>
          </a:p>
          <a:p>
            <a:pPr eaLnBrk="1" hangingPunct="1">
              <a:buFontTx/>
              <a:buNone/>
            </a:pPr>
            <a:r>
              <a:rPr lang="en-US" b="1">
                <a:solidFill>
                  <a:schemeClr val="hlink"/>
                </a:solidFill>
              </a:rPr>
              <a:t>  </a:t>
            </a:r>
            <a:r>
              <a:rPr lang="en-US"/>
              <a:t>Thus the tree is:</a:t>
            </a:r>
          </a:p>
          <a:p>
            <a:pPr eaLnBrk="1" hangingPunct="1">
              <a:buFontTx/>
              <a:buNone/>
            </a:pPr>
            <a:endParaRPr lang="en-US"/>
          </a:p>
          <a:p>
            <a:pPr eaLnBrk="1" hangingPunct="1">
              <a:buFontTx/>
              <a:buNone/>
            </a:pPr>
            <a:r>
              <a:rPr lang="en-US"/>
              <a:t>                              F</a:t>
            </a:r>
          </a:p>
          <a:p>
            <a:pPr eaLnBrk="1" hangingPunct="1">
              <a:buFontTx/>
              <a:buNone/>
            </a:pPr>
            <a:endParaRPr lang="en-US"/>
          </a:p>
          <a:p>
            <a:pPr eaLnBrk="1" hangingPunct="1">
              <a:buFontTx/>
              <a:buNone/>
            </a:pPr>
            <a:r>
              <a:rPr lang="en-US"/>
              <a:t>                  A                      D  </a:t>
            </a:r>
          </a:p>
          <a:p>
            <a:pPr eaLnBrk="1" hangingPunct="1">
              <a:buFontTx/>
              <a:buNone/>
            </a:pPr>
            <a:endParaRPr lang="en-US"/>
          </a:p>
          <a:p>
            <a:pPr eaLnBrk="1" hangingPunct="1">
              <a:buFontTx/>
              <a:buNone/>
            </a:pPr>
            <a:r>
              <a:rPr lang="en-US"/>
              <a:t>       E                  K       H            G     </a:t>
            </a:r>
          </a:p>
          <a:p>
            <a:pPr eaLnBrk="1" hangingPunct="1">
              <a:buFontTx/>
              <a:buNone/>
            </a:pPr>
            <a:endParaRPr lang="en-US"/>
          </a:p>
          <a:p>
            <a:pPr eaLnBrk="1" hangingPunct="1">
              <a:buFontTx/>
              <a:buNone/>
            </a:pPr>
            <a:r>
              <a:rPr lang="en-US"/>
              <a:t>                    C                         B </a:t>
            </a:r>
          </a:p>
        </p:txBody>
      </p:sp>
      <p:sp>
        <p:nvSpPr>
          <p:cNvPr id="288771" name="Line 3"/>
          <p:cNvSpPr>
            <a:spLocks noChangeShapeType="1"/>
          </p:cNvSpPr>
          <p:nvPr/>
        </p:nvSpPr>
        <p:spPr bwMode="auto">
          <a:xfrm flipH="1">
            <a:off x="3200400" y="2971800"/>
            <a:ext cx="762000" cy="762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8772" name="Line 4"/>
          <p:cNvSpPr>
            <a:spLocks noChangeShapeType="1"/>
          </p:cNvSpPr>
          <p:nvPr/>
        </p:nvSpPr>
        <p:spPr bwMode="auto">
          <a:xfrm>
            <a:off x="4114800" y="3048000"/>
            <a:ext cx="7620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8773" name="Line 5"/>
          <p:cNvSpPr>
            <a:spLocks noChangeShapeType="1"/>
          </p:cNvSpPr>
          <p:nvPr/>
        </p:nvSpPr>
        <p:spPr bwMode="auto">
          <a:xfrm flipH="1">
            <a:off x="2362200" y="3886200"/>
            <a:ext cx="6858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8774" name="Line 6"/>
          <p:cNvSpPr>
            <a:spLocks noChangeShapeType="1"/>
          </p:cNvSpPr>
          <p:nvPr/>
        </p:nvSpPr>
        <p:spPr bwMode="auto">
          <a:xfrm>
            <a:off x="3124200" y="3886200"/>
            <a:ext cx="5334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8775" name="Line 7"/>
          <p:cNvSpPr>
            <a:spLocks noChangeShapeType="1"/>
          </p:cNvSpPr>
          <p:nvPr/>
        </p:nvSpPr>
        <p:spPr bwMode="auto">
          <a:xfrm flipH="1">
            <a:off x="3276600" y="4724400"/>
            <a:ext cx="5334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8776" name="Line 8"/>
          <p:cNvSpPr>
            <a:spLocks noChangeShapeType="1"/>
          </p:cNvSpPr>
          <p:nvPr/>
        </p:nvSpPr>
        <p:spPr bwMode="auto">
          <a:xfrm flipH="1">
            <a:off x="4572000" y="3886200"/>
            <a:ext cx="3810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8777" name="Line 9"/>
          <p:cNvSpPr>
            <a:spLocks noChangeShapeType="1"/>
          </p:cNvSpPr>
          <p:nvPr/>
        </p:nvSpPr>
        <p:spPr bwMode="auto">
          <a:xfrm>
            <a:off x="4953000" y="3886200"/>
            <a:ext cx="6858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8778" name="Line 10"/>
          <p:cNvSpPr>
            <a:spLocks noChangeShapeType="1"/>
          </p:cNvSpPr>
          <p:nvPr/>
        </p:nvSpPr>
        <p:spPr bwMode="auto">
          <a:xfrm flipH="1">
            <a:off x="5410200" y="4800600"/>
            <a:ext cx="3048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44665022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body" idx="1"/>
          </p:nvPr>
        </p:nvSpPr>
        <p:spPr>
          <a:xfrm>
            <a:off x="1524000" y="0"/>
            <a:ext cx="9144000" cy="6858000"/>
          </a:xfrm>
        </p:spPr>
        <p:txBody>
          <a:bodyPr/>
          <a:lstStyle/>
          <a:p>
            <a:pPr eaLnBrk="1" hangingPunct="1">
              <a:buFontTx/>
              <a:buNone/>
            </a:pPr>
            <a:r>
              <a:rPr lang="en-US"/>
              <a:t>                           </a:t>
            </a:r>
          </a:p>
          <a:p>
            <a:pPr eaLnBrk="1" hangingPunct="1">
              <a:buFontTx/>
              <a:buNone/>
            </a:pPr>
            <a:r>
              <a:rPr lang="en-US"/>
              <a:t>                                              F</a:t>
            </a:r>
          </a:p>
          <a:p>
            <a:pPr eaLnBrk="1" hangingPunct="1">
              <a:buFontTx/>
              <a:buNone/>
            </a:pPr>
            <a:endParaRPr lang="en-US"/>
          </a:p>
          <a:p>
            <a:pPr eaLnBrk="1" hangingPunct="1">
              <a:buFontTx/>
              <a:buNone/>
            </a:pPr>
            <a:r>
              <a:rPr lang="en-US"/>
              <a:t>                              A                                 D</a:t>
            </a:r>
          </a:p>
          <a:p>
            <a:pPr eaLnBrk="1" hangingPunct="1">
              <a:buFontTx/>
              <a:buNone/>
            </a:pPr>
            <a:endParaRPr lang="en-US"/>
          </a:p>
          <a:p>
            <a:pPr eaLnBrk="1" hangingPunct="1">
              <a:buFontTx/>
              <a:buNone/>
            </a:pPr>
            <a:r>
              <a:rPr lang="en-US"/>
              <a:t>                 E                   K                  H              G</a:t>
            </a:r>
          </a:p>
          <a:p>
            <a:pPr eaLnBrk="1" hangingPunct="1">
              <a:buFontTx/>
              <a:buNone/>
            </a:pPr>
            <a:endParaRPr lang="en-US"/>
          </a:p>
          <a:p>
            <a:pPr eaLnBrk="1" hangingPunct="1">
              <a:buFontTx/>
              <a:buNone/>
            </a:pPr>
            <a:r>
              <a:rPr lang="en-US"/>
              <a:t>                              C                                        B                                                    </a:t>
            </a:r>
          </a:p>
          <a:p>
            <a:pPr eaLnBrk="1" hangingPunct="1"/>
            <a:endParaRPr lang="en-US"/>
          </a:p>
        </p:txBody>
      </p:sp>
      <p:sp>
        <p:nvSpPr>
          <p:cNvPr id="289795" name="Line 3"/>
          <p:cNvSpPr>
            <a:spLocks noChangeShapeType="1"/>
          </p:cNvSpPr>
          <p:nvPr/>
        </p:nvSpPr>
        <p:spPr bwMode="auto">
          <a:xfrm flipH="1">
            <a:off x="4114800" y="838200"/>
            <a:ext cx="990600" cy="762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9796" name="Line 4"/>
          <p:cNvSpPr>
            <a:spLocks noChangeShapeType="1"/>
          </p:cNvSpPr>
          <p:nvPr/>
        </p:nvSpPr>
        <p:spPr bwMode="auto">
          <a:xfrm>
            <a:off x="5105400" y="838200"/>
            <a:ext cx="1447800" cy="762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9797" name="Line 5"/>
          <p:cNvSpPr>
            <a:spLocks noChangeShapeType="1"/>
          </p:cNvSpPr>
          <p:nvPr/>
        </p:nvSpPr>
        <p:spPr bwMode="auto">
          <a:xfrm flipH="1">
            <a:off x="3048000" y="1676400"/>
            <a:ext cx="9144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9798" name="Line 6"/>
          <p:cNvSpPr>
            <a:spLocks noChangeShapeType="1"/>
          </p:cNvSpPr>
          <p:nvPr/>
        </p:nvSpPr>
        <p:spPr bwMode="auto">
          <a:xfrm>
            <a:off x="3962400" y="1676400"/>
            <a:ext cx="5334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9799" name="Line 7"/>
          <p:cNvSpPr>
            <a:spLocks noChangeShapeType="1"/>
          </p:cNvSpPr>
          <p:nvPr/>
        </p:nvSpPr>
        <p:spPr bwMode="auto">
          <a:xfrm flipH="1">
            <a:off x="6248400" y="1676400"/>
            <a:ext cx="3810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9800" name="Line 8"/>
          <p:cNvSpPr>
            <a:spLocks noChangeShapeType="1"/>
          </p:cNvSpPr>
          <p:nvPr/>
        </p:nvSpPr>
        <p:spPr bwMode="auto">
          <a:xfrm>
            <a:off x="6629400" y="1676400"/>
            <a:ext cx="7620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9801" name="Line 9"/>
          <p:cNvSpPr>
            <a:spLocks noChangeShapeType="1"/>
          </p:cNvSpPr>
          <p:nvPr/>
        </p:nvSpPr>
        <p:spPr bwMode="auto">
          <a:xfrm flipH="1">
            <a:off x="4038600" y="2590800"/>
            <a:ext cx="533400" cy="6096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9802" name="Line 10"/>
          <p:cNvSpPr>
            <a:spLocks noChangeShapeType="1"/>
          </p:cNvSpPr>
          <p:nvPr/>
        </p:nvSpPr>
        <p:spPr bwMode="auto">
          <a:xfrm flipH="1">
            <a:off x="7239000" y="2514600"/>
            <a:ext cx="2286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60739602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a:t>Traversing Binary Trees</a:t>
            </a:r>
          </a:p>
          <a:p>
            <a:pPr eaLnBrk="1" hangingPunct="1">
              <a:buFontTx/>
              <a:buNone/>
            </a:pPr>
            <a:r>
              <a:rPr lang="en-US"/>
              <a:t>    There are three standard ways of traversing a binary tree T with root R. These are preorder, inorder and postorder traversals</a:t>
            </a:r>
          </a:p>
          <a:p>
            <a:pPr eaLnBrk="1" hangingPunct="1"/>
            <a:r>
              <a:rPr lang="en-US" b="1"/>
              <a:t>Preorder</a:t>
            </a:r>
          </a:p>
          <a:p>
            <a:pPr eaLnBrk="1" hangingPunct="1">
              <a:buFontTx/>
              <a:buNone/>
            </a:pPr>
            <a:r>
              <a:rPr lang="en-US"/>
              <a:t>       PROCESS the root R</a:t>
            </a:r>
          </a:p>
          <a:p>
            <a:pPr eaLnBrk="1" hangingPunct="1">
              <a:buFontTx/>
              <a:buNone/>
            </a:pPr>
            <a:r>
              <a:rPr lang="en-US"/>
              <a:t>       Traverse the left sub tree of R in preorder</a:t>
            </a:r>
          </a:p>
          <a:p>
            <a:pPr eaLnBrk="1" hangingPunct="1">
              <a:buFontTx/>
              <a:buNone/>
            </a:pPr>
            <a:r>
              <a:rPr lang="en-US"/>
              <a:t>       Traverse the right sub tree of R in preorder</a:t>
            </a:r>
          </a:p>
          <a:p>
            <a:pPr eaLnBrk="1" hangingPunct="1"/>
            <a:r>
              <a:rPr lang="en-US" b="1"/>
              <a:t>Inorder</a:t>
            </a:r>
          </a:p>
          <a:p>
            <a:pPr eaLnBrk="1" hangingPunct="1">
              <a:buFontTx/>
              <a:buNone/>
            </a:pPr>
            <a:r>
              <a:rPr lang="en-US"/>
              <a:t>      Traverse the left sub tree of R in inorder</a:t>
            </a:r>
          </a:p>
          <a:p>
            <a:pPr eaLnBrk="1" hangingPunct="1">
              <a:buFontTx/>
              <a:buNone/>
            </a:pPr>
            <a:r>
              <a:rPr lang="en-US"/>
              <a:t>      Process the root R</a:t>
            </a:r>
          </a:p>
          <a:p>
            <a:pPr eaLnBrk="1" hangingPunct="1">
              <a:buFontTx/>
              <a:buNone/>
            </a:pPr>
            <a:r>
              <a:rPr lang="en-US"/>
              <a:t>      Traverse the right sub tree of R in inorder</a:t>
            </a:r>
          </a:p>
          <a:p>
            <a:pPr eaLnBrk="1" hangingPunct="1"/>
            <a:r>
              <a:rPr lang="en-US" b="1"/>
              <a:t>Postorder</a:t>
            </a:r>
          </a:p>
          <a:p>
            <a:pPr eaLnBrk="1" hangingPunct="1">
              <a:buFontTx/>
              <a:buNone/>
            </a:pPr>
            <a:r>
              <a:rPr lang="en-US"/>
              <a:t>      Traverse the left sub tree of R in postorder</a:t>
            </a:r>
          </a:p>
          <a:p>
            <a:pPr eaLnBrk="1" hangingPunct="1">
              <a:buFontTx/>
              <a:buNone/>
            </a:pPr>
            <a:r>
              <a:rPr lang="en-US"/>
              <a:t>      Traverse the right sub tree of R in postorder</a:t>
            </a:r>
          </a:p>
          <a:p>
            <a:pPr eaLnBrk="1" hangingPunct="1">
              <a:buFontTx/>
              <a:buNone/>
            </a:pPr>
            <a:r>
              <a:rPr lang="en-US"/>
              <a:t>      Process the root R</a:t>
            </a:r>
          </a:p>
        </p:txBody>
      </p:sp>
    </p:spTree>
    <p:extLst>
      <p:ext uri="{BB962C8B-B14F-4D97-AF65-F5344CB8AC3E}">
        <p14:creationId xmlns:p14="http://schemas.microsoft.com/office/powerpoint/2010/main" val="268289465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BC404-5EB0-0440-B84C-105572B024ED}"/>
              </a:ext>
            </a:extLst>
          </p:cNvPr>
          <p:cNvSpPr>
            <a:spLocks noGrp="1"/>
          </p:cNvSpPr>
          <p:nvPr>
            <p:ph type="title"/>
          </p:nvPr>
        </p:nvSpPr>
        <p:spPr>
          <a:xfrm>
            <a:off x="609600" y="0"/>
            <a:ext cx="10972800" cy="791110"/>
          </a:xfrm>
        </p:spPr>
        <p:txBody>
          <a:bodyPr/>
          <a:lstStyle/>
          <a:p>
            <a:r>
              <a:rPr lang="en-US" dirty="0"/>
              <a:t>Recursive  Tree Traversal Algorithm</a:t>
            </a:r>
          </a:p>
        </p:txBody>
      </p:sp>
      <p:sp>
        <p:nvSpPr>
          <p:cNvPr id="3" name="Content Placeholder 2">
            <a:extLst>
              <a:ext uri="{FF2B5EF4-FFF2-40B4-BE49-F238E27FC236}">
                <a16:creationId xmlns:a16="http://schemas.microsoft.com/office/drawing/2014/main" id="{A66B7609-47BD-9D4F-A0E9-C16352A165C1}"/>
              </a:ext>
            </a:extLst>
          </p:cNvPr>
          <p:cNvSpPr>
            <a:spLocks noGrp="1"/>
          </p:cNvSpPr>
          <p:nvPr>
            <p:ph idx="1"/>
          </p:nvPr>
        </p:nvSpPr>
        <p:spPr>
          <a:xfrm>
            <a:off x="0" y="983751"/>
            <a:ext cx="12192000" cy="5874249"/>
          </a:xfrm>
        </p:spPr>
        <p:txBody>
          <a:bodyPr numCol="2"/>
          <a:lstStyle/>
          <a:p>
            <a:r>
              <a:rPr lang="en-US" dirty="0"/>
              <a:t>Preorder(Root)</a:t>
            </a:r>
          </a:p>
          <a:p>
            <a:r>
              <a:rPr lang="en-US" dirty="0"/>
              <a:t>Repeat while Root != NULL</a:t>
            </a:r>
          </a:p>
          <a:p>
            <a:pPr marL="890588" indent="-338138"/>
            <a:r>
              <a:rPr lang="en-US" dirty="0"/>
              <a:t>WRITE: INFO[ROOT]</a:t>
            </a:r>
          </a:p>
          <a:p>
            <a:pPr marL="890588" indent="-338138"/>
            <a:r>
              <a:rPr lang="en-US" dirty="0"/>
              <a:t>Preorder(LEFT[Root])</a:t>
            </a:r>
          </a:p>
          <a:p>
            <a:pPr marL="890588" indent="-338138"/>
            <a:r>
              <a:rPr lang="en-US" dirty="0"/>
              <a:t>Preorder(RIGHT[Root])</a:t>
            </a:r>
          </a:p>
          <a:p>
            <a:r>
              <a:rPr lang="en-US" dirty="0"/>
              <a:t>[End of Loop]</a:t>
            </a:r>
          </a:p>
          <a:p>
            <a:endParaRPr lang="en-US" dirty="0"/>
          </a:p>
          <a:p>
            <a:r>
              <a:rPr lang="en-US" dirty="0" err="1"/>
              <a:t>Inorder</a:t>
            </a:r>
            <a:r>
              <a:rPr lang="en-US" dirty="0"/>
              <a:t> (Root)</a:t>
            </a:r>
          </a:p>
          <a:p>
            <a:r>
              <a:rPr lang="en-US" dirty="0"/>
              <a:t>Repeat while Root != NULL</a:t>
            </a:r>
          </a:p>
          <a:p>
            <a:pPr marL="890588" indent="-338138"/>
            <a:r>
              <a:rPr lang="en-US" dirty="0" err="1"/>
              <a:t>Inorder</a:t>
            </a:r>
            <a:r>
              <a:rPr lang="en-US" dirty="0"/>
              <a:t>(LEFT[Root])</a:t>
            </a:r>
          </a:p>
          <a:p>
            <a:pPr marL="890588" indent="-338138"/>
            <a:r>
              <a:rPr lang="en-US" dirty="0"/>
              <a:t>WRITE: INFO[ROOT]</a:t>
            </a:r>
          </a:p>
          <a:p>
            <a:pPr marL="890588" indent="-338138"/>
            <a:r>
              <a:rPr lang="en-US" dirty="0"/>
              <a:t>Preorder(RIGHT[Root])</a:t>
            </a:r>
          </a:p>
          <a:p>
            <a:r>
              <a:rPr lang="en-US" dirty="0"/>
              <a:t>[End of Loop]</a:t>
            </a:r>
          </a:p>
          <a:p>
            <a:r>
              <a:rPr lang="en-US"/>
              <a:t>Postorder</a:t>
            </a:r>
            <a:r>
              <a:rPr lang="en-US" dirty="0"/>
              <a:t> (Root)</a:t>
            </a:r>
          </a:p>
          <a:p>
            <a:r>
              <a:rPr lang="en-US" dirty="0"/>
              <a:t>Repeat while Root != NULL</a:t>
            </a:r>
          </a:p>
          <a:p>
            <a:pPr marL="890588" indent="-338138"/>
            <a:r>
              <a:rPr lang="en-US" dirty="0" err="1"/>
              <a:t>Postorder</a:t>
            </a:r>
            <a:r>
              <a:rPr lang="en-US" dirty="0"/>
              <a:t>(LEFT[Root])</a:t>
            </a:r>
          </a:p>
          <a:p>
            <a:pPr marL="890588" indent="-338138"/>
            <a:r>
              <a:rPr lang="en-US" dirty="0" err="1"/>
              <a:t>Postorder</a:t>
            </a:r>
            <a:r>
              <a:rPr lang="en-US" dirty="0"/>
              <a:t>(RIGHT[Root])</a:t>
            </a:r>
          </a:p>
          <a:p>
            <a:pPr marL="890588" indent="-338138"/>
            <a:r>
              <a:rPr lang="en-US" dirty="0"/>
              <a:t>WRITE: INFO[ROOT]</a:t>
            </a:r>
          </a:p>
          <a:p>
            <a:r>
              <a:rPr lang="en-US" dirty="0"/>
              <a:t>[End of Loop]</a:t>
            </a:r>
          </a:p>
          <a:p>
            <a:pPr marL="0" indent="0">
              <a:buNone/>
            </a:pPr>
            <a:endParaRPr lang="en-US" dirty="0"/>
          </a:p>
          <a:p>
            <a:endParaRPr lang="en-US" dirty="0"/>
          </a:p>
        </p:txBody>
      </p:sp>
    </p:spTree>
    <p:extLst>
      <p:ext uri="{BB962C8B-B14F-4D97-AF65-F5344CB8AC3E}">
        <p14:creationId xmlns:p14="http://schemas.microsoft.com/office/powerpoint/2010/main" val="238248765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b="1" dirty="0"/>
              <a:t>Algorithm:</a:t>
            </a:r>
            <a:r>
              <a:rPr lang="en-US" sz="2000" dirty="0"/>
              <a:t> </a:t>
            </a:r>
            <a:r>
              <a:rPr lang="en-US" sz="2000" b="1" dirty="0"/>
              <a:t>PREORD(INFO, LEFT, RIGHT, ROOT)</a:t>
            </a:r>
          </a:p>
          <a:p>
            <a:pPr eaLnBrk="1" hangingPunct="1">
              <a:lnSpc>
                <a:spcPct val="90000"/>
              </a:lnSpc>
              <a:buFontTx/>
              <a:buNone/>
            </a:pPr>
            <a:r>
              <a:rPr lang="en-US" sz="2000" b="1" dirty="0"/>
              <a:t>                             </a:t>
            </a:r>
            <a:r>
              <a:rPr lang="en-US" sz="2000" dirty="0"/>
              <a:t>This algorithm traverses the tree in preorder</a:t>
            </a:r>
            <a:r>
              <a:rPr lang="en-US" sz="2000" b="1" dirty="0"/>
              <a:t>      </a:t>
            </a:r>
          </a:p>
          <a:p>
            <a:pPr eaLnBrk="1" hangingPunct="1">
              <a:lnSpc>
                <a:spcPct val="90000"/>
              </a:lnSpc>
            </a:pPr>
            <a:r>
              <a:rPr lang="en-US" sz="2000" dirty="0"/>
              <a:t>Step 1: Set TOP:=1, STACK[1]:=NULL and PTR:= ROOT</a:t>
            </a:r>
          </a:p>
          <a:p>
            <a:pPr eaLnBrk="1" hangingPunct="1">
              <a:lnSpc>
                <a:spcPct val="90000"/>
              </a:lnSpc>
            </a:pPr>
            <a:r>
              <a:rPr lang="en-US" sz="2000" dirty="0"/>
              <a:t>Step 2: Repeat Step 3 to 5 while PTR</a:t>
            </a:r>
            <a:r>
              <a:rPr lang="en-US" sz="2000" dirty="0">
                <a:cs typeface="Times New Roman" pitchFamily="18" charset="0"/>
              </a:rPr>
              <a:t>≠NULL</a:t>
            </a:r>
          </a:p>
          <a:p>
            <a:pPr eaLnBrk="1" hangingPunct="1">
              <a:lnSpc>
                <a:spcPct val="90000"/>
              </a:lnSpc>
            </a:pPr>
            <a:r>
              <a:rPr lang="en-US" sz="2000" dirty="0">
                <a:cs typeface="Times New Roman" pitchFamily="18" charset="0"/>
              </a:rPr>
              <a:t>Step 3: Apply PROCESS to INFO[PTR]</a:t>
            </a:r>
          </a:p>
          <a:p>
            <a:pPr eaLnBrk="1" hangingPunct="1">
              <a:lnSpc>
                <a:spcPct val="90000"/>
              </a:lnSpc>
            </a:pPr>
            <a:r>
              <a:rPr lang="en-US" sz="2000" dirty="0">
                <a:cs typeface="Times New Roman" pitchFamily="18" charset="0"/>
              </a:rPr>
              <a:t>Step 4: [Right Child ?]</a:t>
            </a:r>
          </a:p>
          <a:p>
            <a:pPr eaLnBrk="1" hangingPunct="1">
              <a:lnSpc>
                <a:spcPct val="90000"/>
              </a:lnSpc>
              <a:buFontTx/>
              <a:buNone/>
            </a:pPr>
            <a:r>
              <a:rPr lang="en-US" sz="2000" dirty="0">
                <a:cs typeface="Times New Roman" pitchFamily="18" charset="0"/>
              </a:rPr>
              <a:t>                If RIGHT[PTR] ≠ NULL, then:</a:t>
            </a:r>
          </a:p>
          <a:p>
            <a:pPr eaLnBrk="1" hangingPunct="1">
              <a:lnSpc>
                <a:spcPct val="90000"/>
              </a:lnSpc>
              <a:buFontTx/>
              <a:buNone/>
            </a:pPr>
            <a:r>
              <a:rPr lang="en-US" sz="2000" dirty="0">
                <a:cs typeface="Times New Roman" pitchFamily="18" charset="0"/>
              </a:rPr>
              <a:t>                Set TOP:=TOP + 1</a:t>
            </a:r>
          </a:p>
          <a:p>
            <a:pPr eaLnBrk="1" hangingPunct="1">
              <a:lnSpc>
                <a:spcPct val="90000"/>
              </a:lnSpc>
              <a:buFontTx/>
              <a:buNone/>
            </a:pPr>
            <a:r>
              <a:rPr lang="en-US" sz="2000" dirty="0">
                <a:cs typeface="Times New Roman" pitchFamily="18" charset="0"/>
              </a:rPr>
              <a:t>                Set STACK[TOP]:= RIGHT[PTR]</a:t>
            </a:r>
          </a:p>
          <a:p>
            <a:pPr eaLnBrk="1" hangingPunct="1">
              <a:lnSpc>
                <a:spcPct val="90000"/>
              </a:lnSpc>
              <a:buFontTx/>
              <a:buNone/>
            </a:pPr>
            <a:r>
              <a:rPr lang="en-US" sz="2000" dirty="0">
                <a:cs typeface="Times New Roman" pitchFamily="18" charset="0"/>
              </a:rPr>
              <a:t>                [End of If structure]</a:t>
            </a:r>
          </a:p>
          <a:p>
            <a:pPr eaLnBrk="1" hangingPunct="1">
              <a:lnSpc>
                <a:spcPct val="90000"/>
              </a:lnSpc>
            </a:pPr>
            <a:r>
              <a:rPr lang="en-US" sz="2000" dirty="0">
                <a:cs typeface="Times New Roman" pitchFamily="18" charset="0"/>
              </a:rPr>
              <a:t>Step 5: [Left Child ?]</a:t>
            </a:r>
          </a:p>
          <a:p>
            <a:pPr eaLnBrk="1" hangingPunct="1">
              <a:lnSpc>
                <a:spcPct val="90000"/>
              </a:lnSpc>
              <a:buFontTx/>
              <a:buNone/>
            </a:pPr>
            <a:r>
              <a:rPr lang="en-US" sz="2000" dirty="0">
                <a:cs typeface="Times New Roman" pitchFamily="18" charset="0"/>
              </a:rPr>
              <a:t>                If LEFT[PTR] ≠ NULL, then:</a:t>
            </a:r>
          </a:p>
          <a:p>
            <a:pPr eaLnBrk="1" hangingPunct="1">
              <a:lnSpc>
                <a:spcPct val="90000"/>
              </a:lnSpc>
              <a:buFontTx/>
              <a:buNone/>
            </a:pPr>
            <a:r>
              <a:rPr lang="en-US" sz="2000" dirty="0">
                <a:cs typeface="Times New Roman" pitchFamily="18" charset="0"/>
              </a:rPr>
              <a:t>                 Set PTR:=LEFT[PTR]</a:t>
            </a:r>
          </a:p>
          <a:p>
            <a:pPr eaLnBrk="1" hangingPunct="1">
              <a:lnSpc>
                <a:spcPct val="90000"/>
              </a:lnSpc>
              <a:buFontTx/>
              <a:buNone/>
            </a:pPr>
            <a:r>
              <a:rPr lang="en-US" sz="2000" dirty="0">
                <a:cs typeface="Times New Roman" pitchFamily="18" charset="0"/>
              </a:rPr>
              <a:t>                Else:</a:t>
            </a:r>
          </a:p>
          <a:p>
            <a:pPr eaLnBrk="1" hangingPunct="1">
              <a:lnSpc>
                <a:spcPct val="90000"/>
              </a:lnSpc>
              <a:buFontTx/>
              <a:buNone/>
            </a:pPr>
            <a:r>
              <a:rPr lang="en-US" sz="2000" dirty="0">
                <a:cs typeface="Times New Roman" pitchFamily="18" charset="0"/>
              </a:rPr>
              <a:t>                 Set PTR:=STACK[TOP]</a:t>
            </a:r>
          </a:p>
          <a:p>
            <a:pPr eaLnBrk="1" hangingPunct="1">
              <a:lnSpc>
                <a:spcPct val="90000"/>
              </a:lnSpc>
              <a:buFontTx/>
              <a:buNone/>
            </a:pPr>
            <a:r>
              <a:rPr lang="en-US" sz="2000" dirty="0">
                <a:cs typeface="Times New Roman" pitchFamily="18" charset="0"/>
              </a:rPr>
              <a:t>                 Set TOP:=TOP-1</a:t>
            </a:r>
          </a:p>
          <a:p>
            <a:pPr eaLnBrk="1" hangingPunct="1">
              <a:lnSpc>
                <a:spcPct val="90000"/>
              </a:lnSpc>
              <a:buFontTx/>
              <a:buNone/>
            </a:pPr>
            <a:r>
              <a:rPr lang="en-US" sz="2000" dirty="0">
                <a:cs typeface="Times New Roman" pitchFamily="18" charset="0"/>
              </a:rPr>
              <a:t>                [End of If structure] </a:t>
            </a:r>
          </a:p>
          <a:p>
            <a:pPr eaLnBrk="1" hangingPunct="1">
              <a:lnSpc>
                <a:spcPct val="90000"/>
              </a:lnSpc>
              <a:buFontTx/>
              <a:buNone/>
            </a:pPr>
            <a:r>
              <a:rPr lang="en-US" sz="2000" dirty="0"/>
              <a:t>                [End of Step 2 Loop]</a:t>
            </a:r>
          </a:p>
          <a:p>
            <a:pPr eaLnBrk="1" hangingPunct="1">
              <a:lnSpc>
                <a:spcPct val="90000"/>
              </a:lnSpc>
            </a:pPr>
            <a:r>
              <a:rPr lang="en-US" sz="2000" dirty="0"/>
              <a:t>Step 6: Return</a:t>
            </a:r>
          </a:p>
          <a:p>
            <a:pPr eaLnBrk="1" hangingPunct="1">
              <a:lnSpc>
                <a:spcPct val="90000"/>
              </a:lnSpc>
              <a:buFontTx/>
              <a:buNone/>
            </a:pPr>
            <a:endParaRPr lang="en-US" sz="2000" dirty="0">
              <a:cs typeface="Times New Roman" pitchFamily="18" charset="0"/>
            </a:endParaRPr>
          </a:p>
          <a:p>
            <a:pPr eaLnBrk="1" hangingPunct="1">
              <a:lnSpc>
                <a:spcPct val="90000"/>
              </a:lnSpc>
            </a:pPr>
            <a:endParaRPr lang="en-US" sz="2000" dirty="0"/>
          </a:p>
        </p:txBody>
      </p:sp>
    </p:spTree>
    <p:extLst>
      <p:ext uri="{BB962C8B-B14F-4D97-AF65-F5344CB8AC3E}">
        <p14:creationId xmlns:p14="http://schemas.microsoft.com/office/powerpoint/2010/main" val="50838981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b="1"/>
              <a:t>Algorithm: INORD (INFO, LEFT,RIGHT, ROOT)</a:t>
            </a:r>
          </a:p>
          <a:p>
            <a:pPr eaLnBrk="1" hangingPunct="1">
              <a:lnSpc>
                <a:spcPct val="90000"/>
              </a:lnSpc>
            </a:pPr>
            <a:r>
              <a:rPr lang="en-US"/>
              <a:t>Step 1: Set TOP:=1, STACK[1]:=NULL and PTR:=ROOT</a:t>
            </a:r>
          </a:p>
          <a:p>
            <a:pPr eaLnBrk="1" hangingPunct="1">
              <a:lnSpc>
                <a:spcPct val="90000"/>
              </a:lnSpc>
            </a:pPr>
            <a:r>
              <a:rPr lang="en-US"/>
              <a:t>Step 2: Repeat while  PTR </a:t>
            </a:r>
            <a:r>
              <a:rPr lang="en-US">
                <a:cs typeface="Times New Roman" pitchFamily="18" charset="0"/>
              </a:rPr>
              <a:t>≠ NULL:</a:t>
            </a:r>
          </a:p>
          <a:p>
            <a:pPr eaLnBrk="1" hangingPunct="1">
              <a:lnSpc>
                <a:spcPct val="90000"/>
              </a:lnSpc>
              <a:buFontTx/>
              <a:buNone/>
            </a:pPr>
            <a:r>
              <a:rPr lang="en-US">
                <a:cs typeface="Times New Roman" pitchFamily="18" charset="0"/>
              </a:rPr>
              <a:t>                 (A) Set TOP:=TOP + 1 and STACK[TOP]:= PTR</a:t>
            </a:r>
          </a:p>
          <a:p>
            <a:pPr eaLnBrk="1" hangingPunct="1">
              <a:lnSpc>
                <a:spcPct val="90000"/>
              </a:lnSpc>
              <a:buFontTx/>
              <a:buNone/>
            </a:pPr>
            <a:r>
              <a:rPr lang="en-US">
                <a:cs typeface="Times New Roman" pitchFamily="18" charset="0"/>
              </a:rPr>
              <a:t>                 (B) Set PTR:=LEFT[PTR]</a:t>
            </a:r>
          </a:p>
          <a:p>
            <a:pPr eaLnBrk="1" hangingPunct="1">
              <a:lnSpc>
                <a:spcPct val="90000"/>
              </a:lnSpc>
              <a:buFontTx/>
              <a:buNone/>
            </a:pPr>
            <a:r>
              <a:rPr lang="en-US">
                <a:cs typeface="Times New Roman" pitchFamily="18" charset="0"/>
              </a:rPr>
              <a:t>                [End of Loop]</a:t>
            </a:r>
          </a:p>
          <a:p>
            <a:pPr eaLnBrk="1" hangingPunct="1">
              <a:lnSpc>
                <a:spcPct val="90000"/>
              </a:lnSpc>
            </a:pPr>
            <a:r>
              <a:rPr lang="en-US">
                <a:cs typeface="Times New Roman" pitchFamily="18" charset="0"/>
              </a:rPr>
              <a:t>Step 3: Set PTR:=STACK[TOP] and TOP:=TOP -1</a:t>
            </a:r>
          </a:p>
          <a:p>
            <a:pPr eaLnBrk="1" hangingPunct="1">
              <a:lnSpc>
                <a:spcPct val="90000"/>
              </a:lnSpc>
            </a:pPr>
            <a:r>
              <a:rPr lang="en-US">
                <a:cs typeface="Times New Roman" pitchFamily="18" charset="0"/>
              </a:rPr>
              <a:t>Step 4: Repeat Step 5 to 7 while PTR ≠ NULL</a:t>
            </a:r>
          </a:p>
          <a:p>
            <a:pPr eaLnBrk="1" hangingPunct="1">
              <a:lnSpc>
                <a:spcPct val="90000"/>
              </a:lnSpc>
            </a:pPr>
            <a:r>
              <a:rPr lang="en-US">
                <a:cs typeface="Times New Roman" pitchFamily="18" charset="0"/>
              </a:rPr>
              <a:t>Step 5: Apply PROCESS to INFO[PTR]</a:t>
            </a:r>
          </a:p>
          <a:p>
            <a:pPr eaLnBrk="1" hangingPunct="1">
              <a:lnSpc>
                <a:spcPct val="90000"/>
              </a:lnSpc>
            </a:pPr>
            <a:r>
              <a:rPr lang="en-US">
                <a:cs typeface="Times New Roman" pitchFamily="18" charset="0"/>
              </a:rPr>
              <a:t>Step 6: If RIGHT[PTR] ≠ NULL, then:</a:t>
            </a:r>
          </a:p>
          <a:p>
            <a:pPr eaLnBrk="1" hangingPunct="1">
              <a:lnSpc>
                <a:spcPct val="90000"/>
              </a:lnSpc>
              <a:buFontTx/>
              <a:buNone/>
            </a:pPr>
            <a:r>
              <a:rPr lang="en-US">
                <a:cs typeface="Times New Roman" pitchFamily="18" charset="0"/>
              </a:rPr>
              <a:t>                  (A) Set PTR := RIGHT[PTR]</a:t>
            </a:r>
          </a:p>
          <a:p>
            <a:pPr eaLnBrk="1" hangingPunct="1">
              <a:lnSpc>
                <a:spcPct val="90000"/>
              </a:lnSpc>
              <a:buFontTx/>
              <a:buNone/>
            </a:pPr>
            <a:r>
              <a:rPr lang="en-US">
                <a:cs typeface="Times New Roman" pitchFamily="18" charset="0"/>
              </a:rPr>
              <a:t>                  (B) GO TO step 2</a:t>
            </a:r>
          </a:p>
          <a:p>
            <a:pPr eaLnBrk="1" hangingPunct="1">
              <a:lnSpc>
                <a:spcPct val="90000"/>
              </a:lnSpc>
              <a:buFontTx/>
              <a:buNone/>
            </a:pPr>
            <a:r>
              <a:rPr lang="en-US">
                <a:cs typeface="Times New Roman" pitchFamily="18" charset="0"/>
              </a:rPr>
              <a:t>                [End of If structure]</a:t>
            </a:r>
          </a:p>
          <a:p>
            <a:pPr eaLnBrk="1" hangingPunct="1">
              <a:lnSpc>
                <a:spcPct val="90000"/>
              </a:lnSpc>
            </a:pPr>
            <a:r>
              <a:rPr lang="en-US">
                <a:cs typeface="Times New Roman" pitchFamily="18" charset="0"/>
              </a:rPr>
              <a:t>Step 7: Set PTR:=STACK[TOP] and TOP:=TOP -1</a:t>
            </a:r>
          </a:p>
          <a:p>
            <a:pPr eaLnBrk="1" hangingPunct="1">
              <a:lnSpc>
                <a:spcPct val="90000"/>
              </a:lnSpc>
              <a:buFontTx/>
              <a:buNone/>
            </a:pPr>
            <a:r>
              <a:rPr lang="en-US">
                <a:cs typeface="Times New Roman" pitchFamily="18" charset="0"/>
              </a:rPr>
              <a:t>                 [End of Step 4 Loop]</a:t>
            </a:r>
          </a:p>
          <a:p>
            <a:pPr eaLnBrk="1" hangingPunct="1">
              <a:lnSpc>
                <a:spcPct val="90000"/>
              </a:lnSpc>
            </a:pPr>
            <a:r>
              <a:rPr lang="en-US">
                <a:cs typeface="Times New Roman" pitchFamily="18" charset="0"/>
              </a:rPr>
              <a:t> Step 8: Return  </a:t>
            </a:r>
          </a:p>
        </p:txBody>
      </p:sp>
    </p:spTree>
    <p:extLst>
      <p:ext uri="{BB962C8B-B14F-4D97-AF65-F5344CB8AC3E}">
        <p14:creationId xmlns:p14="http://schemas.microsoft.com/office/powerpoint/2010/main" val="38267972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b="1" dirty="0"/>
              <a:t>Algorithm :</a:t>
            </a:r>
            <a:r>
              <a:rPr lang="en-US" sz="2000" dirty="0"/>
              <a:t> </a:t>
            </a:r>
            <a:r>
              <a:rPr lang="en-US" sz="2000" b="1" dirty="0"/>
              <a:t>POSTORD( INFO, LEFT, RIGHT, ROOT)</a:t>
            </a:r>
          </a:p>
          <a:p>
            <a:pPr eaLnBrk="1" hangingPunct="1">
              <a:lnSpc>
                <a:spcPct val="90000"/>
              </a:lnSpc>
            </a:pPr>
            <a:r>
              <a:rPr lang="en-US" sz="2000" dirty="0"/>
              <a:t>Step 1: Set TOP:=1, STACK[1]:=NULL and PTR:=ROOT</a:t>
            </a:r>
          </a:p>
          <a:p>
            <a:pPr eaLnBrk="1" hangingPunct="1">
              <a:lnSpc>
                <a:spcPct val="90000"/>
              </a:lnSpc>
            </a:pPr>
            <a:r>
              <a:rPr lang="en-US" sz="2000" dirty="0"/>
              <a:t>Step 2: Repeat Step 3 to 5 while PTR</a:t>
            </a:r>
            <a:r>
              <a:rPr lang="en-US" sz="2000" dirty="0">
                <a:cs typeface="Times New Roman" pitchFamily="18" charset="0"/>
              </a:rPr>
              <a:t>≠ NULL</a:t>
            </a:r>
          </a:p>
          <a:p>
            <a:pPr eaLnBrk="1" hangingPunct="1">
              <a:lnSpc>
                <a:spcPct val="90000"/>
              </a:lnSpc>
            </a:pPr>
            <a:r>
              <a:rPr lang="en-US" sz="2000" dirty="0">
                <a:cs typeface="Times New Roman" pitchFamily="18" charset="0"/>
              </a:rPr>
              <a:t>Step 3: Set TOP:=TOP +1 and STACK[TOP]:=PTR</a:t>
            </a:r>
          </a:p>
          <a:p>
            <a:pPr eaLnBrk="1" hangingPunct="1">
              <a:lnSpc>
                <a:spcPct val="90000"/>
              </a:lnSpc>
            </a:pPr>
            <a:r>
              <a:rPr lang="en-US" sz="2000" dirty="0">
                <a:cs typeface="Times New Roman" pitchFamily="18" charset="0"/>
              </a:rPr>
              <a:t>Step 4: If RIGHT[PTR]≠ NULL, then:</a:t>
            </a:r>
          </a:p>
          <a:p>
            <a:pPr eaLnBrk="1" hangingPunct="1">
              <a:lnSpc>
                <a:spcPct val="90000"/>
              </a:lnSpc>
              <a:buFontTx/>
              <a:buNone/>
            </a:pPr>
            <a:r>
              <a:rPr lang="en-US" sz="2000" dirty="0">
                <a:cs typeface="Times New Roman" pitchFamily="18" charset="0"/>
              </a:rPr>
              <a:t>                 Set TOP:=TOP +1 and STACK[TOP]:= - RIGHT[PTR]</a:t>
            </a:r>
          </a:p>
          <a:p>
            <a:pPr eaLnBrk="1" hangingPunct="1">
              <a:lnSpc>
                <a:spcPct val="90000"/>
              </a:lnSpc>
              <a:buFontTx/>
              <a:buNone/>
            </a:pPr>
            <a:r>
              <a:rPr lang="en-US" sz="2000" dirty="0">
                <a:cs typeface="Times New Roman" pitchFamily="18" charset="0"/>
              </a:rPr>
              <a:t>                [End of If structure]</a:t>
            </a:r>
          </a:p>
          <a:p>
            <a:pPr eaLnBrk="1" hangingPunct="1">
              <a:lnSpc>
                <a:spcPct val="90000"/>
              </a:lnSpc>
            </a:pPr>
            <a:r>
              <a:rPr lang="en-US" sz="2000" dirty="0">
                <a:cs typeface="Times New Roman" pitchFamily="18" charset="0"/>
              </a:rPr>
              <a:t>Step 5: Set PTR:=LEFT[PTR]</a:t>
            </a:r>
          </a:p>
          <a:p>
            <a:pPr eaLnBrk="1" hangingPunct="1">
              <a:lnSpc>
                <a:spcPct val="90000"/>
              </a:lnSpc>
              <a:buFontTx/>
              <a:buNone/>
            </a:pPr>
            <a:r>
              <a:rPr lang="en-US" sz="2000" dirty="0">
                <a:cs typeface="Times New Roman" pitchFamily="18" charset="0"/>
              </a:rPr>
              <a:t>                [End of Step 2 loop]</a:t>
            </a:r>
          </a:p>
          <a:p>
            <a:pPr eaLnBrk="1" hangingPunct="1">
              <a:lnSpc>
                <a:spcPct val="90000"/>
              </a:lnSpc>
            </a:pPr>
            <a:r>
              <a:rPr lang="en-US" sz="2000" dirty="0">
                <a:cs typeface="Times New Roman" pitchFamily="18" charset="0"/>
              </a:rPr>
              <a:t>Step 6: Set PTR:=STACK[TOP] and TOP:=TOP -1</a:t>
            </a:r>
          </a:p>
          <a:p>
            <a:pPr eaLnBrk="1" hangingPunct="1">
              <a:lnSpc>
                <a:spcPct val="90000"/>
              </a:lnSpc>
            </a:pPr>
            <a:r>
              <a:rPr lang="en-US" sz="2000" dirty="0">
                <a:cs typeface="Times New Roman" pitchFamily="18" charset="0"/>
              </a:rPr>
              <a:t>Step 7: Repeat while PTR&gt;0:</a:t>
            </a:r>
          </a:p>
          <a:p>
            <a:pPr eaLnBrk="1" hangingPunct="1">
              <a:lnSpc>
                <a:spcPct val="90000"/>
              </a:lnSpc>
              <a:buFontTx/>
              <a:buNone/>
            </a:pPr>
            <a:r>
              <a:rPr lang="en-US" sz="2000" dirty="0">
                <a:cs typeface="Times New Roman" pitchFamily="18" charset="0"/>
              </a:rPr>
              <a:t>                (A) Apply PROCESS to INFO[PTR]</a:t>
            </a:r>
          </a:p>
          <a:p>
            <a:pPr eaLnBrk="1" hangingPunct="1">
              <a:lnSpc>
                <a:spcPct val="90000"/>
              </a:lnSpc>
              <a:buFontTx/>
              <a:buNone/>
            </a:pPr>
            <a:r>
              <a:rPr lang="en-US" sz="2000" dirty="0">
                <a:cs typeface="Times New Roman" pitchFamily="18" charset="0"/>
              </a:rPr>
              <a:t>                (B) Set PTR:=STACK[TOP] and TOP:=TOP -1</a:t>
            </a:r>
          </a:p>
          <a:p>
            <a:pPr eaLnBrk="1" hangingPunct="1">
              <a:lnSpc>
                <a:spcPct val="90000"/>
              </a:lnSpc>
              <a:buFontTx/>
              <a:buNone/>
            </a:pPr>
            <a:r>
              <a:rPr lang="en-US" sz="2000" dirty="0">
                <a:cs typeface="Times New Roman" pitchFamily="18" charset="0"/>
              </a:rPr>
              <a:t>                [End of Loop]</a:t>
            </a:r>
          </a:p>
          <a:p>
            <a:pPr eaLnBrk="1" hangingPunct="1">
              <a:lnSpc>
                <a:spcPct val="90000"/>
              </a:lnSpc>
            </a:pPr>
            <a:r>
              <a:rPr lang="en-US" sz="2000" dirty="0">
                <a:cs typeface="Times New Roman" pitchFamily="18" charset="0"/>
              </a:rPr>
              <a:t>Step 8: If PTR&lt;0, then:</a:t>
            </a:r>
          </a:p>
          <a:p>
            <a:pPr eaLnBrk="1" hangingPunct="1">
              <a:lnSpc>
                <a:spcPct val="90000"/>
              </a:lnSpc>
              <a:buFontTx/>
              <a:buNone/>
            </a:pPr>
            <a:r>
              <a:rPr lang="en-US" sz="2000" dirty="0">
                <a:cs typeface="Times New Roman" pitchFamily="18" charset="0"/>
              </a:rPr>
              <a:t>                (a) Set PTR:=-PTR</a:t>
            </a:r>
          </a:p>
          <a:p>
            <a:pPr eaLnBrk="1" hangingPunct="1">
              <a:lnSpc>
                <a:spcPct val="90000"/>
              </a:lnSpc>
              <a:buFontTx/>
              <a:buNone/>
            </a:pPr>
            <a:r>
              <a:rPr lang="en-US" sz="2000" dirty="0">
                <a:cs typeface="Times New Roman" pitchFamily="18" charset="0"/>
              </a:rPr>
              <a:t>                (b) Go to Step 2</a:t>
            </a:r>
          </a:p>
          <a:p>
            <a:pPr eaLnBrk="1" hangingPunct="1">
              <a:lnSpc>
                <a:spcPct val="90000"/>
              </a:lnSpc>
              <a:buFontTx/>
              <a:buNone/>
            </a:pPr>
            <a:r>
              <a:rPr lang="en-US" sz="2000" dirty="0">
                <a:cs typeface="Times New Roman" pitchFamily="18" charset="0"/>
              </a:rPr>
              <a:t>                [End of If structure]</a:t>
            </a:r>
          </a:p>
          <a:p>
            <a:pPr eaLnBrk="1" hangingPunct="1">
              <a:lnSpc>
                <a:spcPct val="90000"/>
              </a:lnSpc>
            </a:pPr>
            <a:r>
              <a:rPr lang="en-US" sz="2000" dirty="0">
                <a:cs typeface="Times New Roman" pitchFamily="18" charset="0"/>
              </a:rPr>
              <a:t>Step 9</a:t>
            </a:r>
            <a:r>
              <a:rPr lang="en-US" sz="2000">
                <a:cs typeface="Times New Roman" pitchFamily="18" charset="0"/>
              </a:rPr>
              <a:t>: Return      </a:t>
            </a:r>
            <a:endParaRPr lang="en-US" sz="2000" dirty="0">
              <a:cs typeface="Times New Roman" pitchFamily="18" charset="0"/>
            </a:endParaRPr>
          </a:p>
        </p:txBody>
      </p:sp>
    </p:spTree>
    <p:extLst>
      <p:ext uri="{BB962C8B-B14F-4D97-AF65-F5344CB8AC3E}">
        <p14:creationId xmlns:p14="http://schemas.microsoft.com/office/powerpoint/2010/main" val="289178656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3"/>
          <p:cNvSpPr>
            <a:spLocks noGrp="1" noChangeArrowheads="1"/>
          </p:cNvSpPr>
          <p:nvPr>
            <p:ph type="body" idx="1"/>
          </p:nvPr>
        </p:nvSpPr>
        <p:spPr>
          <a:xfrm>
            <a:off x="1524000" y="0"/>
            <a:ext cx="9144000" cy="6858000"/>
          </a:xfrm>
        </p:spPr>
        <p:txBody>
          <a:bodyPr/>
          <a:lstStyle/>
          <a:p>
            <a:pPr eaLnBrk="1" hangingPunct="1"/>
            <a:r>
              <a:rPr lang="en-US" dirty="0"/>
              <a:t>The difference between the algorithms is the time at which the root R is processed. In pre algorithm, root R is processed before sub trees are traversed; in the </a:t>
            </a:r>
            <a:r>
              <a:rPr lang="en-US" dirty="0" err="1"/>
              <a:t>inorder</a:t>
            </a:r>
            <a:r>
              <a:rPr lang="en-US" dirty="0"/>
              <a:t> algorithm, root R is processed between traversals of sub trees and in post algorithm , the root is processed after the sub trees are traversed.</a:t>
            </a:r>
          </a:p>
          <a:p>
            <a:pPr eaLnBrk="1" hangingPunct="1">
              <a:buFontTx/>
              <a:buNone/>
            </a:pPr>
            <a:r>
              <a:rPr lang="en-US" dirty="0"/>
              <a:t>                                     A</a:t>
            </a:r>
          </a:p>
          <a:p>
            <a:pPr eaLnBrk="1" hangingPunct="1">
              <a:buFontTx/>
              <a:buNone/>
            </a:pPr>
            <a:endParaRPr lang="en-US" dirty="0"/>
          </a:p>
          <a:p>
            <a:pPr eaLnBrk="1" hangingPunct="1">
              <a:buFontTx/>
              <a:buNone/>
            </a:pPr>
            <a:r>
              <a:rPr lang="en-US" dirty="0"/>
              <a:t>                        B                           C</a:t>
            </a:r>
          </a:p>
          <a:p>
            <a:pPr eaLnBrk="1" hangingPunct="1">
              <a:buFontTx/>
              <a:buNone/>
            </a:pPr>
            <a:endParaRPr lang="en-US" dirty="0"/>
          </a:p>
          <a:p>
            <a:pPr eaLnBrk="1" hangingPunct="1">
              <a:buFontTx/>
              <a:buNone/>
            </a:pPr>
            <a:r>
              <a:rPr lang="en-US" dirty="0"/>
              <a:t>    D                                 E                         F</a:t>
            </a:r>
          </a:p>
          <a:p>
            <a:pPr eaLnBrk="1" hangingPunct="1">
              <a:buFontTx/>
              <a:buNone/>
            </a:pPr>
            <a:endParaRPr lang="en-US" dirty="0"/>
          </a:p>
          <a:p>
            <a:pPr eaLnBrk="1" hangingPunct="1"/>
            <a:r>
              <a:rPr lang="en-US" dirty="0"/>
              <a:t>Preorder Traversal:          A B D E C F</a:t>
            </a:r>
          </a:p>
          <a:p>
            <a:pPr eaLnBrk="1" hangingPunct="1"/>
            <a:r>
              <a:rPr lang="en-US" dirty="0" err="1"/>
              <a:t>Inorder</a:t>
            </a:r>
            <a:r>
              <a:rPr lang="en-US" dirty="0"/>
              <a:t>  Traversal:           D B E A C F</a:t>
            </a:r>
          </a:p>
          <a:p>
            <a:pPr eaLnBrk="1" hangingPunct="1"/>
            <a:r>
              <a:rPr lang="en-US" dirty="0" err="1"/>
              <a:t>Postorder</a:t>
            </a:r>
            <a:r>
              <a:rPr lang="en-US" dirty="0"/>
              <a:t> Traversal :       D E B F C A</a:t>
            </a:r>
          </a:p>
          <a:p>
            <a:pPr eaLnBrk="1" hangingPunct="1"/>
            <a:endParaRPr lang="en-US" dirty="0"/>
          </a:p>
        </p:txBody>
      </p:sp>
      <p:sp>
        <p:nvSpPr>
          <p:cNvPr id="281603" name="Line 4"/>
          <p:cNvSpPr>
            <a:spLocks noChangeShapeType="1"/>
          </p:cNvSpPr>
          <p:nvPr/>
        </p:nvSpPr>
        <p:spPr bwMode="auto">
          <a:xfrm flipH="1">
            <a:off x="3581400" y="2286000"/>
            <a:ext cx="9906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1604" name="Line 5"/>
          <p:cNvSpPr>
            <a:spLocks noChangeShapeType="1"/>
          </p:cNvSpPr>
          <p:nvPr/>
        </p:nvSpPr>
        <p:spPr bwMode="auto">
          <a:xfrm>
            <a:off x="4572000" y="2286000"/>
            <a:ext cx="11430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1605" name="Line 6"/>
          <p:cNvSpPr>
            <a:spLocks noChangeShapeType="1"/>
          </p:cNvSpPr>
          <p:nvPr/>
        </p:nvSpPr>
        <p:spPr bwMode="auto">
          <a:xfrm flipH="1">
            <a:off x="2133600" y="3048000"/>
            <a:ext cx="12954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1606" name="Line 7"/>
          <p:cNvSpPr>
            <a:spLocks noChangeShapeType="1"/>
          </p:cNvSpPr>
          <p:nvPr/>
        </p:nvSpPr>
        <p:spPr bwMode="auto">
          <a:xfrm>
            <a:off x="3657600" y="3124200"/>
            <a:ext cx="1066800" cy="7620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81607" name="Line 8"/>
          <p:cNvSpPr>
            <a:spLocks noChangeShapeType="1"/>
          </p:cNvSpPr>
          <p:nvPr/>
        </p:nvSpPr>
        <p:spPr bwMode="auto">
          <a:xfrm>
            <a:off x="5943600" y="3124200"/>
            <a:ext cx="8382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99764438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3"/>
          <p:cNvSpPr>
            <a:spLocks noGrp="1" noChangeArrowheads="1"/>
          </p:cNvSpPr>
          <p:nvPr>
            <p:ph type="body" idx="1"/>
          </p:nvPr>
        </p:nvSpPr>
        <p:spPr>
          <a:xfrm>
            <a:off x="1524000" y="0"/>
            <a:ext cx="9144000" cy="6858000"/>
          </a:xfrm>
        </p:spPr>
        <p:txBody>
          <a:bodyPr/>
          <a:lstStyle/>
          <a:p>
            <a:pPr eaLnBrk="1" hangingPunct="1"/>
            <a:r>
              <a:rPr lang="en-US"/>
              <a:t>Binary Search Tree-</a:t>
            </a:r>
            <a:r>
              <a:rPr lang="en-US" sz="2000"/>
              <a:t> If T is a binary tree, then T is called a binary search tree or binary sorted tree if each node N of T has the following property:</a:t>
            </a:r>
          </a:p>
          <a:p>
            <a:pPr lvl="1" eaLnBrk="1" hangingPunct="1"/>
            <a:r>
              <a:rPr lang="en-US" sz="2000"/>
              <a:t>The Value of N is greater than every value in left sub tree of N</a:t>
            </a:r>
          </a:p>
          <a:p>
            <a:pPr lvl="1" eaLnBrk="1" hangingPunct="1"/>
            <a:r>
              <a:rPr lang="en-US" sz="2000"/>
              <a:t>The value at N is less than or equal to every value in right sub tree of N</a:t>
            </a:r>
          </a:p>
          <a:p>
            <a:pPr eaLnBrk="1" hangingPunct="1"/>
            <a:r>
              <a:rPr lang="en-US" sz="2000"/>
              <a:t>The inorder traversal of BST gives sorted numbers</a:t>
            </a:r>
          </a:p>
          <a:p>
            <a:pPr eaLnBrk="1" hangingPunct="1">
              <a:buFontTx/>
              <a:buNone/>
            </a:pPr>
            <a:r>
              <a:rPr lang="en-US" sz="2000"/>
              <a:t>     For example: The following numbers create a BST as:</a:t>
            </a:r>
          </a:p>
          <a:p>
            <a:pPr eaLnBrk="1" hangingPunct="1"/>
            <a:r>
              <a:rPr lang="en-US" sz="2000"/>
              <a:t>3 5 9 1 2 6 8 10</a:t>
            </a:r>
          </a:p>
          <a:p>
            <a:pPr eaLnBrk="1" hangingPunct="1">
              <a:buFontTx/>
              <a:buNone/>
            </a:pPr>
            <a:r>
              <a:rPr lang="en-US" sz="2000"/>
              <a:t>                                       3</a:t>
            </a:r>
          </a:p>
          <a:p>
            <a:pPr eaLnBrk="1" hangingPunct="1">
              <a:buFontTx/>
              <a:buNone/>
            </a:pPr>
            <a:r>
              <a:rPr lang="en-US" sz="2000"/>
              <a:t>                             1                    5</a:t>
            </a:r>
          </a:p>
          <a:p>
            <a:pPr eaLnBrk="1" hangingPunct="1">
              <a:buFontTx/>
              <a:buNone/>
            </a:pPr>
            <a:r>
              <a:rPr lang="en-US" sz="2000"/>
              <a:t>                               </a:t>
            </a:r>
          </a:p>
          <a:p>
            <a:pPr eaLnBrk="1" hangingPunct="1">
              <a:buFontTx/>
              <a:buNone/>
            </a:pPr>
            <a:r>
              <a:rPr lang="en-US" sz="2000"/>
              <a:t>                                    2                      9</a:t>
            </a:r>
          </a:p>
          <a:p>
            <a:pPr eaLnBrk="1" hangingPunct="1">
              <a:buFontTx/>
              <a:buNone/>
            </a:pPr>
            <a:endParaRPr lang="en-US" sz="2000"/>
          </a:p>
          <a:p>
            <a:pPr eaLnBrk="1" hangingPunct="1">
              <a:buFontTx/>
              <a:buNone/>
            </a:pPr>
            <a:r>
              <a:rPr lang="en-US" sz="2000"/>
              <a:t>                                                  6                    10</a:t>
            </a:r>
          </a:p>
          <a:p>
            <a:pPr eaLnBrk="1" hangingPunct="1">
              <a:buFontTx/>
              <a:buNone/>
            </a:pPr>
            <a:r>
              <a:rPr lang="en-US" sz="2000"/>
              <a:t>     </a:t>
            </a:r>
          </a:p>
          <a:p>
            <a:pPr eaLnBrk="1" hangingPunct="1">
              <a:buFontTx/>
              <a:buNone/>
            </a:pPr>
            <a:r>
              <a:rPr lang="en-US" sz="2000"/>
              <a:t>                                                            8</a:t>
            </a:r>
          </a:p>
          <a:p>
            <a:pPr eaLnBrk="1" hangingPunct="1">
              <a:buFontTx/>
              <a:buNone/>
            </a:pPr>
            <a:r>
              <a:rPr lang="en-US" sz="2000"/>
              <a:t>               </a:t>
            </a:r>
          </a:p>
        </p:txBody>
      </p:sp>
      <p:sp>
        <p:nvSpPr>
          <p:cNvPr id="293891" name="Line 4"/>
          <p:cNvSpPr>
            <a:spLocks noChangeShapeType="1"/>
          </p:cNvSpPr>
          <p:nvPr/>
        </p:nvSpPr>
        <p:spPr bwMode="auto">
          <a:xfrm flipH="1">
            <a:off x="3505200" y="2743200"/>
            <a:ext cx="609600" cy="304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93892" name="Line 5"/>
          <p:cNvSpPr>
            <a:spLocks noChangeShapeType="1"/>
          </p:cNvSpPr>
          <p:nvPr/>
        </p:nvSpPr>
        <p:spPr bwMode="auto">
          <a:xfrm>
            <a:off x="4267200" y="2743200"/>
            <a:ext cx="609600" cy="304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93893" name="Line 6"/>
          <p:cNvSpPr>
            <a:spLocks noChangeShapeType="1"/>
          </p:cNvSpPr>
          <p:nvPr/>
        </p:nvSpPr>
        <p:spPr bwMode="auto">
          <a:xfrm>
            <a:off x="3581400" y="3200400"/>
            <a:ext cx="3048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93894" name="Line 7"/>
          <p:cNvSpPr>
            <a:spLocks noChangeShapeType="1"/>
          </p:cNvSpPr>
          <p:nvPr/>
        </p:nvSpPr>
        <p:spPr bwMode="auto">
          <a:xfrm>
            <a:off x="4953000" y="3200400"/>
            <a:ext cx="457200" cy="5334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93895" name="Line 8"/>
          <p:cNvSpPr>
            <a:spLocks noChangeShapeType="1"/>
          </p:cNvSpPr>
          <p:nvPr/>
        </p:nvSpPr>
        <p:spPr bwMode="auto">
          <a:xfrm flipH="1">
            <a:off x="4876800" y="3886200"/>
            <a:ext cx="5334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93896" name="Line 9"/>
          <p:cNvSpPr>
            <a:spLocks noChangeShapeType="1"/>
          </p:cNvSpPr>
          <p:nvPr/>
        </p:nvSpPr>
        <p:spPr bwMode="auto">
          <a:xfrm>
            <a:off x="4876800" y="4648200"/>
            <a:ext cx="6096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293897" name="Line 10"/>
          <p:cNvSpPr>
            <a:spLocks noChangeShapeType="1"/>
          </p:cNvSpPr>
          <p:nvPr/>
        </p:nvSpPr>
        <p:spPr bwMode="auto">
          <a:xfrm>
            <a:off x="5486400" y="3886200"/>
            <a:ext cx="838200" cy="685800"/>
          </a:xfrm>
          <a:prstGeom prst="line">
            <a:avLst/>
          </a:prstGeom>
          <a:no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85297628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3"/>
          <p:cNvSpPr>
            <a:spLocks noGrp="1" noChangeArrowheads="1"/>
          </p:cNvSpPr>
          <p:nvPr>
            <p:ph type="body" idx="1"/>
          </p:nvPr>
        </p:nvSpPr>
        <p:spPr>
          <a:xfrm>
            <a:off x="1524000" y="0"/>
            <a:ext cx="9144000" cy="6858000"/>
          </a:xfrm>
        </p:spPr>
        <p:txBody>
          <a:bodyPr/>
          <a:lstStyle/>
          <a:p>
            <a:pPr eaLnBrk="1" hangingPunct="1"/>
            <a:endParaRPr lang="en-US" dirty="0"/>
          </a:p>
          <a:p>
            <a:pPr eaLnBrk="1" hangingPunct="1"/>
            <a:endParaRPr lang="en-US" dirty="0"/>
          </a:p>
          <a:p>
            <a:pPr eaLnBrk="1" hangingPunct="1"/>
            <a:endParaRPr lang="en-US" dirty="0"/>
          </a:p>
          <a:p>
            <a:pPr eaLnBrk="1" hangingPunct="1"/>
            <a:r>
              <a:rPr lang="en-US" dirty="0"/>
              <a:t>Binary search tree is one of the most important data structures in computer science. This structure enables one to search for and find an element with an average running time.</a:t>
            </a:r>
          </a:p>
          <a:p>
            <a:pPr marL="0" indent="0" eaLnBrk="1" hangingPunct="1">
              <a:buNone/>
            </a:pPr>
            <a:r>
              <a:rPr lang="en-US" dirty="0"/>
              <a:t> </a:t>
            </a:r>
          </a:p>
          <a:p>
            <a:pPr algn="ctr" eaLnBrk="1" hangingPunct="1">
              <a:buFontTx/>
              <a:buNone/>
            </a:pPr>
            <a:r>
              <a:rPr lang="en-US" dirty="0"/>
              <a:t>       f(n)=O(log</a:t>
            </a:r>
            <a:r>
              <a:rPr lang="en-US" baseline="-25000" dirty="0"/>
              <a:t>2</a:t>
            </a:r>
            <a:r>
              <a:rPr lang="en-US" dirty="0"/>
              <a:t> n )</a:t>
            </a:r>
          </a:p>
          <a:p>
            <a:pPr algn="ctr" eaLnBrk="1" hangingPunct="1">
              <a:buFontTx/>
              <a:buNone/>
            </a:pPr>
            <a:endParaRPr lang="en-US" dirty="0"/>
          </a:p>
          <a:p>
            <a:pPr algn="ctr" eaLnBrk="1" hangingPunct="1">
              <a:buFontTx/>
              <a:buNone/>
            </a:pPr>
            <a:endParaRPr lang="en-US" dirty="0"/>
          </a:p>
          <a:p>
            <a:pPr eaLnBrk="1" hangingPunct="1"/>
            <a:r>
              <a:rPr lang="en-US" dirty="0"/>
              <a:t>It also enables one to easily insert and delete elements. </a:t>
            </a:r>
          </a:p>
        </p:txBody>
      </p:sp>
    </p:spTree>
    <p:extLst>
      <p:ext uri="{BB962C8B-B14F-4D97-AF65-F5344CB8AC3E}">
        <p14:creationId xmlns:p14="http://schemas.microsoft.com/office/powerpoint/2010/main" val="4322173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3"/>
          <p:cNvSpPr>
            <a:spLocks noGrp="1" noChangeArrowheads="1"/>
          </p:cNvSpPr>
          <p:nvPr>
            <p:ph type="body" idx="1"/>
          </p:nvPr>
        </p:nvSpPr>
        <p:spPr>
          <a:xfrm>
            <a:off x="1524000" y="0"/>
            <a:ext cx="9144000" cy="6858000"/>
          </a:xfrm>
        </p:spPr>
        <p:txBody>
          <a:bodyPr/>
          <a:lstStyle/>
          <a:p>
            <a:pPr algn="ctr" eaLnBrk="1" hangingPunct="1">
              <a:buFontTx/>
              <a:buNone/>
            </a:pPr>
            <a:r>
              <a:rPr lang="en-US" b="1" dirty="0"/>
              <a:t>Searching and Inserting in a BST</a:t>
            </a:r>
          </a:p>
          <a:p>
            <a:pPr eaLnBrk="1" hangingPunct="1"/>
            <a:r>
              <a:rPr lang="en-US" dirty="0"/>
              <a:t>Algorithm: This algorithm searches for ITEM in a tree and inserts it if</a:t>
            </a:r>
          </a:p>
          <a:p>
            <a:pPr eaLnBrk="1" hangingPunct="1">
              <a:buFontTx/>
              <a:buNone/>
            </a:pPr>
            <a:r>
              <a:rPr lang="en-US" dirty="0"/>
              <a:t>                        not present in tree</a:t>
            </a:r>
          </a:p>
          <a:p>
            <a:pPr eaLnBrk="1" hangingPunct="1"/>
            <a:r>
              <a:rPr lang="en-US" dirty="0"/>
              <a:t>Step 1: Compare ITEM with root node N of Tree</a:t>
            </a:r>
          </a:p>
          <a:p>
            <a:pPr eaLnBrk="1" hangingPunct="1">
              <a:buFontTx/>
              <a:buNone/>
            </a:pPr>
            <a:r>
              <a:rPr lang="en-US" dirty="0"/>
              <a:t>               (</a:t>
            </a:r>
            <a:r>
              <a:rPr lang="en-US" dirty="0" err="1"/>
              <a:t>i</a:t>
            </a:r>
            <a:r>
              <a:rPr lang="en-US" dirty="0"/>
              <a:t>) If ITEM &lt; N, proceed to left child of N</a:t>
            </a:r>
          </a:p>
          <a:p>
            <a:pPr eaLnBrk="1" hangingPunct="1">
              <a:buFontTx/>
              <a:buNone/>
            </a:pPr>
            <a:r>
              <a:rPr lang="en-US" dirty="0"/>
              <a:t>               (ii) If ITEM &gt; N, proceed to right child of N</a:t>
            </a:r>
          </a:p>
          <a:p>
            <a:pPr eaLnBrk="1" hangingPunct="1"/>
            <a:r>
              <a:rPr lang="en-US" dirty="0"/>
              <a:t>Step 2: Repeat step 1 until one of the following occurs:</a:t>
            </a:r>
          </a:p>
          <a:p>
            <a:pPr eaLnBrk="1" hangingPunct="1">
              <a:buFontTx/>
              <a:buNone/>
            </a:pPr>
            <a:r>
              <a:rPr lang="en-US" dirty="0"/>
              <a:t>                 (</a:t>
            </a:r>
            <a:r>
              <a:rPr lang="en-US" dirty="0" err="1"/>
              <a:t>i</a:t>
            </a:r>
            <a:r>
              <a:rPr lang="en-US" dirty="0"/>
              <a:t>) If ITEM = N, then:</a:t>
            </a:r>
          </a:p>
          <a:p>
            <a:pPr eaLnBrk="1" hangingPunct="1">
              <a:buFontTx/>
              <a:buNone/>
            </a:pPr>
            <a:r>
              <a:rPr lang="en-US" dirty="0"/>
              <a:t>                    Write: ‘Search successful’</a:t>
            </a:r>
          </a:p>
          <a:p>
            <a:pPr eaLnBrk="1" hangingPunct="1">
              <a:buFontTx/>
              <a:buNone/>
            </a:pPr>
            <a:r>
              <a:rPr lang="en-US" dirty="0"/>
              <a:t>                 (ii) Empty sub tree found indicating search unsuccessful.</a:t>
            </a:r>
          </a:p>
          <a:p>
            <a:pPr eaLnBrk="1" hangingPunct="1">
              <a:buFontTx/>
              <a:buNone/>
            </a:pPr>
            <a:r>
              <a:rPr lang="en-US" dirty="0"/>
              <a:t>                       Insert item in place of empty sub tree   </a:t>
            </a:r>
          </a:p>
        </p:txBody>
      </p:sp>
    </p:spTree>
    <p:extLst>
      <p:ext uri="{BB962C8B-B14F-4D97-AF65-F5344CB8AC3E}">
        <p14:creationId xmlns:p14="http://schemas.microsoft.com/office/powerpoint/2010/main" val="97922348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3"/>
          <p:cNvSpPr>
            <a:spLocks noGrp="1" noChangeArrowheads="1"/>
          </p:cNvSpPr>
          <p:nvPr>
            <p:ph type="body" idx="1"/>
          </p:nvPr>
        </p:nvSpPr>
        <p:spPr>
          <a:xfrm>
            <a:off x="1524000" y="0"/>
            <a:ext cx="9144000" cy="6858000"/>
          </a:xfrm>
        </p:spPr>
        <p:txBody>
          <a:bodyPr/>
          <a:lstStyle/>
          <a:p>
            <a:pPr eaLnBrk="1" hangingPunct="1">
              <a:lnSpc>
                <a:spcPct val="80000"/>
              </a:lnSpc>
              <a:buFontTx/>
              <a:buNone/>
            </a:pPr>
            <a:r>
              <a:rPr lang="en-US" b="1" dirty="0"/>
              <a:t>Algorithm: INSBT(INFO, LEFT, RIGHT, AVAIL, ITEM, LOC)</a:t>
            </a:r>
          </a:p>
          <a:p>
            <a:pPr eaLnBrk="1" hangingPunct="1">
              <a:lnSpc>
                <a:spcPct val="80000"/>
              </a:lnSpc>
              <a:buFontTx/>
              <a:buNone/>
            </a:pPr>
            <a:r>
              <a:rPr lang="en-US" sz="1800" dirty="0"/>
              <a:t>                         This algorithm finds the location LOC of an ITEM in T or adds ITEM as a new</a:t>
            </a:r>
          </a:p>
          <a:p>
            <a:pPr eaLnBrk="1" hangingPunct="1">
              <a:lnSpc>
                <a:spcPct val="80000"/>
              </a:lnSpc>
              <a:buFontTx/>
              <a:buNone/>
            </a:pPr>
            <a:r>
              <a:rPr lang="en-US" sz="1800" dirty="0"/>
              <a:t>                          node in T at location LOC</a:t>
            </a:r>
          </a:p>
          <a:p>
            <a:pPr eaLnBrk="1" hangingPunct="1">
              <a:lnSpc>
                <a:spcPct val="80000"/>
              </a:lnSpc>
              <a:buFontTx/>
              <a:buNone/>
            </a:pPr>
            <a:r>
              <a:rPr lang="en-US" sz="1800" dirty="0"/>
              <a:t>Step 1</a:t>
            </a:r>
            <a:r>
              <a:rPr lang="en-US" sz="2000" dirty="0"/>
              <a:t>: Call  FIND(INFO, LEFT, RIGHT, ROOT, ITEM, LOC, PAR)</a:t>
            </a:r>
          </a:p>
          <a:p>
            <a:pPr eaLnBrk="1" hangingPunct="1">
              <a:lnSpc>
                <a:spcPct val="80000"/>
              </a:lnSpc>
              <a:buFontTx/>
              <a:buNone/>
            </a:pPr>
            <a:r>
              <a:rPr lang="en-US" sz="2000" dirty="0"/>
              <a:t>Step 2: If LOC </a:t>
            </a:r>
            <a:r>
              <a:rPr lang="en-US" sz="2000" dirty="0">
                <a:cs typeface="Times New Roman" pitchFamily="18" charset="0"/>
              </a:rPr>
              <a:t>≠ NULL, then [Element is already in the tree]</a:t>
            </a:r>
          </a:p>
          <a:p>
            <a:pPr eaLnBrk="1" hangingPunct="1">
              <a:lnSpc>
                <a:spcPct val="80000"/>
              </a:lnSpc>
              <a:buFontTx/>
              <a:buNone/>
            </a:pPr>
            <a:r>
              <a:rPr lang="en-US" sz="2000" dirty="0">
                <a:cs typeface="Times New Roman" pitchFamily="18" charset="0"/>
              </a:rPr>
              <a:t>             Return</a:t>
            </a:r>
          </a:p>
          <a:p>
            <a:pPr eaLnBrk="1" hangingPunct="1">
              <a:lnSpc>
                <a:spcPct val="80000"/>
              </a:lnSpc>
              <a:buFontTx/>
              <a:buNone/>
            </a:pPr>
            <a:r>
              <a:rPr lang="en-US" sz="2000" dirty="0">
                <a:cs typeface="Times New Roman" pitchFamily="18" charset="0"/>
              </a:rPr>
              <a:t>Step 3: [Copy item into new node in AVAIL list]</a:t>
            </a:r>
          </a:p>
          <a:p>
            <a:pPr eaLnBrk="1" hangingPunct="1">
              <a:lnSpc>
                <a:spcPct val="80000"/>
              </a:lnSpc>
              <a:buFontTx/>
              <a:buNone/>
            </a:pPr>
            <a:r>
              <a:rPr lang="en-US" sz="2000" dirty="0">
                <a:cs typeface="Times New Roman" pitchFamily="18" charset="0"/>
              </a:rPr>
              <a:t>           (a) If AVAIL=NULL, then:</a:t>
            </a:r>
          </a:p>
          <a:p>
            <a:pPr eaLnBrk="1" hangingPunct="1">
              <a:lnSpc>
                <a:spcPct val="80000"/>
              </a:lnSpc>
              <a:buFontTx/>
              <a:buNone/>
            </a:pPr>
            <a:r>
              <a:rPr lang="en-US" sz="2000" dirty="0">
                <a:cs typeface="Times New Roman" pitchFamily="18" charset="0"/>
              </a:rPr>
              <a:t>                Write: ‘OVERFLOW’ </a:t>
            </a:r>
          </a:p>
          <a:p>
            <a:pPr eaLnBrk="1" hangingPunct="1">
              <a:lnSpc>
                <a:spcPct val="80000"/>
              </a:lnSpc>
              <a:buFontTx/>
              <a:buNone/>
            </a:pPr>
            <a:r>
              <a:rPr lang="en-US" sz="2000" dirty="0">
                <a:cs typeface="Times New Roman" pitchFamily="18" charset="0"/>
              </a:rPr>
              <a:t>                Return</a:t>
            </a:r>
          </a:p>
          <a:p>
            <a:pPr eaLnBrk="1" hangingPunct="1">
              <a:lnSpc>
                <a:spcPct val="80000"/>
              </a:lnSpc>
              <a:buFontTx/>
              <a:buNone/>
            </a:pPr>
            <a:r>
              <a:rPr lang="en-US" sz="2000" dirty="0">
                <a:cs typeface="Times New Roman" pitchFamily="18" charset="0"/>
              </a:rPr>
              <a:t>          (b) Set NEW:=AVAIL, AVAIL:=LINK[AVAIL] and</a:t>
            </a:r>
          </a:p>
          <a:p>
            <a:pPr eaLnBrk="1" hangingPunct="1">
              <a:lnSpc>
                <a:spcPct val="80000"/>
              </a:lnSpc>
              <a:buFontTx/>
              <a:buNone/>
            </a:pPr>
            <a:r>
              <a:rPr lang="en-US" sz="2000" dirty="0">
                <a:cs typeface="Times New Roman" pitchFamily="18" charset="0"/>
              </a:rPr>
              <a:t>                INFO[NEW]:=ITEM </a:t>
            </a:r>
          </a:p>
          <a:p>
            <a:pPr eaLnBrk="1" hangingPunct="1">
              <a:lnSpc>
                <a:spcPct val="80000"/>
              </a:lnSpc>
              <a:buFontTx/>
              <a:buNone/>
            </a:pPr>
            <a:r>
              <a:rPr lang="en-US" sz="2000" dirty="0">
                <a:cs typeface="Times New Roman" pitchFamily="18" charset="0"/>
              </a:rPr>
              <a:t>          (c) Set LEFT[NEW]:=NULL and   RIGHT[NEW]:=NULL</a:t>
            </a:r>
          </a:p>
          <a:p>
            <a:pPr eaLnBrk="1" hangingPunct="1">
              <a:lnSpc>
                <a:spcPct val="80000"/>
              </a:lnSpc>
              <a:buFontTx/>
              <a:buNone/>
            </a:pPr>
            <a:r>
              <a:rPr lang="en-US" sz="2000" dirty="0">
                <a:cs typeface="Times New Roman" pitchFamily="18" charset="0"/>
              </a:rPr>
              <a:t>Step 4:[Add ITEM to tree]</a:t>
            </a:r>
          </a:p>
          <a:p>
            <a:pPr eaLnBrk="1" hangingPunct="1">
              <a:lnSpc>
                <a:spcPct val="80000"/>
              </a:lnSpc>
              <a:buFontTx/>
              <a:buNone/>
            </a:pPr>
            <a:r>
              <a:rPr lang="en-US" sz="2000" dirty="0">
                <a:cs typeface="Times New Roman" pitchFamily="18" charset="0"/>
              </a:rPr>
              <a:t>           If  PAR=NULL, then:</a:t>
            </a:r>
          </a:p>
          <a:p>
            <a:pPr eaLnBrk="1" hangingPunct="1">
              <a:lnSpc>
                <a:spcPct val="80000"/>
              </a:lnSpc>
              <a:buFontTx/>
              <a:buNone/>
            </a:pPr>
            <a:r>
              <a:rPr lang="en-US" sz="2000" dirty="0">
                <a:cs typeface="Times New Roman" pitchFamily="18" charset="0"/>
              </a:rPr>
              <a:t>           Set ROOT:=NEW</a:t>
            </a:r>
          </a:p>
          <a:p>
            <a:pPr eaLnBrk="1" hangingPunct="1">
              <a:lnSpc>
                <a:spcPct val="80000"/>
              </a:lnSpc>
              <a:buFontTx/>
              <a:buNone/>
            </a:pPr>
            <a:r>
              <a:rPr lang="en-US" sz="2000" dirty="0">
                <a:cs typeface="Times New Roman" pitchFamily="18" charset="0"/>
              </a:rPr>
              <a:t>          Else If ITEM&lt;INFO[PAR], then:</a:t>
            </a:r>
          </a:p>
          <a:p>
            <a:pPr eaLnBrk="1" hangingPunct="1">
              <a:lnSpc>
                <a:spcPct val="80000"/>
              </a:lnSpc>
              <a:buFontTx/>
              <a:buNone/>
            </a:pPr>
            <a:r>
              <a:rPr lang="en-US" sz="2000" dirty="0">
                <a:cs typeface="Times New Roman" pitchFamily="18" charset="0"/>
              </a:rPr>
              <a:t>            Set LEFT[PAR]:=NEW</a:t>
            </a:r>
          </a:p>
          <a:p>
            <a:pPr eaLnBrk="1" hangingPunct="1">
              <a:lnSpc>
                <a:spcPct val="80000"/>
              </a:lnSpc>
              <a:buFontTx/>
              <a:buNone/>
            </a:pPr>
            <a:r>
              <a:rPr lang="en-US" sz="2000" dirty="0">
                <a:cs typeface="Times New Roman" pitchFamily="18" charset="0"/>
              </a:rPr>
              <a:t>          Else:</a:t>
            </a:r>
          </a:p>
          <a:p>
            <a:pPr eaLnBrk="1" hangingPunct="1">
              <a:lnSpc>
                <a:spcPct val="80000"/>
              </a:lnSpc>
              <a:buFontTx/>
              <a:buNone/>
            </a:pPr>
            <a:r>
              <a:rPr lang="en-US" sz="2000" dirty="0">
                <a:cs typeface="Times New Roman" pitchFamily="18" charset="0"/>
              </a:rPr>
              <a:t>            Set RIGHT[PAR]:=NEW</a:t>
            </a:r>
          </a:p>
          <a:p>
            <a:pPr eaLnBrk="1" hangingPunct="1">
              <a:lnSpc>
                <a:spcPct val="80000"/>
              </a:lnSpc>
              <a:buFontTx/>
              <a:buNone/>
            </a:pPr>
            <a:r>
              <a:rPr lang="en-US" sz="2000" dirty="0">
                <a:cs typeface="Times New Roman" pitchFamily="18" charset="0"/>
              </a:rPr>
              <a:t>          [End of If structure]</a:t>
            </a:r>
          </a:p>
          <a:p>
            <a:pPr eaLnBrk="1" hangingPunct="1">
              <a:lnSpc>
                <a:spcPct val="80000"/>
              </a:lnSpc>
              <a:buFontTx/>
              <a:buNone/>
            </a:pPr>
            <a:r>
              <a:rPr lang="en-US" sz="2000" dirty="0">
                <a:cs typeface="Times New Roman" pitchFamily="18" charset="0"/>
              </a:rPr>
              <a:t>Step 5: Return        </a:t>
            </a:r>
          </a:p>
          <a:p>
            <a:pPr eaLnBrk="1" hangingPunct="1">
              <a:lnSpc>
                <a:spcPct val="80000"/>
              </a:lnSpc>
              <a:buFontTx/>
              <a:buNone/>
            </a:pPr>
            <a:r>
              <a:rPr lang="en-US" sz="2000" dirty="0">
                <a:cs typeface="Times New Roman" pitchFamily="18" charset="0"/>
              </a:rPr>
              <a:t>  </a:t>
            </a:r>
            <a:endParaRPr lang="en-US" sz="1800" dirty="0">
              <a:cs typeface="Times New Roman" pitchFamily="18" charset="0"/>
            </a:endParaRPr>
          </a:p>
        </p:txBody>
      </p:sp>
    </p:spTree>
    <p:extLst>
      <p:ext uri="{BB962C8B-B14F-4D97-AF65-F5344CB8AC3E}">
        <p14:creationId xmlns:p14="http://schemas.microsoft.com/office/powerpoint/2010/main" val="161626650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3"/>
          <p:cNvSpPr>
            <a:spLocks noGrp="1" noChangeArrowheads="1"/>
          </p:cNvSpPr>
          <p:nvPr>
            <p:ph type="body" idx="1"/>
          </p:nvPr>
        </p:nvSpPr>
        <p:spPr>
          <a:xfrm>
            <a:off x="1524000" y="0"/>
            <a:ext cx="9144000" cy="6858000"/>
          </a:xfrm>
        </p:spPr>
        <p:txBody>
          <a:bodyPr/>
          <a:lstStyle/>
          <a:p>
            <a:pPr eaLnBrk="1" hangingPunct="1">
              <a:lnSpc>
                <a:spcPct val="80000"/>
              </a:lnSpc>
              <a:buFontTx/>
              <a:buNone/>
              <a:defRPr/>
            </a:pPr>
            <a:r>
              <a:rPr lang="en-US" sz="1600" b="1" dirty="0"/>
              <a:t>Algorithm: FIND(INFO,LEFT,RIGHT,ROOT,ITEM,LOC,PAR)</a:t>
            </a:r>
          </a:p>
          <a:p>
            <a:pPr eaLnBrk="1" hangingPunct="1">
              <a:lnSpc>
                <a:spcPct val="80000"/>
              </a:lnSpc>
              <a:buFontTx/>
              <a:buNone/>
              <a:defRPr/>
            </a:pPr>
            <a:r>
              <a:rPr lang="en-US" sz="1050" dirty="0"/>
              <a:t>                       </a:t>
            </a:r>
            <a:r>
              <a:rPr lang="en-US" sz="2000" dirty="0"/>
              <a:t>This algorithm finds the location LOC of ITEM in T and also the location PAR of the parent of  ITEM. There are  three special cases</a:t>
            </a:r>
          </a:p>
          <a:p>
            <a:pPr eaLnBrk="1" hangingPunct="1">
              <a:lnSpc>
                <a:spcPct val="80000"/>
              </a:lnSpc>
              <a:buFontTx/>
              <a:buNone/>
              <a:defRPr/>
            </a:pPr>
            <a:r>
              <a:rPr lang="en-US" sz="2000" dirty="0"/>
              <a:t>                    (a) LOC=NULL and PAR=NULL will indicate tree is empty</a:t>
            </a:r>
          </a:p>
          <a:p>
            <a:pPr eaLnBrk="1" hangingPunct="1">
              <a:lnSpc>
                <a:spcPct val="80000"/>
              </a:lnSpc>
              <a:buFontTx/>
              <a:buNone/>
              <a:defRPr/>
            </a:pPr>
            <a:r>
              <a:rPr lang="en-US" sz="2000" dirty="0"/>
              <a:t>                    (b) LOC</a:t>
            </a:r>
            <a:r>
              <a:rPr lang="en-US" sz="2000" dirty="0">
                <a:cs typeface="Times New Roman" pitchFamily="18" charset="0"/>
              </a:rPr>
              <a:t>≠ NULL and PAR=NULL will indicate that ITEM  is the root of T</a:t>
            </a:r>
            <a:r>
              <a:rPr lang="en-US" sz="2000" dirty="0"/>
              <a:t> </a:t>
            </a:r>
          </a:p>
          <a:p>
            <a:pPr eaLnBrk="1" hangingPunct="1">
              <a:lnSpc>
                <a:spcPct val="80000"/>
              </a:lnSpc>
              <a:buFontTx/>
              <a:buNone/>
              <a:defRPr/>
            </a:pPr>
            <a:r>
              <a:rPr lang="en-US" sz="2000" dirty="0"/>
              <a:t>                    ( c) LOC=NULL and PAR </a:t>
            </a:r>
            <a:r>
              <a:rPr lang="en-US" sz="2000" dirty="0">
                <a:cs typeface="Times New Roman" pitchFamily="18" charset="0"/>
              </a:rPr>
              <a:t>≠ NULL will indicate that ITEM is not in T and can be added to T as  a child of node N  with location PAR</a:t>
            </a:r>
          </a:p>
          <a:p>
            <a:pPr eaLnBrk="1" hangingPunct="1">
              <a:lnSpc>
                <a:spcPct val="80000"/>
              </a:lnSpc>
              <a:buFontTx/>
              <a:buNone/>
              <a:defRPr/>
            </a:pPr>
            <a:r>
              <a:rPr lang="en-US" sz="2000" dirty="0">
                <a:cs typeface="Times New Roman" pitchFamily="18" charset="0"/>
              </a:rPr>
              <a:t>Step 1: If ROOT= NULL , then:               [Empty binary search tree]</a:t>
            </a:r>
          </a:p>
          <a:p>
            <a:pPr eaLnBrk="1" hangingPunct="1">
              <a:lnSpc>
                <a:spcPct val="80000"/>
              </a:lnSpc>
              <a:buFontTx/>
              <a:buNone/>
              <a:defRPr/>
            </a:pPr>
            <a:r>
              <a:rPr lang="en-US" sz="2000" dirty="0">
                <a:cs typeface="Times New Roman" pitchFamily="18" charset="0"/>
              </a:rPr>
              <a:t>            Set LOC:=NULL and PAR:=NULL</a:t>
            </a:r>
          </a:p>
          <a:p>
            <a:pPr eaLnBrk="1" hangingPunct="1">
              <a:lnSpc>
                <a:spcPct val="80000"/>
              </a:lnSpc>
              <a:buFontTx/>
              <a:buNone/>
              <a:defRPr/>
            </a:pPr>
            <a:r>
              <a:rPr lang="en-US" sz="2000" dirty="0">
                <a:cs typeface="Times New Roman" pitchFamily="18" charset="0"/>
              </a:rPr>
              <a:t>             Return</a:t>
            </a:r>
          </a:p>
          <a:p>
            <a:pPr eaLnBrk="1" hangingPunct="1">
              <a:lnSpc>
                <a:spcPct val="80000"/>
              </a:lnSpc>
              <a:buFontTx/>
              <a:buNone/>
              <a:defRPr/>
            </a:pPr>
            <a:r>
              <a:rPr lang="en-US" sz="2000" dirty="0">
                <a:cs typeface="Times New Roman" pitchFamily="18" charset="0"/>
              </a:rPr>
              <a:t>Step 2: If ITEM=INFO[ROOT], then:     [Item found at the root of the tree]</a:t>
            </a:r>
          </a:p>
          <a:p>
            <a:pPr eaLnBrk="1" hangingPunct="1">
              <a:lnSpc>
                <a:spcPct val="80000"/>
              </a:lnSpc>
              <a:buFontTx/>
              <a:buNone/>
              <a:defRPr/>
            </a:pPr>
            <a:r>
              <a:rPr lang="en-US" sz="2000" dirty="0">
                <a:cs typeface="Times New Roman" pitchFamily="18" charset="0"/>
              </a:rPr>
              <a:t>            Set LOC:=ROOT and PAR:=NULL</a:t>
            </a:r>
          </a:p>
          <a:p>
            <a:pPr eaLnBrk="1" hangingPunct="1">
              <a:lnSpc>
                <a:spcPct val="80000"/>
              </a:lnSpc>
              <a:buFontTx/>
              <a:buNone/>
              <a:defRPr/>
            </a:pPr>
            <a:r>
              <a:rPr lang="en-US" sz="2000" dirty="0">
                <a:cs typeface="Times New Roman" pitchFamily="18" charset="0"/>
              </a:rPr>
              <a:t>            Write: ’Item is the root of the tree’</a:t>
            </a:r>
          </a:p>
          <a:p>
            <a:pPr eaLnBrk="1" hangingPunct="1">
              <a:lnSpc>
                <a:spcPct val="80000"/>
              </a:lnSpc>
              <a:buFontTx/>
              <a:buNone/>
              <a:defRPr/>
            </a:pPr>
            <a:r>
              <a:rPr lang="en-US" sz="2000" dirty="0">
                <a:cs typeface="Times New Roman" pitchFamily="18" charset="0"/>
              </a:rPr>
              <a:t>             Return</a:t>
            </a:r>
          </a:p>
          <a:p>
            <a:pPr eaLnBrk="1" hangingPunct="1">
              <a:lnSpc>
                <a:spcPct val="80000"/>
              </a:lnSpc>
              <a:buFontTx/>
              <a:buNone/>
              <a:defRPr/>
            </a:pPr>
            <a:r>
              <a:rPr lang="en-US" sz="2000" dirty="0">
                <a:cs typeface="Times New Roman" pitchFamily="18" charset="0"/>
              </a:rPr>
              <a:t>Step3: If  ITEM &lt; INFO[ROOT], then:</a:t>
            </a:r>
          </a:p>
          <a:p>
            <a:pPr eaLnBrk="1" hangingPunct="1">
              <a:lnSpc>
                <a:spcPct val="80000"/>
              </a:lnSpc>
              <a:buFontTx/>
              <a:buNone/>
              <a:defRPr/>
            </a:pPr>
            <a:r>
              <a:rPr lang="en-US" sz="2000" dirty="0">
                <a:cs typeface="Times New Roman" pitchFamily="18" charset="0"/>
              </a:rPr>
              <a:t>           Set  SAVE:=ROOT  and PTR:=LEFT[ROOT] </a:t>
            </a:r>
          </a:p>
          <a:p>
            <a:pPr eaLnBrk="1" hangingPunct="1">
              <a:lnSpc>
                <a:spcPct val="80000"/>
              </a:lnSpc>
              <a:buFontTx/>
              <a:buNone/>
              <a:defRPr/>
            </a:pPr>
            <a:r>
              <a:rPr lang="en-US" sz="2000" dirty="0">
                <a:cs typeface="Times New Roman" pitchFamily="18" charset="0"/>
              </a:rPr>
              <a:t>           Else:</a:t>
            </a:r>
          </a:p>
          <a:p>
            <a:pPr eaLnBrk="1" hangingPunct="1">
              <a:lnSpc>
                <a:spcPct val="80000"/>
              </a:lnSpc>
              <a:buFontTx/>
              <a:buNone/>
              <a:defRPr/>
            </a:pPr>
            <a:r>
              <a:rPr lang="en-US" sz="2000" dirty="0">
                <a:cs typeface="Times New Roman" pitchFamily="18" charset="0"/>
              </a:rPr>
              <a:t>           Set  SAVE:= ROOT and  PTR:=RIGHT[ROOT] </a:t>
            </a:r>
          </a:p>
        </p:txBody>
      </p:sp>
    </p:spTree>
    <p:extLst>
      <p:ext uri="{BB962C8B-B14F-4D97-AF65-F5344CB8AC3E}">
        <p14:creationId xmlns:p14="http://schemas.microsoft.com/office/powerpoint/2010/main" val="297474965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3"/>
          <p:cNvSpPr>
            <a:spLocks noGrp="1" noChangeArrowheads="1"/>
          </p:cNvSpPr>
          <p:nvPr>
            <p:ph type="body" idx="1"/>
          </p:nvPr>
        </p:nvSpPr>
        <p:spPr>
          <a:xfrm>
            <a:off x="1524000" y="0"/>
            <a:ext cx="9144000" cy="6858000"/>
          </a:xfrm>
        </p:spPr>
        <p:txBody>
          <a:bodyPr/>
          <a:lstStyle/>
          <a:p>
            <a:pPr eaLnBrk="1" hangingPunct="1">
              <a:lnSpc>
                <a:spcPct val="80000"/>
              </a:lnSpc>
              <a:buFontTx/>
              <a:buNone/>
            </a:pPr>
            <a:r>
              <a:rPr lang="en-US" sz="2800" dirty="0">
                <a:cs typeface="Times New Roman" pitchFamily="18" charset="0"/>
              </a:rPr>
              <a:t>          [End of If structure]</a:t>
            </a:r>
          </a:p>
          <a:p>
            <a:pPr eaLnBrk="1" hangingPunct="1">
              <a:lnSpc>
                <a:spcPct val="80000"/>
              </a:lnSpc>
              <a:buFontTx/>
              <a:buNone/>
            </a:pPr>
            <a:r>
              <a:rPr lang="en-US" sz="2800" dirty="0">
                <a:cs typeface="Times New Roman" pitchFamily="18" charset="0"/>
              </a:rPr>
              <a:t>Step 4: Repeat  while PTR ≠ NULL:</a:t>
            </a:r>
          </a:p>
          <a:p>
            <a:pPr eaLnBrk="1" hangingPunct="1">
              <a:lnSpc>
                <a:spcPct val="80000"/>
              </a:lnSpc>
              <a:buFontTx/>
              <a:buNone/>
            </a:pPr>
            <a:r>
              <a:rPr lang="en-US" sz="2800" dirty="0">
                <a:cs typeface="Times New Roman" pitchFamily="18" charset="0"/>
              </a:rPr>
              <a:t>           If  ITEM=INFO[PTR] ,then:  [Item found]</a:t>
            </a:r>
          </a:p>
          <a:p>
            <a:pPr eaLnBrk="1" hangingPunct="1">
              <a:lnSpc>
                <a:spcPct val="80000"/>
              </a:lnSpc>
              <a:buFontTx/>
              <a:buNone/>
            </a:pPr>
            <a:r>
              <a:rPr lang="en-US" sz="2800" dirty="0">
                <a:cs typeface="Times New Roman" pitchFamily="18" charset="0"/>
              </a:rPr>
              <a:t>           Set LOC:=PTR and PAR:=SAVE</a:t>
            </a:r>
          </a:p>
          <a:p>
            <a:pPr eaLnBrk="1" hangingPunct="1">
              <a:lnSpc>
                <a:spcPct val="80000"/>
              </a:lnSpc>
              <a:buFontTx/>
              <a:buNone/>
            </a:pPr>
            <a:r>
              <a:rPr lang="en-US" sz="2800" dirty="0">
                <a:cs typeface="Times New Roman" pitchFamily="18" charset="0"/>
              </a:rPr>
              <a:t>           Write: ‘ the location of the node in tree is’, LOC</a:t>
            </a:r>
          </a:p>
          <a:p>
            <a:pPr eaLnBrk="1" hangingPunct="1">
              <a:lnSpc>
                <a:spcPct val="80000"/>
              </a:lnSpc>
              <a:buFontTx/>
              <a:buNone/>
            </a:pPr>
            <a:r>
              <a:rPr lang="en-US" sz="2800" dirty="0">
                <a:cs typeface="Times New Roman" pitchFamily="18" charset="0"/>
              </a:rPr>
              <a:t>           Return</a:t>
            </a:r>
          </a:p>
          <a:p>
            <a:pPr eaLnBrk="1" hangingPunct="1">
              <a:lnSpc>
                <a:spcPct val="80000"/>
              </a:lnSpc>
              <a:buFontTx/>
              <a:buNone/>
            </a:pPr>
            <a:r>
              <a:rPr lang="en-US" sz="2800" dirty="0">
                <a:cs typeface="Times New Roman" pitchFamily="18" charset="0"/>
              </a:rPr>
              <a:t>          If  ITEM&lt; INFO[PTR] , then:</a:t>
            </a:r>
          </a:p>
          <a:p>
            <a:pPr eaLnBrk="1" hangingPunct="1">
              <a:lnSpc>
                <a:spcPct val="80000"/>
              </a:lnSpc>
              <a:buFontTx/>
              <a:buNone/>
            </a:pPr>
            <a:r>
              <a:rPr lang="en-US" sz="2800" dirty="0">
                <a:cs typeface="Times New Roman" pitchFamily="18" charset="0"/>
              </a:rPr>
              <a:t>           Set SAVE:=PTR and PTR:=LEFT[PTR]</a:t>
            </a:r>
          </a:p>
          <a:p>
            <a:pPr eaLnBrk="1" hangingPunct="1">
              <a:lnSpc>
                <a:spcPct val="80000"/>
              </a:lnSpc>
              <a:buFontTx/>
              <a:buNone/>
            </a:pPr>
            <a:r>
              <a:rPr lang="en-US" sz="2800" dirty="0">
                <a:cs typeface="Times New Roman" pitchFamily="18" charset="0"/>
              </a:rPr>
              <a:t>          Else:</a:t>
            </a:r>
          </a:p>
          <a:p>
            <a:pPr eaLnBrk="1" hangingPunct="1">
              <a:lnSpc>
                <a:spcPct val="80000"/>
              </a:lnSpc>
              <a:buFontTx/>
              <a:buNone/>
            </a:pPr>
            <a:r>
              <a:rPr lang="en-US" sz="2800" dirty="0">
                <a:cs typeface="Times New Roman" pitchFamily="18" charset="0"/>
              </a:rPr>
              <a:t>             Set SAVE:=PTR and PTR:=RIGHT[PTR]</a:t>
            </a:r>
          </a:p>
          <a:p>
            <a:pPr eaLnBrk="1" hangingPunct="1">
              <a:lnSpc>
                <a:spcPct val="80000"/>
              </a:lnSpc>
              <a:buFontTx/>
              <a:buNone/>
            </a:pPr>
            <a:r>
              <a:rPr lang="en-US" sz="2800" dirty="0">
                <a:cs typeface="Times New Roman" pitchFamily="18" charset="0"/>
              </a:rPr>
              <a:t>          [End of If structure]   </a:t>
            </a:r>
          </a:p>
          <a:p>
            <a:pPr eaLnBrk="1" hangingPunct="1">
              <a:lnSpc>
                <a:spcPct val="80000"/>
              </a:lnSpc>
              <a:buFontTx/>
              <a:buNone/>
            </a:pPr>
            <a:r>
              <a:rPr lang="en-US" sz="2800" dirty="0">
                <a:cs typeface="Times New Roman" pitchFamily="18" charset="0"/>
              </a:rPr>
              <a:t>          [End of Step 4 Loop]</a:t>
            </a:r>
          </a:p>
          <a:p>
            <a:pPr eaLnBrk="1" hangingPunct="1">
              <a:lnSpc>
                <a:spcPct val="80000"/>
              </a:lnSpc>
              <a:buFontTx/>
              <a:buNone/>
            </a:pPr>
            <a:r>
              <a:rPr lang="en-US" sz="2800" dirty="0">
                <a:cs typeface="Times New Roman" pitchFamily="18" charset="0"/>
              </a:rPr>
              <a:t>Step 5: [Search unsuccessful] Set LOC:=PTR and PAR:=SAVE</a:t>
            </a:r>
          </a:p>
          <a:p>
            <a:pPr eaLnBrk="1" hangingPunct="1">
              <a:lnSpc>
                <a:spcPct val="80000"/>
              </a:lnSpc>
              <a:buFontTx/>
              <a:buNone/>
            </a:pPr>
            <a:r>
              <a:rPr lang="en-US" sz="2800" dirty="0">
                <a:cs typeface="Times New Roman" pitchFamily="18" charset="0"/>
              </a:rPr>
              <a:t>Step 6: Return</a:t>
            </a:r>
          </a:p>
          <a:p>
            <a:pPr eaLnBrk="1" hangingPunct="1">
              <a:lnSpc>
                <a:spcPct val="80000"/>
              </a:lnSpc>
              <a:buFontTx/>
              <a:buNone/>
            </a:pPr>
            <a:r>
              <a:rPr lang="en-US" sz="900" dirty="0">
                <a:cs typeface="Times New Roman" pitchFamily="18" charset="0"/>
              </a:rPr>
              <a:t>                     </a:t>
            </a:r>
          </a:p>
          <a:p>
            <a:pPr eaLnBrk="1" hangingPunct="1">
              <a:lnSpc>
                <a:spcPct val="80000"/>
              </a:lnSpc>
              <a:buFontTx/>
              <a:buNone/>
            </a:pPr>
            <a:r>
              <a:rPr lang="en-US" sz="900" dirty="0">
                <a:cs typeface="Times New Roman" pitchFamily="18" charset="0"/>
              </a:rPr>
              <a:t>              </a:t>
            </a:r>
          </a:p>
          <a:p>
            <a:pPr eaLnBrk="1" hangingPunct="1">
              <a:lnSpc>
                <a:spcPct val="80000"/>
              </a:lnSpc>
              <a:buFontTx/>
              <a:buNone/>
            </a:pPr>
            <a:endParaRPr lang="en-US" sz="900" dirty="0"/>
          </a:p>
          <a:p>
            <a:pPr eaLnBrk="1" hangingPunct="1">
              <a:lnSpc>
                <a:spcPct val="80000"/>
              </a:lnSpc>
              <a:buFontTx/>
              <a:buNone/>
            </a:pPr>
            <a:endParaRPr lang="en-US" sz="900" dirty="0"/>
          </a:p>
          <a:p>
            <a:pPr eaLnBrk="1" hangingPunct="1">
              <a:lnSpc>
                <a:spcPct val="80000"/>
              </a:lnSpc>
              <a:buFontTx/>
              <a:buNone/>
            </a:pPr>
            <a:endParaRPr lang="en-US" sz="900" dirty="0"/>
          </a:p>
        </p:txBody>
      </p:sp>
    </p:spTree>
    <p:extLst>
      <p:ext uri="{BB962C8B-B14F-4D97-AF65-F5344CB8AC3E}">
        <p14:creationId xmlns:p14="http://schemas.microsoft.com/office/powerpoint/2010/main" val="158986096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3"/>
          <p:cNvSpPr>
            <a:spLocks noGrp="1" noChangeArrowheads="1"/>
          </p:cNvSpPr>
          <p:nvPr>
            <p:ph type="body" idx="1"/>
          </p:nvPr>
        </p:nvSpPr>
        <p:spPr>
          <a:xfrm>
            <a:off x="1524000" y="0"/>
            <a:ext cx="9144000" cy="6858000"/>
          </a:xfrm>
        </p:spPr>
        <p:txBody>
          <a:bodyPr/>
          <a:lstStyle/>
          <a:p>
            <a:pPr eaLnBrk="1" hangingPunct="1"/>
            <a:r>
              <a:rPr lang="en-US" b="1"/>
              <a:t>Deletion in a Binary Search Tree</a:t>
            </a:r>
            <a:r>
              <a:rPr lang="en-US"/>
              <a:t>- Deletion in a BST uses a procedure FIND to find   the location of node N which contains ITEM and also the location of parent node P(N). The way N is deleted from the tree depends primarily on the number of children of node N. There are three cases:</a:t>
            </a:r>
          </a:p>
          <a:p>
            <a:pPr eaLnBrk="1" hangingPunct="1"/>
            <a:r>
              <a:rPr lang="en-US" b="1"/>
              <a:t>Case 1</a:t>
            </a:r>
            <a:r>
              <a:rPr lang="en-US"/>
              <a:t>: N has no children. Then N is deleted from T by simply</a:t>
            </a:r>
          </a:p>
          <a:p>
            <a:pPr eaLnBrk="1" hangingPunct="1">
              <a:buFontTx/>
              <a:buNone/>
            </a:pPr>
            <a:r>
              <a:rPr lang="en-US"/>
              <a:t>                  replacing the location  P(N) by null pointer</a:t>
            </a:r>
          </a:p>
          <a:p>
            <a:pPr eaLnBrk="1" hangingPunct="1"/>
            <a:r>
              <a:rPr lang="en-US" b="1"/>
              <a:t>Case 2</a:t>
            </a:r>
            <a:r>
              <a:rPr lang="en-US"/>
              <a:t>: N has exactly one child. Then N is deleted from T by simply</a:t>
            </a:r>
          </a:p>
          <a:p>
            <a:pPr eaLnBrk="1" hangingPunct="1">
              <a:buFontTx/>
              <a:buNone/>
            </a:pPr>
            <a:r>
              <a:rPr lang="en-US"/>
              <a:t>                 replacing the location of N by location of the only child of N</a:t>
            </a:r>
          </a:p>
          <a:p>
            <a:pPr eaLnBrk="1" hangingPunct="1"/>
            <a:r>
              <a:rPr lang="en-US" b="1"/>
              <a:t>Case 3</a:t>
            </a:r>
            <a:r>
              <a:rPr lang="en-US"/>
              <a:t>: N has two children. Let S(N) denote the inorder successor of</a:t>
            </a:r>
          </a:p>
          <a:p>
            <a:pPr eaLnBrk="1" hangingPunct="1">
              <a:buFontTx/>
              <a:buNone/>
            </a:pPr>
            <a:r>
              <a:rPr lang="en-US"/>
              <a:t>                  N. Then N is deleted from T by first deleting S(N) from T(by</a:t>
            </a:r>
          </a:p>
          <a:p>
            <a:pPr eaLnBrk="1" hangingPunct="1">
              <a:buFontTx/>
              <a:buNone/>
            </a:pPr>
            <a:r>
              <a:rPr lang="en-US"/>
              <a:t>                  using Case 1 or Case 2) and then replacing node N in T by</a:t>
            </a:r>
          </a:p>
          <a:p>
            <a:pPr eaLnBrk="1" hangingPunct="1">
              <a:buFontTx/>
              <a:buNone/>
            </a:pPr>
            <a:r>
              <a:rPr lang="en-US"/>
              <a:t>                  node S(N)</a:t>
            </a:r>
          </a:p>
        </p:txBody>
      </p:sp>
    </p:spTree>
    <p:extLst>
      <p:ext uri="{BB962C8B-B14F-4D97-AF65-F5344CB8AC3E}">
        <p14:creationId xmlns:p14="http://schemas.microsoft.com/office/powerpoint/2010/main" val="159097128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3"/>
          <p:cNvSpPr>
            <a:spLocks noGrp="1" noChangeArrowheads="1"/>
          </p:cNvSpPr>
          <p:nvPr>
            <p:ph type="body" idx="1"/>
          </p:nvPr>
        </p:nvSpPr>
        <p:spPr>
          <a:xfrm>
            <a:off x="1524000" y="0"/>
            <a:ext cx="9144000" cy="6858000"/>
          </a:xfrm>
        </p:spPr>
        <p:txBody>
          <a:bodyPr/>
          <a:lstStyle/>
          <a:p>
            <a:pPr eaLnBrk="1" hangingPunct="1">
              <a:lnSpc>
                <a:spcPct val="80000"/>
              </a:lnSpc>
            </a:pPr>
            <a:r>
              <a:rPr lang="en-US" sz="2000"/>
              <a:t>Case 1: </a:t>
            </a:r>
            <a:r>
              <a:rPr lang="en-US"/>
              <a:t>When node to be deleted does not have two children</a:t>
            </a:r>
          </a:p>
          <a:p>
            <a:pPr eaLnBrk="1" hangingPunct="1">
              <a:lnSpc>
                <a:spcPct val="80000"/>
              </a:lnSpc>
              <a:buFontTx/>
              <a:buNone/>
            </a:pPr>
            <a:r>
              <a:rPr lang="en-US" sz="2000"/>
              <a:t>    Algorithm: DELA( INFO, LEFT,RIGHT,ROOT,LOC,PAR)</a:t>
            </a:r>
          </a:p>
          <a:p>
            <a:pPr eaLnBrk="1" hangingPunct="1">
              <a:lnSpc>
                <a:spcPct val="80000"/>
              </a:lnSpc>
              <a:buFontTx/>
              <a:buNone/>
            </a:pPr>
            <a:r>
              <a:rPr lang="en-US" sz="2000"/>
              <a:t>                      This procedure deletes node N at location LOC where N</a:t>
            </a:r>
          </a:p>
          <a:p>
            <a:pPr eaLnBrk="1" hangingPunct="1">
              <a:lnSpc>
                <a:spcPct val="80000"/>
              </a:lnSpc>
              <a:buFontTx/>
              <a:buNone/>
            </a:pPr>
            <a:r>
              <a:rPr lang="en-US" sz="2000"/>
              <a:t>                       does not have two children. PAR gives the location of</a:t>
            </a:r>
          </a:p>
          <a:p>
            <a:pPr eaLnBrk="1" hangingPunct="1">
              <a:lnSpc>
                <a:spcPct val="80000"/>
              </a:lnSpc>
              <a:buFontTx/>
              <a:buNone/>
            </a:pPr>
            <a:r>
              <a:rPr lang="en-US" sz="2000"/>
              <a:t>                       parent node of N or else PAR=NULL indicating N is the</a:t>
            </a:r>
          </a:p>
          <a:p>
            <a:pPr eaLnBrk="1" hangingPunct="1">
              <a:lnSpc>
                <a:spcPct val="80000"/>
              </a:lnSpc>
              <a:buFontTx/>
              <a:buNone/>
            </a:pPr>
            <a:r>
              <a:rPr lang="en-US" sz="2000"/>
              <a:t>                       root node. Pointer CHILD gives the location of only child</a:t>
            </a:r>
          </a:p>
          <a:p>
            <a:pPr eaLnBrk="1" hangingPunct="1">
              <a:lnSpc>
                <a:spcPct val="80000"/>
              </a:lnSpc>
              <a:buFontTx/>
              <a:buNone/>
            </a:pPr>
            <a:r>
              <a:rPr lang="en-US" sz="2000"/>
              <a:t>                       of N</a:t>
            </a:r>
          </a:p>
          <a:p>
            <a:pPr eaLnBrk="1" hangingPunct="1">
              <a:lnSpc>
                <a:spcPct val="80000"/>
              </a:lnSpc>
            </a:pPr>
            <a:r>
              <a:rPr lang="en-US" sz="2000"/>
              <a:t>Step 1: If LEFT[LOC]=NULL and RIGHT[LOC]=NULL, then:</a:t>
            </a:r>
          </a:p>
          <a:p>
            <a:pPr eaLnBrk="1" hangingPunct="1">
              <a:lnSpc>
                <a:spcPct val="80000"/>
              </a:lnSpc>
              <a:buFontTx/>
              <a:buNone/>
            </a:pPr>
            <a:r>
              <a:rPr lang="en-US" sz="2000"/>
              <a:t>                 Set CHILD=NULL</a:t>
            </a:r>
          </a:p>
          <a:p>
            <a:pPr eaLnBrk="1" hangingPunct="1">
              <a:lnSpc>
                <a:spcPct val="80000"/>
              </a:lnSpc>
              <a:buFontTx/>
              <a:buNone/>
            </a:pPr>
            <a:r>
              <a:rPr lang="en-US" sz="2000"/>
              <a:t>                 Else If LEFT[LOC]</a:t>
            </a:r>
            <a:r>
              <a:rPr lang="en-US" sz="2000">
                <a:cs typeface="Times New Roman" pitchFamily="18" charset="0"/>
              </a:rPr>
              <a:t>≠NULL, then:</a:t>
            </a:r>
          </a:p>
          <a:p>
            <a:pPr eaLnBrk="1" hangingPunct="1">
              <a:lnSpc>
                <a:spcPct val="80000"/>
              </a:lnSpc>
              <a:buFontTx/>
              <a:buNone/>
            </a:pPr>
            <a:r>
              <a:rPr lang="en-US" sz="2000">
                <a:cs typeface="Times New Roman" pitchFamily="18" charset="0"/>
              </a:rPr>
              <a:t>                  Set CHILD:=LEFT[LOC]</a:t>
            </a:r>
          </a:p>
          <a:p>
            <a:pPr eaLnBrk="1" hangingPunct="1">
              <a:lnSpc>
                <a:spcPct val="80000"/>
              </a:lnSpc>
              <a:buFontTx/>
              <a:buNone/>
            </a:pPr>
            <a:r>
              <a:rPr lang="en-US" sz="2000">
                <a:cs typeface="Times New Roman" pitchFamily="18" charset="0"/>
              </a:rPr>
              <a:t>                 Else </a:t>
            </a:r>
          </a:p>
          <a:p>
            <a:pPr eaLnBrk="1" hangingPunct="1">
              <a:lnSpc>
                <a:spcPct val="80000"/>
              </a:lnSpc>
              <a:buFontTx/>
              <a:buNone/>
            </a:pPr>
            <a:r>
              <a:rPr lang="en-US" sz="2000">
                <a:cs typeface="Times New Roman" pitchFamily="18" charset="0"/>
              </a:rPr>
              <a:t>                   Set CHILD:=RIGHT[LOC]</a:t>
            </a:r>
          </a:p>
          <a:p>
            <a:pPr eaLnBrk="1" hangingPunct="1">
              <a:lnSpc>
                <a:spcPct val="80000"/>
              </a:lnSpc>
            </a:pPr>
            <a:r>
              <a:rPr lang="en-US" sz="2000">
                <a:cs typeface="Times New Roman" pitchFamily="18" charset="0"/>
              </a:rPr>
              <a:t>Step 2: If PAR ≠ NULL, then:</a:t>
            </a:r>
          </a:p>
          <a:p>
            <a:pPr lvl="1" eaLnBrk="1" hangingPunct="1">
              <a:lnSpc>
                <a:spcPct val="80000"/>
              </a:lnSpc>
              <a:buFontTx/>
              <a:buNone/>
            </a:pPr>
            <a:r>
              <a:rPr lang="en-US" sz="2000">
                <a:cs typeface="Times New Roman" pitchFamily="18" charset="0"/>
              </a:rPr>
              <a:t>                 If LOC=LEFT[PAR] , then:</a:t>
            </a:r>
          </a:p>
          <a:p>
            <a:pPr lvl="1" eaLnBrk="1" hangingPunct="1">
              <a:lnSpc>
                <a:spcPct val="80000"/>
              </a:lnSpc>
              <a:buFontTx/>
              <a:buNone/>
            </a:pPr>
            <a:r>
              <a:rPr lang="en-US" sz="2000">
                <a:cs typeface="Times New Roman" pitchFamily="18" charset="0"/>
              </a:rPr>
              <a:t>                 Set LEFT[PAR]:=CHILD</a:t>
            </a:r>
          </a:p>
          <a:p>
            <a:pPr lvl="1" eaLnBrk="1" hangingPunct="1">
              <a:lnSpc>
                <a:spcPct val="80000"/>
              </a:lnSpc>
              <a:buFontTx/>
              <a:buNone/>
            </a:pPr>
            <a:r>
              <a:rPr lang="en-US" sz="2000">
                <a:cs typeface="Times New Roman" pitchFamily="18" charset="0"/>
              </a:rPr>
              <a:t>                 Else:</a:t>
            </a:r>
          </a:p>
          <a:p>
            <a:pPr lvl="1" eaLnBrk="1" hangingPunct="1">
              <a:lnSpc>
                <a:spcPct val="80000"/>
              </a:lnSpc>
              <a:buFontTx/>
              <a:buNone/>
            </a:pPr>
            <a:r>
              <a:rPr lang="en-US" sz="2000">
                <a:cs typeface="Times New Roman" pitchFamily="18" charset="0"/>
              </a:rPr>
              <a:t>                 Set RIGHT[PAR]:=CHILD</a:t>
            </a:r>
          </a:p>
          <a:p>
            <a:pPr eaLnBrk="1" hangingPunct="1">
              <a:lnSpc>
                <a:spcPct val="80000"/>
              </a:lnSpc>
              <a:buFontTx/>
              <a:buNone/>
            </a:pPr>
            <a:r>
              <a:rPr lang="en-US" sz="2000">
                <a:cs typeface="Times New Roman" pitchFamily="18" charset="0"/>
              </a:rPr>
              <a:t>                 Else:</a:t>
            </a:r>
          </a:p>
          <a:p>
            <a:pPr eaLnBrk="1" hangingPunct="1">
              <a:lnSpc>
                <a:spcPct val="80000"/>
              </a:lnSpc>
              <a:buFontTx/>
              <a:buNone/>
            </a:pPr>
            <a:r>
              <a:rPr lang="en-US" sz="2000">
                <a:cs typeface="Times New Roman" pitchFamily="18" charset="0"/>
              </a:rPr>
              <a:t>                        Set ROOT:=CHILD</a:t>
            </a:r>
          </a:p>
          <a:p>
            <a:pPr eaLnBrk="1" hangingPunct="1">
              <a:lnSpc>
                <a:spcPct val="80000"/>
              </a:lnSpc>
            </a:pPr>
            <a:r>
              <a:rPr lang="en-US" sz="2000">
                <a:cs typeface="Times New Roman" pitchFamily="18" charset="0"/>
              </a:rPr>
              <a:t>Step 3: Return  </a:t>
            </a:r>
          </a:p>
          <a:p>
            <a:pPr eaLnBrk="1" hangingPunct="1">
              <a:lnSpc>
                <a:spcPct val="80000"/>
              </a:lnSpc>
            </a:pPr>
            <a:endParaRPr lang="en-US" sz="2000"/>
          </a:p>
        </p:txBody>
      </p:sp>
    </p:spTree>
    <p:extLst>
      <p:ext uri="{BB962C8B-B14F-4D97-AF65-F5344CB8AC3E}">
        <p14:creationId xmlns:p14="http://schemas.microsoft.com/office/powerpoint/2010/main" val="8422729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5" name="Rectangle 3"/>
          <p:cNvSpPr>
            <a:spLocks noGrp="1" noChangeArrowheads="1"/>
          </p:cNvSpPr>
          <p:nvPr>
            <p:ph type="body" idx="1"/>
          </p:nvPr>
        </p:nvSpPr>
        <p:spPr>
          <a:xfrm>
            <a:off x="1524000" y="0"/>
            <a:ext cx="9144000" cy="6858000"/>
          </a:xfrm>
        </p:spPr>
        <p:txBody>
          <a:bodyPr/>
          <a:lstStyle/>
          <a:p>
            <a:pPr eaLnBrk="1" hangingPunct="1">
              <a:lnSpc>
                <a:spcPct val="90000"/>
              </a:lnSpc>
            </a:pPr>
            <a:r>
              <a:rPr lang="en-US" sz="2000" b="1" dirty="0"/>
              <a:t>Case 2: When node to be deleted has two children</a:t>
            </a:r>
          </a:p>
          <a:p>
            <a:pPr eaLnBrk="1" hangingPunct="1">
              <a:lnSpc>
                <a:spcPct val="90000"/>
              </a:lnSpc>
            </a:pPr>
            <a:r>
              <a:rPr lang="en-US" sz="1800" dirty="0"/>
              <a:t>Algorithm: </a:t>
            </a:r>
            <a:r>
              <a:rPr lang="en-US" sz="1600" b="1" dirty="0"/>
              <a:t>DELL( INFO, LEFT, RIGHT, ROOT, LOC, PAR, SUC, PARSUC)</a:t>
            </a:r>
          </a:p>
          <a:p>
            <a:pPr eaLnBrk="1" hangingPunct="1">
              <a:lnSpc>
                <a:spcPct val="90000"/>
              </a:lnSpc>
              <a:buFontTx/>
              <a:buNone/>
            </a:pPr>
            <a:r>
              <a:rPr lang="en-US" sz="1600" dirty="0"/>
              <a:t>                           </a:t>
            </a:r>
            <a:r>
              <a:rPr lang="en-US" sz="1800" dirty="0"/>
              <a:t>This procedure deletes node N at location LOC where N have two children. PAR</a:t>
            </a:r>
          </a:p>
          <a:p>
            <a:pPr eaLnBrk="1" hangingPunct="1">
              <a:lnSpc>
                <a:spcPct val="90000"/>
              </a:lnSpc>
              <a:buFontTx/>
              <a:buNone/>
            </a:pPr>
            <a:r>
              <a:rPr lang="en-US" sz="1800" dirty="0"/>
              <a:t>                        gives the location of parent node of N or else PAR=NULL indicating N is the</a:t>
            </a:r>
          </a:p>
          <a:p>
            <a:pPr eaLnBrk="1" hangingPunct="1">
              <a:lnSpc>
                <a:spcPct val="90000"/>
              </a:lnSpc>
              <a:buFontTx/>
              <a:buNone/>
            </a:pPr>
            <a:r>
              <a:rPr lang="en-US" sz="1800" dirty="0"/>
              <a:t>                        root node. Pointer SUC gives the location of in order successor of N and PARSUC</a:t>
            </a:r>
          </a:p>
          <a:p>
            <a:pPr eaLnBrk="1" hangingPunct="1">
              <a:lnSpc>
                <a:spcPct val="90000"/>
              </a:lnSpc>
              <a:buFontTx/>
              <a:buNone/>
            </a:pPr>
            <a:r>
              <a:rPr lang="en-US" sz="1800" dirty="0"/>
              <a:t>                        gives the location of parent of in order successor </a:t>
            </a:r>
          </a:p>
          <a:p>
            <a:pPr eaLnBrk="1" hangingPunct="1">
              <a:lnSpc>
                <a:spcPct val="90000"/>
              </a:lnSpc>
              <a:buFontTx/>
              <a:buNone/>
            </a:pPr>
            <a:r>
              <a:rPr lang="en-US" sz="1800" dirty="0"/>
              <a:t>Step 1: (a) </a:t>
            </a:r>
            <a:r>
              <a:rPr lang="en-US" sz="1800" b="1" dirty="0"/>
              <a:t>Set PTR:=RIGHT[LOC] and SAVE:=LOC</a:t>
            </a:r>
          </a:p>
          <a:p>
            <a:pPr eaLnBrk="1" hangingPunct="1">
              <a:lnSpc>
                <a:spcPct val="90000"/>
              </a:lnSpc>
              <a:buFontTx/>
              <a:buNone/>
            </a:pPr>
            <a:r>
              <a:rPr lang="en-US" sz="1800" b="1" dirty="0"/>
              <a:t>            (b) Repeat while LEFT[PTR]</a:t>
            </a:r>
            <a:r>
              <a:rPr lang="en-US" sz="1800" b="1" dirty="0">
                <a:cs typeface="Times New Roman" pitchFamily="18" charset="0"/>
              </a:rPr>
              <a:t>≠NULL</a:t>
            </a:r>
          </a:p>
          <a:p>
            <a:pPr eaLnBrk="1" hangingPunct="1">
              <a:lnSpc>
                <a:spcPct val="90000"/>
              </a:lnSpc>
              <a:buFontTx/>
              <a:buNone/>
            </a:pPr>
            <a:r>
              <a:rPr lang="en-US" sz="1800" b="1" dirty="0">
                <a:cs typeface="Times New Roman" pitchFamily="18" charset="0"/>
              </a:rPr>
              <a:t>                  Set SAVE:=PTR and PTR:=LEFT[PTR]</a:t>
            </a:r>
          </a:p>
          <a:p>
            <a:pPr eaLnBrk="1" hangingPunct="1">
              <a:lnSpc>
                <a:spcPct val="90000"/>
              </a:lnSpc>
              <a:buFontTx/>
              <a:buNone/>
            </a:pPr>
            <a:r>
              <a:rPr lang="en-US" sz="1800" b="1" dirty="0">
                <a:cs typeface="Times New Roman" pitchFamily="18" charset="0"/>
              </a:rPr>
              <a:t>                  [End of Loop]</a:t>
            </a:r>
          </a:p>
          <a:p>
            <a:pPr eaLnBrk="1" hangingPunct="1">
              <a:lnSpc>
                <a:spcPct val="90000"/>
              </a:lnSpc>
              <a:buFontTx/>
              <a:buNone/>
            </a:pPr>
            <a:r>
              <a:rPr lang="en-US" sz="1800" b="1" dirty="0">
                <a:cs typeface="Times New Roman" pitchFamily="18" charset="0"/>
              </a:rPr>
              <a:t>            (c ) Set SUC:=PTR and PARSUC:=SAVE</a:t>
            </a:r>
          </a:p>
          <a:p>
            <a:pPr eaLnBrk="1" hangingPunct="1">
              <a:lnSpc>
                <a:spcPct val="90000"/>
              </a:lnSpc>
              <a:buFontTx/>
              <a:buNone/>
            </a:pPr>
            <a:r>
              <a:rPr lang="en-US" sz="1800" b="1" dirty="0">
                <a:cs typeface="Times New Roman" pitchFamily="18" charset="0"/>
              </a:rPr>
              <a:t>Step 2: CALL DELA(INFO,LEFT,RIGHT, ROOT,SUC,PARSUC)  </a:t>
            </a:r>
          </a:p>
          <a:p>
            <a:pPr eaLnBrk="1" hangingPunct="1">
              <a:lnSpc>
                <a:spcPct val="90000"/>
              </a:lnSpc>
              <a:buFontTx/>
              <a:buNone/>
            </a:pPr>
            <a:r>
              <a:rPr lang="en-US" sz="1800" b="1" dirty="0">
                <a:cs typeface="Times New Roman" pitchFamily="18" charset="0"/>
              </a:rPr>
              <a:t>Step 3: (a) If PAR ≠ NULL, then:</a:t>
            </a:r>
          </a:p>
          <a:p>
            <a:pPr eaLnBrk="1" hangingPunct="1">
              <a:lnSpc>
                <a:spcPct val="90000"/>
              </a:lnSpc>
              <a:buFontTx/>
              <a:buNone/>
            </a:pPr>
            <a:r>
              <a:rPr lang="en-US" sz="1800" b="1" dirty="0">
                <a:cs typeface="Times New Roman" pitchFamily="18" charset="0"/>
              </a:rPr>
              <a:t>                 If LOC = LEFT [PAR], then:</a:t>
            </a:r>
          </a:p>
          <a:p>
            <a:pPr eaLnBrk="1" hangingPunct="1">
              <a:lnSpc>
                <a:spcPct val="90000"/>
              </a:lnSpc>
              <a:buFontTx/>
              <a:buNone/>
            </a:pPr>
            <a:r>
              <a:rPr lang="en-US" sz="1800" b="1" dirty="0">
                <a:cs typeface="Times New Roman" pitchFamily="18" charset="0"/>
              </a:rPr>
              <a:t>                  Set LEFT[PAR]:=SUC</a:t>
            </a:r>
          </a:p>
          <a:p>
            <a:pPr eaLnBrk="1" hangingPunct="1">
              <a:lnSpc>
                <a:spcPct val="90000"/>
              </a:lnSpc>
              <a:buFontTx/>
              <a:buNone/>
            </a:pPr>
            <a:r>
              <a:rPr lang="en-US" sz="1800" b="1" dirty="0">
                <a:cs typeface="Times New Roman" pitchFamily="18" charset="0"/>
              </a:rPr>
              <a:t>                 Else:</a:t>
            </a:r>
          </a:p>
          <a:p>
            <a:pPr eaLnBrk="1" hangingPunct="1">
              <a:lnSpc>
                <a:spcPct val="90000"/>
              </a:lnSpc>
              <a:buFontTx/>
              <a:buNone/>
            </a:pPr>
            <a:r>
              <a:rPr lang="en-US" sz="1800" b="1" dirty="0">
                <a:cs typeface="Times New Roman" pitchFamily="18" charset="0"/>
              </a:rPr>
              <a:t>                 Set RIGHT[PAR]:=SUC</a:t>
            </a:r>
          </a:p>
          <a:p>
            <a:pPr eaLnBrk="1" hangingPunct="1">
              <a:lnSpc>
                <a:spcPct val="90000"/>
              </a:lnSpc>
              <a:buFontTx/>
              <a:buNone/>
            </a:pPr>
            <a:r>
              <a:rPr lang="en-US" sz="1800" b="1" dirty="0">
                <a:cs typeface="Times New Roman" pitchFamily="18" charset="0"/>
              </a:rPr>
              <a:t>                 [End of If structure]</a:t>
            </a:r>
          </a:p>
          <a:p>
            <a:pPr eaLnBrk="1" hangingPunct="1">
              <a:lnSpc>
                <a:spcPct val="90000"/>
              </a:lnSpc>
              <a:buFontTx/>
              <a:buNone/>
            </a:pPr>
            <a:r>
              <a:rPr lang="en-US" sz="1800" b="1" dirty="0">
                <a:cs typeface="Times New Roman" pitchFamily="18" charset="0"/>
              </a:rPr>
              <a:t>                 Else:</a:t>
            </a:r>
          </a:p>
          <a:p>
            <a:pPr eaLnBrk="1" hangingPunct="1">
              <a:lnSpc>
                <a:spcPct val="90000"/>
              </a:lnSpc>
              <a:buFontTx/>
              <a:buNone/>
            </a:pPr>
            <a:r>
              <a:rPr lang="en-US" sz="1800" b="1" dirty="0">
                <a:cs typeface="Times New Roman" pitchFamily="18" charset="0"/>
              </a:rPr>
              <a:t>                 Set ROOT:=SUC</a:t>
            </a:r>
          </a:p>
          <a:p>
            <a:pPr eaLnBrk="1" hangingPunct="1">
              <a:lnSpc>
                <a:spcPct val="90000"/>
              </a:lnSpc>
              <a:buFontTx/>
              <a:buNone/>
            </a:pPr>
            <a:r>
              <a:rPr lang="en-US" sz="1800" b="1" dirty="0">
                <a:cs typeface="Times New Roman" pitchFamily="18" charset="0"/>
              </a:rPr>
              <a:t>                 [End of If structure] </a:t>
            </a:r>
          </a:p>
          <a:p>
            <a:pPr eaLnBrk="1" hangingPunct="1">
              <a:lnSpc>
                <a:spcPct val="90000"/>
              </a:lnSpc>
              <a:buFontTx/>
              <a:buNone/>
            </a:pPr>
            <a:r>
              <a:rPr lang="en-US" sz="1800" dirty="0"/>
              <a:t>                     </a:t>
            </a:r>
            <a:endParaRPr lang="en-US" sz="1600" dirty="0"/>
          </a:p>
        </p:txBody>
      </p:sp>
    </p:spTree>
    <p:extLst>
      <p:ext uri="{BB962C8B-B14F-4D97-AF65-F5344CB8AC3E}">
        <p14:creationId xmlns:p14="http://schemas.microsoft.com/office/powerpoint/2010/main" val="259310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299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299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299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2995">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2995">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2995">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2995">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2995">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2995">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2995">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2995">
                                            <p:txEl>
                                              <p:pRg st="16" end="1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2995">
                                            <p:txEl>
                                              <p:pRg st="17" end="1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2995">
                                            <p:txEl>
                                              <p:pRg st="18" end="1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2995">
                                            <p:txEl>
                                              <p:pRg st="19" end="1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2995">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3"/>
          <p:cNvSpPr>
            <a:spLocks noGrp="1" noChangeArrowheads="1"/>
          </p:cNvSpPr>
          <p:nvPr>
            <p:ph type="body" idx="1"/>
          </p:nvPr>
        </p:nvSpPr>
        <p:spPr>
          <a:xfrm>
            <a:off x="1524000" y="0"/>
            <a:ext cx="9144000" cy="6858000"/>
          </a:xfrm>
        </p:spPr>
        <p:txBody>
          <a:bodyPr/>
          <a:lstStyle/>
          <a:p>
            <a:pPr eaLnBrk="1" hangingPunct="1">
              <a:buFontTx/>
              <a:buNone/>
            </a:pPr>
            <a:r>
              <a:rPr lang="en-US"/>
              <a:t>                (b) Set LEFT[SUC]:=LEFT[LOC] and </a:t>
            </a:r>
          </a:p>
          <a:p>
            <a:pPr eaLnBrk="1" hangingPunct="1">
              <a:buFontTx/>
              <a:buNone/>
            </a:pPr>
            <a:r>
              <a:rPr lang="en-US"/>
              <a:t>                     Set RIGHT[SUC]:=RIGHT[LOC]</a:t>
            </a:r>
          </a:p>
          <a:p>
            <a:pPr eaLnBrk="1" hangingPunct="1"/>
            <a:r>
              <a:rPr lang="en-US"/>
              <a:t>Step 4: Return</a:t>
            </a:r>
          </a:p>
          <a:p>
            <a:pPr eaLnBrk="1" hangingPunct="1"/>
            <a:endParaRPr lang="en-US"/>
          </a:p>
        </p:txBody>
      </p:sp>
    </p:spTree>
    <p:extLst>
      <p:ext uri="{BB962C8B-B14F-4D97-AF65-F5344CB8AC3E}">
        <p14:creationId xmlns:p14="http://schemas.microsoft.com/office/powerpoint/2010/main" val="89053594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24221</Words>
  <Application>Microsoft Macintosh PowerPoint</Application>
  <PresentationFormat>Widescreen</PresentationFormat>
  <Paragraphs>2290</Paragraphs>
  <Slides>220</Slides>
  <Notes>2</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220</vt:i4>
      </vt:variant>
    </vt:vector>
  </HeadingPairs>
  <TitlesOfParts>
    <vt:vector size="225" baseType="lpstr">
      <vt:lpstr>Calibri</vt:lpstr>
      <vt:lpstr>Courier</vt:lpstr>
      <vt:lpstr>Courier New</vt:lpstr>
      <vt:lpstr>Times New Roman</vt:lpstr>
      <vt:lpstr>Default Design</vt:lpstr>
      <vt:lpstr>Data structure</vt:lpstr>
      <vt:lpstr>PowerPoint Presentation</vt:lpstr>
      <vt:lpstr>Practical Applications of Data Structures</vt:lpstr>
      <vt:lpstr>Categorization of Data Structures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Diagram of a binary tree </vt:lpstr>
      <vt:lpstr>PowerPoint Presentation</vt:lpstr>
      <vt:lpstr>Algorithms</vt:lpstr>
      <vt:lpstr>Algorithm complexity</vt:lpstr>
      <vt:lpstr>Expressing Space and time complexity: Big ‘O’ notation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Conventions Used for Algorithms</vt:lpstr>
      <vt:lpstr>PowerPoint Presentation</vt:lpstr>
      <vt:lpstr>PowerPoint Presentation</vt:lpstr>
      <vt:lpstr>Various operations performed on Arrays</vt:lpstr>
      <vt:lpstr>PowerPoint Presentation</vt:lpstr>
      <vt:lpstr>Algorithm to display grade of student as per marks stored in array</vt:lpstr>
      <vt:lpstr>PowerPoint Presentation</vt:lpstr>
      <vt:lpstr>PowerPoint Presentation</vt:lpstr>
      <vt:lpstr>PowerPoint Presentation</vt:lpstr>
      <vt:lpstr>PowerPoint Presentation</vt:lpstr>
      <vt:lpstr>Analysis of Linear Search and Binary Search</vt:lpstr>
      <vt:lpstr>Complexity of Binary Search</vt:lpstr>
      <vt:lpstr>PowerPoint Presentation</vt:lpstr>
      <vt:lpstr>Complexity of binary search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of Insertion and deletion operation</vt:lpstr>
      <vt:lpstr>Address calculations in arrays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Sorting Techniques in Array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Complexity of insertion in Linked list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Doubly Linked List: Two-way List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Q=A+(B*C) / D))</vt:lpstr>
      <vt:lpstr>PowerPoint Presentation</vt:lpstr>
      <vt:lpstr>PowerPoint Presentation</vt:lpstr>
      <vt:lpstr>PowerPoint Presentation</vt:lpstr>
      <vt:lpstr>Problem: Consider the stack as shown in figure below: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 of Queue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Complexity of Stack and Queue operations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Merging of Arrays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Procedure to convert General Tree into Binary Tree</vt:lpstr>
      <vt:lpstr>Example</vt:lpstr>
      <vt:lpstr>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Recursive  Tree Traversal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dc:title>
  <dc:creator>Microsoft Office User</dc:creator>
  <cp:lastModifiedBy>Microsoft Office User</cp:lastModifiedBy>
  <cp:revision>14</cp:revision>
  <dcterms:created xsi:type="dcterms:W3CDTF">2025-07-02T03:43:32Z</dcterms:created>
  <dcterms:modified xsi:type="dcterms:W3CDTF">2025-10-31T10:27:33Z</dcterms:modified>
</cp:coreProperties>
</file>